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6.xml" ContentType="application/vnd.openxmlformats-officedocument.drawingml.chart+xml"/>
  <Override PartName="/ppt/notesSlides/notesSlide5.xml" ContentType="application/vnd.openxmlformats-officedocument.presentationml.notesSlid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3.xml" ContentType="application/vnd.openxmlformats-officedocument.drawingml.chartshapes+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charts/chart11.xml" ContentType="application/vnd.openxmlformats-officedocument.drawingml.chart+xml"/>
  <Override PartName="/ppt/charts/style9.xml" ContentType="application/vnd.ms-office.chartstyle+xml"/>
  <Override PartName="/ppt/charts/colors9.xml" ContentType="application/vnd.ms-office.chartcolorstyle+xml"/>
  <Override PartName="/ppt/charts/chart12.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3.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4.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5.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7.xml" ContentType="application/vnd.openxmlformats-officedocument.presentationml.notesSlid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18.xml" ContentType="application/vnd.openxmlformats-officedocument.presentationml.notesSlide+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19.xml" ContentType="application/vnd.openxmlformats-officedocument.presentationml.notesSlide+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20.xml" ContentType="application/vnd.openxmlformats-officedocument.presentationml.notesSlide+xml"/>
  <Override PartName="/ppt/charts/chart25.xml" ContentType="application/vnd.openxmlformats-officedocument.drawingml.chart+xml"/>
  <Override PartName="/ppt/charts/style23.xml" ContentType="application/vnd.ms-office.chartstyle+xml"/>
  <Override PartName="/ppt/charts/colors23.xml" ContentType="application/vnd.ms-office.chartcolorstyle+xml"/>
  <Override PartName="/ppt/drawings/drawing4.xml" ContentType="application/vnd.openxmlformats-officedocument.drawingml.chartshapes+xml"/>
  <Override PartName="/ppt/notesSlides/notesSlide21.xml" ContentType="application/vnd.openxmlformats-officedocument.presentationml.notesSlide+xml"/>
  <Override PartName="/ppt/charts/chart26.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7.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8.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9.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0.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1.xml" ContentType="application/vnd.openxmlformats-officedocument.drawingml.chart+xml"/>
  <Override PartName="/ppt/charts/style29.xml" ContentType="application/vnd.ms-office.chartstyle+xml"/>
  <Override PartName="/ppt/charts/colors29.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2.xml" ContentType="application/vnd.openxmlformats-officedocument.drawingml.chart+xml"/>
  <Override PartName="/ppt/charts/style30.xml" ContentType="application/vnd.ms-office.chartstyle+xml"/>
  <Override PartName="/ppt/charts/colors30.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7"/>
    <p:sldMasterId id="2147483695" r:id="rId18"/>
  </p:sldMasterIdLst>
  <p:notesMasterIdLst>
    <p:notesMasterId r:id="rId50"/>
  </p:notesMasterIdLst>
  <p:sldIdLst>
    <p:sldId id="1174" r:id="rId19"/>
    <p:sldId id="1284" r:id="rId20"/>
    <p:sldId id="1287" r:id="rId21"/>
    <p:sldId id="1140" r:id="rId22"/>
    <p:sldId id="1141" r:id="rId23"/>
    <p:sldId id="1129" r:id="rId24"/>
    <p:sldId id="1130" r:id="rId25"/>
    <p:sldId id="1131" r:id="rId26"/>
    <p:sldId id="1143" r:id="rId27"/>
    <p:sldId id="274" r:id="rId28"/>
    <p:sldId id="1283" r:id="rId29"/>
    <p:sldId id="1281" r:id="rId30"/>
    <p:sldId id="258" r:id="rId31"/>
    <p:sldId id="259" r:id="rId32"/>
    <p:sldId id="1208" r:id="rId33"/>
    <p:sldId id="261" r:id="rId34"/>
    <p:sldId id="262" r:id="rId35"/>
    <p:sldId id="284" r:id="rId36"/>
    <p:sldId id="1203" r:id="rId37"/>
    <p:sldId id="265" r:id="rId38"/>
    <p:sldId id="266" r:id="rId39"/>
    <p:sldId id="1233" r:id="rId40"/>
    <p:sldId id="1236" r:id="rId41"/>
    <p:sldId id="1237" r:id="rId42"/>
    <p:sldId id="1235" r:id="rId43"/>
    <p:sldId id="1238" r:id="rId44"/>
    <p:sldId id="276" r:id="rId45"/>
    <p:sldId id="1234" r:id="rId46"/>
    <p:sldId id="1231" r:id="rId47"/>
    <p:sldId id="1205" r:id="rId48"/>
    <p:sldId id="1202" r:id="rId49"/>
  </p:sldIdLst>
  <p:sldSz cx="12192000" cy="6858000"/>
  <p:notesSz cx="6858000" cy="9144000"/>
  <p:embeddedFontLst>
    <p:embeddedFont>
      <p:font typeface="M PLUS 1p" panose="020B0600070205080204" charset="-128"/>
      <p:regular r:id="rId51"/>
      <p:bold r:id="rId52"/>
    </p:embeddedFont>
    <p:embeddedFont>
      <p:font typeface="M PLUS 1p Medium" panose="020B0600070205080204" charset="-128"/>
      <p:regular r:id="rId53"/>
    </p:embeddedFont>
    <p:embeddedFont>
      <p:font typeface="M PLUS 1p Regular" panose="020B0600070205080204" charset="-128"/>
      <p:regular r:id="rId54"/>
      <p:bold r:id="rId55"/>
    </p:embeddedFont>
    <p:embeddedFont>
      <p:font typeface="Poppins" panose="00000500000000000000" pitchFamily="2" charset="0"/>
      <p:regular r:id="rId56"/>
      <p:bold r:id="rId57"/>
      <p:italic r:id="rId58"/>
      <p:boldItalic r:id="rId59"/>
    </p:embeddedFont>
    <p:embeddedFont>
      <p:font typeface="Poppins Bold" panose="00000800000000000000" pitchFamily="2" charset="0"/>
      <p:bold r:id="rId60"/>
      <p:italic r:id="rId61"/>
      <p:boldItalic r:id="rId62"/>
    </p:embeddedFont>
    <p:embeddedFont>
      <p:font typeface="Poppins Light" panose="00000400000000000000" pitchFamily="2" charset="0"/>
      <p:regular r:id="rId63"/>
      <p:italic r:id="rId64"/>
    </p:embeddedFont>
    <p:embeddedFont>
      <p:font typeface="Poppins Medium" panose="00000600000000000000" pitchFamily="2" charset="0"/>
      <p:regular r:id="rId65"/>
      <p:italic r:id="rId66"/>
    </p:embeddedFont>
    <p:embeddedFont>
      <p:font typeface="Poppins SemiBold" panose="00000700000000000000" pitchFamily="2" charset="0"/>
      <p:regular r:id="rId67"/>
      <p:bold r:id="rId68"/>
      <p:italic r:id="rId69"/>
      <p:boldItalic r:id="rId70"/>
    </p:embeddedFont>
    <p:embeddedFont>
      <p:font typeface="ヒラギノ角ゴ Pro W3" panose="020B0300000000000000" pitchFamily="34" charset="-128"/>
      <p:regular r:id="rId71"/>
    </p:embeddedFont>
    <p:embeddedFont>
      <p:font typeface="游ゴシック" panose="020B0400000000000000" pitchFamily="50" charset="-128"/>
      <p:regular r:id="rId72"/>
      <p:bold r:id="rId73"/>
    </p:embeddedFont>
  </p:embeddedFontLst>
  <p:custDataLst>
    <p:custData r:id="rId7"/>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96FC7F-D555-1CEA-4906-19AE7666A7F4}" name="Author" initials="A" userId="anonymou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7FF"/>
    <a:srgbClr val="142EA4"/>
    <a:srgbClr val="BFBFBF"/>
    <a:srgbClr val="C0FF00"/>
    <a:srgbClr val="142FA3"/>
    <a:srgbClr val="75B800"/>
    <a:srgbClr val="000000"/>
    <a:srgbClr val="28D8FF"/>
    <a:srgbClr val="142FA4"/>
    <a:srgbClr val="CA16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45" autoAdjust="0"/>
    <p:restoredTop sz="95194" autoAdjust="0"/>
  </p:normalViewPr>
  <p:slideViewPr>
    <p:cSldViewPr snapToGrid="0">
      <p:cViewPr>
        <p:scale>
          <a:sx n="100" d="100"/>
          <a:sy n="100" d="100"/>
        </p:scale>
        <p:origin x="1176" y="234"/>
      </p:cViewPr>
      <p:guideLst/>
    </p:cSldViewPr>
  </p:slideViewPr>
  <p:notesTextViewPr>
    <p:cViewPr>
      <p:scale>
        <a:sx n="110" d="100"/>
        <a:sy n="110" d="100"/>
      </p:scale>
      <p:origin x="0" y="0"/>
    </p:cViewPr>
  </p:notesTextViewPr>
  <p:sorterViewPr>
    <p:cViewPr>
      <p:scale>
        <a:sx n="80" d="100"/>
        <a:sy n="80" d="100"/>
      </p:scale>
      <p:origin x="0" y="0"/>
    </p:cViewPr>
  </p:sorterViewPr>
  <p:notesViewPr>
    <p:cSldViewPr snapToGrid="0">
      <p:cViewPr varScale="1">
        <p:scale>
          <a:sx n="97" d="100"/>
          <a:sy n="97" d="100"/>
        </p:scale>
        <p:origin x="4400"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8.xml"/><Relationship Id="rId21" Type="http://schemas.openxmlformats.org/officeDocument/2006/relationships/slide" Target="slides/slide3.xml"/><Relationship Id="rId42" Type="http://schemas.openxmlformats.org/officeDocument/2006/relationships/slide" Target="slides/slide24.xml"/><Relationship Id="rId47" Type="http://schemas.openxmlformats.org/officeDocument/2006/relationships/slide" Target="slides/slide29.xml"/><Relationship Id="rId63" Type="http://schemas.openxmlformats.org/officeDocument/2006/relationships/font" Target="fonts/font13.fntdata"/><Relationship Id="rId68" Type="http://schemas.openxmlformats.org/officeDocument/2006/relationships/font" Target="fonts/font18.fntdata"/><Relationship Id="rId16" Type="http://schemas.openxmlformats.org/officeDocument/2006/relationships/customXml" Target="../customXml/item16.xml"/><Relationship Id="rId11" Type="http://schemas.openxmlformats.org/officeDocument/2006/relationships/customXml" Target="../customXml/item11.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font" Target="fonts/font11.fntdata"/><Relationship Id="rId19" Type="http://schemas.openxmlformats.org/officeDocument/2006/relationships/slide" Target="slides/slide1.xml"/><Relationship Id="rId14" Type="http://schemas.openxmlformats.org/officeDocument/2006/relationships/customXml" Target="../customXml/item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77"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font" Target="fonts/font1.fntdata"/><Relationship Id="rId72" Type="http://schemas.openxmlformats.org/officeDocument/2006/relationships/font" Target="fonts/font22.fntdata"/><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Master" Target="slideMasters/slideMaster1.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slide" Target="slides/slide31.xml"/><Relationship Id="rId57" Type="http://schemas.openxmlformats.org/officeDocument/2006/relationships/font" Target="fonts/font7.fntdata"/><Relationship Id="rId10" Type="http://schemas.openxmlformats.org/officeDocument/2006/relationships/customXml" Target="../customXml/item10.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font" Target="fonts/font23.fntdata"/><Relationship Id="rId78" Type="http://schemas.microsoft.com/office/2018/10/relationships/authors" Targe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slideMaster" Target="slideMasters/slideMaster2.xml"/><Relationship Id="rId39" Type="http://schemas.openxmlformats.org/officeDocument/2006/relationships/slide" Target="slides/slide21.xml"/><Relationship Id="rId34" Type="http://schemas.openxmlformats.org/officeDocument/2006/relationships/slide" Target="slides/slide16.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openxmlformats.org/officeDocument/2006/relationships/theme" Target="theme/theme1.xml"/><Relationship Id="rId7" Type="http://schemas.openxmlformats.org/officeDocument/2006/relationships/customXml" Target="../customXml/item7.xml"/><Relationship Id="rId71" Type="http://schemas.openxmlformats.org/officeDocument/2006/relationships/font" Target="fonts/font21.fntdata"/><Relationship Id="rId2" Type="http://schemas.openxmlformats.org/officeDocument/2006/relationships/customXml" Target="../customXml/item2.xml"/><Relationship Id="rId29" Type="http://schemas.openxmlformats.org/officeDocument/2006/relationships/slide" Target="slides/slide11.xml"/></Relationships>
</file>

<file path=ppt/charts/_rels/chart1.xml.rels><?xml version="1.0" encoding="UTF-8" standalone="yes"?>
<Relationships xmlns="http://schemas.openxmlformats.org/package/2006/relationships"></Relationships>
</file>

<file path=ppt/charts/_rels/chart2.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s>
</file>

<file path=ppt/charts/_rels/chart7.xml.rels><?xml version="1.0" encoding="UTF-8" standalone="yes"?>
<Relationships xmlns="http://schemas.openxmlformats.org/package/2006/relationships"><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2" Type="http://schemas.microsoft.com/office/2011/relationships/chartColorStyle" Target="colors8.xml"/><Relationship Id="rId1" Type="http://schemas.microsoft.com/office/2011/relationships/chartStyle" Target="style8.xml"/></Relationships>
</file>

<file path=ppt/charts/_rels/chart11.xml.rels><?xml version="1.0" encoding="UTF-8" standalone="yes"?>
<Relationships xmlns="http://schemas.openxmlformats.org/package/2006/relationships"><Relationship Id="rId2" Type="http://schemas.microsoft.com/office/2011/relationships/chartColorStyle" Target="colors9.xml"/><Relationship Id="rId1" Type="http://schemas.microsoft.com/office/2011/relationships/chartStyle" Target="style9.xml"/></Relationships>
</file>

<file path=ppt/charts/_rels/chart12.xml.rels><?xml version="1.0" encoding="UTF-8" standalone="yes"?>
<Relationships xmlns="http://schemas.openxmlformats.org/package/2006/relationships"><Relationship Id="rId2" Type="http://schemas.microsoft.com/office/2011/relationships/chartColorStyle" Target="colors10.xml"/><Relationship Id="rId1" Type="http://schemas.microsoft.com/office/2011/relationships/chartStyle" Target="style10.xml"/></Relationships>
</file>

<file path=ppt/charts/_rels/chart13.xml.rels><?xml version="1.0" encoding="UTF-8" standalone="yes"?>
<Relationships xmlns="http://schemas.openxmlformats.org/package/2006/relationships"><Relationship Id="rId2" Type="http://schemas.microsoft.com/office/2011/relationships/chartColorStyle" Target="colors11.xml"/><Relationship Id="rId1" Type="http://schemas.microsoft.com/office/2011/relationships/chartStyle" Target="style11.xml"/></Relationships>
</file>

<file path=ppt/charts/_rels/chart14.xml.rels><?xml version="1.0" encoding="UTF-8" standalone="yes"?>
<Relationships xmlns="http://schemas.openxmlformats.org/package/2006/relationships"><Relationship Id="rId2" Type="http://schemas.microsoft.com/office/2011/relationships/chartColorStyle" Target="colors12.xml"/><Relationship Id="rId1" Type="http://schemas.microsoft.com/office/2011/relationships/chartStyle" Target="style12.xml"/></Relationships>
</file>

<file path=ppt/charts/_rels/chart15.xml.rels><?xml version="1.0" encoding="UTF-8" standalone="yes"?>
<Relationships xmlns="http://schemas.openxmlformats.org/package/2006/relationships"><Relationship Id="rId2" Type="http://schemas.microsoft.com/office/2011/relationships/chartColorStyle" Target="colors13.xml"/><Relationship Id="rId1" Type="http://schemas.microsoft.com/office/2011/relationships/chartStyle" Target="style13.xml"/></Relationships>
</file>

<file path=ppt/charts/_rels/chart16.xml.rels><?xml version="1.0" encoding="UTF-8" standalone="yes"?>
<Relationships xmlns="http://schemas.openxmlformats.org/package/2006/relationships"><Relationship Id="rId2" Type="http://schemas.microsoft.com/office/2011/relationships/chartColorStyle" Target="colors14.xml"/><Relationship Id="rId1" Type="http://schemas.microsoft.com/office/2011/relationships/chartStyle" Target="style14.xml"/></Relationships>
</file>

<file path=ppt/charts/_rels/chart17.xml.rels><?xml version="1.0" encoding="UTF-8" standalone="yes"?>
<Relationships xmlns="http://schemas.openxmlformats.org/package/2006/relationships"><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2" Type="http://schemas.microsoft.com/office/2011/relationships/chartColorStyle" Target="colors18.xml"/><Relationship Id="rId1" Type="http://schemas.microsoft.com/office/2011/relationships/chartStyle" Target="style18.xml"/></Relationships>
</file>

<file path=ppt/charts/_rels/chart21.xml.rels><?xml version="1.0" encoding="UTF-8" standalone="yes"?>
<Relationships xmlns="http://schemas.openxmlformats.org/package/2006/relationships"><Relationship Id="rId2" Type="http://schemas.microsoft.com/office/2011/relationships/chartColorStyle" Target="colors19.xml"/><Relationship Id="rId1" Type="http://schemas.microsoft.com/office/2011/relationships/chartStyle" Target="style19.xml"/></Relationships>
</file>

<file path=ppt/charts/_rels/chart22.xml.rels><?xml version="1.0" encoding="UTF-8" standalone="yes"?>
<Relationships xmlns="http://schemas.openxmlformats.org/package/2006/relationships"><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2" Type="http://schemas.microsoft.com/office/2011/relationships/chartColorStyle" Target="colors21.xml"/><Relationship Id="rId1" Type="http://schemas.microsoft.com/office/2011/relationships/chartStyle" Target="style21.xml"/></Relationships>
</file>

<file path=ppt/charts/_rels/chart24.xml.rels><?xml version="1.0" encoding="UTF-8" standalone="yes"?>
<Relationships xmlns="http://schemas.openxmlformats.org/package/2006/relationships"><Relationship Id="rId2" Type="http://schemas.microsoft.com/office/2011/relationships/chartColorStyle" Target="colors22.xml"/><Relationship Id="rId1" Type="http://schemas.microsoft.com/office/2011/relationships/chartStyle" Target="style22.xml"/></Relationships>
</file>

<file path=ppt/charts/_rels/chart25.xml.rels><?xml version="1.0" encoding="UTF-8" standalone="yes"?>
<Relationships xmlns="http://schemas.openxmlformats.org/package/2006/relationships"><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chartUserShapes" Target="../drawings/drawing4.xml"/></Relationships>
</file>

<file path=ppt/charts/_rels/chart26.xml.rels><?xml version="1.0" encoding="UTF-8" standalone="yes"?>
<Relationships xmlns="http://schemas.openxmlformats.org/package/2006/relationships"><Relationship Id="rId2" Type="http://schemas.microsoft.com/office/2011/relationships/chartColorStyle" Target="colors24.xml"/><Relationship Id="rId1" Type="http://schemas.microsoft.com/office/2011/relationships/chartStyle" Target="style24.xml"/></Relationships>
</file>

<file path=ppt/charts/_rels/chart27.xml.rels><?xml version="1.0" encoding="UTF-8" standalone="yes"?>
<Relationships xmlns="http://schemas.openxmlformats.org/package/2006/relationships"><Relationship Id="rId2" Type="http://schemas.microsoft.com/office/2011/relationships/chartColorStyle" Target="colors25.xml"/><Relationship Id="rId1" Type="http://schemas.microsoft.com/office/2011/relationships/chartStyle" Target="style25.xml"/></Relationships>
</file>

<file path=ppt/charts/_rels/chart28.xml.rels><?xml version="1.0" encoding="UTF-8" standalone="yes"?>
<Relationships xmlns="http://schemas.openxmlformats.org/package/2006/relationships"><Relationship Id="rId2" Type="http://schemas.microsoft.com/office/2011/relationships/chartColorStyle" Target="colors26.xml"/><Relationship Id="rId1" Type="http://schemas.microsoft.com/office/2011/relationships/chartStyle" Target="style26.xml"/></Relationships>
</file>

<file path=ppt/charts/_rels/chart29.xml.rels><?xml version="1.0" encoding="UTF-8" standalone="yes"?>
<Relationships xmlns="http://schemas.openxmlformats.org/package/2006/relationships"><Relationship Id="rId2" Type="http://schemas.microsoft.com/office/2011/relationships/chartColorStyle" Target="colors27.xml"/><Relationship Id="rId1" Type="http://schemas.microsoft.com/office/2011/relationships/chartStyle" Target="style27.xml"/></Relationships>
</file>

<file path=ppt/charts/_rels/chart30.xml.rels><?xml version="1.0" encoding="UTF-8" standalone="yes"?>
<Relationships xmlns="http://schemas.openxmlformats.org/package/2006/relationships"><Relationship Id="rId2" Type="http://schemas.microsoft.com/office/2011/relationships/chartColorStyle" Target="colors28.xml"/><Relationship Id="rId1" Type="http://schemas.microsoft.com/office/2011/relationships/chartStyle" Target="style28.xml"/></Relationships>
</file>

<file path=ppt/charts/_rels/chart31.xml.rels><?xml version="1.0" encoding="UTF-8" standalone="yes"?>
<Relationships xmlns="http://schemas.openxmlformats.org/package/2006/relationships"><Relationship Id="rId2" Type="http://schemas.microsoft.com/office/2011/relationships/chartColorStyle" Target="colors29.xml"/><Relationship Id="rId1" Type="http://schemas.microsoft.com/office/2011/relationships/chartStyle" Target="style29.xml"/></Relationships>
</file>

<file path=ppt/charts/_rels/chart32.xml.rels><?xml version="1.0" encoding="UTF-8" standalone="yes"?>
<Relationships xmlns="http://schemas.openxmlformats.org/package/2006/relationships"><Relationship Id="rId2" Type="http://schemas.microsoft.com/office/2011/relationships/chartColorStyle" Target="colors30.xml"/><Relationship Id="rId1" Type="http://schemas.microsoft.com/office/2011/relationships/chartStyle" Target="style3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947503715030572E-2"/>
          <c:y val="0.17386701221752332"/>
          <c:w val="0.88302955265535921"/>
          <c:h val="0.70494534451209134"/>
        </c:manualLayout>
      </c:layout>
      <c:barChart>
        <c:barDir val="col"/>
        <c:grouping val="clustered"/>
        <c:varyColors val="0"/>
        <c:ser>
          <c:idx val="0"/>
          <c:order val="0"/>
          <c:tx>
            <c:strRef>
              <c:f>Sheet1!$B$1</c:f>
              <c:strCache>
                <c:ptCount val="1"/>
                <c:pt idx="0">
                  <c:v>Operating Profit</c:v>
                </c:pt>
              </c:strCache>
            </c:strRef>
          </c:tx>
          <c:spPr>
            <a:solidFill>
              <a:srgbClr val="142FA4"/>
            </a:solidFill>
            <a:ln>
              <a:noFill/>
            </a:ln>
            <a:effectLst/>
          </c:spPr>
          <c:invertIfNegative val="0"/>
          <c:dPt>
            <c:idx val="4"/>
            <c:invertIfNegative val="0"/>
            <c:bubble3D val="0"/>
            <c:spPr>
              <a:solidFill>
                <a:srgbClr val="142FA4"/>
              </a:solidFill>
              <a:ln w="19050">
                <a:noFill/>
              </a:ln>
              <a:effectLst/>
            </c:spPr>
            <c:extLst>
              <c:ext xmlns:c16="http://schemas.microsoft.com/office/drawing/2014/chart" uri="{C3380CC4-5D6E-409C-BE32-E72D297353CC}">
                <c16:uniqueId val="{00000002-D6E0-4C96-8FBE-C154278C2DD7}"/>
              </c:ext>
            </c:extLst>
          </c:dPt>
          <c:dLbls>
            <c:dLbl>
              <c:idx val="0"/>
              <c:layout>
                <c:manualLayout>
                  <c:x val="0"/>
                  <c:y val="5.38380911132159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B7E-FC4C-A4F0-12EFEECF983A}"/>
                </c:ext>
              </c:extLst>
            </c:dLbl>
            <c:spPr>
              <a:noFill/>
              <a:ln>
                <a:noFill/>
              </a:ln>
              <a:effectLst/>
            </c:spPr>
            <c:txPr>
              <a:bodyPr rot="0" spcFirstLastPara="1" vertOverflow="ellipsis" vert="horz" wrap="square" anchor="ctr" anchorCtr="1"/>
              <a:lstStyle/>
              <a:p>
                <a:pPr>
                  <a:defRPr lang="ja-JP" sz="1050" b="1" i="0" u="none" strike="noStrike" kern="1200" baseline="0">
                    <a:solidFill>
                      <a:schemeClr val="bg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Sheet1!$B$2:$B$6</c:f>
              <c:numCache>
                <c:formatCode>#,##0</c:formatCode>
                <c:ptCount val="5"/>
                <c:pt idx="0">
                  <c:v>165</c:v>
                </c:pt>
                <c:pt idx="1">
                  <c:v>239</c:v>
                </c:pt>
                <c:pt idx="2">
                  <c:v>539</c:v>
                </c:pt>
                <c:pt idx="3">
                  <c:v>573</c:v>
                </c:pt>
                <c:pt idx="4">
                  <c:v>636</c:v>
                </c:pt>
              </c:numCache>
            </c:numRef>
          </c:val>
          <c:extLst>
            <c:ext xmlns:c16="http://schemas.microsoft.com/office/drawing/2014/chart" uri="{C3380CC4-5D6E-409C-BE32-E72D297353CC}">
              <c16:uniqueId val="{00000004-8743-46EF-B0E9-6DBB467FCCF5}"/>
            </c:ext>
          </c:extLst>
        </c:ser>
        <c:ser>
          <c:idx val="1"/>
          <c:order val="1"/>
          <c:tx>
            <c:strRef>
              <c:f>Sheet1!$C$1</c:f>
              <c:strCache>
                <c:ptCount val="1"/>
                <c:pt idx="0">
                  <c:v>Ordinary Profit</c:v>
                </c:pt>
              </c:strCache>
            </c:strRef>
          </c:tx>
          <c:spPr>
            <a:solidFill>
              <a:srgbClr val="4168E6"/>
            </a:solidFill>
            <a:ln>
              <a:noFill/>
            </a:ln>
            <a:effectLst/>
          </c:spPr>
          <c:invertIfNegative val="0"/>
          <c:dPt>
            <c:idx val="4"/>
            <c:invertIfNegative val="0"/>
            <c:bubble3D val="0"/>
            <c:spPr>
              <a:solidFill>
                <a:srgbClr val="4168E6"/>
              </a:solidFill>
              <a:ln w="19050">
                <a:noFill/>
              </a:ln>
              <a:effectLst/>
            </c:spPr>
            <c:extLst>
              <c:ext xmlns:c16="http://schemas.microsoft.com/office/drawing/2014/chart" uri="{C3380CC4-5D6E-409C-BE32-E72D297353CC}">
                <c16:uniqueId val="{00000004-D6E0-4C96-8FBE-C154278C2DD7}"/>
              </c:ext>
            </c:extLst>
          </c:dPt>
          <c:dLbls>
            <c:dLbl>
              <c:idx val="0"/>
              <c:layout>
                <c:manualLayout>
                  <c:x val="-2.0852889758981642E-3"/>
                  <c:y val="5.31059082858259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63E-4AE5-9A32-786B536202E0}"/>
                </c:ext>
              </c:extLst>
            </c:dLbl>
            <c:dLbl>
              <c:idx val="2"/>
              <c:spPr>
                <a:noFill/>
                <a:ln>
                  <a:noFill/>
                </a:ln>
                <a:effectLst/>
              </c:spPr>
              <c:txPr>
                <a:bodyPr rot="0" spcFirstLastPara="1" vertOverflow="overflow" horzOverflow="overflow" vert="horz" wrap="none" bIns="1440000" anchor="ctr" anchorCtr="1">
                  <a:noAutofit/>
                </a:bodyPr>
                <a:lstStyle/>
                <a:p>
                  <a:pPr>
                    <a:defRPr lang="ja-JP" sz="1050" b="1" i="0" u="none" strike="noStrike" kern="1200" baseline="0">
                      <a:solidFill>
                        <a:schemeClr val="bg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5.8586706091374202E-2"/>
                      <c:h val="6.3860428644370179E-2"/>
                    </c:manualLayout>
                  </c15:layout>
                </c:ext>
                <c:ext xmlns:c16="http://schemas.microsoft.com/office/drawing/2014/chart" uri="{C3380CC4-5D6E-409C-BE32-E72D297353CC}">
                  <c16:uniqueId val="{00000006-110C-40E6-8BCF-CAFF16BB88CA}"/>
                </c:ext>
              </c:extLst>
            </c:dLbl>
            <c:dLbl>
              <c:idx val="3"/>
              <c:layout>
                <c:manualLayout>
                  <c:x val="9.3838824895329936E-3"/>
                  <c:y val="1.7888008188052907E-2"/>
                </c:manualLayout>
              </c:layout>
              <c:tx>
                <c:rich>
                  <a:bodyPr rot="0" spcFirstLastPara="1" vertOverflow="ellipsis" vert="horz" wrap="square" anchor="ctr" anchorCtr="1"/>
                  <a:lstStyle/>
                  <a:p>
                    <a:pPr>
                      <a:defRPr lang="ja-JP" sz="1300" b="1" i="0" u="none" strike="noStrike" kern="1200" baseline="0">
                        <a:solidFill>
                          <a:schemeClr val="tx1"/>
                        </a:solidFill>
                        <a:latin typeface="Poppins SemiBold" pitchFamily="2" charset="0"/>
                        <a:ea typeface="+mn-ea"/>
                        <a:cs typeface="Poppins SemiBold" pitchFamily="2" charset="0"/>
                      </a:defRPr>
                    </a:pPr>
                    <a:fld id="{66C4731A-C68E-4A4E-8D70-02BFD1FF6C52}" type="VALUE">
                      <a:rPr lang="en-US" altLang="ja-JP" sz="1300" b="1" i="0">
                        <a:solidFill>
                          <a:schemeClr val="tx1"/>
                        </a:solidFill>
                        <a:latin typeface="Poppins SemiBold" pitchFamily="2" charset="0"/>
                        <a:cs typeface="Poppins SemiBold" pitchFamily="2" charset="0"/>
                      </a:rPr>
                      <a:pPr>
                        <a:defRPr lang="ja-JP" sz="1300" b="1" i="0" u="none" strike="noStrike" kern="1200" baseline="0">
                          <a:solidFill>
                            <a:schemeClr val="tx1"/>
                          </a:solidFill>
                          <a:latin typeface="Poppins SemiBold" pitchFamily="2" charset="0"/>
                          <a:ea typeface="+mn-ea"/>
                          <a:cs typeface="Poppins SemiBold" pitchFamily="2" charset="0"/>
                        </a:defRPr>
                      </a:pPr>
                      <a:t>[値]</a:t>
                    </a:fld>
                    <a:endParaRPr lang="ja-JP" alt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manualLayout>
                      <c:w val="8.3359344713537939E-2"/>
                      <c:h val="7.6008746756059162E-2"/>
                    </c:manualLayout>
                  </c15:layout>
                  <c15:dlblFieldTable/>
                  <c15:showDataLabelsRange val="0"/>
                </c:ext>
                <c:ext xmlns:c16="http://schemas.microsoft.com/office/drawing/2014/chart" uri="{C3380CC4-5D6E-409C-BE32-E72D297353CC}">
                  <c16:uniqueId val="{00000003-D6E0-4C96-8FBE-C154278C2DD7}"/>
                </c:ext>
              </c:extLst>
            </c:dLbl>
            <c:dLbl>
              <c:idx val="4"/>
              <c:layout>
                <c:manualLayout>
                  <c:x val="-1.0424802919667281E-3"/>
                  <c:y val="2.0869205949014816E-2"/>
                </c:manualLayout>
              </c:layout>
              <c:tx>
                <c:rich>
                  <a:bodyPr rot="0" spcFirstLastPara="1" vertOverflow="ellipsis" vert="horz" wrap="square" anchor="ctr" anchorCtr="1"/>
                  <a:lstStyle/>
                  <a:p>
                    <a:pPr>
                      <a:defRPr lang="ja-JP" sz="1300" b="1" i="0" u="none" strike="noStrike" kern="1200" baseline="0">
                        <a:solidFill>
                          <a:schemeClr val="tx1"/>
                        </a:solidFill>
                        <a:latin typeface="Poppins SemiBold" pitchFamily="2" charset="0"/>
                        <a:ea typeface="+mn-ea"/>
                        <a:cs typeface="Poppins SemiBold" pitchFamily="2" charset="0"/>
                      </a:defRPr>
                    </a:pPr>
                    <a:fld id="{235F80B1-FFEC-4535-8EF9-D3DD65420C11}" type="VALUE">
                      <a:rPr lang="en-US" altLang="ja-JP" sz="1300" b="1" i="0">
                        <a:solidFill>
                          <a:schemeClr val="tx1"/>
                        </a:solidFill>
                        <a:latin typeface="Poppins SemiBold" pitchFamily="2" charset="0"/>
                        <a:cs typeface="Poppins SemiBold" pitchFamily="2" charset="0"/>
                      </a:rPr>
                      <a:pPr>
                        <a:defRPr lang="ja-JP" sz="1300" b="1" i="0" u="none" strike="noStrike" kern="1200" baseline="0">
                          <a:solidFill>
                            <a:schemeClr val="tx1"/>
                          </a:solidFill>
                          <a:latin typeface="Poppins SemiBold" pitchFamily="2" charset="0"/>
                          <a:ea typeface="+mn-ea"/>
                          <a:cs typeface="Poppins SemiBold" pitchFamily="2" charset="0"/>
                        </a:defRPr>
                      </a:pPr>
                      <a:t>[値]</a:t>
                    </a:fld>
                    <a:endParaRPr lang="ja-JP" alt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manualLayout>
                      <c:w val="8.7945666892655067E-2"/>
                      <c:h val="7.3826517976508646E-2"/>
                    </c:manualLayout>
                  </c15:layout>
                  <c15:dlblFieldTable/>
                  <c15:showDataLabelsRange val="0"/>
                </c:ext>
                <c:ext xmlns:c16="http://schemas.microsoft.com/office/drawing/2014/chart" uri="{C3380CC4-5D6E-409C-BE32-E72D297353CC}">
                  <c16:uniqueId val="{00000004-D6E0-4C96-8FBE-C154278C2DD7}"/>
                </c:ext>
              </c:extLst>
            </c:dLbl>
            <c:spPr>
              <a:noFill/>
              <a:ln>
                <a:noFill/>
              </a:ln>
              <a:effectLst/>
            </c:spPr>
            <c:txPr>
              <a:bodyPr rot="0" spcFirstLastPara="1" vertOverflow="ellipsis" vert="horz" wrap="square" anchor="ctr" anchorCtr="1"/>
              <a:lstStyle/>
              <a:p>
                <a:pPr>
                  <a:defRPr lang="ja-JP" sz="1050" b="1" i="0" u="none" strike="noStrike" kern="1200" baseline="0">
                    <a:solidFill>
                      <a:schemeClr val="bg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Sheet1!$C$2:$C$6</c:f>
              <c:numCache>
                <c:formatCode>#,##0</c:formatCode>
                <c:ptCount val="5"/>
                <c:pt idx="0">
                  <c:v>178</c:v>
                </c:pt>
                <c:pt idx="1">
                  <c:v>229</c:v>
                </c:pt>
                <c:pt idx="2">
                  <c:v>549</c:v>
                </c:pt>
                <c:pt idx="3">
                  <c:v>571</c:v>
                </c:pt>
                <c:pt idx="4">
                  <c:v>653</c:v>
                </c:pt>
              </c:numCache>
            </c:numRef>
          </c:val>
          <c:extLst>
            <c:ext xmlns:c16="http://schemas.microsoft.com/office/drawing/2014/chart" uri="{C3380CC4-5D6E-409C-BE32-E72D297353CC}">
              <c16:uniqueId val="{00000009-8743-46EF-B0E9-6DBB467FCCF5}"/>
            </c:ext>
          </c:extLst>
        </c:ser>
        <c:ser>
          <c:idx val="2"/>
          <c:order val="2"/>
          <c:tx>
            <c:strRef>
              <c:f>Sheet1!$D$1</c:f>
              <c:strCache>
                <c:ptCount val="1"/>
                <c:pt idx="0">
                  <c:v>Quarterly Net Profit Attributable to Owners of the Parent</c:v>
                </c:pt>
              </c:strCache>
            </c:strRef>
          </c:tx>
          <c:spPr>
            <a:solidFill>
              <a:srgbClr val="A1BFFF"/>
            </a:solidFill>
            <a:ln>
              <a:noFill/>
            </a:ln>
            <a:effectLst/>
          </c:spPr>
          <c:invertIfNegative val="0"/>
          <c:dPt>
            <c:idx val="4"/>
            <c:invertIfNegative val="0"/>
            <c:bubble3D val="0"/>
            <c:extLst>
              <c:ext xmlns:c16="http://schemas.microsoft.com/office/drawing/2014/chart" uri="{C3380CC4-5D6E-409C-BE32-E72D297353CC}">
                <c16:uniqueId val="{00000005-D6E0-4C96-8FBE-C154278C2DD7}"/>
              </c:ext>
            </c:extLst>
          </c:dPt>
          <c:dLbls>
            <c:dLbl>
              <c:idx val="0"/>
              <c:layout>
                <c:manualLayout>
                  <c:x val="0"/>
                  <c:y val="5.3254739293381363E-2"/>
                </c:manualLayout>
              </c:layout>
              <c:tx>
                <c:rich>
                  <a:bodyPr/>
                  <a:lstStyle/>
                  <a:p>
                    <a:fld id="{9DD6822A-07DB-456A-AB15-5B942865C061}" type="VALUE">
                      <a:rPr lang="en-US" altLang="ja-JP" sz="1050">
                        <a:solidFill>
                          <a:schemeClr val="tx1"/>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8CFD-430F-8728-A2670BDDB4DB}"/>
                </c:ext>
              </c:extLst>
            </c:dLbl>
            <c:dLbl>
              <c:idx val="1"/>
              <c:tx>
                <c:rich>
                  <a:bodyPr/>
                  <a:lstStyle/>
                  <a:p>
                    <a:fld id="{57682468-665F-4766-B935-AAD6C114FF18}" type="VALUE">
                      <a:rPr lang="en-US" altLang="ja-JP" sz="1050">
                        <a:solidFill>
                          <a:schemeClr val="tx1"/>
                        </a:solidFill>
                      </a:rPr>
                      <a:pPr/>
                      <a:t>[値]</a:t>
                    </a:fld>
                    <a:endParaRPr lang="ja-JP" altLang="en-US"/>
                  </a:p>
                </c:rich>
              </c:tx>
              <c:dLblPos val="inEnd"/>
              <c:showLegendKey val="0"/>
              <c:showVal val="1"/>
              <c:showCatName val="0"/>
              <c:showSerName val="0"/>
              <c:showPercent val="0"/>
              <c:showBubbleSize val="0"/>
              <c:extLst>
                <c:ext xmlns:c15="http://schemas.microsoft.com/office/drawing/2012/chart" uri="{CE6537A1-D6FC-4f65-9D91-7224C49458BB}">
                  <c15:layout>
                    <c:manualLayout>
                      <c:w val="9.6490360987538965E-2"/>
                      <c:h val="5.490617735103346E-2"/>
                    </c:manualLayout>
                  </c15:layout>
                  <c15:dlblFieldTable/>
                  <c15:showDataLabelsRange val="0"/>
                </c:ext>
                <c:ext xmlns:c16="http://schemas.microsoft.com/office/drawing/2014/chart" uri="{C3380CC4-5D6E-409C-BE32-E72D297353CC}">
                  <c16:uniqueId val="{00000001-D6E0-4C96-8FBE-C154278C2DD7}"/>
                </c:ext>
              </c:extLst>
            </c:dLbl>
            <c:dLbl>
              <c:idx val="2"/>
              <c:tx>
                <c:rich>
                  <a:bodyPr/>
                  <a:lstStyle/>
                  <a:p>
                    <a:fld id="{4792DF2D-B934-4B70-8E78-9565797AE999}" type="VALUE">
                      <a:rPr lang="en-US" altLang="ja-JP" sz="1050">
                        <a:solidFill>
                          <a:schemeClr val="tx1"/>
                        </a:solidFill>
                      </a:rPr>
                      <a:pPr/>
                      <a:t>[値]</a:t>
                    </a:fld>
                    <a:endParaRPr lang="ja-JP" alt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CFD-430F-8728-A2670BDDB4DB}"/>
                </c:ext>
              </c:extLst>
            </c:dLbl>
            <c:dLbl>
              <c:idx val="3"/>
              <c:layout>
                <c:manualLayout>
                  <c:x val="6.255866927694493E-3"/>
                  <c:y val="8.9439454067206364E-3"/>
                </c:manualLayout>
              </c:layout>
              <c:tx>
                <c:rich>
                  <a:bodyPr rot="0" spcFirstLastPara="1" vertOverflow="ellipsis" vert="horz" wrap="square" anchor="ctr" anchorCtr="1"/>
                  <a:lstStyle/>
                  <a:p>
                    <a:pPr>
                      <a:defRPr lang="ja-JP" sz="1300" b="1" i="0" u="none" strike="noStrike" kern="1200" baseline="0">
                        <a:solidFill>
                          <a:schemeClr val="tx1"/>
                        </a:solidFill>
                        <a:latin typeface="Poppins SemiBold" pitchFamily="2" charset="0"/>
                        <a:ea typeface="+mn-ea"/>
                        <a:cs typeface="Poppins SemiBold" pitchFamily="2" charset="0"/>
                      </a:defRPr>
                    </a:pPr>
                    <a:fld id="{44FCA550-C3DE-4B3A-8E60-FE16D3452994}" type="VALUE">
                      <a:rPr lang="en-US" altLang="ja-JP" sz="1300" b="1" i="0">
                        <a:solidFill>
                          <a:schemeClr val="tx1"/>
                        </a:solidFill>
                        <a:latin typeface="Poppins SemiBold" pitchFamily="2" charset="0"/>
                        <a:cs typeface="Poppins SemiBold" pitchFamily="2" charset="0"/>
                      </a:rPr>
                      <a:pPr>
                        <a:defRPr lang="ja-JP" sz="1300" b="1" i="0" u="none" strike="noStrike" kern="1200" baseline="0">
                          <a:solidFill>
                            <a:schemeClr val="tx1"/>
                          </a:solidFill>
                          <a:latin typeface="Poppins SemiBold" pitchFamily="2" charset="0"/>
                          <a:ea typeface="+mn-ea"/>
                          <a:cs typeface="Poppins SemiBold" pitchFamily="2" charset="0"/>
                        </a:defRPr>
                      </a:pPr>
                      <a:t>[値]</a:t>
                    </a:fld>
                    <a:endParaRPr lang="ja-JP" alt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8CFD-430F-8728-A2670BDDB4DB}"/>
                </c:ext>
              </c:extLst>
            </c:dLbl>
            <c:dLbl>
              <c:idx val="4"/>
              <c:layout>
                <c:manualLayout>
                  <c:x val="6.255866927694493E-3"/>
                  <c:y val="1.192526054229418E-2"/>
                </c:manualLayout>
              </c:layout>
              <c:tx>
                <c:rich>
                  <a:bodyPr rot="0" spcFirstLastPara="1" vertOverflow="ellipsis" vert="horz" wrap="square" anchor="ctr" anchorCtr="1"/>
                  <a:lstStyle/>
                  <a:p>
                    <a:pPr>
                      <a:defRPr lang="ja-JP" sz="1300" b="1" i="0" u="none" strike="noStrike" kern="1200" baseline="0">
                        <a:solidFill>
                          <a:schemeClr val="tx1"/>
                        </a:solidFill>
                        <a:latin typeface="Poppins SemiBold" pitchFamily="2" charset="0"/>
                        <a:ea typeface="+mn-ea"/>
                        <a:cs typeface="Poppins SemiBold" pitchFamily="2" charset="0"/>
                      </a:defRPr>
                    </a:pPr>
                    <a:fld id="{B1EDC59B-01AD-433E-8EC9-2A89523788D2}" type="VALUE">
                      <a:rPr lang="en-US" altLang="ja-JP" sz="1300" b="1" i="0">
                        <a:solidFill>
                          <a:schemeClr val="tx1"/>
                        </a:solidFill>
                        <a:latin typeface="Poppins SemiBold" pitchFamily="2" charset="0"/>
                        <a:cs typeface="Poppins SemiBold" pitchFamily="2" charset="0"/>
                      </a:rPr>
                      <a:pPr>
                        <a:defRPr lang="ja-JP" sz="1300" b="1" i="0" u="none" strike="noStrike" kern="1200" baseline="0">
                          <a:solidFill>
                            <a:schemeClr val="tx1"/>
                          </a:solidFill>
                          <a:latin typeface="Poppins SemiBold" pitchFamily="2" charset="0"/>
                          <a:ea typeface="+mn-ea"/>
                          <a:cs typeface="Poppins SemiBold" pitchFamily="2" charset="0"/>
                        </a:defRPr>
                      </a:pPr>
                      <a:t>[値]</a:t>
                    </a:fld>
                    <a:endParaRPr lang="ja-JP" alt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6E0-4C96-8FBE-C154278C2DD7}"/>
                </c:ext>
              </c:extLst>
            </c:dLbl>
            <c:spPr>
              <a:noFill/>
              <a:ln>
                <a:noFill/>
              </a:ln>
              <a:effectLst/>
            </c:spPr>
            <c:txPr>
              <a:bodyPr rot="0" spcFirstLastPara="1" vertOverflow="ellipsis" vert="horz" wrap="square" anchor="ctr" anchorCtr="1"/>
              <a:lstStyle/>
              <a:p>
                <a:pPr>
                  <a:defRPr lang="ja-JP" sz="1050" b="1" i="0" u="none" strike="noStrike" kern="1200" baseline="0">
                    <a:solidFill>
                      <a:schemeClr val="tx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Sheet1!$D$2:$D$6</c:f>
              <c:numCache>
                <c:formatCode>#,##0</c:formatCode>
                <c:ptCount val="5"/>
                <c:pt idx="0">
                  <c:v>116</c:v>
                </c:pt>
                <c:pt idx="1">
                  <c:v>139</c:v>
                </c:pt>
                <c:pt idx="2">
                  <c:v>374</c:v>
                </c:pt>
                <c:pt idx="3">
                  <c:v>381</c:v>
                </c:pt>
                <c:pt idx="4">
                  <c:v>456</c:v>
                </c:pt>
              </c:numCache>
            </c:numRef>
          </c:val>
          <c:extLst>
            <c:ext xmlns:c16="http://schemas.microsoft.com/office/drawing/2014/chart" uri="{C3380CC4-5D6E-409C-BE32-E72D297353CC}">
              <c16:uniqueId val="{0000000E-8743-46EF-B0E9-6DBB467FCCF5}"/>
            </c:ext>
          </c:extLst>
        </c:ser>
        <c:dLbls>
          <c:showLegendKey val="0"/>
          <c:showVal val="0"/>
          <c:showCatName val="0"/>
          <c:showSerName val="0"/>
          <c:showPercent val="0"/>
          <c:showBubbleSize val="0"/>
        </c:dLbls>
        <c:gapWidth val="50"/>
        <c:axId val="653676592"/>
        <c:axId val="653689072"/>
      </c:barChart>
      <c:lineChart>
        <c:grouping val="standard"/>
        <c:varyColors val="0"/>
        <c:ser>
          <c:idx val="3"/>
          <c:order val="3"/>
          <c:tx>
            <c:strRef>
              <c:f>Sheet1!$E$1</c:f>
              <c:strCache>
                <c:ptCount val="1"/>
                <c:pt idx="0">
                  <c:v>Operating Profit Margin</c:v>
                </c:pt>
              </c:strCache>
            </c:strRef>
          </c:tx>
          <c:spPr>
            <a:ln w="12700" cap="rnd">
              <a:solidFill>
                <a:srgbClr val="00A7FF"/>
              </a:solidFill>
              <a:round/>
            </a:ln>
            <a:effectLst/>
          </c:spPr>
          <c:marker>
            <c:symbol val="circle"/>
            <c:size val="5"/>
            <c:spPr>
              <a:solidFill>
                <a:srgbClr val="00A7FF"/>
              </a:solidFill>
              <a:ln w="9525">
                <a:noFill/>
              </a:ln>
              <a:effectLst/>
            </c:spPr>
          </c:marker>
          <c:dLbls>
            <c:dLbl>
              <c:idx val="2"/>
              <c:layout>
                <c:manualLayout>
                  <c:x val="-5.613072495974325E-2"/>
                  <c:y val="-4.460516078914727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2F7-40F0-9219-F6A301D25C05}"/>
                </c:ext>
              </c:extLst>
            </c:dLbl>
            <c:dLbl>
              <c:idx val="3"/>
              <c:layout>
                <c:manualLayout>
                  <c:x val="-5.0052189692991356E-2"/>
                  <c:y val="-2.944036958917714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3E-4AE5-9A32-786B536202E0}"/>
                </c:ext>
              </c:extLst>
            </c:dLbl>
            <c:dLbl>
              <c:idx val="4"/>
              <c:layout>
                <c:manualLayout>
                  <c:x val="1.0129250151429745E-2"/>
                  <c:y val="-3.54029998603242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10-4E45-8D71-031D4A44FEDC}"/>
                </c:ext>
              </c:extLst>
            </c:dLbl>
            <c:spPr>
              <a:noFill/>
              <a:ln>
                <a:noFill/>
              </a:ln>
              <a:effectLst/>
            </c:spPr>
            <c:txPr>
              <a:bodyPr rot="0" spcFirstLastPara="1" vertOverflow="ellipsis" vert="horz" wrap="square" lIns="38100" tIns="19050" rIns="38100" bIns="19050" anchor="ctr" anchorCtr="1">
                <a:spAutoFit/>
              </a:bodyPr>
              <a:lstStyle/>
              <a:p>
                <a:pPr>
                  <a:defRPr lang="ja-JP" sz="1050" b="1" i="0" u="none" strike="noStrike" kern="1200" baseline="0">
                    <a:solidFill>
                      <a:srgbClr val="00A7FF"/>
                    </a:solidFill>
                    <a:latin typeface="Poppins SemiBold" pitchFamily="2" charset="0"/>
                    <a:ea typeface="+mn-ea"/>
                    <a:cs typeface="Poppins SemiBold" pitchFamily="2" charset="0"/>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Sheet1!$E$2:$E$6</c:f>
              <c:numCache>
                <c:formatCode>0.0%</c:formatCode>
                <c:ptCount val="5"/>
                <c:pt idx="0">
                  <c:v>9.7593163462746227E-2</c:v>
                </c:pt>
                <c:pt idx="1">
                  <c:v>0.13540689319887872</c:v>
                </c:pt>
                <c:pt idx="2">
                  <c:v>0.22981513358763619</c:v>
                </c:pt>
                <c:pt idx="3">
                  <c:v>0.24098479602124215</c:v>
                </c:pt>
                <c:pt idx="4">
                  <c:v>0.21169373631230334</c:v>
                </c:pt>
              </c:numCache>
            </c:numRef>
          </c:val>
          <c:smooth val="0"/>
          <c:extLst>
            <c:ext xmlns:c16="http://schemas.microsoft.com/office/drawing/2014/chart" uri="{C3380CC4-5D6E-409C-BE32-E72D297353CC}">
              <c16:uniqueId val="{00000006-24D5-42D1-8D09-52325B7DBE9A}"/>
            </c:ext>
          </c:extLst>
        </c:ser>
        <c:dLbls>
          <c:showLegendKey val="0"/>
          <c:showVal val="0"/>
          <c:showCatName val="0"/>
          <c:showSerName val="0"/>
          <c:showPercent val="0"/>
          <c:showBubbleSize val="0"/>
        </c:dLbls>
        <c:marker val="1"/>
        <c:smooth val="0"/>
        <c:axId val="1196658863"/>
        <c:axId val="1196652143"/>
      </c:lineChart>
      <c:catAx>
        <c:axId val="653676592"/>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ja-JP"/>
          </a:p>
        </c:txPr>
        <c:crossAx val="653689072"/>
        <c:crosses val="autoZero"/>
        <c:auto val="0"/>
        <c:lblAlgn val="ctr"/>
        <c:lblOffset val="0"/>
        <c:tickLblSkip val="1"/>
        <c:noMultiLvlLbl val="0"/>
      </c:catAx>
      <c:valAx>
        <c:axId val="653689072"/>
        <c:scaling>
          <c:orientation val="minMax"/>
          <c:max val="800"/>
          <c:min val="0"/>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bg1"/>
                </a:solidFill>
                <a:latin typeface="Poppins" pitchFamily="2" charset="0"/>
                <a:ea typeface="M PLUS 1p" panose="020B0502020203020207" pitchFamily="34" charset="-128"/>
                <a:cs typeface="Poppins" pitchFamily="2" charset="0"/>
              </a:defRPr>
            </a:pPr>
            <a:endParaRPr lang="ja-JP"/>
          </a:p>
        </c:txPr>
        <c:crossAx val="653676592"/>
        <c:crosses val="autoZero"/>
        <c:crossBetween val="between"/>
        <c:majorUnit val="200"/>
      </c:valAx>
      <c:valAx>
        <c:axId val="1196652143"/>
        <c:scaling>
          <c:orientation val="minMax"/>
          <c:max val="0.29000000000000004"/>
          <c:min val="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ja-JP" sz="1000" b="0" i="0" u="none" strike="noStrike" kern="1200" baseline="0">
                <a:solidFill>
                  <a:schemeClr val="bg1"/>
                </a:solidFill>
                <a:latin typeface="+mn-lt"/>
                <a:ea typeface="+mn-ea"/>
                <a:cs typeface="+mn-cs"/>
              </a:defRPr>
            </a:pPr>
            <a:endParaRPr lang="ja-JP"/>
          </a:p>
        </c:txPr>
        <c:crossAx val="1196658863"/>
        <c:crosses val="max"/>
        <c:crossBetween val="between"/>
        <c:majorUnit val="0.1"/>
      </c:valAx>
      <c:catAx>
        <c:axId val="1196658863"/>
        <c:scaling>
          <c:orientation val="minMax"/>
        </c:scaling>
        <c:delete val="1"/>
        <c:axPos val="t"/>
        <c:numFmt formatCode="General" sourceLinked="1"/>
        <c:majorTickMark val="out"/>
        <c:minorTickMark val="none"/>
        <c:tickLblPos val="nextTo"/>
        <c:crossAx val="1196652143"/>
        <c:crosses val="max"/>
        <c:auto val="1"/>
        <c:lblAlgn val="ctr"/>
        <c:lblOffset val="100"/>
        <c:noMultiLvlLbl val="0"/>
      </c:catAx>
      <c:spPr>
        <a:solidFill>
          <a:schemeClr val="bg1"/>
        </a:solidFill>
        <a:ln>
          <a:noFill/>
        </a:ln>
        <a:effectLst/>
      </c:spPr>
    </c:plotArea>
    <c:legend>
      <c:legendPos val="b"/>
      <c:legendEntry>
        <c:idx val="2"/>
        <c:txPr>
          <a:bodyPr rot="0" spcFirstLastPara="1" vertOverflow="ellipsis" vert="horz" wrap="square" anchor="ctr" anchorCtr="1"/>
          <a:lstStyle/>
          <a:p>
            <a:pPr>
              <a:lnSpc>
                <a:spcPct val="100000"/>
              </a:lnSpc>
              <a:defRPr lang="ja-JP"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ayout>
        <c:manualLayout>
          <c:xMode val="edge"/>
          <c:yMode val="edge"/>
          <c:x val="5.6622491926894038E-2"/>
          <c:y val="4.1396851778166682E-2"/>
          <c:w val="0.44783912340362508"/>
          <c:h val="0.27242764735502184"/>
        </c:manualLayout>
      </c:layout>
      <c:overlay val="0"/>
      <c:spPr>
        <a:noFill/>
        <a:ln>
          <a:noFill/>
        </a:ln>
        <a:effectLst/>
      </c:spPr>
      <c:txPr>
        <a:bodyPr rot="0" spcFirstLastPara="1" vertOverflow="ellipsis" vert="horz" wrap="square" anchor="ctr" anchorCtr="1"/>
        <a:lstStyle/>
        <a:p>
          <a:pPr>
            <a:lnSpc>
              <a:spcPct val="100000"/>
            </a:lnSpc>
            <a:defRPr lang="ja-JP"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737373"/>
          </a:solidFill>
        </a:defRPr>
      </a:pPr>
      <a:endParaRPr lang="ja-JP"/>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8159957088068"/>
          <c:y val="0.19044985116897512"/>
          <c:w val="0.84005786281762906"/>
          <c:h val="0.68525194723810789"/>
        </c:manualLayout>
      </c:layout>
      <c:barChart>
        <c:barDir val="col"/>
        <c:grouping val="clustered"/>
        <c:varyColors val="0"/>
        <c:ser>
          <c:idx val="0"/>
          <c:order val="0"/>
          <c:tx>
            <c:strRef>
              <c:f>Sheet1!$B$1</c:f>
              <c:strCache>
                <c:ptCount val="1"/>
                <c:pt idx="0">
                  <c:v>Net Sales</c:v>
                </c:pt>
              </c:strCache>
            </c:strRef>
          </c:tx>
          <c:spPr>
            <a:solidFill>
              <a:srgbClr val="142FA4"/>
            </a:solidFill>
            <a:ln>
              <a:noFill/>
            </a:ln>
            <a:effectLst/>
          </c:spPr>
          <c:invertIfNegative val="0"/>
          <c:dPt>
            <c:idx val="2"/>
            <c:invertIfNegative val="0"/>
            <c:bubble3D val="0"/>
            <c:extLst>
              <c:ext xmlns:c16="http://schemas.microsoft.com/office/drawing/2014/chart" uri="{C3380CC4-5D6E-409C-BE32-E72D297353CC}">
                <c16:uniqueId val="{00000005-A565-4977-837F-09493F570F07}"/>
              </c:ext>
            </c:extLst>
          </c:dPt>
          <c:dPt>
            <c:idx val="3"/>
            <c:invertIfNegative val="0"/>
            <c:bubble3D val="0"/>
            <c:spPr>
              <a:solidFill>
                <a:srgbClr val="142FA4"/>
              </a:solidFill>
              <a:ln>
                <a:noFill/>
              </a:ln>
              <a:effectLst/>
            </c:spPr>
            <c:extLst>
              <c:ext xmlns:c16="http://schemas.microsoft.com/office/drawing/2014/chart" uri="{C3380CC4-5D6E-409C-BE32-E72D297353CC}">
                <c16:uniqueId val="{00000000-6C50-4B8D-9FEC-C72FFCACB3F1}"/>
              </c:ext>
            </c:extLst>
          </c:dPt>
          <c:dLbls>
            <c:spPr>
              <a:noFill/>
              <a:ln>
                <a:noFill/>
              </a:ln>
              <a:effectLst/>
            </c:spPr>
            <c:txPr>
              <a:bodyPr rot="0" spcFirstLastPara="1" vertOverflow="ellipsis" vert="horz" wrap="square" anchor="ctr" anchorCtr="1"/>
              <a:lstStyle/>
              <a:p>
                <a:pPr>
                  <a:defRPr lang="ja-JP" sz="1050" b="1" i="0" u="none" strike="noStrike" kern="1200" baseline="0">
                    <a:solidFill>
                      <a:schemeClr val="bg1"/>
                    </a:solidFill>
                    <a:latin typeface="Poppins SemiBold" pitchFamily="2" charset="0"/>
                    <a:ea typeface="Hiragino Sans W6" panose="020B0400000000000000"/>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Sheet1!$B$2:$B$6</c:f>
              <c:numCache>
                <c:formatCode>#,##0</c:formatCode>
                <c:ptCount val="5"/>
                <c:pt idx="0">
                  <c:v>1694</c:v>
                </c:pt>
                <c:pt idx="1">
                  <c:v>1765</c:v>
                </c:pt>
                <c:pt idx="2">
                  <c:v>2347</c:v>
                </c:pt>
                <c:pt idx="3">
                  <c:v>2378</c:v>
                </c:pt>
                <c:pt idx="4">
                  <c:v>3008</c:v>
                </c:pt>
              </c:numCache>
            </c:numRef>
          </c:val>
          <c:extLst>
            <c:ext xmlns:c16="http://schemas.microsoft.com/office/drawing/2014/chart" uri="{C3380CC4-5D6E-409C-BE32-E72D297353CC}">
              <c16:uniqueId val="{00000007-54DF-417D-A470-312A331EE0CA}"/>
            </c:ext>
          </c:extLst>
        </c:ser>
        <c:dLbls>
          <c:showLegendKey val="0"/>
          <c:showVal val="1"/>
          <c:showCatName val="0"/>
          <c:showSerName val="0"/>
          <c:showPercent val="0"/>
          <c:showBubbleSize val="0"/>
        </c:dLbls>
        <c:gapWidth val="64"/>
        <c:axId val="75494975"/>
        <c:axId val="75477087"/>
      </c:barChart>
      <c:lineChart>
        <c:grouping val="standard"/>
        <c:varyColors val="0"/>
        <c:ser>
          <c:idx val="1"/>
          <c:order val="1"/>
          <c:tx>
            <c:strRef>
              <c:f>Sheet1!$C$1</c:f>
              <c:strCache>
                <c:ptCount val="1"/>
                <c:pt idx="0">
                  <c:v>Percentage of Mobile Segment (right axis)</c:v>
                </c:pt>
              </c:strCache>
            </c:strRef>
          </c:tx>
          <c:spPr>
            <a:ln w="12700" cap="rnd">
              <a:solidFill>
                <a:srgbClr val="00A7FF"/>
              </a:solidFill>
              <a:round/>
            </a:ln>
            <a:effectLst/>
          </c:spPr>
          <c:marker>
            <c:symbol val="circle"/>
            <c:size val="5"/>
            <c:spPr>
              <a:solidFill>
                <a:srgbClr val="00A7FF"/>
              </a:solidFill>
              <a:ln w="9525">
                <a:noFill/>
              </a:ln>
              <a:effectLst/>
            </c:spPr>
          </c:marker>
          <c:dPt>
            <c:idx val="3"/>
            <c:marker>
              <c:symbol val="circle"/>
              <c:size val="5"/>
              <c:spPr>
                <a:solidFill>
                  <a:srgbClr val="00A7FF"/>
                </a:solidFill>
                <a:ln w="9525">
                  <a:noFill/>
                </a:ln>
                <a:effectLst/>
              </c:spPr>
            </c:marker>
            <c:bubble3D val="0"/>
            <c:spPr>
              <a:ln w="12700" cap="rnd">
                <a:solidFill>
                  <a:srgbClr val="00A7FF"/>
                </a:solidFill>
                <a:round/>
              </a:ln>
              <a:effectLst/>
            </c:spPr>
            <c:extLst>
              <c:ext xmlns:c16="http://schemas.microsoft.com/office/drawing/2014/chart" uri="{C3380CC4-5D6E-409C-BE32-E72D297353CC}">
                <c16:uniqueId val="{00000008-E020-47D9-9475-BE725B844D0D}"/>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lang="ja-JP" sz="1050" b="1" i="0" u="none" strike="noStrike" kern="1200" baseline="0">
                    <a:solidFill>
                      <a:schemeClr val="accent1"/>
                    </a:solidFill>
                    <a:latin typeface="Poppins SemiBold" pitchFamily="2" charset="0"/>
                    <a:ea typeface="Hiragino Sans W6" panose="020B0400000000000000"/>
                    <a:cs typeface="Poppins SemiBold" pitchFamily="2" charset="0"/>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Sheet1!$C$2:$C$6</c:f>
              <c:numCache>
                <c:formatCode>0.0%</c:formatCode>
                <c:ptCount val="5"/>
                <c:pt idx="0">
                  <c:v>0.65088589159110311</c:v>
                </c:pt>
                <c:pt idx="1">
                  <c:v>0.57183682428540927</c:v>
                </c:pt>
                <c:pt idx="2">
                  <c:v>0.57581554730013607</c:v>
                </c:pt>
                <c:pt idx="3">
                  <c:v>0.57275900127361223</c:v>
                </c:pt>
                <c:pt idx="4">
                  <c:v>0.5522032641156559</c:v>
                </c:pt>
              </c:numCache>
            </c:numRef>
          </c:val>
          <c:smooth val="0"/>
          <c:extLst>
            <c:ext xmlns:c16="http://schemas.microsoft.com/office/drawing/2014/chart" uri="{C3380CC4-5D6E-409C-BE32-E72D297353CC}">
              <c16:uniqueId val="{00000008-54DF-417D-A470-312A331EE0CA}"/>
            </c:ext>
          </c:extLst>
        </c:ser>
        <c:dLbls>
          <c:showLegendKey val="0"/>
          <c:showVal val="0"/>
          <c:showCatName val="0"/>
          <c:showSerName val="0"/>
          <c:showPercent val="0"/>
          <c:showBubbleSize val="0"/>
        </c:dLbls>
        <c:marker val="1"/>
        <c:smooth val="0"/>
        <c:axId val="598981887"/>
        <c:axId val="654072319"/>
      </c:lineChart>
      <c:catAx>
        <c:axId val="75494975"/>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Hiragino Sans W6" panose="020B0400000000000000"/>
                <a:cs typeface="Poppins" pitchFamily="2" charset="0"/>
              </a:defRPr>
            </a:pPr>
            <a:endParaRPr lang="ja-JP"/>
          </a:p>
        </c:txPr>
        <c:crossAx val="75477087"/>
        <c:crosses val="autoZero"/>
        <c:auto val="1"/>
        <c:lblAlgn val="ctr"/>
        <c:lblOffset val="0"/>
        <c:noMultiLvlLbl val="0"/>
      </c:catAx>
      <c:valAx>
        <c:axId val="75477087"/>
        <c:scaling>
          <c:orientation val="minMax"/>
          <c:max val="3300"/>
          <c:min val="0"/>
        </c:scaling>
        <c:delete val="0"/>
        <c:axPos val="l"/>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bg1"/>
                </a:solidFill>
                <a:latin typeface="Poppins" pitchFamily="2" charset="0"/>
                <a:ea typeface="Hiragino Sans W6" panose="020B0400000000000000"/>
                <a:cs typeface="Poppins" pitchFamily="2" charset="0"/>
              </a:defRPr>
            </a:pPr>
            <a:endParaRPr lang="ja-JP"/>
          </a:p>
        </c:txPr>
        <c:crossAx val="75494975"/>
        <c:crosses val="autoZero"/>
        <c:crossBetween val="between"/>
        <c:majorUnit val="1000"/>
        <c:minorUnit val="200"/>
      </c:valAx>
      <c:valAx>
        <c:axId val="654072319"/>
        <c:scaling>
          <c:orientation val="minMax"/>
          <c:max val="0.75000000000000011"/>
          <c:min val="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bg1"/>
                </a:solidFill>
                <a:latin typeface="Poppins" pitchFamily="2" charset="0"/>
                <a:ea typeface="Hiragino Sans W6" panose="020B0400000000000000"/>
                <a:cs typeface="Poppins" pitchFamily="2" charset="0"/>
              </a:defRPr>
            </a:pPr>
            <a:endParaRPr lang="ja-JP"/>
          </a:p>
        </c:txPr>
        <c:crossAx val="598981887"/>
        <c:crosses val="max"/>
        <c:crossBetween val="between"/>
        <c:majorUnit val="0.2"/>
      </c:valAx>
      <c:catAx>
        <c:axId val="598981887"/>
        <c:scaling>
          <c:orientation val="minMax"/>
        </c:scaling>
        <c:delete val="1"/>
        <c:axPos val="b"/>
        <c:numFmt formatCode="General" sourceLinked="1"/>
        <c:majorTickMark val="out"/>
        <c:minorTickMark val="none"/>
        <c:tickLblPos val="nextTo"/>
        <c:crossAx val="654072319"/>
        <c:crosses val="autoZero"/>
        <c:auto val="1"/>
        <c:lblAlgn val="ctr"/>
        <c:lblOffset val="100"/>
        <c:noMultiLvlLbl val="0"/>
      </c:catAx>
      <c:spPr>
        <a:noFill/>
        <a:ln>
          <a:noFill/>
        </a:ln>
        <a:effectLst/>
      </c:spPr>
    </c:plotArea>
    <c:legend>
      <c:legendPos val="t"/>
      <c:legendEntry>
        <c:idx val="0"/>
        <c:txPr>
          <a:bodyPr rot="0" spcFirstLastPara="1" vertOverflow="ellipsis" vert="horz" wrap="square" anchor="ctr" anchorCtr="1"/>
          <a:lstStyle/>
          <a:p>
            <a:pPr>
              <a:lnSpc>
                <a:spcPct val="100000"/>
              </a:lnSpc>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egendEntry>
        <c:idx val="1"/>
        <c:txPr>
          <a:bodyPr rot="0" spcFirstLastPara="1" vertOverflow="ellipsis" vert="horz" wrap="square" anchor="ctr" anchorCtr="1"/>
          <a:lstStyle/>
          <a:p>
            <a:pPr>
              <a:lnSpc>
                <a:spcPct val="100000"/>
              </a:lnSpc>
              <a:defRPr sz="800" b="0" i="0" u="none" strike="noStrike" kern="1200" baseline="0">
                <a:solidFill>
                  <a:srgbClr val="00A7FF"/>
                </a:solidFill>
                <a:latin typeface="Poppins" pitchFamily="2" charset="0"/>
                <a:ea typeface="M PLUS 1p" panose="020B0502020203020207" pitchFamily="34" charset="-128"/>
                <a:cs typeface="Poppins" pitchFamily="2" charset="0"/>
              </a:defRPr>
            </a:pPr>
            <a:endParaRPr lang="ja-JP"/>
          </a:p>
        </c:txPr>
      </c:legendEntry>
      <c:layout>
        <c:manualLayout>
          <c:xMode val="edge"/>
          <c:yMode val="edge"/>
          <c:x val="8.8159103579932133E-2"/>
          <c:y val="2.9358503273439512E-2"/>
          <c:w val="0.46118924584119758"/>
          <c:h val="7.6968507209950451E-2"/>
        </c:manualLayout>
      </c:layout>
      <c:overlay val="0"/>
      <c:spPr>
        <a:noFill/>
        <a:ln>
          <a:noFill/>
        </a:ln>
        <a:effectLst/>
      </c:spPr>
      <c:txPr>
        <a:bodyPr rot="0" spcFirstLastPara="1" vertOverflow="ellipsis" vert="horz" wrap="square" anchor="ctr" anchorCtr="1"/>
        <a:lstStyle/>
        <a:p>
          <a:pPr>
            <a:lnSpc>
              <a:spcPct val="100000"/>
            </a:lnSpc>
            <a:defRPr sz="800" b="0" i="0" u="none" strike="noStrike" kern="1200" baseline="0">
              <a:solidFill>
                <a:srgbClr val="737373"/>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737373"/>
          </a:solidFill>
          <a:ea typeface="Hiragino Sans W6" panose="020B0400000000000000"/>
        </a:defRPr>
      </a:pPr>
      <a:endParaRPr lang="ja-JP"/>
    </a:p>
  </c:txPr>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9475094493903576E-2"/>
          <c:y val="0.23448434954248432"/>
          <c:w val="0.88302955265535921"/>
          <c:h val="0.64327215453568809"/>
        </c:manualLayout>
      </c:layout>
      <c:barChart>
        <c:barDir val="col"/>
        <c:grouping val="clustered"/>
        <c:varyColors val="0"/>
        <c:ser>
          <c:idx val="0"/>
          <c:order val="0"/>
          <c:tx>
            <c:strRef>
              <c:f>Sheet1!$B$1</c:f>
              <c:strCache>
                <c:ptCount val="1"/>
                <c:pt idx="0">
                  <c:v>Mobile Segment</c:v>
                </c:pt>
              </c:strCache>
            </c:strRef>
          </c:tx>
          <c:spPr>
            <a:solidFill>
              <a:srgbClr val="00A7FF"/>
            </a:solidFill>
            <a:ln>
              <a:noFill/>
            </a:ln>
            <a:effectLst/>
          </c:spPr>
          <c:invertIfNegative val="0"/>
          <c:dPt>
            <c:idx val="4"/>
            <c:invertIfNegative val="0"/>
            <c:bubble3D val="0"/>
            <c:spPr>
              <a:solidFill>
                <a:srgbClr val="00A7FF"/>
              </a:solidFill>
              <a:ln w="19050">
                <a:noFill/>
              </a:ln>
              <a:effectLst/>
            </c:spPr>
            <c:extLst>
              <c:ext xmlns:c16="http://schemas.microsoft.com/office/drawing/2014/chart" uri="{C3380CC4-5D6E-409C-BE32-E72D297353CC}">
                <c16:uniqueId val="{00000001-B8E4-4F1D-8277-C9AA82E17C17}"/>
              </c:ext>
            </c:extLst>
          </c:dPt>
          <c:dLbls>
            <c:dLbl>
              <c:idx val="0"/>
              <c:layout>
                <c:manualLayout>
                  <c:x val="0"/>
                  <c:y val="1.212435215993615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8E4-4F1D-8277-C9AA82E17C17}"/>
                </c:ext>
              </c:extLst>
            </c:dLbl>
            <c:dLbl>
              <c:idx val="1"/>
              <c:layout>
                <c:manualLayout>
                  <c:x val="0"/>
                  <c:y val="-1.444174968379367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8E4-4F1D-8277-C9AA82E17C17}"/>
                </c:ext>
              </c:extLst>
            </c:dLbl>
            <c:dLbl>
              <c:idx val="2"/>
              <c:layout>
                <c:manualLayout>
                  <c:x val="-7.5357282981098313E-17"/>
                  <c:y val="1.2124352159936253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5.8573837504733488E-2"/>
                      <c:h val="4.7337778031792101E-2"/>
                    </c:manualLayout>
                  </c15:layout>
                </c:ext>
                <c:ext xmlns:c16="http://schemas.microsoft.com/office/drawing/2014/chart" uri="{C3380CC4-5D6E-409C-BE32-E72D297353CC}">
                  <c16:uniqueId val="{00000004-B8E4-4F1D-8277-C9AA82E17C17}"/>
                </c:ext>
              </c:extLst>
            </c:dLbl>
            <c:dLbl>
              <c:idx val="3"/>
              <c:layout>
                <c:manualLayout>
                  <c:x val="0"/>
                  <c:y val="1.212435215993625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8E4-4F1D-8277-C9AA82E17C17}"/>
                </c:ext>
              </c:extLst>
            </c:dLbl>
            <c:dLbl>
              <c:idx val="4"/>
              <c:layout>
                <c:manualLayout>
                  <c:x val="0"/>
                  <c:y val="1.502177206466431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8E4-4F1D-8277-C9AA82E17C17}"/>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chemeClr val="accent1"/>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Sheet1!$B$2:$B$6</c:f>
              <c:numCache>
                <c:formatCode>#,##0_ </c:formatCode>
                <c:ptCount val="5"/>
                <c:pt idx="0">
                  <c:v>228</c:v>
                </c:pt>
                <c:pt idx="1">
                  <c:v>365</c:v>
                </c:pt>
                <c:pt idx="2">
                  <c:v>668</c:v>
                </c:pt>
                <c:pt idx="3">
                  <c:v>712</c:v>
                </c:pt>
                <c:pt idx="4">
                  <c:v>806</c:v>
                </c:pt>
              </c:numCache>
            </c:numRef>
          </c:val>
          <c:extLst>
            <c:ext xmlns:c16="http://schemas.microsoft.com/office/drawing/2014/chart" uri="{C3380CC4-5D6E-409C-BE32-E72D297353CC}">
              <c16:uniqueId val="{00000006-B8E4-4F1D-8277-C9AA82E17C17}"/>
            </c:ext>
          </c:extLst>
        </c:ser>
        <c:ser>
          <c:idx val="1"/>
          <c:order val="1"/>
          <c:tx>
            <c:strRef>
              <c:f>Sheet1!$C$1</c:f>
              <c:strCache>
                <c:ptCount val="1"/>
                <c:pt idx="0">
                  <c:v>Solutions Segment</c:v>
                </c:pt>
              </c:strCache>
            </c:strRef>
          </c:tx>
          <c:spPr>
            <a:solidFill>
              <a:srgbClr val="142FA4"/>
            </a:solidFill>
            <a:ln>
              <a:noFill/>
            </a:ln>
            <a:effectLst/>
          </c:spPr>
          <c:invertIfNegative val="0"/>
          <c:dPt>
            <c:idx val="4"/>
            <c:invertIfNegative val="0"/>
            <c:bubble3D val="0"/>
            <c:spPr>
              <a:solidFill>
                <a:srgbClr val="142FA4"/>
              </a:solidFill>
              <a:ln w="19050">
                <a:noFill/>
              </a:ln>
              <a:effectLst/>
            </c:spPr>
            <c:extLst>
              <c:ext xmlns:c16="http://schemas.microsoft.com/office/drawing/2014/chart" uri="{C3380CC4-5D6E-409C-BE32-E72D297353CC}">
                <c16:uniqueId val="{00000008-B8E4-4F1D-8277-C9AA82E17C17}"/>
              </c:ext>
            </c:extLst>
          </c:dPt>
          <c:dLbls>
            <c:dLbl>
              <c:idx val="0"/>
              <c:layout>
                <c:manualLayout>
                  <c:x val="1.7786574057591538E-3"/>
                  <c:y val="1.5396788320200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8E4-4F1D-8277-C9AA82E17C17}"/>
                </c:ext>
              </c:extLst>
            </c:dLbl>
            <c:dLbl>
              <c:idx val="1"/>
              <c:layout>
                <c:manualLayout>
                  <c:x val="-3.4615123200065908E-4"/>
                  <c:y val="1.27669117628786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8E4-4F1D-8277-C9AA82E17C17}"/>
                </c:ext>
              </c:extLst>
            </c:dLbl>
            <c:dLbl>
              <c:idx val="2"/>
              <c:layout>
                <c:manualLayout>
                  <c:x val="9.2420275173237443E-4"/>
                  <c:y val="1.195392787594603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8E4-4F1D-8277-C9AA82E17C17}"/>
                </c:ext>
              </c:extLst>
            </c:dLbl>
            <c:dLbl>
              <c:idx val="3"/>
              <c:layout>
                <c:manualLayout>
                  <c:x val="5.7788969119879346E-4"/>
                  <c:y val="1.4583804433267815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7.1234007295230273E-2"/>
                      <c:h val="4.7337778031792101E-2"/>
                    </c:manualLayout>
                  </c15:layout>
                </c:ext>
                <c:ext xmlns:c16="http://schemas.microsoft.com/office/drawing/2014/chart" uri="{C3380CC4-5D6E-409C-BE32-E72D297353CC}">
                  <c16:uniqueId val="{0000000C-B8E4-4F1D-8277-C9AA82E17C17}"/>
                </c:ext>
              </c:extLst>
            </c:dLbl>
            <c:dLbl>
              <c:idx val="4"/>
              <c:layout>
                <c:manualLayout>
                  <c:x val="2.2787075726043715E-3"/>
                  <c:y val="1.27669117628786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8E4-4F1D-8277-C9AA82E17C17}"/>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rgbClr val="142FA4"/>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FY22/12
2Q</c:v>
                </c:pt>
                <c:pt idx="1">
                  <c:v>FY23/12
2Q</c:v>
                </c:pt>
                <c:pt idx="2">
                  <c:v>FY24/12
2Q</c:v>
                </c:pt>
                <c:pt idx="3">
                  <c:v>FY25/12
2Q</c:v>
                </c:pt>
                <c:pt idx="4">
                  <c:v>FY26/12
2Q</c:v>
                </c:pt>
              </c:strCache>
            </c:strRef>
          </c:cat>
          <c:val>
            <c:numRef>
              <c:f>Sheet1!$C$2:$C$6</c:f>
              <c:numCache>
                <c:formatCode>#,##0_ </c:formatCode>
                <c:ptCount val="5"/>
                <c:pt idx="0">
                  <c:v>90</c:v>
                </c:pt>
                <c:pt idx="1">
                  <c:v>53</c:v>
                </c:pt>
                <c:pt idx="2">
                  <c:v>95</c:v>
                </c:pt>
                <c:pt idx="3">
                  <c:v>140</c:v>
                </c:pt>
                <c:pt idx="4">
                  <c:v>168</c:v>
                </c:pt>
              </c:numCache>
            </c:numRef>
          </c:val>
          <c:extLst>
            <c:ext xmlns:c16="http://schemas.microsoft.com/office/drawing/2014/chart" uri="{C3380CC4-5D6E-409C-BE32-E72D297353CC}">
              <c16:uniqueId val="{0000000D-B8E4-4F1D-8277-C9AA82E17C17}"/>
            </c:ext>
          </c:extLst>
        </c:ser>
        <c:ser>
          <c:idx val="2"/>
          <c:order val="2"/>
          <c:tx>
            <c:strRef>
              <c:f>Sheet1!$D$1</c:f>
              <c:strCache>
                <c:ptCount val="1"/>
                <c:pt idx="0">
                  <c:v>AI Singing Voice Synthesis Segment</c:v>
                </c:pt>
              </c:strCache>
            </c:strRef>
          </c:tx>
          <c:spPr>
            <a:solidFill>
              <a:srgbClr val="D44ED9"/>
            </a:solidFill>
            <a:ln>
              <a:noFill/>
            </a:ln>
            <a:effectLst/>
          </c:spPr>
          <c:invertIfNegative val="0"/>
          <c:dLbls>
            <c:dLbl>
              <c:idx val="3"/>
              <c:layout>
                <c:manualLayout>
                  <c:x val="0"/>
                  <c:y val="7.88962967196536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8E4-4F1D-8277-C9AA82E17C17}"/>
                </c:ext>
              </c:extLst>
            </c:dLbl>
            <c:dLbl>
              <c:idx val="4"/>
              <c:layout>
                <c:manualLayout>
                  <c:x val="-5.2432444678916009E-4"/>
                  <c:y val="8.14325745207620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8E4-4F1D-8277-C9AA82E17C17}"/>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rgbClr val="D44ED9"/>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noFill/>
                      <a:round/>
                    </a:ln>
                    <a:effectLst/>
                  </c:spPr>
                </c15:leaderLines>
              </c:ext>
            </c:extLst>
          </c:dLbls>
          <c:cat>
            <c:strRef>
              <c:f>Sheet1!$A$2:$A$6</c:f>
              <c:strCache>
                <c:ptCount val="5"/>
                <c:pt idx="0">
                  <c:v>FY22/12
2Q</c:v>
                </c:pt>
                <c:pt idx="1">
                  <c:v>FY23/12
2Q</c:v>
                </c:pt>
                <c:pt idx="2">
                  <c:v>FY24/12
2Q</c:v>
                </c:pt>
                <c:pt idx="3">
                  <c:v>FY25/12
2Q</c:v>
                </c:pt>
                <c:pt idx="4">
                  <c:v>FY26/12
2Q</c:v>
                </c:pt>
              </c:strCache>
            </c:strRef>
          </c:cat>
          <c:val>
            <c:numRef>
              <c:f>Sheet1!$D$2:$D$6</c:f>
              <c:numCache>
                <c:formatCode>#,##0_ </c:formatCode>
                <c:ptCount val="5"/>
                <c:pt idx="0">
                  <c:v>#N/A</c:v>
                </c:pt>
                <c:pt idx="1">
                  <c:v>#N/A</c:v>
                </c:pt>
                <c:pt idx="2">
                  <c:v>#N/A</c:v>
                </c:pt>
                <c:pt idx="3">
                  <c:v>-31</c:v>
                </c:pt>
                <c:pt idx="4">
                  <c:v>-39</c:v>
                </c:pt>
              </c:numCache>
            </c:numRef>
          </c:val>
          <c:extLst>
            <c:ext xmlns:c16="http://schemas.microsoft.com/office/drawing/2014/chart" uri="{C3380CC4-5D6E-409C-BE32-E72D297353CC}">
              <c16:uniqueId val="{00000010-B8E4-4F1D-8277-C9AA82E17C17}"/>
            </c:ext>
          </c:extLst>
        </c:ser>
        <c:dLbls>
          <c:dLblPos val="outEnd"/>
          <c:showLegendKey val="0"/>
          <c:showVal val="1"/>
          <c:showCatName val="0"/>
          <c:showSerName val="0"/>
          <c:showPercent val="0"/>
          <c:showBubbleSize val="0"/>
        </c:dLbls>
        <c:gapWidth val="60"/>
        <c:axId val="653676592"/>
        <c:axId val="653689072"/>
      </c:barChart>
      <c:lineChart>
        <c:grouping val="standard"/>
        <c:varyColors val="0"/>
        <c:ser>
          <c:idx val="3"/>
          <c:order val="3"/>
          <c:tx>
            <c:strRef>
              <c:f>Sheet1!$E$1</c:f>
              <c:strCache>
                <c:ptCount val="1"/>
                <c:pt idx="0">
                  <c:v>Mobile Segment Profit Margin</c:v>
                </c:pt>
              </c:strCache>
            </c:strRef>
          </c:tx>
          <c:spPr>
            <a:ln w="12700" cap="rnd">
              <a:solidFill>
                <a:srgbClr val="28D8FF"/>
              </a:solidFill>
              <a:round/>
            </a:ln>
            <a:effectLst/>
          </c:spPr>
          <c:marker>
            <c:symbol val="circle"/>
            <c:size val="5"/>
            <c:spPr>
              <a:solidFill>
                <a:srgbClr val="28D8FF"/>
              </a:solidFill>
              <a:ln w="9525">
                <a:noFill/>
              </a:ln>
              <a:effectLst/>
            </c:spPr>
          </c:marker>
          <c:dLbls>
            <c:dLbl>
              <c:idx val="0"/>
              <c:layout>
                <c:manualLayout>
                  <c:x val="-4.8760231608996375E-2"/>
                  <c:y val="-4.57598520973991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B8E4-4F1D-8277-C9AA82E17C17}"/>
                </c:ext>
              </c:extLst>
            </c:dLbl>
            <c:dLbl>
              <c:idx val="1"/>
              <c:layout>
                <c:manualLayout>
                  <c:x val="-3.7793597415922024E-2"/>
                  <c:y val="-3.44275690580734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B8E4-4F1D-8277-C9AA82E17C17}"/>
                </c:ext>
              </c:extLst>
            </c:dLbl>
            <c:dLbl>
              <c:idx val="2"/>
              <c:layout>
                <c:manualLayout>
                  <c:x val="-5.4569228628114794E-2"/>
                  <c:y val="-4.069143803306769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B8E4-4F1D-8277-C9AA82E17C17}"/>
                </c:ext>
              </c:extLst>
            </c:dLbl>
            <c:dLbl>
              <c:idx val="3"/>
              <c:layout>
                <c:manualLayout>
                  <c:x val="-1.5259459686894154E-2"/>
                  <c:y val="2.99805927534682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B8E4-4F1D-8277-C9AA82E17C17}"/>
                </c:ext>
              </c:extLst>
            </c:dLbl>
            <c:dLbl>
              <c:idx val="4"/>
              <c:layout>
                <c:manualLayout>
                  <c:x val="-1.9724470739782955E-2"/>
                  <c:y val="2.57249554991753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B8E4-4F1D-8277-C9AA82E17C17}"/>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rgbClr val="28D8FF"/>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Sheet1!$E$2:$E$6</c:f>
              <c:numCache>
                <c:formatCode>0.0%</c:formatCode>
                <c:ptCount val="5"/>
                <c:pt idx="0">
                  <c:v>0.20734259375214642</c:v>
                </c:pt>
                <c:pt idx="1">
                  <c:v>0.36226525871378101</c:v>
                </c:pt>
                <c:pt idx="2">
                  <c:v>0.49460356292908381</c:v>
                </c:pt>
                <c:pt idx="3">
                  <c:v>0.52318778662764232</c:v>
                </c:pt>
                <c:pt idx="4">
                  <c:v>0.48535921884803462</c:v>
                </c:pt>
              </c:numCache>
            </c:numRef>
          </c:val>
          <c:smooth val="0"/>
          <c:extLst>
            <c:ext xmlns:c16="http://schemas.microsoft.com/office/drawing/2014/chart" uri="{C3380CC4-5D6E-409C-BE32-E72D297353CC}">
              <c16:uniqueId val="{00000016-B8E4-4F1D-8277-C9AA82E17C17}"/>
            </c:ext>
          </c:extLst>
        </c:ser>
        <c:ser>
          <c:idx val="4"/>
          <c:order val="4"/>
          <c:tx>
            <c:strRef>
              <c:f>Sheet1!$F$1</c:f>
              <c:strCache>
                <c:ptCount val="1"/>
                <c:pt idx="0">
                  <c:v>Solutions Segment Profit Margin</c:v>
                </c:pt>
              </c:strCache>
            </c:strRef>
          </c:tx>
          <c:spPr>
            <a:ln w="12700" cap="rnd">
              <a:solidFill>
                <a:srgbClr val="4168E6"/>
              </a:solidFill>
              <a:round/>
            </a:ln>
            <a:effectLst/>
          </c:spPr>
          <c:marker>
            <c:symbol val="circle"/>
            <c:size val="5"/>
            <c:spPr>
              <a:solidFill>
                <a:srgbClr val="4168E6"/>
              </a:solidFill>
              <a:ln w="9525">
                <a:noFill/>
              </a:ln>
              <a:effectLst/>
            </c:spPr>
          </c:marker>
          <c:dLbls>
            <c:dLbl>
              <c:idx val="0"/>
              <c:layout>
                <c:manualLayout>
                  <c:x val="-4.5504241525848893E-2"/>
                  <c:y val="-2.76853524572986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B8E4-4F1D-8277-C9AA82E17C17}"/>
                </c:ext>
              </c:extLst>
            </c:dLbl>
            <c:dLbl>
              <c:idx val="1"/>
              <c:layout>
                <c:manualLayout>
                  <c:x val="-1.0077367243517456E-2"/>
                  <c:y val="-2.40992727387074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B8E4-4F1D-8277-C9AA82E17C17}"/>
                </c:ext>
              </c:extLst>
            </c:dLbl>
            <c:dLbl>
              <c:idx val="2"/>
              <c:layout>
                <c:manualLayout>
                  <c:x val="-3.01565852884918E-2"/>
                  <c:y val="-3.07935766404011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B8E4-4F1D-8277-C9AA82E17C17}"/>
                </c:ext>
              </c:extLst>
            </c:dLbl>
            <c:dLbl>
              <c:idx val="3"/>
              <c:layout>
                <c:manualLayout>
                  <c:x val="-2.291912780893891E-2"/>
                  <c:y val="-3.07935766404011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B8E4-4F1D-8277-C9AA82E17C17}"/>
                </c:ext>
              </c:extLst>
            </c:dLbl>
            <c:dLbl>
              <c:idx val="4"/>
              <c:layout>
                <c:manualLayout>
                  <c:x val="-2.5683320980421986E-2"/>
                  <c:y val="-2.99805927534684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B8E4-4F1D-8277-C9AA82E17C17}"/>
                </c:ext>
              </c:extLst>
            </c:dLbl>
            <c:spPr>
              <a:noFill/>
              <a:ln>
                <a:noFill/>
              </a:ln>
              <a:effectLst/>
            </c:spPr>
            <c:txPr>
              <a:bodyPr rot="0" spcFirstLastPara="1" vertOverflow="ellipsis" vert="horz" wrap="square" lIns="38100" tIns="19050" rIns="38100" bIns="19050" anchor="ctr" anchorCtr="1">
                <a:spAutoFit/>
              </a:bodyPr>
              <a:lstStyle/>
              <a:p>
                <a:pPr>
                  <a:defRPr lang="ja-JP" sz="1000" b="1" i="0" u="none" strike="noStrike" kern="1200" baseline="0">
                    <a:solidFill>
                      <a:srgbClr val="4168E6"/>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noFill/>
                      <a:round/>
                    </a:ln>
                    <a:effectLst/>
                  </c:spPr>
                </c15:leaderLines>
              </c:ext>
            </c:extLst>
          </c:dLbls>
          <c:cat>
            <c:strRef>
              <c:f>Sheet1!$A$2:$A$6</c:f>
              <c:strCache>
                <c:ptCount val="5"/>
                <c:pt idx="0">
                  <c:v>FY22/12
2Q</c:v>
                </c:pt>
                <c:pt idx="1">
                  <c:v>FY23/12
2Q</c:v>
                </c:pt>
                <c:pt idx="2">
                  <c:v>FY24/12
2Q</c:v>
                </c:pt>
                <c:pt idx="3">
                  <c:v>FY25/12
2Q</c:v>
                </c:pt>
                <c:pt idx="4">
                  <c:v>FY26/12
2Q</c:v>
                </c:pt>
              </c:strCache>
            </c:strRef>
          </c:cat>
          <c:val>
            <c:numRef>
              <c:f>Sheet1!$F$2:$F$6</c:f>
              <c:numCache>
                <c:formatCode>0.0%</c:formatCode>
                <c:ptCount val="5"/>
                <c:pt idx="0">
                  <c:v>0.1537816313199106</c:v>
                </c:pt>
                <c:pt idx="1">
                  <c:v>7.014115809754401E-2</c:v>
                </c:pt>
                <c:pt idx="2">
                  <c:v>9.5936326266911356E-2</c:v>
                </c:pt>
                <c:pt idx="3">
                  <c:v>0.14226900253323169</c:v>
                </c:pt>
                <c:pt idx="4">
                  <c:v>0.13176541020734484</c:v>
                </c:pt>
              </c:numCache>
            </c:numRef>
          </c:val>
          <c:smooth val="0"/>
          <c:extLst>
            <c:ext xmlns:c16="http://schemas.microsoft.com/office/drawing/2014/chart" uri="{C3380CC4-5D6E-409C-BE32-E72D297353CC}">
              <c16:uniqueId val="{0000001C-B8E4-4F1D-8277-C9AA82E17C17}"/>
            </c:ext>
          </c:extLst>
        </c:ser>
        <c:dLbls>
          <c:showLegendKey val="0"/>
          <c:showVal val="1"/>
          <c:showCatName val="0"/>
          <c:showSerName val="0"/>
          <c:showPercent val="0"/>
          <c:showBubbleSize val="0"/>
        </c:dLbls>
        <c:marker val="1"/>
        <c:smooth val="0"/>
        <c:axId val="1419874144"/>
        <c:axId val="1419873664"/>
      </c:lineChart>
      <c:catAx>
        <c:axId val="653676592"/>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ja-JP"/>
          </a:p>
        </c:txPr>
        <c:crossAx val="653689072"/>
        <c:crosses val="autoZero"/>
        <c:auto val="1"/>
        <c:lblAlgn val="ctr"/>
        <c:lblOffset val="180"/>
        <c:noMultiLvlLbl val="0"/>
      </c:catAx>
      <c:valAx>
        <c:axId val="653689072"/>
        <c:scaling>
          <c:orientation val="minMax"/>
          <c:max val="870"/>
          <c:min val="-70"/>
        </c:scaling>
        <c:delete val="0"/>
        <c:axPos val="l"/>
        <c:numFmt formatCode="#,##0_ "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bg1"/>
                </a:solidFill>
                <a:latin typeface="Poppins" pitchFamily="2" charset="0"/>
                <a:ea typeface="+mn-ea"/>
                <a:cs typeface="Poppins" pitchFamily="2" charset="0"/>
              </a:defRPr>
            </a:pPr>
            <a:endParaRPr lang="ja-JP"/>
          </a:p>
        </c:txPr>
        <c:crossAx val="653676592"/>
        <c:crosses val="autoZero"/>
        <c:crossBetween val="between"/>
        <c:majorUnit val="200"/>
      </c:valAx>
      <c:valAx>
        <c:axId val="1419873664"/>
        <c:scaling>
          <c:orientation val="minMax"/>
          <c:max val="0.65000000000000013"/>
          <c:min val="-0.1"/>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ja-JP" sz="1000" b="0" i="0" u="none" strike="noStrike" kern="1200" baseline="0">
                <a:solidFill>
                  <a:schemeClr val="bg1"/>
                </a:solidFill>
                <a:latin typeface="+mn-lt"/>
                <a:ea typeface="+mn-ea"/>
                <a:cs typeface="+mn-cs"/>
              </a:defRPr>
            </a:pPr>
            <a:endParaRPr lang="ja-JP"/>
          </a:p>
        </c:txPr>
        <c:crossAx val="1419874144"/>
        <c:crosses val="max"/>
        <c:crossBetween val="between"/>
      </c:valAx>
      <c:catAx>
        <c:axId val="1419874144"/>
        <c:scaling>
          <c:orientation val="minMax"/>
        </c:scaling>
        <c:delete val="1"/>
        <c:axPos val="b"/>
        <c:numFmt formatCode="General" sourceLinked="1"/>
        <c:majorTickMark val="out"/>
        <c:minorTickMark val="none"/>
        <c:tickLblPos val="nextTo"/>
        <c:crossAx val="1419873664"/>
        <c:crosses val="autoZero"/>
        <c:auto val="1"/>
        <c:lblAlgn val="ctr"/>
        <c:lblOffset val="100"/>
        <c:noMultiLvlLbl val="0"/>
      </c:catAx>
      <c:spPr>
        <a:solidFill>
          <a:schemeClr val="bg1"/>
        </a:solidFill>
        <a:ln>
          <a:noFill/>
        </a:ln>
        <a:effectLst/>
      </c:spPr>
    </c:plotArea>
    <c:legend>
      <c:legendPos val="l"/>
      <c:layout>
        <c:manualLayout>
          <c:xMode val="edge"/>
          <c:yMode val="edge"/>
          <c:x val="6.6185604381022042E-2"/>
          <c:y val="7.974365537103624E-2"/>
          <c:w val="0.43296253022147851"/>
          <c:h val="0.18049546874339939"/>
        </c:manualLayout>
      </c:layout>
      <c:overlay val="0"/>
      <c:spPr>
        <a:noFill/>
        <a:ln>
          <a:noFill/>
        </a:ln>
        <a:effectLst/>
      </c:spPr>
      <c:txPr>
        <a:bodyPr rot="0" spcFirstLastPara="1" vertOverflow="ellipsis" vert="horz" wrap="square" anchor="ctr" anchorCtr="1"/>
        <a:lstStyle/>
        <a:p>
          <a:pPr>
            <a:lnSpc>
              <a:spcPts val="960"/>
            </a:lnSpc>
            <a:defRPr lang="ja-JP" sz="800" b="0" i="0" u="none" strike="noStrike" kern="1200" baseline="0">
              <a:solidFill>
                <a:srgbClr val="142FA4"/>
              </a:solidFill>
              <a:latin typeface="M PLUS 1p" panose="020B0502020203020207" pitchFamily="34" charset="-128"/>
              <a:ea typeface="M PLUS 1p" panose="020B0502020203020207" pitchFamily="34" charset="-128"/>
              <a:cs typeface="M PLUS 1p" panose="020B0502020203020207" pitchFamily="34" charset="-128"/>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737373"/>
          </a:solidFill>
        </a:defRPr>
      </a:pPr>
      <a:endParaRPr lang="ja-JP"/>
    </a:p>
  </c:tx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9475094493903576E-2"/>
          <c:y val="0.1543239922772639"/>
          <c:w val="0.88302955265535921"/>
          <c:h val="0.73542182266311451"/>
        </c:manualLayout>
      </c:layout>
      <c:barChart>
        <c:barDir val="col"/>
        <c:grouping val="clustered"/>
        <c:varyColors val="0"/>
        <c:ser>
          <c:idx val="0"/>
          <c:order val="0"/>
          <c:tx>
            <c:strRef>
              <c:f>Sheet1!$B$1</c:f>
              <c:strCache>
                <c:ptCount val="1"/>
                <c:pt idx="0">
                  <c:v>Mobile Segment</c:v>
                </c:pt>
              </c:strCache>
            </c:strRef>
          </c:tx>
          <c:spPr>
            <a:solidFill>
              <a:srgbClr val="00A7FF"/>
            </a:solidFill>
            <a:ln>
              <a:noFill/>
            </a:ln>
            <a:effectLst/>
          </c:spPr>
          <c:invertIfNegative val="0"/>
          <c:dPt>
            <c:idx val="4"/>
            <c:invertIfNegative val="0"/>
            <c:bubble3D val="0"/>
            <c:spPr>
              <a:solidFill>
                <a:srgbClr val="00A7FF"/>
              </a:solidFill>
              <a:ln w="19050">
                <a:noFill/>
              </a:ln>
              <a:effectLst/>
            </c:spPr>
            <c:extLst>
              <c:ext xmlns:c16="http://schemas.microsoft.com/office/drawing/2014/chart" uri="{C3380CC4-5D6E-409C-BE32-E72D297353CC}">
                <c16:uniqueId val="{00000001-00E4-1648-A0F5-B9665094C9F1}"/>
              </c:ext>
            </c:extLst>
          </c:dPt>
          <c:dLbls>
            <c:dLbl>
              <c:idx val="0"/>
              <c:layout>
                <c:manualLayout>
                  <c:x val="0"/>
                  <c:y val="9.00686436536948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B46-EC4F-BDF1-3F5F59E06CB9}"/>
                </c:ext>
              </c:extLst>
            </c:dLbl>
            <c:dLbl>
              <c:idx val="1"/>
              <c:layout>
                <c:manualLayout>
                  <c:x val="-4.0946788079347107E-17"/>
                  <c:y val="6.00457624357965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B46-EC4F-BDF1-3F5F59E06CB9}"/>
                </c:ext>
              </c:extLst>
            </c:dLbl>
            <c:dLbl>
              <c:idx val="2"/>
              <c:layout>
                <c:manualLayout>
                  <c:x val="-8.1893576158694214E-17"/>
                  <c:y val="6.00457624357965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B46-EC4F-BDF1-3F5F59E06CB9}"/>
                </c:ext>
              </c:extLst>
            </c:dLbl>
            <c:dLbl>
              <c:idx val="3"/>
              <c:layout>
                <c:manualLayout>
                  <c:x val="-8.1893576158694214E-17"/>
                  <c:y val="6.004576243579654E-3"/>
                </c:manualLayout>
              </c:layout>
              <c:tx>
                <c:rich>
                  <a:bodyPr/>
                  <a:lstStyle/>
                  <a:p>
                    <a:fld id="{2286A905-45DC-4DAD-8AC9-A6E19B0EAD9C}" type="VALUE">
                      <a:rPr lang="en-US" altLang="ja-JP">
                        <a:solidFill>
                          <a:schemeClr val="accent1"/>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0E4-1648-A0F5-B9665094C9F1}"/>
                </c:ext>
              </c:extLst>
            </c:dLbl>
            <c:dLbl>
              <c:idx val="4"/>
              <c:layout>
                <c:manualLayout>
                  <c:x val="-1.6378715231738843E-16"/>
                  <c:y val="9.006864365369481E-3"/>
                </c:manualLayout>
              </c:layout>
              <c:tx>
                <c:rich>
                  <a:bodyPr/>
                  <a:lstStyle/>
                  <a:p>
                    <a:fld id="{05652D96-637A-49E9-A86B-AF03EC3AE3F5}" type="VALUE">
                      <a:rPr lang="en-US" altLang="ja-JP">
                        <a:solidFill>
                          <a:schemeClr val="accent1"/>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0E4-1648-A0F5-B9665094C9F1}"/>
                </c:ext>
              </c:extLst>
            </c:dLbl>
            <c:spPr>
              <a:noFill/>
              <a:ln>
                <a:noFill/>
              </a:ln>
              <a:effectLst/>
            </c:spPr>
            <c:txPr>
              <a:bodyPr rot="0" spcFirstLastPara="1" vertOverflow="ellipsis" vert="horz" wrap="square" anchor="ctr" anchorCtr="1"/>
              <a:lstStyle/>
              <a:p>
                <a:pPr>
                  <a:defRPr lang="ja-JP" sz="1000" b="1" i="0" u="none" strike="noStrike" kern="1200" baseline="0">
                    <a:solidFill>
                      <a:schemeClr val="accent1"/>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Sheet1!$B$2:$B$6</c:f>
              <c:numCache>
                <c:formatCode>#,##0_ </c:formatCode>
                <c:ptCount val="5"/>
                <c:pt idx="0">
                  <c:v>1102</c:v>
                </c:pt>
                <c:pt idx="1">
                  <c:v>1009</c:v>
                </c:pt>
                <c:pt idx="2">
                  <c:v>1351</c:v>
                </c:pt>
                <c:pt idx="3">
                  <c:v>1362</c:v>
                </c:pt>
                <c:pt idx="4">
                  <c:v>1661</c:v>
                </c:pt>
              </c:numCache>
            </c:numRef>
          </c:val>
          <c:extLst>
            <c:ext xmlns:c16="http://schemas.microsoft.com/office/drawing/2014/chart" uri="{C3380CC4-5D6E-409C-BE32-E72D297353CC}">
              <c16:uniqueId val="{00000005-00E4-1648-A0F5-B9665094C9F1}"/>
            </c:ext>
          </c:extLst>
        </c:ser>
        <c:ser>
          <c:idx val="1"/>
          <c:order val="1"/>
          <c:tx>
            <c:strRef>
              <c:f>Sheet1!$C$1</c:f>
              <c:strCache>
                <c:ptCount val="1"/>
                <c:pt idx="0">
                  <c:v>Solutions Segment</c:v>
                </c:pt>
              </c:strCache>
            </c:strRef>
          </c:tx>
          <c:spPr>
            <a:solidFill>
              <a:srgbClr val="142FA4"/>
            </a:solidFill>
            <a:ln>
              <a:noFill/>
            </a:ln>
            <a:effectLst/>
          </c:spPr>
          <c:invertIfNegative val="0"/>
          <c:dPt>
            <c:idx val="4"/>
            <c:invertIfNegative val="0"/>
            <c:bubble3D val="0"/>
            <c:spPr>
              <a:solidFill>
                <a:srgbClr val="142FA4"/>
              </a:solidFill>
              <a:ln w="19050">
                <a:noFill/>
              </a:ln>
              <a:effectLst/>
            </c:spPr>
            <c:extLst>
              <c:ext xmlns:c16="http://schemas.microsoft.com/office/drawing/2014/chart" uri="{C3380CC4-5D6E-409C-BE32-E72D297353CC}">
                <c16:uniqueId val="{00000007-00E4-1648-A0F5-B9665094C9F1}"/>
              </c:ext>
            </c:extLst>
          </c:dPt>
          <c:dLbls>
            <c:dLbl>
              <c:idx val="0"/>
              <c:layout>
                <c:manualLayout>
                  <c:x val="0"/>
                  <c:y val="9.00686436536948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B46-EC4F-BDF1-3F5F59E06CB9}"/>
                </c:ext>
              </c:extLst>
            </c:dLbl>
            <c:dLbl>
              <c:idx val="1"/>
              <c:layout>
                <c:manualLayout>
                  <c:x val="0"/>
                  <c:y val="1.200915248715930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B46-EC4F-BDF1-3F5F59E06CB9}"/>
                </c:ext>
              </c:extLst>
            </c:dLbl>
            <c:dLbl>
              <c:idx val="2"/>
              <c:layout>
                <c:manualLayout>
                  <c:x val="-8.1893576158694214E-17"/>
                  <c:y val="1.20091524871591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B46-EC4F-BDF1-3F5F59E06CB9}"/>
                </c:ext>
              </c:extLst>
            </c:dLbl>
            <c:dLbl>
              <c:idx val="3"/>
              <c:layout>
                <c:manualLayout>
                  <c:x val="0"/>
                  <c:y val="1.2009152487159253E-2"/>
                </c:manualLayout>
              </c:layout>
              <c:tx>
                <c:rich>
                  <a:bodyPr/>
                  <a:lstStyle/>
                  <a:p>
                    <a:fld id="{672D3B67-7047-4DE3-8402-67313028ACBF}" type="VALUE">
                      <a:rPr lang="en-US" altLang="ja-JP">
                        <a:solidFill>
                          <a:schemeClr val="tx1"/>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00E4-1648-A0F5-B9665094C9F1}"/>
                </c:ext>
              </c:extLst>
            </c:dLbl>
            <c:dLbl>
              <c:idx val="4"/>
              <c:layout>
                <c:manualLayout>
                  <c:x val="0"/>
                  <c:y val="1.8013728730738962E-2"/>
                </c:manualLayout>
              </c:layout>
              <c:tx>
                <c:rich>
                  <a:bodyPr/>
                  <a:lstStyle/>
                  <a:p>
                    <a:fld id="{1EA5D1B1-8607-4F04-84C5-8322E0BF1626}" type="VALUE">
                      <a:rPr lang="en-US" altLang="ja-JP">
                        <a:solidFill>
                          <a:schemeClr val="tx1"/>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layout>
                    <c:manualLayout>
                      <c:w val="0.10625989556244798"/>
                      <c:h val="6.8260717392504486E-2"/>
                    </c:manualLayout>
                  </c15:layout>
                  <c15:dlblFieldTable/>
                  <c15:showDataLabelsRange val="0"/>
                </c:ext>
                <c:ext xmlns:c16="http://schemas.microsoft.com/office/drawing/2014/chart" uri="{C3380CC4-5D6E-409C-BE32-E72D297353CC}">
                  <c16:uniqueId val="{00000007-00E4-1648-A0F5-B9665094C9F1}"/>
                </c:ext>
              </c:extLst>
            </c:dLbl>
            <c:spPr>
              <a:noFill/>
              <a:ln>
                <a:noFill/>
              </a:ln>
              <a:effectLst/>
            </c:spPr>
            <c:txPr>
              <a:bodyPr rot="0" spcFirstLastPara="1" vertOverflow="ellipsis" vert="horz" wrap="square" anchor="ctr" anchorCtr="1"/>
              <a:lstStyle/>
              <a:p>
                <a:pPr>
                  <a:defRPr lang="ja-JP" sz="1000" b="1" i="0" u="none" strike="noStrike" kern="1200" baseline="0">
                    <a:solidFill>
                      <a:schemeClr val="tx1"/>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FY22/12
2Q</c:v>
                </c:pt>
                <c:pt idx="1">
                  <c:v>FY23/12
2Q</c:v>
                </c:pt>
                <c:pt idx="2">
                  <c:v>FY24/12
2Q</c:v>
                </c:pt>
                <c:pt idx="3">
                  <c:v>FY25/12
2Q</c:v>
                </c:pt>
                <c:pt idx="4">
                  <c:v>FY26/12
2Q</c:v>
                </c:pt>
              </c:strCache>
            </c:strRef>
          </c:cat>
          <c:val>
            <c:numRef>
              <c:f>Sheet1!$C$2:$C$6</c:f>
              <c:numCache>
                <c:formatCode>#,##0_ </c:formatCode>
                <c:ptCount val="5"/>
                <c:pt idx="0">
                  <c:v>591</c:v>
                </c:pt>
                <c:pt idx="1">
                  <c:v>755</c:v>
                </c:pt>
                <c:pt idx="2">
                  <c:v>995</c:v>
                </c:pt>
                <c:pt idx="3">
                  <c:v>986</c:v>
                </c:pt>
                <c:pt idx="4">
                  <c:v>1281</c:v>
                </c:pt>
              </c:numCache>
            </c:numRef>
          </c:val>
          <c:extLst>
            <c:ext xmlns:c16="http://schemas.microsoft.com/office/drawing/2014/chart" uri="{C3380CC4-5D6E-409C-BE32-E72D297353CC}">
              <c16:uniqueId val="{0000000C-00E4-1648-A0F5-B9665094C9F1}"/>
            </c:ext>
          </c:extLst>
        </c:ser>
        <c:ser>
          <c:idx val="2"/>
          <c:order val="2"/>
          <c:tx>
            <c:strRef>
              <c:f>Sheet1!$D$1</c:f>
              <c:strCache>
                <c:ptCount val="1"/>
                <c:pt idx="0">
                  <c:v>AI Singing Voice Synthesis Segment</c:v>
                </c:pt>
              </c:strCache>
            </c:strRef>
          </c:tx>
          <c:spPr>
            <a:solidFill>
              <a:srgbClr val="D44ED9"/>
            </a:solidFill>
            <a:ln>
              <a:noFill/>
            </a:ln>
            <a:effectLst/>
          </c:spPr>
          <c:invertIfNegative val="0"/>
          <c:dLbls>
            <c:dLbl>
              <c:idx val="4"/>
              <c:layout>
                <c:manualLayout>
                  <c:x val="0"/>
                  <c:y val="1.0328259745160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0E4-1648-A0F5-B9665094C9F1}"/>
                </c:ext>
              </c:extLst>
            </c:dLbl>
            <c:spPr>
              <a:noFill/>
              <a:ln>
                <a:noFill/>
              </a:ln>
              <a:effectLst/>
            </c:spPr>
            <c:txPr>
              <a:bodyPr rot="0" spcFirstLastPara="1" vertOverflow="ellipsis" vert="horz" wrap="square" lIns="38100" tIns="19050" rIns="38100" bIns="19050" anchor="ctr" anchorCtr="1">
                <a:spAutoFit/>
              </a:bodyPr>
              <a:lstStyle/>
              <a:p>
                <a:pPr>
                  <a:defRPr lang="ja-JP" sz="1000" b="0" i="0" u="none" strike="noStrike" kern="1200" baseline="0">
                    <a:solidFill>
                      <a:srgbClr val="D44ED9"/>
                    </a:solidFill>
                    <a:latin typeface="Poppins Medium" pitchFamily="2" charset="0"/>
                    <a:ea typeface="+mn-ea"/>
                    <a:cs typeface="Poppins Medium"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FY22/12
2Q</c:v>
                </c:pt>
                <c:pt idx="1">
                  <c:v>FY23/12
2Q</c:v>
                </c:pt>
                <c:pt idx="2">
                  <c:v>FY24/12
2Q</c:v>
                </c:pt>
                <c:pt idx="3">
                  <c:v>FY25/12
2Q</c:v>
                </c:pt>
                <c:pt idx="4">
                  <c:v>FY26/12
2Q</c:v>
                </c:pt>
              </c:strCache>
            </c:strRef>
          </c:cat>
          <c:val>
            <c:numRef>
              <c:f>Sheet1!$D$2:$D$6</c:f>
              <c:numCache>
                <c:formatCode>#,##0_ </c:formatCode>
                <c:ptCount val="5"/>
                <c:pt idx="0">
                  <c:v>#N/A</c:v>
                </c:pt>
                <c:pt idx="1">
                  <c:v>#N/A</c:v>
                </c:pt>
                <c:pt idx="2">
                  <c:v>#N/A</c:v>
                </c:pt>
                <c:pt idx="3">
                  <c:v>29</c:v>
                </c:pt>
                <c:pt idx="4">
                  <c:v>65</c:v>
                </c:pt>
              </c:numCache>
            </c:numRef>
          </c:val>
          <c:extLst>
            <c:ext xmlns:c16="http://schemas.microsoft.com/office/drawing/2014/chart" uri="{C3380CC4-5D6E-409C-BE32-E72D297353CC}">
              <c16:uniqueId val="{0000000E-00E4-1648-A0F5-B9665094C9F1}"/>
            </c:ext>
          </c:extLst>
        </c:ser>
        <c:dLbls>
          <c:dLblPos val="outEnd"/>
          <c:showLegendKey val="0"/>
          <c:showVal val="1"/>
          <c:showCatName val="0"/>
          <c:showSerName val="0"/>
          <c:showPercent val="0"/>
          <c:showBubbleSize val="0"/>
        </c:dLbls>
        <c:gapWidth val="0"/>
        <c:axId val="653676592"/>
        <c:axId val="653689072"/>
      </c:barChart>
      <c:catAx>
        <c:axId val="653676592"/>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ja-JP"/>
          </a:p>
        </c:txPr>
        <c:crossAx val="653689072"/>
        <c:crosses val="autoZero"/>
        <c:auto val="1"/>
        <c:lblAlgn val="ctr"/>
        <c:lblOffset val="0"/>
        <c:noMultiLvlLbl val="0"/>
      </c:catAx>
      <c:valAx>
        <c:axId val="653689072"/>
        <c:scaling>
          <c:orientation val="minMax"/>
          <c:max val="1900"/>
          <c:min val="0"/>
        </c:scaling>
        <c:delete val="0"/>
        <c:axPos val="l"/>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bg1"/>
                </a:solidFill>
                <a:latin typeface="Poppins" pitchFamily="2" charset="0"/>
                <a:ea typeface="+mn-ea"/>
                <a:cs typeface="Poppins" pitchFamily="2" charset="0"/>
              </a:defRPr>
            </a:pPr>
            <a:endParaRPr lang="ja-JP"/>
          </a:p>
        </c:txPr>
        <c:crossAx val="653676592"/>
        <c:crosses val="autoZero"/>
        <c:crossBetween val="between"/>
        <c:majorUnit val="500"/>
      </c:valAx>
      <c:spPr>
        <a:solidFill>
          <a:schemeClr val="bg1"/>
        </a:solidFill>
        <a:ln>
          <a:noFill/>
        </a:ln>
        <a:effectLst/>
      </c:spPr>
    </c:plotArea>
    <c:legend>
      <c:legendPos val="b"/>
      <c:layout>
        <c:manualLayout>
          <c:xMode val="edge"/>
          <c:yMode val="edge"/>
          <c:x val="4.8438177080695359E-2"/>
          <c:y val="3.0512230541686062E-2"/>
          <c:w val="0.40870231671736862"/>
          <c:h val="0.12935370192763446"/>
        </c:manualLayout>
      </c:layout>
      <c:overlay val="0"/>
      <c:spPr>
        <a:noFill/>
        <a:ln>
          <a:noFill/>
        </a:ln>
        <a:effectLst/>
      </c:spPr>
      <c:txPr>
        <a:bodyPr rot="0" spcFirstLastPara="1" vertOverflow="ellipsis" vert="horz" wrap="square" anchor="ctr" anchorCtr="1"/>
        <a:lstStyle/>
        <a:p>
          <a:pPr>
            <a:defRPr lang="ja-JP"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737373"/>
          </a:solidFill>
        </a:defRPr>
      </a:pPr>
      <a:endParaRPr lang="ja-JP"/>
    </a:p>
  </c:tx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776331408134912E-2"/>
          <c:y val="0.31880392186777734"/>
          <c:w val="0.81400940304399194"/>
          <c:h val="0.57135385592962884"/>
        </c:manualLayout>
      </c:layout>
      <c:barChart>
        <c:barDir val="col"/>
        <c:grouping val="stacked"/>
        <c:varyColors val="0"/>
        <c:ser>
          <c:idx val="0"/>
          <c:order val="0"/>
          <c:tx>
            <c:strRef>
              <c:f>Sheet1!$C$1</c:f>
              <c:strCache>
                <c:ptCount val="1"/>
                <c:pt idx="0">
                  <c:v>Subscription Billing</c:v>
                </c:pt>
              </c:strCache>
            </c:strRef>
          </c:tx>
          <c:spPr>
            <a:solidFill>
              <a:schemeClr val="tx1"/>
            </a:solidFill>
            <a:ln w="6350">
              <a:solidFill>
                <a:schemeClr val="bg1"/>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Sheet1!$C$4:$C$15</c:f>
              <c:numCache>
                <c:formatCode>0</c:formatCode>
                <c:ptCount val="12"/>
                <c:pt idx="0">
                  <c:v>85</c:v>
                </c:pt>
                <c:pt idx="1">
                  <c:v>109</c:v>
                </c:pt>
                <c:pt idx="2">
                  <c:v>129</c:v>
                </c:pt>
                <c:pt idx="3">
                  <c:v>160</c:v>
                </c:pt>
                <c:pt idx="4">
                  <c:v>184</c:v>
                </c:pt>
                <c:pt idx="5">
                  <c:v>212</c:v>
                </c:pt>
                <c:pt idx="6">
                  <c:v>245</c:v>
                </c:pt>
                <c:pt idx="7" formatCode="General">
                  <c:v>275</c:v>
                </c:pt>
                <c:pt idx="8" formatCode="General">
                  <c:v>315</c:v>
                </c:pt>
                <c:pt idx="9" formatCode="General">
                  <c:v>365</c:v>
                </c:pt>
                <c:pt idx="10">
                  <c:v>415</c:v>
                </c:pt>
                <c:pt idx="11" formatCode="General">
                  <c:v>458</c:v>
                </c:pt>
              </c:numCache>
            </c:numRef>
          </c:val>
          <c:extLst>
            <c:ext xmlns:c16="http://schemas.microsoft.com/office/drawing/2014/chart" uri="{C3380CC4-5D6E-409C-BE32-E72D297353CC}">
              <c16:uniqueId val="{00000004-C893-3048-973A-F68D2FE28DC0}"/>
            </c:ext>
          </c:extLst>
        </c:ser>
        <c:ser>
          <c:idx val="1"/>
          <c:order val="1"/>
          <c:tx>
            <c:strRef>
              <c:f>Sheet1!$B$1</c:f>
              <c:strCache>
                <c:ptCount val="1"/>
                <c:pt idx="0">
                  <c:v>One-time Purchase App</c:v>
                </c:pt>
              </c:strCache>
            </c:strRef>
          </c:tx>
          <c:spPr>
            <a:solidFill>
              <a:schemeClr val="tx1">
                <a:lumMod val="60000"/>
                <a:lumOff val="40000"/>
              </a:schemeClr>
            </a:solidFill>
            <a:ln w="6350">
              <a:solidFill>
                <a:schemeClr val="bg1"/>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Sheet1!$B$4:$B$15</c:f>
              <c:numCache>
                <c:formatCode>0</c:formatCode>
                <c:ptCount val="12"/>
                <c:pt idx="0">
                  <c:v>65</c:v>
                </c:pt>
                <c:pt idx="1">
                  <c:v>72</c:v>
                </c:pt>
                <c:pt idx="2">
                  <c:v>79</c:v>
                </c:pt>
                <c:pt idx="3">
                  <c:v>55</c:v>
                </c:pt>
                <c:pt idx="4">
                  <c:v>56</c:v>
                </c:pt>
                <c:pt idx="5">
                  <c:v>64</c:v>
                </c:pt>
                <c:pt idx="6">
                  <c:v>68</c:v>
                </c:pt>
                <c:pt idx="7" formatCode="General">
                  <c:v>60</c:v>
                </c:pt>
                <c:pt idx="8" formatCode="General">
                  <c:v>69</c:v>
                </c:pt>
                <c:pt idx="9" formatCode="General">
                  <c:v>71</c:v>
                </c:pt>
                <c:pt idx="10">
                  <c:v>75</c:v>
                </c:pt>
                <c:pt idx="11" formatCode="General">
                  <c:v>70</c:v>
                </c:pt>
              </c:numCache>
            </c:numRef>
          </c:val>
          <c:extLst>
            <c:ext xmlns:c16="http://schemas.microsoft.com/office/drawing/2014/chart" uri="{C3380CC4-5D6E-409C-BE32-E72D297353CC}">
              <c16:uniqueId val="{00000005-C893-3048-973A-F68D2FE28DC0}"/>
            </c:ext>
          </c:extLst>
        </c:ser>
        <c:ser>
          <c:idx val="2"/>
          <c:order val="2"/>
          <c:tx>
            <c:strRef>
              <c:f>Sheet1!$D$1</c:f>
              <c:strCache>
                <c:ptCount val="1"/>
                <c:pt idx="0">
                  <c:v>In-App Advertising</c:v>
                </c:pt>
              </c:strCache>
            </c:strRef>
          </c:tx>
          <c:spPr>
            <a:solidFill>
              <a:schemeClr val="tx1">
                <a:lumMod val="40000"/>
                <a:lumOff val="60000"/>
              </a:schemeClr>
            </a:solidFill>
            <a:ln w="6350">
              <a:solidFill>
                <a:schemeClr val="bg1"/>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Sheet1!$D$4:$D$15</c:f>
              <c:numCache>
                <c:formatCode>0</c:formatCode>
                <c:ptCount val="12"/>
                <c:pt idx="0">
                  <c:v>512</c:v>
                </c:pt>
                <c:pt idx="1">
                  <c:v>596</c:v>
                </c:pt>
                <c:pt idx="2">
                  <c:v>486</c:v>
                </c:pt>
                <c:pt idx="3">
                  <c:v>436</c:v>
                </c:pt>
                <c:pt idx="4">
                  <c:v>385</c:v>
                </c:pt>
                <c:pt idx="5">
                  <c:v>351</c:v>
                </c:pt>
                <c:pt idx="6">
                  <c:v>354</c:v>
                </c:pt>
                <c:pt idx="7" formatCode="General">
                  <c:v>354</c:v>
                </c:pt>
                <c:pt idx="8" formatCode="General">
                  <c:v>308</c:v>
                </c:pt>
                <c:pt idx="9" formatCode="General">
                  <c:v>332</c:v>
                </c:pt>
                <c:pt idx="10">
                  <c:v>303</c:v>
                </c:pt>
                <c:pt idx="11" formatCode="General">
                  <c:v>313</c:v>
                </c:pt>
              </c:numCache>
            </c:numRef>
          </c:val>
          <c:extLst>
            <c:ext xmlns:c16="http://schemas.microsoft.com/office/drawing/2014/chart" uri="{C3380CC4-5D6E-409C-BE32-E72D297353CC}">
              <c16:uniqueId val="{00000008-C893-3048-973A-F68D2FE28DC0}"/>
            </c:ext>
          </c:extLst>
        </c:ser>
        <c:ser>
          <c:idx val="3"/>
          <c:order val="3"/>
          <c:tx>
            <c:strRef>
              <c:f>Sheet1!$E$1</c:f>
              <c:strCache>
                <c:ptCount val="1"/>
                <c:pt idx="0">
                  <c:v>Others</c:v>
                </c:pt>
              </c:strCache>
            </c:strRef>
          </c:tx>
          <c:spPr>
            <a:solidFill>
              <a:schemeClr val="bg1">
                <a:lumMod val="75000"/>
              </a:schemeClr>
            </a:solidFill>
            <a:ln w="6350">
              <a:solidFill>
                <a:schemeClr val="bg1"/>
              </a:solidFill>
            </a:ln>
            <a:effectLst/>
          </c:spPr>
          <c:invertIfNegative val="0"/>
          <c:dLbls>
            <c:dLbl>
              <c:idx val="1"/>
              <c:layout>
                <c:manualLayout>
                  <c:x val="0"/>
                  <c:y val="-5.58707081044508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52B-487A-9CC8-AA12FF080667}"/>
                </c:ext>
              </c:extLst>
            </c:dLbl>
            <c:dLbl>
              <c:idx val="5"/>
              <c:layout>
                <c:manualLayout>
                  <c:x val="-2.9774408450492897E-3"/>
                  <c:y val="-7.207753272362550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52B-487A-9CC8-AA12FF080667}"/>
                </c:ext>
              </c:extLst>
            </c:dLbl>
            <c:spPr>
              <a:noFill/>
              <a:ln>
                <a:noFill/>
              </a:ln>
              <a:effectLst/>
            </c:spPr>
            <c:txPr>
              <a:bodyPr rot="0" spcFirstLastPara="1" vertOverflow="ellipsis" vert="horz" wrap="square" anchor="ctr" anchorCtr="1"/>
              <a:lstStyle/>
              <a:p>
                <a:pPr>
                  <a:defRPr sz="800" b="1" i="0" u="none" strike="noStrike" kern="1200" baseline="0">
                    <a:solidFill>
                      <a:srgbClr val="142FA4"/>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Sheet1!$E$4:$E$15</c:f>
              <c:numCache>
                <c:formatCode>0</c:formatCode>
                <c:ptCount val="12"/>
                <c:pt idx="0">
                  <c:v>1</c:v>
                </c:pt>
                <c:pt idx="1">
                  <c:v>2</c:v>
                </c:pt>
                <c:pt idx="2">
                  <c:v>2</c:v>
                </c:pt>
                <c:pt idx="3">
                  <c:v>2</c:v>
                </c:pt>
                <c:pt idx="4">
                  <c:v>1</c:v>
                </c:pt>
                <c:pt idx="5">
                  <c:v>1</c:v>
                </c:pt>
                <c:pt idx="6">
                  <c:v>1</c:v>
                </c:pt>
                <c:pt idx="7" formatCode="General">
                  <c:v>1</c:v>
                </c:pt>
                <c:pt idx="8" formatCode="General">
                  <c:v>0</c:v>
                </c:pt>
                <c:pt idx="9" formatCode="General">
                  <c:v>4</c:v>
                </c:pt>
                <c:pt idx="10">
                  <c:v>14</c:v>
                </c:pt>
                <c:pt idx="11" formatCode="General">
                  <c:v>9</c:v>
                </c:pt>
              </c:numCache>
            </c:numRef>
          </c:val>
          <c:extLst>
            <c:ext xmlns:c16="http://schemas.microsoft.com/office/drawing/2014/chart" uri="{C3380CC4-5D6E-409C-BE32-E72D297353CC}">
              <c16:uniqueId val="{0000000B-C893-3048-973A-F68D2FE28DC0}"/>
            </c:ext>
          </c:extLst>
        </c:ser>
        <c:dLbls>
          <c:showLegendKey val="0"/>
          <c:showVal val="1"/>
          <c:showCatName val="0"/>
          <c:showSerName val="0"/>
          <c:showPercent val="0"/>
          <c:showBubbleSize val="0"/>
        </c:dLbls>
        <c:gapWidth val="45"/>
        <c:overlap val="100"/>
        <c:axId val="646071408"/>
        <c:axId val="646069488"/>
      </c:barChart>
      <c:lineChart>
        <c:grouping val="standard"/>
        <c:varyColors val="0"/>
        <c:ser>
          <c:idx val="4"/>
          <c:order val="4"/>
          <c:tx>
            <c:strRef>
              <c:f>Sheet1!$F$1</c:f>
              <c:strCache>
                <c:ptCount val="1"/>
                <c:pt idx="0">
                  <c:v>Overseas Sales Ratio</c:v>
                </c:pt>
              </c:strCache>
            </c:strRef>
          </c:tx>
          <c:spPr>
            <a:ln w="12700" cap="rnd">
              <a:solidFill>
                <a:schemeClr val="accent1"/>
              </a:solidFill>
              <a:round/>
            </a:ln>
            <a:effectLst/>
          </c:spPr>
          <c:marker>
            <c:symbol val="circle"/>
            <c:size val="4"/>
            <c:spPr>
              <a:solidFill>
                <a:schemeClr val="accent1"/>
              </a:solidFill>
              <a:ln w="9525">
                <a:noFill/>
              </a:ln>
              <a:effectLst/>
            </c:spPr>
          </c:marker>
          <c:dLbls>
            <c:spPr>
              <a:noFill/>
              <a:ln>
                <a:noFill/>
              </a:ln>
              <a:effectLst/>
            </c:spPr>
            <c:txPr>
              <a:bodyPr rot="0" spcFirstLastPara="1" vertOverflow="ellipsis" vert="horz" wrap="square" anchor="ctr" anchorCtr="1"/>
              <a:lstStyle/>
              <a:p>
                <a:pPr>
                  <a:defRPr sz="800" b="1" i="0" u="none" strike="noStrike" kern="1200" baseline="0">
                    <a:solidFill>
                      <a:schemeClr val="accent1"/>
                    </a:solidFill>
                    <a:latin typeface="Poppins SemiBold" pitchFamily="2" charset="0"/>
                    <a:ea typeface="+mn-ea"/>
                    <a:cs typeface="Poppins SemiBold" pitchFamily="2" charset="0"/>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Sheet1!$F$4:$F$15</c:f>
              <c:numCache>
                <c:formatCode>0.0%</c:formatCode>
                <c:ptCount val="12"/>
                <c:pt idx="0">
                  <c:v>0.74152175953282773</c:v>
                </c:pt>
                <c:pt idx="1">
                  <c:v>0.75679801072924102</c:v>
                </c:pt>
                <c:pt idx="2">
                  <c:v>0.73041540390031345</c:v>
                </c:pt>
                <c:pt idx="3">
                  <c:v>0.74284085842465364</c:v>
                </c:pt>
                <c:pt idx="4">
                  <c:v>0.73790887029388286</c:v>
                </c:pt>
                <c:pt idx="5">
                  <c:v>0.74469151355419227</c:v>
                </c:pt>
                <c:pt idx="6">
                  <c:v>0.74045798093688031</c:v>
                </c:pt>
                <c:pt idx="7">
                  <c:v>0.7596177741495489</c:v>
                </c:pt>
                <c:pt idx="8">
                  <c:v>0.78153148482595491</c:v>
                </c:pt>
                <c:pt idx="9">
                  <c:v>0.75486225924507955</c:v>
                </c:pt>
                <c:pt idx="10">
                  <c:v>0.78210689847958736</c:v>
                </c:pt>
                <c:pt idx="11">
                  <c:v>0.79748817260117166</c:v>
                </c:pt>
              </c:numCache>
            </c:numRef>
          </c:val>
          <c:smooth val="0"/>
          <c:extLst>
            <c:ext xmlns:c16="http://schemas.microsoft.com/office/drawing/2014/chart" uri="{C3380CC4-5D6E-409C-BE32-E72D297353CC}">
              <c16:uniqueId val="{00000017-C893-3048-973A-F68D2FE28DC0}"/>
            </c:ext>
          </c:extLst>
        </c:ser>
        <c:dLbls>
          <c:showLegendKey val="0"/>
          <c:showVal val="1"/>
          <c:showCatName val="0"/>
          <c:showSerName val="0"/>
          <c:showPercent val="0"/>
          <c:showBubbleSize val="0"/>
        </c:dLbls>
        <c:marker val="1"/>
        <c:smooth val="0"/>
        <c:axId val="1679806224"/>
        <c:axId val="2074292224"/>
      </c:lineChart>
      <c:catAx>
        <c:axId val="646071408"/>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0"/>
        <c:tickLblSkip val="1"/>
        <c:noMultiLvlLbl val="0"/>
      </c:catAx>
      <c:valAx>
        <c:axId val="646069488"/>
        <c:scaling>
          <c:orientation val="minMax"/>
          <c:max val="1000"/>
          <c:min val="0"/>
        </c:scaling>
        <c:delete val="0"/>
        <c:axPos val="l"/>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646071408"/>
        <c:crosses val="autoZero"/>
        <c:crossBetween val="between"/>
        <c:majorUnit val="200"/>
      </c:valAx>
      <c:valAx>
        <c:axId val="2074292224"/>
        <c:scaling>
          <c:orientation val="minMax"/>
          <c:max val="0.9"/>
          <c:min val="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1679806224"/>
        <c:crosses val="max"/>
        <c:crossBetween val="between"/>
        <c:majorUnit val="0.2"/>
      </c:valAx>
      <c:catAx>
        <c:axId val="1679806224"/>
        <c:scaling>
          <c:orientation val="minMax"/>
        </c:scaling>
        <c:delete val="1"/>
        <c:axPos val="b"/>
        <c:numFmt formatCode="General" sourceLinked="1"/>
        <c:majorTickMark val="out"/>
        <c:minorTickMark val="none"/>
        <c:tickLblPos val="nextTo"/>
        <c:crossAx val="2074292224"/>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ctr" anchorCtr="1"/>
          <a:lstStyle/>
          <a:p>
            <a:pPr>
              <a:lnSpc>
                <a:spcPct val="100000"/>
              </a:lnSpc>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egendEntry>
        <c:idx val="3"/>
        <c:txPr>
          <a:bodyPr rot="0" spcFirstLastPara="1" vertOverflow="ellipsis" vert="horz" wrap="square" anchor="ctr" anchorCtr="1"/>
          <a:lstStyle/>
          <a:p>
            <a:pPr>
              <a:lnSpc>
                <a:spcPct val="100000"/>
              </a:lnSpc>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ayout>
        <c:manualLayout>
          <c:xMode val="edge"/>
          <c:yMode val="edge"/>
          <c:x val="8.5516383612400201E-2"/>
          <c:y val="0.11703318748516159"/>
          <c:w val="0.37590859039282021"/>
          <c:h val="0.18009184500212388"/>
        </c:manualLayout>
      </c:layout>
      <c:overlay val="0"/>
      <c:spPr>
        <a:noFill/>
        <a:ln>
          <a:noFill/>
        </a:ln>
        <a:effectLst/>
      </c:spPr>
      <c:txPr>
        <a:bodyPr rot="0" spcFirstLastPara="1" vertOverflow="ellipsis" vert="horz" wrap="square" anchor="ctr" anchorCtr="1"/>
        <a:lstStyle/>
        <a:p>
          <a:pPr>
            <a:lnSpc>
              <a:spcPct val="100000"/>
            </a:lnSpc>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753059696963577E-2"/>
          <c:y val="0.30570630790165937"/>
          <c:w val="0.85361732283464553"/>
          <c:h val="0.58796769658861325"/>
        </c:manualLayout>
      </c:layout>
      <c:barChart>
        <c:barDir val="col"/>
        <c:grouping val="clustered"/>
        <c:varyColors val="0"/>
        <c:ser>
          <c:idx val="0"/>
          <c:order val="0"/>
          <c:tx>
            <c:strRef>
              <c:f>Sheet1!$B$1</c:f>
              <c:strCache>
                <c:ptCount val="1"/>
                <c:pt idx="0">
                  <c:v>Segment Profit</c:v>
                </c:pt>
              </c:strCache>
            </c:strRef>
          </c:tx>
          <c:spPr>
            <a:solidFill>
              <a:schemeClr val="tx1"/>
            </a:solidFill>
            <a:ln>
              <a:noFill/>
            </a:ln>
            <a:effectLst/>
          </c:spPr>
          <c:invertIfNegative val="0"/>
          <c:dLbls>
            <c:spPr>
              <a:noFill/>
              <a:ln>
                <a:noFill/>
              </a:ln>
              <a:effectLst/>
            </c:spPr>
            <c:txPr>
              <a:bodyPr rot="0" spcFirstLastPara="1" vertOverflow="ellipsis" vert="horz" wrap="none" bIns="0" anchor="b"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Sheet1!$B$4:$B$15</c:f>
              <c:numCache>
                <c:formatCode>#,##0</c:formatCode>
                <c:ptCount val="12"/>
                <c:pt idx="0">
                  <c:v>149</c:v>
                </c:pt>
                <c:pt idx="1">
                  <c:v>244</c:v>
                </c:pt>
                <c:pt idx="2">
                  <c:v>338</c:v>
                </c:pt>
                <c:pt idx="3">
                  <c:v>329</c:v>
                </c:pt>
                <c:pt idx="4">
                  <c:v>337</c:v>
                </c:pt>
                <c:pt idx="5">
                  <c:v>336</c:v>
                </c:pt>
                <c:pt idx="6">
                  <c:v>356</c:v>
                </c:pt>
                <c:pt idx="7">
                  <c:v>356</c:v>
                </c:pt>
                <c:pt idx="8">
                  <c:v>353</c:v>
                </c:pt>
                <c:pt idx="9">
                  <c:v>434</c:v>
                </c:pt>
                <c:pt idx="10">
                  <c:v>450</c:v>
                </c:pt>
                <c:pt idx="11">
                  <c:v>355</c:v>
                </c:pt>
              </c:numCache>
            </c:numRef>
          </c:val>
          <c:extLst>
            <c:ext xmlns:c16="http://schemas.microsoft.com/office/drawing/2014/chart" uri="{C3380CC4-5D6E-409C-BE32-E72D297353CC}">
              <c16:uniqueId val="{00000003-51B6-334A-8952-7E814D6B87BA}"/>
            </c:ext>
          </c:extLst>
        </c:ser>
        <c:dLbls>
          <c:showLegendKey val="0"/>
          <c:showVal val="1"/>
          <c:showCatName val="0"/>
          <c:showSerName val="0"/>
          <c:showPercent val="0"/>
          <c:showBubbleSize val="0"/>
        </c:dLbls>
        <c:gapWidth val="60"/>
        <c:axId val="646071408"/>
        <c:axId val="646069488"/>
      </c:barChart>
      <c:lineChart>
        <c:grouping val="standard"/>
        <c:varyColors val="0"/>
        <c:ser>
          <c:idx val="1"/>
          <c:order val="1"/>
          <c:tx>
            <c:strRef>
              <c:f>Sheet1!$C$1</c:f>
              <c:strCache>
                <c:ptCount val="1"/>
                <c:pt idx="0">
                  <c:v>Gross Profit Margin</c:v>
                </c:pt>
              </c:strCache>
            </c:strRef>
          </c:tx>
          <c:spPr>
            <a:ln w="12700" cap="rnd">
              <a:solidFill>
                <a:schemeClr val="accent1"/>
              </a:solidFill>
              <a:round/>
            </a:ln>
            <a:effectLst/>
          </c:spPr>
          <c:marker>
            <c:symbol val="circle"/>
            <c:size val="4"/>
            <c:spPr>
              <a:solidFill>
                <a:schemeClr val="accent1"/>
              </a:solidFill>
              <a:ln w="9525">
                <a:noFill/>
              </a:ln>
              <a:effectLst/>
            </c:spPr>
          </c:marker>
          <c:dLbls>
            <c:dLbl>
              <c:idx val="0"/>
              <c:layout>
                <c:manualLayout>
                  <c:x val="-4.0338073756397551E-2"/>
                  <c:y val="-3.66122102441170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1B6-334A-8952-7E814D6B87BA}"/>
                </c:ext>
              </c:extLst>
            </c:dLbl>
            <c:dLbl>
              <c:idx val="1"/>
              <c:layout>
                <c:manualLayout>
                  <c:x val="-4.0828758117047358E-2"/>
                  <c:y val="-3.47728472333004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1B6-334A-8952-7E814D6B87BA}"/>
                </c:ext>
              </c:extLst>
            </c:dLbl>
            <c:dLbl>
              <c:idx val="2"/>
              <c:layout>
                <c:manualLayout>
                  <c:x val="-4.1074100297372275E-2"/>
                  <c:y val="-4.0448052983932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1B6-334A-8952-7E814D6B87BA}"/>
                </c:ext>
              </c:extLst>
            </c:dLbl>
            <c:dLbl>
              <c:idx val="3"/>
              <c:layout>
                <c:manualLayout>
                  <c:x val="-3.6718143750126435E-2"/>
                  <c:y val="-4.34107871467282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1B6-334A-8952-7E814D6B87BA}"/>
                </c:ext>
              </c:extLst>
            </c:dLbl>
            <c:dLbl>
              <c:idx val="4"/>
              <c:layout>
                <c:manualLayout>
                  <c:x val="-5.0614639985710509E-2"/>
                  <c:y val="-4.70282878997155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1B6-334A-8952-7E814D6B87BA}"/>
                </c:ext>
              </c:extLst>
            </c:dLbl>
            <c:dLbl>
              <c:idx val="5"/>
              <c:layout>
                <c:manualLayout>
                  <c:x val="-4.1319604312908459E-2"/>
                  <c:y val="-3.23398132157911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1B6-334A-8952-7E814D6B87BA}"/>
                </c:ext>
              </c:extLst>
            </c:dLbl>
            <c:dLbl>
              <c:idx val="6"/>
              <c:layout>
                <c:manualLayout>
                  <c:x val="-4.263872312018295E-2"/>
                  <c:y val="-3.27763675043013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1B6-334A-8952-7E814D6B87BA}"/>
                </c:ext>
              </c:extLst>
            </c:dLbl>
            <c:dLbl>
              <c:idx val="7"/>
              <c:layout>
                <c:manualLayout>
                  <c:x val="-4.2148038759533109E-2"/>
                  <c:y val="-4.02296420094237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1B6-334A-8952-7E814D6B87BA}"/>
                </c:ext>
              </c:extLst>
            </c:dLbl>
            <c:dLbl>
              <c:idx val="8"/>
              <c:layout>
                <c:manualLayout>
                  <c:x val="-4.6013309077918729E-2"/>
                  <c:y val="-3.97931666843746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1B6-334A-8952-7E814D6B87BA}"/>
                </c:ext>
              </c:extLst>
            </c:dLbl>
            <c:dLbl>
              <c:idx val="9"/>
              <c:layout>
                <c:manualLayout>
                  <c:x val="-4.293888060093181E-2"/>
                  <c:y val="-4.07914614156671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1B6-334A-8952-7E814D6B87BA}"/>
                </c:ext>
              </c:extLst>
            </c:dLbl>
            <c:dLbl>
              <c:idx val="10"/>
              <c:layout>
                <c:manualLayout>
                  <c:x val="-3.6804754800798693E-2"/>
                  <c:y val="-3.05935960617503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1B6-334A-8952-7E814D6B87BA}"/>
                </c:ext>
              </c:extLst>
            </c:dLbl>
            <c:dLbl>
              <c:idx val="11"/>
              <c:layout>
                <c:manualLayout>
                  <c:x val="-4.293888060093181E-2"/>
                  <c:y val="-3.73921729643615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0EB-490F-8E51-75168310A521}"/>
                </c:ext>
              </c:extLst>
            </c:dLbl>
            <c:spPr>
              <a:noFill/>
              <a:ln>
                <a:noFill/>
              </a:ln>
              <a:effectLst/>
            </c:spPr>
            <c:txPr>
              <a:bodyPr rot="0" spcFirstLastPara="1" vertOverflow="ellipsis" vert="horz" wrap="square" anchor="ctr" anchorCtr="1"/>
              <a:lstStyle/>
              <a:p>
                <a:pPr>
                  <a:defRPr sz="800" b="1" i="0" u="none" strike="noStrike" kern="1200" baseline="0">
                    <a:solidFill>
                      <a:schemeClr val="accent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Sheet1!$C$4:$C$15</c:f>
              <c:numCache>
                <c:formatCode>0.0%</c:formatCode>
                <c:ptCount val="12"/>
                <c:pt idx="0">
                  <c:v>0.89368924933701799</c:v>
                </c:pt>
                <c:pt idx="1">
                  <c:v>0.89696538921499658</c:v>
                </c:pt>
                <c:pt idx="2">
                  <c:v>0.88681887532399195</c:v>
                </c:pt>
                <c:pt idx="3">
                  <c:v>0.87104385866365841</c:v>
                </c:pt>
                <c:pt idx="4">
                  <c:v>0.86058415532736066</c:v>
                </c:pt>
                <c:pt idx="5">
                  <c:v>0.84887021589776601</c:v>
                </c:pt>
                <c:pt idx="6">
                  <c:v>0.86806347507646131</c:v>
                </c:pt>
                <c:pt idx="7">
                  <c:v>0.84745161091871879</c:v>
                </c:pt>
                <c:pt idx="8">
                  <c:v>0.84968511434536298</c:v>
                </c:pt>
                <c:pt idx="9">
                  <c:v>0.86364385421574108</c:v>
                </c:pt>
                <c:pt idx="10">
                  <c:v>0.86933871781317062</c:v>
                </c:pt>
                <c:pt idx="11">
                  <c:v>0.85897568874583352</c:v>
                </c:pt>
              </c:numCache>
            </c:numRef>
          </c:val>
          <c:smooth val="0"/>
          <c:extLst>
            <c:ext xmlns:c16="http://schemas.microsoft.com/office/drawing/2014/chart" uri="{C3380CC4-5D6E-409C-BE32-E72D297353CC}">
              <c16:uniqueId val="{0000000F-51B6-334A-8952-7E814D6B87BA}"/>
            </c:ext>
          </c:extLst>
        </c:ser>
        <c:dLbls>
          <c:showLegendKey val="0"/>
          <c:showVal val="1"/>
          <c:showCatName val="0"/>
          <c:showSerName val="0"/>
          <c:showPercent val="0"/>
          <c:showBubbleSize val="0"/>
        </c:dLbls>
        <c:marker val="1"/>
        <c:smooth val="0"/>
        <c:axId val="1542408592"/>
        <c:axId val="1681601904"/>
      </c:lineChart>
      <c:catAx>
        <c:axId val="6460714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0"/>
        <c:noMultiLvlLbl val="0"/>
      </c:catAx>
      <c:valAx>
        <c:axId val="646069488"/>
        <c:scaling>
          <c:orientation val="minMax"/>
          <c:max val="550"/>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646071408"/>
        <c:crosses val="autoZero"/>
        <c:crossBetween val="between"/>
        <c:majorUnit val="100"/>
      </c:valAx>
      <c:valAx>
        <c:axId val="1681601904"/>
        <c:scaling>
          <c:orientation val="minMax"/>
          <c:max val="1"/>
          <c:min val="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Poppins" pitchFamily="2" charset="0"/>
                <a:ea typeface="+mn-ea"/>
                <a:cs typeface="Poppins" pitchFamily="2" charset="0"/>
              </a:defRPr>
            </a:pPr>
            <a:endParaRPr lang="ja-JP"/>
          </a:p>
        </c:txPr>
        <c:crossAx val="1542408592"/>
        <c:crosses val="max"/>
        <c:crossBetween val="between"/>
        <c:majorUnit val="0.1"/>
      </c:valAx>
      <c:catAx>
        <c:axId val="1542408592"/>
        <c:scaling>
          <c:orientation val="minMax"/>
        </c:scaling>
        <c:delete val="1"/>
        <c:axPos val="b"/>
        <c:numFmt formatCode="General" sourceLinked="1"/>
        <c:majorTickMark val="out"/>
        <c:minorTickMark val="none"/>
        <c:tickLblPos val="nextTo"/>
        <c:crossAx val="1681601904"/>
        <c:crosses val="autoZero"/>
        <c:auto val="1"/>
        <c:lblAlgn val="ctr"/>
        <c:lblOffset val="100"/>
        <c:noMultiLvlLbl val="0"/>
      </c:catAx>
      <c:spPr>
        <a:noFill/>
        <a:ln>
          <a:noFill/>
        </a:ln>
        <a:effectLst/>
      </c:spPr>
    </c:plotArea>
    <c:legend>
      <c:legendPos val="r"/>
      <c:layout>
        <c:manualLayout>
          <c:xMode val="edge"/>
          <c:yMode val="edge"/>
          <c:x val="0.26635583517083727"/>
          <c:y val="7.7436593902265372E-2"/>
          <c:w val="0.43103610948152044"/>
          <c:h val="7.2054651731798605E-2"/>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65898524636435"/>
          <c:y val="0.34633564930924887"/>
          <c:w val="0.89073799052750113"/>
          <c:h val="0.54812640421318826"/>
        </c:manualLayout>
      </c:layout>
      <c:barChart>
        <c:barDir val="col"/>
        <c:grouping val="stacked"/>
        <c:varyColors val="0"/>
        <c:ser>
          <c:idx val="0"/>
          <c:order val="0"/>
          <c:tx>
            <c:strRef>
              <c:f>Sheet1!$B$1</c:f>
              <c:strCache>
                <c:ptCount val="1"/>
                <c:pt idx="0">
                  <c:v>Contract Development</c:v>
                </c:pt>
              </c:strCache>
            </c:strRef>
          </c:tx>
          <c:spPr>
            <a:solidFill>
              <a:schemeClr val="tx1"/>
            </a:solidFill>
            <a:ln w="6350">
              <a:solidFill>
                <a:schemeClr val="bg1"/>
              </a:solidFill>
            </a:ln>
            <a:effectLst/>
          </c:spPr>
          <c:invertIfNegative val="0"/>
          <c:dLbls>
            <c:dLbl>
              <c:idx val="3"/>
              <c:layout>
                <c:manualLayout>
                  <c:x val="2.4184722529820113E-3"/>
                  <c:y val="5.8839717828805147E-3"/>
                </c:manualLayout>
              </c:layout>
              <c:tx>
                <c:rich>
                  <a:bodyPr/>
                  <a:lstStyle/>
                  <a:p>
                    <a:fld id="{B6632B95-2A4E-45E3-80E6-E04E7D4C2D14}" type="VALUE">
                      <a:rPr lang="en-US" altLang="ja-JP" b="1" i="0" dirty="0">
                        <a:solidFill>
                          <a:schemeClr val="bg1"/>
                        </a:solidFill>
                        <a:latin typeface="Poppins SemiBold" pitchFamily="2" charset="0"/>
                        <a:cs typeface="Poppins SemiBold" pitchFamily="2" charset="0"/>
                      </a:rPr>
                      <a:pPr/>
                      <a:t>[値]</a:t>
                    </a:fld>
                    <a:endParaRPr lang="ja-JP"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88E-4D0C-9ECA-F1ACBB6129B5}"/>
                </c:ext>
              </c:extLst>
            </c:dLbl>
            <c:dLbl>
              <c:idx val="4"/>
              <c:tx>
                <c:rich>
                  <a:bodyPr/>
                  <a:lstStyle/>
                  <a:p>
                    <a:fld id="{C15C53AA-E25A-47B9-ADA5-3A70CC78CCC1}" type="VALUE">
                      <a:rPr lang="en-US" altLang="ja-JP"/>
                      <a:pPr/>
                      <a:t>[値]</a:t>
                    </a:fld>
                    <a:endParaRPr lang="ja-JP"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C790-48B0-B3EF-111284EF35AB}"/>
                </c:ext>
              </c:extLst>
            </c:dLbl>
            <c:dLbl>
              <c:idx val="7"/>
              <c:tx>
                <c:rich>
                  <a:bodyPr/>
                  <a:lstStyle/>
                  <a:p>
                    <a:fld id="{195EE7EA-98E6-4B71-9490-30CD48F20E35}" type="VALUE">
                      <a:rPr lang="en-US" altLang="ja-JP" b="1" i="0">
                        <a:solidFill>
                          <a:schemeClr val="bg1"/>
                        </a:solidFill>
                        <a:latin typeface="Poppins SemiBold" pitchFamily="2" charset="0"/>
                        <a:cs typeface="Poppins SemiBold" pitchFamily="2" charset="0"/>
                      </a:rPr>
                      <a:pPr/>
                      <a:t>[値]</a:t>
                    </a:fld>
                    <a:endParaRPr lang="ja-JP"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88E-4D0C-9ECA-F1ACBB6129B5}"/>
                </c:ext>
              </c:extLst>
            </c:dLbl>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Sheet1!$B$4:$B$15</c:f>
              <c:numCache>
                <c:formatCode>General</c:formatCode>
                <c:ptCount val="12"/>
                <c:pt idx="0">
                  <c:v>49</c:v>
                </c:pt>
                <c:pt idx="1">
                  <c:v>125</c:v>
                </c:pt>
                <c:pt idx="2">
                  <c:v>158</c:v>
                </c:pt>
                <c:pt idx="3">
                  <c:v>136</c:v>
                </c:pt>
                <c:pt idx="4">
                  <c:v>114</c:v>
                </c:pt>
                <c:pt idx="5">
                  <c:v>117</c:v>
                </c:pt>
                <c:pt idx="6">
                  <c:v>122</c:v>
                </c:pt>
                <c:pt idx="7">
                  <c:v>117</c:v>
                </c:pt>
                <c:pt idx="8">
                  <c:v>123</c:v>
                </c:pt>
                <c:pt idx="9">
                  <c:v>173</c:v>
                </c:pt>
                <c:pt idx="10">
                  <c:v>253</c:v>
                </c:pt>
                <c:pt idx="11">
                  <c:v>303</c:v>
                </c:pt>
              </c:numCache>
            </c:numRef>
          </c:val>
          <c:extLst>
            <c:ext xmlns:c16="http://schemas.microsoft.com/office/drawing/2014/chart" uri="{C3380CC4-5D6E-409C-BE32-E72D297353CC}">
              <c16:uniqueId val="{00000004-262C-F944-90D0-7183010620A3}"/>
            </c:ext>
          </c:extLst>
        </c:ser>
        <c:ser>
          <c:idx val="1"/>
          <c:order val="1"/>
          <c:tx>
            <c:strRef>
              <c:f>Sheet1!$C$1</c:f>
              <c:strCache>
                <c:ptCount val="1"/>
                <c:pt idx="0">
                  <c:v>IT Engineers Dispatch</c:v>
                </c:pt>
              </c:strCache>
            </c:strRef>
          </c:tx>
          <c:spPr>
            <a:solidFill>
              <a:schemeClr val="tx1">
                <a:lumMod val="60000"/>
                <a:lumOff val="40000"/>
              </a:schemeClr>
            </a:solidFill>
            <a:ln>
              <a:solidFill>
                <a:schemeClr val="bg1"/>
              </a:solidFill>
            </a:ln>
            <a:effectLst/>
          </c:spPr>
          <c:invertIfNegative val="0"/>
          <c:dLbls>
            <c:dLbl>
              <c:idx val="4"/>
              <c:tx>
                <c:rich>
                  <a:bodyPr/>
                  <a:lstStyle/>
                  <a:p>
                    <a:fld id="{7C3FA8BA-B71F-439A-A0ED-7377A7722D83}" type="VALUE">
                      <a:rPr lang="en-US" altLang="ja-JP"/>
                      <a:pPr/>
                      <a:t>[値]</a:t>
                    </a:fld>
                    <a:endParaRPr lang="ja-JP"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88E-4D0C-9ECA-F1ACBB6129B5}"/>
                </c:ext>
              </c:extLst>
            </c:dLbl>
            <c:dLbl>
              <c:idx val="5"/>
              <c:tx>
                <c:rich>
                  <a:bodyPr/>
                  <a:lstStyle/>
                  <a:p>
                    <a:fld id="{0F06894E-68E8-4C27-AD8F-7B1E74281401}" type="VALUE">
                      <a:rPr lang="en-US" altLang="ja-JP">
                        <a:solidFill>
                          <a:schemeClr val="bg1"/>
                        </a:solidFill>
                      </a:rPr>
                      <a:pPr/>
                      <a:t>[値]</a:t>
                    </a:fld>
                    <a:endParaRPr lang="ja-JP"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790-48B0-B3EF-111284EF35AB}"/>
                </c:ext>
              </c:extLst>
            </c:dLbl>
            <c:dLbl>
              <c:idx val="8"/>
              <c:layout>
                <c:manualLayout>
                  <c:x val="8.5580695983411548E-4"/>
                  <c:y val="-7.9816320751333967E-3"/>
                </c:manualLayout>
              </c:layout>
              <c:tx>
                <c:rich>
                  <a:bodyPr/>
                  <a:lstStyle/>
                  <a:p>
                    <a:fld id="{DFF1DD47-1D29-4EA1-B5BE-C6459DE82382}" type="VALUE">
                      <a:rPr lang="en-US" altLang="ja-JP"/>
                      <a:pPr/>
                      <a:t>[値]</a:t>
                    </a:fld>
                    <a:endParaRPr lang="ja-JP"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88E-4D0C-9ECA-F1ACBB6129B5}"/>
                </c:ext>
              </c:extLst>
            </c:dLbl>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Sheet1!$C$4:$C$15</c:f>
              <c:numCache>
                <c:formatCode>General</c:formatCode>
                <c:ptCount val="12"/>
                <c:pt idx="0">
                  <c:v>369</c:v>
                </c:pt>
                <c:pt idx="1">
                  <c:v>330</c:v>
                </c:pt>
                <c:pt idx="2">
                  <c:v>318</c:v>
                </c:pt>
                <c:pt idx="3">
                  <c:v>381</c:v>
                </c:pt>
                <c:pt idx="4">
                  <c:v>400</c:v>
                </c:pt>
                <c:pt idx="5">
                  <c:v>386</c:v>
                </c:pt>
                <c:pt idx="6">
                  <c:v>367</c:v>
                </c:pt>
                <c:pt idx="7">
                  <c:v>378</c:v>
                </c:pt>
                <c:pt idx="8">
                  <c:v>399</c:v>
                </c:pt>
                <c:pt idx="9">
                  <c:v>372</c:v>
                </c:pt>
                <c:pt idx="10">
                  <c:v>366</c:v>
                </c:pt>
                <c:pt idx="11">
                  <c:v>357</c:v>
                </c:pt>
              </c:numCache>
            </c:numRef>
          </c:val>
          <c:extLst>
            <c:ext xmlns:c16="http://schemas.microsoft.com/office/drawing/2014/chart" uri="{C3380CC4-5D6E-409C-BE32-E72D297353CC}">
              <c16:uniqueId val="{00000008-262C-F944-90D0-7183010620A3}"/>
            </c:ext>
          </c:extLst>
        </c:ser>
        <c:ser>
          <c:idx val="2"/>
          <c:order val="2"/>
          <c:tx>
            <c:strRef>
              <c:f>Sheet1!$D$1</c:f>
              <c:strCache>
                <c:ptCount val="1"/>
                <c:pt idx="0">
                  <c:v>Others</c:v>
                </c:pt>
              </c:strCache>
            </c:strRef>
          </c:tx>
          <c:spPr>
            <a:solidFill>
              <a:schemeClr val="bg1">
                <a:lumMod val="75000"/>
              </a:schemeClr>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142FA4"/>
                    </a:solidFill>
                    <a:latin typeface="Poppins" pitchFamily="2" charset="0"/>
                    <a:ea typeface="+mn-ea"/>
                    <a:cs typeface="Poppins"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Sheet1!$D$4:$D$15</c:f>
              <c:numCache>
                <c:formatCode>General</c:formatCode>
                <c:ptCount val="12"/>
                <c:pt idx="10">
                  <c:v>2</c:v>
                </c:pt>
                <c:pt idx="11">
                  <c:v>1</c:v>
                </c:pt>
              </c:numCache>
            </c:numRef>
          </c:val>
          <c:extLst>
            <c:ext xmlns:c16="http://schemas.microsoft.com/office/drawing/2014/chart" uri="{C3380CC4-5D6E-409C-BE32-E72D297353CC}">
              <c16:uniqueId val="{00000000-2A52-4272-A78E-17704403CAC9}"/>
            </c:ext>
          </c:extLst>
        </c:ser>
        <c:dLbls>
          <c:showLegendKey val="0"/>
          <c:showVal val="1"/>
          <c:showCatName val="0"/>
          <c:showSerName val="0"/>
          <c:showPercent val="0"/>
          <c:showBubbleSize val="0"/>
        </c:dLbls>
        <c:gapWidth val="38"/>
        <c:overlap val="100"/>
        <c:axId val="646071408"/>
        <c:axId val="646069488"/>
      </c:barChart>
      <c:catAx>
        <c:axId val="6460714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0"/>
        <c:noMultiLvlLbl val="0"/>
      </c:catAx>
      <c:valAx>
        <c:axId val="646069488"/>
        <c:scaling>
          <c:orientation val="minMax"/>
          <c:max val="670"/>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646071408"/>
        <c:crosses val="autoZero"/>
        <c:crossBetween val="between"/>
        <c:majorUnit val="100"/>
      </c:valAx>
      <c:spPr>
        <a:noFill/>
        <a:ln>
          <a:noFill/>
        </a:ln>
        <a:effectLst/>
      </c:spPr>
    </c:plotArea>
    <c:legend>
      <c:legendPos val="b"/>
      <c:layout>
        <c:manualLayout>
          <c:xMode val="edge"/>
          <c:yMode val="edge"/>
          <c:x val="0.12980483859977002"/>
          <c:y val="9.3179799779340794E-2"/>
          <c:w val="0.25046706766983085"/>
          <c:h val="0.14916069739443341"/>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661044589070354E-2"/>
          <c:y val="0.33180261186041532"/>
          <c:w val="0.90755168705743905"/>
          <c:h val="0.55658558124598589"/>
        </c:manualLayout>
      </c:layout>
      <c:barChart>
        <c:barDir val="col"/>
        <c:grouping val="clustered"/>
        <c:varyColors val="0"/>
        <c:ser>
          <c:idx val="0"/>
          <c:order val="0"/>
          <c:tx>
            <c:strRef>
              <c:f>Sheet1!$B$1</c:f>
              <c:strCache>
                <c:ptCount val="1"/>
                <c:pt idx="0">
                  <c:v>Segment Profit</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Sheet1!$B$4:$B$15</c:f>
              <c:numCache>
                <c:formatCode>General</c:formatCode>
                <c:ptCount val="12"/>
                <c:pt idx="0">
                  <c:v>24</c:v>
                </c:pt>
                <c:pt idx="1">
                  <c:v>13</c:v>
                </c:pt>
                <c:pt idx="2">
                  <c:v>30</c:v>
                </c:pt>
                <c:pt idx="3">
                  <c:v>64</c:v>
                </c:pt>
                <c:pt idx="4">
                  <c:v>88</c:v>
                </c:pt>
                <c:pt idx="5">
                  <c:v>91</c:v>
                </c:pt>
                <c:pt idx="6">
                  <c:v>71</c:v>
                </c:pt>
                <c:pt idx="7">
                  <c:v>68</c:v>
                </c:pt>
                <c:pt idx="8">
                  <c:v>69</c:v>
                </c:pt>
                <c:pt idx="9">
                  <c:v>56</c:v>
                </c:pt>
                <c:pt idx="10">
                  <c:v>89</c:v>
                </c:pt>
                <c:pt idx="11">
                  <c:v>79</c:v>
                </c:pt>
              </c:numCache>
            </c:numRef>
          </c:val>
          <c:extLst>
            <c:ext xmlns:c16="http://schemas.microsoft.com/office/drawing/2014/chart" uri="{C3380CC4-5D6E-409C-BE32-E72D297353CC}">
              <c16:uniqueId val="{00000001-363F-044A-9163-F9193E3DD0EC}"/>
            </c:ext>
          </c:extLst>
        </c:ser>
        <c:dLbls>
          <c:showLegendKey val="0"/>
          <c:showVal val="1"/>
          <c:showCatName val="0"/>
          <c:showSerName val="0"/>
          <c:showPercent val="0"/>
          <c:showBubbleSize val="0"/>
        </c:dLbls>
        <c:gapWidth val="50"/>
        <c:axId val="646071408"/>
        <c:axId val="646069488"/>
      </c:barChart>
      <c:lineChart>
        <c:grouping val="standard"/>
        <c:varyColors val="0"/>
        <c:ser>
          <c:idx val="1"/>
          <c:order val="1"/>
          <c:tx>
            <c:strRef>
              <c:f>Sheet1!$C$1</c:f>
              <c:strCache>
                <c:ptCount val="1"/>
                <c:pt idx="0">
                  <c:v>Gross Profit Margin</c:v>
                </c:pt>
              </c:strCache>
            </c:strRef>
          </c:tx>
          <c:spPr>
            <a:ln w="12700" cap="rnd">
              <a:solidFill>
                <a:schemeClr val="accent1"/>
              </a:solidFill>
              <a:round/>
            </a:ln>
            <a:effectLst/>
          </c:spPr>
          <c:marker>
            <c:symbol val="circle"/>
            <c:size val="4"/>
            <c:spPr>
              <a:solidFill>
                <a:schemeClr val="accent1"/>
              </a:solidFill>
              <a:ln w="9525">
                <a:noFill/>
              </a:ln>
              <a:effectLst/>
            </c:spPr>
          </c:marker>
          <c:dLbls>
            <c:dLbl>
              <c:idx val="0"/>
              <c:layout>
                <c:manualLayout>
                  <c:x val="-2.3309946218045014E-2"/>
                  <c:y val="-4.92801327338900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DEF-464A-B897-7D7F142F2A6C}"/>
                </c:ext>
              </c:extLst>
            </c:dLbl>
            <c:dLbl>
              <c:idx val="1"/>
              <c:layout>
                <c:manualLayout>
                  <c:x val="-3.7899332891003362E-2"/>
                  <c:y val="-4.24828730464569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467-432A-B26E-AF8F734E7796}"/>
                </c:ext>
              </c:extLst>
            </c:dLbl>
            <c:dLbl>
              <c:idx val="8"/>
              <c:layout>
                <c:manualLayout>
                  <c:x val="-4.1650329326678837E-2"/>
                  <c:y val="-3.568561335902376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EF-464A-B897-7D7F142F2A6C}"/>
                </c:ext>
              </c:extLst>
            </c:dLbl>
            <c:dLbl>
              <c:idx val="10"/>
              <c:layout>
                <c:manualLayout>
                  <c:x val="-2.7472473144822752E-2"/>
                  <c:y val="3.22869835153072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EF-464A-B897-7D7F142F2A6C}"/>
                </c:ext>
              </c:extLst>
            </c:dLbl>
            <c:dLbl>
              <c:idx val="11"/>
              <c:layout>
                <c:manualLayout>
                  <c:x val="-2.8149094735205531E-2"/>
                  <c:y val="3.22869835153072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DEF-464A-B897-7D7F142F2A6C}"/>
                </c:ext>
              </c:extLst>
            </c:dLbl>
            <c:spPr>
              <a:noFill/>
              <a:ln>
                <a:noFill/>
              </a:ln>
              <a:effectLst/>
            </c:spPr>
            <c:txPr>
              <a:bodyPr rot="0" spcFirstLastPara="1" vertOverflow="ellipsis" vert="horz" wrap="square" anchor="ctr" anchorCtr="1"/>
              <a:lstStyle/>
              <a:p>
                <a:pPr>
                  <a:defRPr sz="800" b="1" i="0" u="none" strike="noStrike" kern="1200" baseline="0">
                    <a:solidFill>
                      <a:schemeClr val="accent1"/>
                    </a:solidFill>
                    <a:latin typeface="Poppins SemiBold" pitchFamily="2" charset="0"/>
                    <a:ea typeface="+mn-ea"/>
                    <a:cs typeface="Poppins SemiBold" pitchFamily="2" charset="0"/>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Sheet1!$C$4:$C$15</c:f>
              <c:numCache>
                <c:formatCode>0.0%</c:formatCode>
                <c:ptCount val="12"/>
                <c:pt idx="0">
                  <c:v>0.21810723224533926</c:v>
                </c:pt>
                <c:pt idx="1">
                  <c:v>0.22593269896621418</c:v>
                </c:pt>
                <c:pt idx="2">
                  <c:v>0.23180309156558521</c:v>
                </c:pt>
                <c:pt idx="3">
                  <c:v>0.26696325396271081</c:v>
                </c:pt>
                <c:pt idx="4">
                  <c:v>0.27089222197371843</c:v>
                </c:pt>
                <c:pt idx="5">
                  <c:v>0.27595802837985156</c:v>
                </c:pt>
                <c:pt idx="6">
                  <c:v>0.27782064648336335</c:v>
                </c:pt>
                <c:pt idx="7">
                  <c:v>0.27371727823599923</c:v>
                </c:pt>
                <c:pt idx="8">
                  <c:v>0.27265043667612876</c:v>
                </c:pt>
                <c:pt idx="9">
                  <c:v>0.27851626052357997</c:v>
                </c:pt>
                <c:pt idx="10">
                  <c:v>0.3094176498137986</c:v>
                </c:pt>
                <c:pt idx="11">
                  <c:v>0.3072557052763133</c:v>
                </c:pt>
              </c:numCache>
            </c:numRef>
          </c:val>
          <c:smooth val="0"/>
          <c:extLst>
            <c:ext xmlns:c16="http://schemas.microsoft.com/office/drawing/2014/chart" uri="{C3380CC4-5D6E-409C-BE32-E72D297353CC}">
              <c16:uniqueId val="{0000000D-363F-044A-9163-F9193E3DD0EC}"/>
            </c:ext>
          </c:extLst>
        </c:ser>
        <c:dLbls>
          <c:showLegendKey val="0"/>
          <c:showVal val="1"/>
          <c:showCatName val="0"/>
          <c:showSerName val="0"/>
          <c:showPercent val="0"/>
          <c:showBubbleSize val="0"/>
        </c:dLbls>
        <c:marker val="1"/>
        <c:smooth val="0"/>
        <c:axId val="2024998560"/>
        <c:axId val="1976661248"/>
      </c:lineChart>
      <c:catAx>
        <c:axId val="6460714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0"/>
        <c:noMultiLvlLbl val="0"/>
      </c:catAx>
      <c:valAx>
        <c:axId val="646069488"/>
        <c:scaling>
          <c:orientation val="minMax"/>
          <c:max val="100"/>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646071408"/>
        <c:crosses val="autoZero"/>
        <c:crossBetween val="between"/>
        <c:majorUnit val="20"/>
      </c:valAx>
      <c:valAx>
        <c:axId val="1976661248"/>
        <c:scaling>
          <c:orientation val="minMax"/>
          <c:max val="0.31000000000000005"/>
          <c:min val="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Poppins" pitchFamily="2" charset="0"/>
                <a:ea typeface="+mn-ea"/>
                <a:cs typeface="Poppins" pitchFamily="2" charset="0"/>
              </a:defRPr>
            </a:pPr>
            <a:endParaRPr lang="ja-JP"/>
          </a:p>
        </c:txPr>
        <c:crossAx val="2024998560"/>
        <c:crosses val="max"/>
        <c:crossBetween val="between"/>
        <c:majorUnit val="0.1"/>
      </c:valAx>
      <c:catAx>
        <c:axId val="2024998560"/>
        <c:scaling>
          <c:orientation val="minMax"/>
        </c:scaling>
        <c:delete val="1"/>
        <c:axPos val="b"/>
        <c:numFmt formatCode="General" sourceLinked="1"/>
        <c:majorTickMark val="out"/>
        <c:minorTickMark val="none"/>
        <c:tickLblPos val="nextTo"/>
        <c:crossAx val="1976661248"/>
        <c:crosses val="autoZero"/>
        <c:auto val="1"/>
        <c:lblAlgn val="ctr"/>
        <c:lblOffset val="100"/>
        <c:noMultiLvlLbl val="0"/>
      </c:catAx>
      <c:spPr>
        <a:noFill/>
        <a:ln>
          <a:noFill/>
        </a:ln>
        <a:effectLst/>
      </c:spPr>
    </c:plotArea>
    <c:legend>
      <c:legendPos val="r"/>
      <c:layout>
        <c:manualLayout>
          <c:xMode val="edge"/>
          <c:yMode val="edge"/>
          <c:x val="0.28581218798521901"/>
          <c:y val="4.6474256047955471E-2"/>
          <c:w val="0.44713926071101989"/>
          <c:h val="0.12248767528238072"/>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012731333293983E-2"/>
          <c:y val="0.30797927689594362"/>
          <c:w val="0.88160707401835892"/>
          <c:h val="0.5745577601410935"/>
        </c:manualLayout>
      </c:layout>
      <c:barChart>
        <c:barDir val="col"/>
        <c:grouping val="stacked"/>
        <c:varyColors val="0"/>
        <c:ser>
          <c:idx val="0"/>
          <c:order val="0"/>
          <c:tx>
            <c:strRef>
              <c:f>Sheet1!$B$1</c:f>
              <c:strCache>
                <c:ptCount val="1"/>
                <c:pt idx="0">
                  <c:v>Solutions Segment (Labor Costs)</c:v>
                </c:pt>
              </c:strCache>
            </c:strRef>
          </c:tx>
          <c:spPr>
            <a:solidFill>
              <a:schemeClr val="tx1"/>
            </a:solidFill>
            <a:ln w="6350">
              <a:solidFill>
                <a:schemeClr val="bg1"/>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Sheet1!$B$4:$B$15</c:f>
              <c:numCache>
                <c:formatCode>General</c:formatCode>
                <c:ptCount val="12"/>
                <c:pt idx="0">
                  <c:v>325</c:v>
                </c:pt>
                <c:pt idx="1">
                  <c:v>346</c:v>
                </c:pt>
                <c:pt idx="2" formatCode="#,##0">
                  <c:v>361</c:v>
                </c:pt>
                <c:pt idx="3">
                  <c:v>375</c:v>
                </c:pt>
                <c:pt idx="4">
                  <c:v>370</c:v>
                </c:pt>
                <c:pt idx="5">
                  <c:v>358</c:v>
                </c:pt>
                <c:pt idx="6" formatCode="#,##0">
                  <c:v>349</c:v>
                </c:pt>
                <c:pt idx="7">
                  <c:v>356</c:v>
                </c:pt>
                <c:pt idx="8">
                  <c:v>376</c:v>
                </c:pt>
                <c:pt idx="9">
                  <c:v>386</c:v>
                </c:pt>
                <c:pt idx="10" formatCode="#,##0">
                  <c:v>391</c:v>
                </c:pt>
                <c:pt idx="11">
                  <c:v>426</c:v>
                </c:pt>
              </c:numCache>
            </c:numRef>
          </c:val>
          <c:extLst>
            <c:ext xmlns:c16="http://schemas.microsoft.com/office/drawing/2014/chart" uri="{C3380CC4-5D6E-409C-BE32-E72D297353CC}">
              <c16:uniqueId val="{00000000-E539-C044-AAF5-C8F1A76FBCB1}"/>
            </c:ext>
          </c:extLst>
        </c:ser>
        <c:ser>
          <c:idx val="1"/>
          <c:order val="1"/>
          <c:tx>
            <c:strRef>
              <c:f>Sheet1!$C$1</c:f>
              <c:strCache>
                <c:ptCount val="1"/>
                <c:pt idx="0">
                  <c:v>Solutions Segment (Recruitment Costs)</c:v>
                </c:pt>
              </c:strCache>
            </c:strRef>
          </c:tx>
          <c:spPr>
            <a:solidFill>
              <a:schemeClr val="tx1">
                <a:lumMod val="60000"/>
                <a:lumOff val="40000"/>
              </a:schemeClr>
            </a:solidFill>
            <a:ln w="6350">
              <a:solidFill>
                <a:schemeClr val="bg1"/>
              </a:solidFill>
            </a:ln>
            <a:effectLst/>
          </c:spPr>
          <c:invertIfNegative val="0"/>
          <c:dLbls>
            <c:dLbl>
              <c:idx val="4"/>
              <c:layout>
                <c:manualLayout>
                  <c:x val="-8.9252213820569023E-17"/>
                  <c:y val="1.81028137189109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6A7-4309-AC12-B8F1E8A75DBE}"/>
                </c:ext>
              </c:extLst>
            </c:dLbl>
            <c:dLbl>
              <c:idx val="5"/>
              <c:layout>
                <c:manualLayout>
                  <c:x val="0"/>
                  <c:y val="1.81028137189108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75-4269-BAAF-FF4C9C2CF50C}"/>
                </c:ext>
              </c:extLst>
            </c:dLbl>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Sheet1!$C$4:$C$15</c:f>
              <c:numCache>
                <c:formatCode>General</c:formatCode>
                <c:ptCount val="12"/>
                <c:pt idx="0">
                  <c:v>26</c:v>
                </c:pt>
                <c:pt idx="1">
                  <c:v>45</c:v>
                </c:pt>
                <c:pt idx="2">
                  <c:v>30</c:v>
                </c:pt>
                <c:pt idx="3">
                  <c:v>25</c:v>
                </c:pt>
                <c:pt idx="4">
                  <c:v>7</c:v>
                </c:pt>
                <c:pt idx="5">
                  <c:v>4</c:v>
                </c:pt>
                <c:pt idx="6">
                  <c:v>22</c:v>
                </c:pt>
                <c:pt idx="7">
                  <c:v>27</c:v>
                </c:pt>
                <c:pt idx="8">
                  <c:v>32</c:v>
                </c:pt>
                <c:pt idx="9">
                  <c:v>16</c:v>
                </c:pt>
                <c:pt idx="10">
                  <c:v>25</c:v>
                </c:pt>
                <c:pt idx="11">
                  <c:v>20</c:v>
                </c:pt>
              </c:numCache>
            </c:numRef>
          </c:val>
          <c:extLst>
            <c:ext xmlns:c16="http://schemas.microsoft.com/office/drawing/2014/chart" uri="{C3380CC4-5D6E-409C-BE32-E72D297353CC}">
              <c16:uniqueId val="{00000001-E539-C044-AAF5-C8F1A76FBCB1}"/>
            </c:ext>
          </c:extLst>
        </c:ser>
        <c:ser>
          <c:idx val="2"/>
          <c:order val="2"/>
          <c:tx>
            <c:strRef>
              <c:f>Sheet1!$D$1</c:f>
              <c:strCache>
                <c:ptCount val="1"/>
                <c:pt idx="0">
                  <c:v>Mobile Segment (Labor Costs)</c:v>
                </c:pt>
              </c:strCache>
            </c:strRef>
          </c:tx>
          <c:spPr>
            <a:solidFill>
              <a:schemeClr val="accent1"/>
            </a:solidFill>
            <a:ln w="6350">
              <a:solidFill>
                <a:schemeClr val="bg1"/>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Sheet1!$D$4:$D$15</c:f>
              <c:numCache>
                <c:formatCode>General</c:formatCode>
                <c:ptCount val="12"/>
                <c:pt idx="0">
                  <c:v>57</c:v>
                </c:pt>
                <c:pt idx="1">
                  <c:v>56</c:v>
                </c:pt>
                <c:pt idx="2">
                  <c:v>57</c:v>
                </c:pt>
                <c:pt idx="3">
                  <c:v>71</c:v>
                </c:pt>
                <c:pt idx="4">
                  <c:v>71</c:v>
                </c:pt>
                <c:pt idx="5">
                  <c:v>72</c:v>
                </c:pt>
                <c:pt idx="6">
                  <c:v>72</c:v>
                </c:pt>
                <c:pt idx="7">
                  <c:v>89</c:v>
                </c:pt>
                <c:pt idx="8">
                  <c:v>89</c:v>
                </c:pt>
                <c:pt idx="9">
                  <c:v>87</c:v>
                </c:pt>
                <c:pt idx="10">
                  <c:v>82</c:v>
                </c:pt>
                <c:pt idx="11">
                  <c:v>92</c:v>
                </c:pt>
              </c:numCache>
            </c:numRef>
          </c:val>
          <c:extLst>
            <c:ext xmlns:c16="http://schemas.microsoft.com/office/drawing/2014/chart" uri="{C3380CC4-5D6E-409C-BE32-E72D297353CC}">
              <c16:uniqueId val="{00000002-E539-C044-AAF5-C8F1A76FBCB1}"/>
            </c:ext>
          </c:extLst>
        </c:ser>
        <c:ser>
          <c:idx val="3"/>
          <c:order val="3"/>
          <c:tx>
            <c:strRef>
              <c:f>Sheet1!$E$1</c:f>
              <c:strCache>
                <c:ptCount val="1"/>
                <c:pt idx="0">
                  <c:v>Mobile Segment (Recruitment Costs)</c:v>
                </c:pt>
              </c:strCache>
            </c:strRef>
          </c:tx>
          <c:spPr>
            <a:solidFill>
              <a:schemeClr val="accent1">
                <a:lumMod val="60000"/>
                <a:lumOff val="40000"/>
              </a:schemeClr>
            </a:solidFill>
            <a:ln w="6350">
              <a:solidFill>
                <a:schemeClr val="bg1"/>
              </a:solid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rgbClr val="142FA4"/>
                    </a:solidFill>
                    <a:latin typeface="Poppins SemiBold" pitchFamily="2" charset="0"/>
                    <a:ea typeface="+mn-ea"/>
                    <a:cs typeface="Poppins SemiBold" pitchFamily="2" charset="0"/>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Sheet1!$E$4:$E$15</c:f>
              <c:numCache>
                <c:formatCode>General</c:formatCode>
                <c:ptCount val="12"/>
                <c:pt idx="0">
                  <c:v>1</c:v>
                </c:pt>
                <c:pt idx="1">
                  <c:v>3</c:v>
                </c:pt>
                <c:pt idx="2">
                  <c:v>2</c:v>
                </c:pt>
                <c:pt idx="3">
                  <c:v>5</c:v>
                </c:pt>
                <c:pt idx="4">
                  <c:v>5</c:v>
                </c:pt>
                <c:pt idx="5">
                  <c:v>2</c:v>
                </c:pt>
                <c:pt idx="6">
                  <c:v>3</c:v>
                </c:pt>
                <c:pt idx="7">
                  <c:v>8</c:v>
                </c:pt>
                <c:pt idx="8">
                  <c:v>2</c:v>
                </c:pt>
                <c:pt idx="9">
                  <c:v>2</c:v>
                </c:pt>
                <c:pt idx="10">
                  <c:v>2</c:v>
                </c:pt>
                <c:pt idx="11">
                  <c:v>9</c:v>
                </c:pt>
              </c:numCache>
            </c:numRef>
          </c:val>
          <c:extLst>
            <c:ext xmlns:c16="http://schemas.microsoft.com/office/drawing/2014/chart" uri="{C3380CC4-5D6E-409C-BE32-E72D297353CC}">
              <c16:uniqueId val="{0000000D-E539-C044-AAF5-C8F1A76FBCB1}"/>
            </c:ext>
          </c:extLst>
        </c:ser>
        <c:dLbls>
          <c:showLegendKey val="0"/>
          <c:showVal val="1"/>
          <c:showCatName val="0"/>
          <c:showSerName val="0"/>
          <c:showPercent val="0"/>
          <c:showBubbleSize val="0"/>
        </c:dLbls>
        <c:gapWidth val="48"/>
        <c:overlap val="100"/>
        <c:axId val="646071408"/>
        <c:axId val="646069488"/>
      </c:barChart>
      <c:catAx>
        <c:axId val="6460714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0"/>
        <c:noMultiLvlLbl val="0"/>
      </c:catAx>
      <c:valAx>
        <c:axId val="646069488"/>
        <c:scaling>
          <c:orientation val="minMax"/>
          <c:max val="550"/>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646071408"/>
        <c:crosses val="autoZero"/>
        <c:crossBetween val="between"/>
        <c:majorUnit val="100"/>
      </c:valAx>
      <c:spPr>
        <a:noFill/>
        <a:ln>
          <a:noFill/>
        </a:ln>
        <a:effectLst/>
      </c:spPr>
    </c:plotArea>
    <c:legend>
      <c:legendPos val="r"/>
      <c:legendEntry>
        <c:idx val="0"/>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egendEntry>
        <c:idx val="1"/>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egendEntry>
        <c:idx val="2"/>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egendEntry>
        <c:idx val="3"/>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ayout>
        <c:manualLayout>
          <c:xMode val="edge"/>
          <c:yMode val="edge"/>
          <c:x val="5.006543506710899E-2"/>
          <c:y val="0.25403549382716051"/>
          <c:w val="0.42168745215280201"/>
          <c:h val="0.12089836860670194"/>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827651288552073"/>
          <c:y val="5.4340200015062574E-2"/>
          <c:w val="0.85361215214675557"/>
          <c:h val="0.73619385614541821"/>
        </c:manualLayout>
      </c:layout>
      <c:barChart>
        <c:barDir val="col"/>
        <c:grouping val="clustered"/>
        <c:varyColors val="0"/>
        <c:ser>
          <c:idx val="0"/>
          <c:order val="0"/>
          <c:tx>
            <c:strRef>
              <c:f>Sheet1!$B$1</c:f>
              <c:strCache>
                <c:ptCount val="1"/>
                <c:pt idx="0">
                  <c:v>Advertising Expence</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Poppins SemiBold" pitchFamily="2" charset="0"/>
                    <a:ea typeface="+mn-ea"/>
                    <a:cs typeface="Poppins SemiBold" pitchFamily="2" charset="0"/>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Sheet1!$A$4:$A$15</c:f>
              <c:strCache>
                <c:ptCount val="12"/>
                <c:pt idx="0">
                  <c:v>3Q</c:v>
                </c:pt>
                <c:pt idx="1">
                  <c:v>4Q</c:v>
                </c:pt>
                <c:pt idx="2">
                  <c:v>1Q</c:v>
                </c:pt>
                <c:pt idx="3">
                  <c:v>2Q</c:v>
                </c:pt>
                <c:pt idx="4">
                  <c:v>3Q</c:v>
                </c:pt>
                <c:pt idx="5">
                  <c:v>4Q</c:v>
                </c:pt>
                <c:pt idx="6">
                  <c:v>1Q</c:v>
                </c:pt>
                <c:pt idx="7">
                  <c:v>2Q</c:v>
                </c:pt>
                <c:pt idx="8">
                  <c:v>3Q</c:v>
                </c:pt>
                <c:pt idx="9">
                  <c:v>4Q</c:v>
                </c:pt>
                <c:pt idx="10">
                  <c:v>1Q</c:v>
                </c:pt>
                <c:pt idx="11">
                  <c:v>2Q</c:v>
                </c:pt>
              </c:strCache>
            </c:strRef>
          </c:cat>
          <c:val>
            <c:numRef>
              <c:f>Sheet1!$B$4:$B$15</c:f>
              <c:numCache>
                <c:formatCode>General</c:formatCode>
                <c:ptCount val="12"/>
                <c:pt idx="0">
                  <c:v>318</c:v>
                </c:pt>
                <c:pt idx="1">
                  <c:v>300</c:v>
                </c:pt>
                <c:pt idx="2">
                  <c:v>138</c:v>
                </c:pt>
                <c:pt idx="3">
                  <c:v>106</c:v>
                </c:pt>
                <c:pt idx="4">
                  <c:v>72</c:v>
                </c:pt>
                <c:pt idx="5">
                  <c:v>61</c:v>
                </c:pt>
                <c:pt idx="6">
                  <c:v>82</c:v>
                </c:pt>
                <c:pt idx="7">
                  <c:v>74</c:v>
                </c:pt>
                <c:pt idx="8">
                  <c:v>90</c:v>
                </c:pt>
                <c:pt idx="9">
                  <c:v>74</c:v>
                </c:pt>
                <c:pt idx="10">
                  <c:v>88</c:v>
                </c:pt>
                <c:pt idx="11">
                  <c:v>193</c:v>
                </c:pt>
              </c:numCache>
            </c:numRef>
          </c:val>
          <c:extLst>
            <c:ext xmlns:c16="http://schemas.microsoft.com/office/drawing/2014/chart" uri="{C3380CC4-5D6E-409C-BE32-E72D297353CC}">
              <c16:uniqueId val="{00000001-7D55-A24F-B7A0-A222E6FAC0CC}"/>
            </c:ext>
          </c:extLst>
        </c:ser>
        <c:dLbls>
          <c:dLblPos val="outEnd"/>
          <c:showLegendKey val="0"/>
          <c:showVal val="1"/>
          <c:showCatName val="0"/>
          <c:showSerName val="0"/>
          <c:showPercent val="0"/>
          <c:showBubbleSize val="0"/>
        </c:dLbls>
        <c:gapWidth val="70"/>
        <c:axId val="646071408"/>
        <c:axId val="646069488"/>
      </c:barChart>
      <c:catAx>
        <c:axId val="6460714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0"/>
        <c:noMultiLvlLbl val="0"/>
      </c:catAx>
      <c:valAx>
        <c:axId val="646069488"/>
        <c:scaling>
          <c:orientation val="minMax"/>
          <c:max val="4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646071408"/>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88939153166339"/>
          <c:y val="7.4020028019157344E-2"/>
          <c:w val="0.84000566343042071"/>
          <c:h val="0.73312244728385334"/>
        </c:manualLayout>
      </c:layout>
      <c:barChart>
        <c:barDir val="col"/>
        <c:grouping val="clustered"/>
        <c:varyColors val="0"/>
        <c:ser>
          <c:idx val="0"/>
          <c:order val="0"/>
          <c:tx>
            <c:strRef>
              <c:f>Sheet1!$B$1</c:f>
              <c:strCache>
                <c:ptCount val="1"/>
                <c:pt idx="0">
                  <c:v>サブスク契約数</c:v>
                </c:pt>
              </c:strCache>
            </c:strRef>
          </c:tx>
          <c:spPr>
            <a:solidFill>
              <a:schemeClr val="accent1">
                <a:alpha val="75000"/>
              </a:schemeClr>
            </a:solidFill>
            <a:ln>
              <a:noFill/>
            </a:ln>
            <a:effectLst/>
          </c:spPr>
          <c:invertIfNegative val="0"/>
          <c:dLbls>
            <c:dLbl>
              <c:idx val="0"/>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0-80DB-4257-854F-9E8B99A1A879}"/>
                </c:ext>
              </c:extLst>
            </c:dLbl>
            <c:dLbl>
              <c:idx val="1"/>
              <c:delete val="1"/>
              <c:extLst>
                <c:ext xmlns:c15="http://schemas.microsoft.com/office/drawing/2012/chart" uri="{CE6537A1-D6FC-4f65-9D91-7224C49458BB}"/>
                <c:ext xmlns:c16="http://schemas.microsoft.com/office/drawing/2014/chart" uri="{C3380CC4-5D6E-409C-BE32-E72D297353CC}">
                  <c16:uniqueId val="{00000000-4959-3E4E-86AC-A741EDF6F90B}"/>
                </c:ext>
              </c:extLst>
            </c:dLbl>
            <c:dLbl>
              <c:idx val="2"/>
              <c:delete val="1"/>
              <c:extLst>
                <c:ext xmlns:c15="http://schemas.microsoft.com/office/drawing/2012/chart" uri="{CE6537A1-D6FC-4f65-9D91-7224C49458BB}"/>
                <c:ext xmlns:c16="http://schemas.microsoft.com/office/drawing/2014/chart" uri="{C3380CC4-5D6E-409C-BE32-E72D297353CC}">
                  <c16:uniqueId val="{00000000-2F92-48CA-8673-DC1546BE59A0}"/>
                </c:ext>
              </c:extLst>
            </c:dLbl>
            <c:dLbl>
              <c:idx val="3"/>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1-4959-3E4E-86AC-A741EDF6F90B}"/>
                </c:ext>
              </c:extLst>
            </c:dLbl>
            <c:dLbl>
              <c:idx val="4"/>
              <c:delete val="1"/>
              <c:extLst>
                <c:ext xmlns:c15="http://schemas.microsoft.com/office/drawing/2012/chart" uri="{CE6537A1-D6FC-4f65-9D91-7224C49458BB}"/>
                <c:ext xmlns:c16="http://schemas.microsoft.com/office/drawing/2014/chart" uri="{C3380CC4-5D6E-409C-BE32-E72D297353CC}">
                  <c16:uniqueId val="{00000002-4959-3E4E-86AC-A741EDF6F90B}"/>
                </c:ext>
              </c:extLst>
            </c:dLbl>
            <c:dLbl>
              <c:idx val="5"/>
              <c:delete val="1"/>
              <c:extLst>
                <c:ext xmlns:c15="http://schemas.microsoft.com/office/drawing/2012/chart" uri="{CE6537A1-D6FC-4f65-9D91-7224C49458BB}"/>
                <c:ext xmlns:c16="http://schemas.microsoft.com/office/drawing/2014/chart" uri="{C3380CC4-5D6E-409C-BE32-E72D297353CC}">
                  <c16:uniqueId val="{00000001-80DB-4257-854F-9E8B99A1A879}"/>
                </c:ext>
              </c:extLst>
            </c:dLbl>
            <c:dLbl>
              <c:idx val="6"/>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3-4959-3E4E-86AC-A741EDF6F90B}"/>
                </c:ext>
              </c:extLst>
            </c:dLbl>
            <c:dLbl>
              <c:idx val="7"/>
              <c:delete val="1"/>
              <c:extLst>
                <c:ext xmlns:c15="http://schemas.microsoft.com/office/drawing/2012/chart" uri="{CE6537A1-D6FC-4f65-9D91-7224C49458BB}"/>
                <c:ext xmlns:c16="http://schemas.microsoft.com/office/drawing/2014/chart" uri="{C3380CC4-5D6E-409C-BE32-E72D297353CC}">
                  <c16:uniqueId val="{00000004-4959-3E4E-86AC-A741EDF6F90B}"/>
                </c:ext>
              </c:extLst>
            </c:dLbl>
            <c:dLbl>
              <c:idx val="8"/>
              <c:delete val="1"/>
              <c:extLst>
                <c:ext xmlns:c15="http://schemas.microsoft.com/office/drawing/2012/chart" uri="{CE6537A1-D6FC-4f65-9D91-7224C49458BB}"/>
                <c:ext xmlns:c16="http://schemas.microsoft.com/office/drawing/2014/chart" uri="{C3380CC4-5D6E-409C-BE32-E72D297353CC}">
                  <c16:uniqueId val="{00000001-3C54-6649-A2BD-A20CEA6A7E22}"/>
                </c:ext>
              </c:extLst>
            </c:dLbl>
            <c:dLbl>
              <c:idx val="9"/>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5-4959-3E4E-86AC-A741EDF6F90B}"/>
                </c:ext>
              </c:extLst>
            </c:dLbl>
            <c:dLbl>
              <c:idx val="10"/>
              <c:delete val="1"/>
              <c:extLst>
                <c:ext xmlns:c15="http://schemas.microsoft.com/office/drawing/2012/chart" uri="{CE6537A1-D6FC-4f65-9D91-7224C49458BB}"/>
                <c:ext xmlns:c16="http://schemas.microsoft.com/office/drawing/2014/chart" uri="{C3380CC4-5D6E-409C-BE32-E72D297353CC}">
                  <c16:uniqueId val="{00000006-4959-3E4E-86AC-A741EDF6F90B}"/>
                </c:ext>
              </c:extLst>
            </c:dLbl>
            <c:dLbl>
              <c:idx val="11"/>
              <c:delete val="1"/>
              <c:extLst>
                <c:ext xmlns:c15="http://schemas.microsoft.com/office/drawing/2012/chart" uri="{CE6537A1-D6FC-4f65-9D91-7224C49458BB}"/>
                <c:ext xmlns:c16="http://schemas.microsoft.com/office/drawing/2014/chart" uri="{C3380CC4-5D6E-409C-BE32-E72D297353CC}">
                  <c16:uniqueId val="{00000004-24AC-4A76-8ACA-3366CF6948DF}"/>
                </c:ext>
              </c:extLst>
            </c:dLbl>
            <c:dLbl>
              <c:idx val="12"/>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7-4959-3E4E-86AC-A741EDF6F90B}"/>
                </c:ext>
              </c:extLst>
            </c:dLbl>
            <c:dLbl>
              <c:idx val="13"/>
              <c:delete val="1"/>
              <c:extLst>
                <c:ext xmlns:c15="http://schemas.microsoft.com/office/drawing/2012/chart" uri="{CE6537A1-D6FC-4f65-9D91-7224C49458BB}"/>
                <c:ext xmlns:c16="http://schemas.microsoft.com/office/drawing/2014/chart" uri="{C3380CC4-5D6E-409C-BE32-E72D297353CC}">
                  <c16:uniqueId val="{00000008-4959-3E4E-86AC-A741EDF6F90B}"/>
                </c:ext>
              </c:extLst>
            </c:dLbl>
            <c:dLbl>
              <c:idx val="14"/>
              <c:delete val="1"/>
              <c:extLst>
                <c:ext xmlns:c15="http://schemas.microsoft.com/office/drawing/2012/chart" uri="{CE6537A1-D6FC-4f65-9D91-7224C49458BB}"/>
                <c:ext xmlns:c16="http://schemas.microsoft.com/office/drawing/2014/chart" uri="{C3380CC4-5D6E-409C-BE32-E72D297353CC}">
                  <c16:uniqueId val="{00000001-2F92-48CA-8673-DC1546BE59A0}"/>
                </c:ext>
              </c:extLst>
            </c:dLbl>
            <c:dLbl>
              <c:idx val="15"/>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9-4959-3E4E-86AC-A741EDF6F90B}"/>
                </c:ext>
              </c:extLst>
            </c:dLbl>
            <c:dLbl>
              <c:idx val="16"/>
              <c:delete val="1"/>
              <c:extLst>
                <c:ext xmlns:c15="http://schemas.microsoft.com/office/drawing/2012/chart" uri="{CE6537A1-D6FC-4f65-9D91-7224C49458BB}"/>
                <c:ext xmlns:c16="http://schemas.microsoft.com/office/drawing/2014/chart" uri="{C3380CC4-5D6E-409C-BE32-E72D297353CC}">
                  <c16:uniqueId val="{0000000A-4959-3E4E-86AC-A741EDF6F90B}"/>
                </c:ext>
              </c:extLst>
            </c:dLbl>
            <c:dLbl>
              <c:idx val="17"/>
              <c:delete val="1"/>
              <c:extLst>
                <c:ext xmlns:c15="http://schemas.microsoft.com/office/drawing/2012/chart" uri="{CE6537A1-D6FC-4f65-9D91-7224C49458BB}"/>
                <c:ext xmlns:c16="http://schemas.microsoft.com/office/drawing/2014/chart" uri="{C3380CC4-5D6E-409C-BE32-E72D297353CC}">
                  <c16:uniqueId val="{00000002-80DB-4257-854F-9E8B99A1A879}"/>
                </c:ext>
              </c:extLst>
            </c:dLbl>
            <c:dLbl>
              <c:idx val="18"/>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B-4959-3E4E-86AC-A741EDF6F90B}"/>
                </c:ext>
              </c:extLst>
            </c:dLbl>
            <c:dLbl>
              <c:idx val="19"/>
              <c:delete val="1"/>
              <c:extLst>
                <c:ext xmlns:c15="http://schemas.microsoft.com/office/drawing/2012/chart" uri="{CE6537A1-D6FC-4f65-9D91-7224C49458BB}"/>
                <c:ext xmlns:c16="http://schemas.microsoft.com/office/drawing/2014/chart" uri="{C3380CC4-5D6E-409C-BE32-E72D297353CC}">
                  <c16:uniqueId val="{0000000C-4959-3E4E-86AC-A741EDF6F90B}"/>
                </c:ext>
              </c:extLst>
            </c:dLbl>
            <c:dLbl>
              <c:idx val="20"/>
              <c:delete val="1"/>
              <c:extLst>
                <c:ext xmlns:c15="http://schemas.microsoft.com/office/drawing/2012/chart" uri="{CE6537A1-D6FC-4f65-9D91-7224C49458BB}"/>
                <c:ext xmlns:c16="http://schemas.microsoft.com/office/drawing/2014/chart" uri="{C3380CC4-5D6E-409C-BE32-E72D297353CC}">
                  <c16:uniqueId val="{00000002-3C54-6649-A2BD-A20CEA6A7E22}"/>
                </c:ext>
              </c:extLst>
            </c:dLbl>
            <c:dLbl>
              <c:idx val="21"/>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E-4959-3E4E-86AC-A741EDF6F90B}"/>
                </c:ext>
              </c:extLst>
            </c:dLbl>
            <c:dLbl>
              <c:idx val="22"/>
              <c:delete val="1"/>
              <c:extLst>
                <c:ext xmlns:c15="http://schemas.microsoft.com/office/drawing/2012/chart" uri="{CE6537A1-D6FC-4f65-9D91-7224C49458BB}"/>
                <c:ext xmlns:c16="http://schemas.microsoft.com/office/drawing/2014/chart" uri="{C3380CC4-5D6E-409C-BE32-E72D297353CC}">
                  <c16:uniqueId val="{0000000F-4959-3E4E-86AC-A741EDF6F90B}"/>
                </c:ext>
              </c:extLst>
            </c:dLbl>
            <c:dLbl>
              <c:idx val="23"/>
              <c:delete val="1"/>
              <c:extLst>
                <c:ext xmlns:c15="http://schemas.microsoft.com/office/drawing/2012/chart" uri="{CE6537A1-D6FC-4f65-9D91-7224C49458BB}"/>
                <c:ext xmlns:c16="http://schemas.microsoft.com/office/drawing/2014/chart" uri="{C3380CC4-5D6E-409C-BE32-E72D297353CC}">
                  <c16:uniqueId val="{00000003-24AC-4A76-8ACA-3366CF6948DF}"/>
                </c:ext>
              </c:extLst>
            </c:dLbl>
            <c:dLbl>
              <c:idx val="24"/>
              <c:layout>
                <c:manualLayout>
                  <c:x val="0"/>
                  <c:y val="-7.6312094836104927E-3"/>
                </c:manualLayout>
              </c:layout>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959-3E4E-86AC-A741EDF6F90B}"/>
                </c:ext>
              </c:extLst>
            </c:dLbl>
            <c:dLbl>
              <c:idx val="25"/>
              <c:delete val="1"/>
              <c:extLst>
                <c:ext xmlns:c15="http://schemas.microsoft.com/office/drawing/2012/chart" uri="{CE6537A1-D6FC-4f65-9D91-7224C49458BB}"/>
                <c:ext xmlns:c16="http://schemas.microsoft.com/office/drawing/2014/chart" uri="{C3380CC4-5D6E-409C-BE32-E72D297353CC}">
                  <c16:uniqueId val="{00000011-4959-3E4E-86AC-A741EDF6F90B}"/>
                </c:ext>
              </c:extLst>
            </c:dLbl>
            <c:dLbl>
              <c:idx val="26"/>
              <c:delete val="1"/>
              <c:extLst>
                <c:ext xmlns:c15="http://schemas.microsoft.com/office/drawing/2012/chart" uri="{CE6537A1-D6FC-4f65-9D91-7224C49458BB}"/>
                <c:ext xmlns:c16="http://schemas.microsoft.com/office/drawing/2014/chart" uri="{C3380CC4-5D6E-409C-BE32-E72D297353CC}">
                  <c16:uniqueId val="{00000003-80DB-4257-854F-9E8B99A1A879}"/>
                </c:ext>
              </c:extLst>
            </c:dLbl>
            <c:dLbl>
              <c:idx val="27"/>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12-4959-3E4E-86AC-A741EDF6F90B}"/>
                </c:ext>
              </c:extLst>
            </c:dLbl>
            <c:dLbl>
              <c:idx val="28"/>
              <c:delete val="1"/>
              <c:extLst>
                <c:ext xmlns:c15="http://schemas.microsoft.com/office/drawing/2012/chart" uri="{CE6537A1-D6FC-4f65-9D91-7224C49458BB}"/>
                <c:ext xmlns:c16="http://schemas.microsoft.com/office/drawing/2014/chart" uri="{C3380CC4-5D6E-409C-BE32-E72D297353CC}">
                  <c16:uniqueId val="{00000013-4959-3E4E-86AC-A741EDF6F90B}"/>
                </c:ext>
              </c:extLst>
            </c:dLbl>
            <c:dLbl>
              <c:idx val="29"/>
              <c:delete val="1"/>
              <c:extLst>
                <c:ext xmlns:c15="http://schemas.microsoft.com/office/drawing/2012/chart" uri="{CE6537A1-D6FC-4f65-9D91-7224C49458BB}"/>
                <c:ext xmlns:c16="http://schemas.microsoft.com/office/drawing/2014/chart" uri="{C3380CC4-5D6E-409C-BE32-E72D297353CC}">
                  <c16:uniqueId val="{00000000-3C54-6649-A2BD-A20CEA6A7E22}"/>
                </c:ext>
              </c:extLst>
            </c:dLbl>
            <c:dLbl>
              <c:idx val="30"/>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14-4959-3E4E-86AC-A741EDF6F90B}"/>
                </c:ext>
              </c:extLst>
            </c:dLbl>
            <c:dLbl>
              <c:idx val="31"/>
              <c:delete val="1"/>
              <c:extLst>
                <c:ext xmlns:c15="http://schemas.microsoft.com/office/drawing/2012/chart" uri="{CE6537A1-D6FC-4f65-9D91-7224C49458BB}"/>
                <c:ext xmlns:c16="http://schemas.microsoft.com/office/drawing/2014/chart" uri="{C3380CC4-5D6E-409C-BE32-E72D297353CC}">
                  <c16:uniqueId val="{00000015-4959-3E4E-86AC-A741EDF6F90B}"/>
                </c:ext>
              </c:extLst>
            </c:dLbl>
            <c:dLbl>
              <c:idx val="32"/>
              <c:delete val="1"/>
              <c:extLst>
                <c:ext xmlns:c15="http://schemas.microsoft.com/office/drawing/2012/chart" uri="{CE6537A1-D6FC-4f65-9D91-7224C49458BB}"/>
                <c:ext xmlns:c16="http://schemas.microsoft.com/office/drawing/2014/chart" uri="{C3380CC4-5D6E-409C-BE32-E72D297353CC}">
                  <c16:uniqueId val="{00000003-3C54-6649-A2BD-A20CEA6A7E22}"/>
                </c:ext>
              </c:extLst>
            </c:dLbl>
            <c:dLbl>
              <c:idx val="33"/>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0-24AC-4A76-8ACA-3366CF6948DF}"/>
                </c:ext>
              </c:extLst>
            </c:dLbl>
            <c:dLbl>
              <c:idx val="34"/>
              <c:delete val="1"/>
              <c:extLst>
                <c:ext xmlns:c15="http://schemas.microsoft.com/office/drawing/2012/chart" uri="{CE6537A1-D6FC-4f65-9D91-7224C49458BB}"/>
                <c:ext xmlns:c16="http://schemas.microsoft.com/office/drawing/2014/chart" uri="{C3380CC4-5D6E-409C-BE32-E72D297353CC}">
                  <c16:uniqueId val="{00000001-24AC-4A76-8ACA-3366CF6948DF}"/>
                </c:ext>
              </c:extLst>
            </c:dLbl>
            <c:dLbl>
              <c:idx val="35"/>
              <c:delete val="1"/>
              <c:extLst>
                <c:ext xmlns:c15="http://schemas.microsoft.com/office/drawing/2012/chart" uri="{CE6537A1-D6FC-4f65-9D91-7224C49458BB}"/>
                <c:ext xmlns:c16="http://schemas.microsoft.com/office/drawing/2014/chart" uri="{C3380CC4-5D6E-409C-BE32-E72D297353CC}">
                  <c16:uniqueId val="{00000002-24AC-4A76-8ACA-3366CF6948DF}"/>
                </c:ext>
              </c:extLst>
            </c:dLbl>
            <c:dLbl>
              <c:idx val="36"/>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extLst>
                <c:ext xmlns:c16="http://schemas.microsoft.com/office/drawing/2014/chart" uri="{C3380CC4-5D6E-409C-BE32-E72D297353CC}">
                  <c16:uniqueId val="{00000000-2170-406D-B8EB-0129F1948D54}"/>
                </c:ext>
              </c:extLst>
            </c:dLbl>
            <c:spPr>
              <a:noFill/>
              <a:ln>
                <a:noFill/>
              </a:ln>
              <a:effectLst/>
            </c:spPr>
            <c:txPr>
              <a:bodyPr rot="0" spcFirstLastPara="1" vertOverflow="ellipsis" vert="horz" wrap="square" anchor="ctr" anchorCtr="1"/>
              <a:lstStyle/>
              <a:p>
                <a:pPr>
                  <a:defRPr sz="1000" b="1" i="0" u="none" strike="noStrike" kern="1200" baseline="0">
                    <a:solidFill>
                      <a:schemeClr val="accent1"/>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noFill/>
                      <a:round/>
                    </a:ln>
                    <a:effectLst/>
                  </c:spPr>
                </c15:leaderLines>
              </c:ext>
            </c:extLst>
          </c:dLbls>
          <c:cat>
            <c:numRef>
              <c:f>Sheet1!$A$7:$A$43</c:f>
              <c:numCache>
                <c:formatCode>yyyy/m</c:formatCode>
                <c:ptCount val="37"/>
                <c:pt idx="0">
                  <c:v>45078</c:v>
                </c:pt>
                <c:pt idx="1">
                  <c:v>45108</c:v>
                </c:pt>
                <c:pt idx="2">
                  <c:v>45139</c:v>
                </c:pt>
                <c:pt idx="3">
                  <c:v>45170</c:v>
                </c:pt>
                <c:pt idx="4">
                  <c:v>45200</c:v>
                </c:pt>
                <c:pt idx="5">
                  <c:v>45231</c:v>
                </c:pt>
                <c:pt idx="6">
                  <c:v>45261</c:v>
                </c:pt>
                <c:pt idx="7">
                  <c:v>45292</c:v>
                </c:pt>
                <c:pt idx="8">
                  <c:v>45323</c:v>
                </c:pt>
                <c:pt idx="9">
                  <c:v>45352</c:v>
                </c:pt>
                <c:pt idx="10">
                  <c:v>45383</c:v>
                </c:pt>
                <c:pt idx="11">
                  <c:v>45413</c:v>
                </c:pt>
                <c:pt idx="12">
                  <c:v>45444</c:v>
                </c:pt>
                <c:pt idx="13">
                  <c:v>45474</c:v>
                </c:pt>
                <c:pt idx="14">
                  <c:v>45505</c:v>
                </c:pt>
                <c:pt idx="15">
                  <c:v>45536</c:v>
                </c:pt>
                <c:pt idx="16">
                  <c:v>45566</c:v>
                </c:pt>
                <c:pt idx="17">
                  <c:v>45597</c:v>
                </c:pt>
                <c:pt idx="18">
                  <c:v>45627</c:v>
                </c:pt>
                <c:pt idx="19">
                  <c:v>45658</c:v>
                </c:pt>
                <c:pt idx="20">
                  <c:v>45689</c:v>
                </c:pt>
                <c:pt idx="21">
                  <c:v>45717</c:v>
                </c:pt>
                <c:pt idx="22">
                  <c:v>45748</c:v>
                </c:pt>
                <c:pt idx="23">
                  <c:v>45778</c:v>
                </c:pt>
                <c:pt idx="24">
                  <c:v>45809</c:v>
                </c:pt>
                <c:pt idx="25">
                  <c:v>45839</c:v>
                </c:pt>
                <c:pt idx="26">
                  <c:v>45870</c:v>
                </c:pt>
                <c:pt idx="27">
                  <c:v>45901</c:v>
                </c:pt>
                <c:pt idx="28">
                  <c:v>45931</c:v>
                </c:pt>
                <c:pt idx="29">
                  <c:v>45962</c:v>
                </c:pt>
                <c:pt idx="30">
                  <c:v>45992</c:v>
                </c:pt>
                <c:pt idx="31">
                  <c:v>46023</c:v>
                </c:pt>
                <c:pt idx="32">
                  <c:v>46054</c:v>
                </c:pt>
                <c:pt idx="33">
                  <c:v>46082</c:v>
                </c:pt>
                <c:pt idx="34">
                  <c:v>46113</c:v>
                </c:pt>
                <c:pt idx="35">
                  <c:v>46143</c:v>
                </c:pt>
                <c:pt idx="36">
                  <c:v>46174</c:v>
                </c:pt>
              </c:numCache>
            </c:numRef>
          </c:cat>
          <c:val>
            <c:numRef>
              <c:f>Sheet1!$B$7:$B$43</c:f>
              <c:numCache>
                <c:formatCode>#,##0</c:formatCode>
                <c:ptCount val="37"/>
                <c:pt idx="0">
                  <c:v>78</c:v>
                </c:pt>
                <c:pt idx="1">
                  <c:v>83</c:v>
                </c:pt>
                <c:pt idx="2">
                  <c:v>90</c:v>
                </c:pt>
                <c:pt idx="3">
                  <c:v>95</c:v>
                </c:pt>
                <c:pt idx="4">
                  <c:v>105</c:v>
                </c:pt>
                <c:pt idx="5">
                  <c:v>111</c:v>
                </c:pt>
                <c:pt idx="6">
                  <c:v>119</c:v>
                </c:pt>
                <c:pt idx="7">
                  <c:v>125</c:v>
                </c:pt>
                <c:pt idx="8">
                  <c:v>131</c:v>
                </c:pt>
                <c:pt idx="9">
                  <c:v>138</c:v>
                </c:pt>
                <c:pt idx="10">
                  <c:v>146</c:v>
                </c:pt>
                <c:pt idx="11">
                  <c:v>161</c:v>
                </c:pt>
                <c:pt idx="12">
                  <c:v>171</c:v>
                </c:pt>
                <c:pt idx="13">
                  <c:v>180</c:v>
                </c:pt>
                <c:pt idx="14">
                  <c:v>187</c:v>
                </c:pt>
                <c:pt idx="15">
                  <c:v>197</c:v>
                </c:pt>
                <c:pt idx="16">
                  <c:v>209</c:v>
                </c:pt>
                <c:pt idx="17">
                  <c:v>219</c:v>
                </c:pt>
                <c:pt idx="18">
                  <c:v>232</c:v>
                </c:pt>
                <c:pt idx="19">
                  <c:v>246</c:v>
                </c:pt>
                <c:pt idx="20">
                  <c:v>255</c:v>
                </c:pt>
                <c:pt idx="21">
                  <c:v>274</c:v>
                </c:pt>
                <c:pt idx="22">
                  <c:v>283</c:v>
                </c:pt>
                <c:pt idx="23">
                  <c:v>295</c:v>
                </c:pt>
                <c:pt idx="24">
                  <c:v>303</c:v>
                </c:pt>
                <c:pt idx="25">
                  <c:v>318</c:v>
                </c:pt>
                <c:pt idx="26">
                  <c:v>337</c:v>
                </c:pt>
                <c:pt idx="27">
                  <c:v>351</c:v>
                </c:pt>
                <c:pt idx="28">
                  <c:v>368</c:v>
                </c:pt>
                <c:pt idx="29">
                  <c:v>381</c:v>
                </c:pt>
                <c:pt idx="30">
                  <c:v>397</c:v>
                </c:pt>
                <c:pt idx="31">
                  <c:v>414</c:v>
                </c:pt>
                <c:pt idx="32">
                  <c:v>427</c:v>
                </c:pt>
                <c:pt idx="33">
                  <c:v>448</c:v>
                </c:pt>
                <c:pt idx="34">
                  <c:v>457</c:v>
                </c:pt>
                <c:pt idx="35">
                  <c:v>474</c:v>
                </c:pt>
                <c:pt idx="36">
                  <c:v>484</c:v>
                </c:pt>
              </c:numCache>
            </c:numRef>
          </c:val>
          <c:extLst>
            <c:ext xmlns:c16="http://schemas.microsoft.com/office/drawing/2014/chart" uri="{C3380CC4-5D6E-409C-BE32-E72D297353CC}">
              <c16:uniqueId val="{00000017-4959-3E4E-86AC-A741EDF6F90B}"/>
            </c:ext>
          </c:extLst>
        </c:ser>
        <c:dLbls>
          <c:dLblPos val="outEnd"/>
          <c:showLegendKey val="0"/>
          <c:showVal val="1"/>
          <c:showCatName val="0"/>
          <c:showSerName val="0"/>
          <c:showPercent val="0"/>
          <c:showBubbleSize val="0"/>
        </c:dLbls>
        <c:gapWidth val="100"/>
        <c:axId val="1097725551"/>
        <c:axId val="1097726031"/>
        <c:extLst/>
      </c:barChart>
      <c:dateAx>
        <c:axId val="1097725551"/>
        <c:scaling>
          <c:orientation val="minMax"/>
        </c:scaling>
        <c:delete val="0"/>
        <c:axPos val="b"/>
        <c:numFmt formatCode="yyyy/m"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1097726031"/>
        <c:crosses val="autoZero"/>
        <c:auto val="1"/>
        <c:lblOffset val="100"/>
        <c:baseTimeUnit val="months"/>
      </c:dateAx>
      <c:valAx>
        <c:axId val="1097726031"/>
        <c:scaling>
          <c:orientation val="minMax"/>
          <c:max val="500"/>
          <c:min val="0"/>
        </c:scaling>
        <c:delete val="0"/>
        <c:axPos val="l"/>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10977255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865368943455643E-2"/>
          <c:y val="0.15218285058151051"/>
          <c:w val="0.8001320494621561"/>
          <c:h val="0.64853609414451174"/>
        </c:manualLayout>
      </c:layout>
      <c:barChart>
        <c:barDir val="col"/>
        <c:grouping val="clustered"/>
        <c:varyColors val="0"/>
        <c:ser>
          <c:idx val="0"/>
          <c:order val="0"/>
          <c:tx>
            <c:strRef>
              <c:f>Sheet1!$B$1</c:f>
              <c:strCache>
                <c:ptCount val="1"/>
                <c:pt idx="0">
                  <c:v>DAU</c:v>
                </c:pt>
              </c:strCache>
            </c:strRef>
          </c:tx>
          <c:spPr>
            <a:solidFill>
              <a:srgbClr val="00A7FF">
                <a:alpha val="75078"/>
              </a:srgbClr>
            </a:solidFill>
            <a:ln>
              <a:noFill/>
            </a:ln>
            <a:effectLst/>
          </c:spPr>
          <c:invertIfNegative val="0"/>
          <c:dLbls>
            <c:dLbl>
              <c:idx val="0"/>
              <c:layout>
                <c:manualLayout>
                  <c:x val="0"/>
                  <c:y val="7.6657075478246241E-3"/>
                </c:manualLayout>
              </c:layout>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9A8-474F-AFC5-88D8A1BC8017}"/>
                </c:ext>
              </c:extLst>
            </c:dLbl>
            <c:dLbl>
              <c:idx val="1"/>
              <c:delete val="1"/>
              <c:extLst>
                <c:ext xmlns:c15="http://schemas.microsoft.com/office/drawing/2012/chart" uri="{CE6537A1-D6FC-4f65-9D91-7224C49458BB}"/>
                <c:ext xmlns:c16="http://schemas.microsoft.com/office/drawing/2014/chart" uri="{C3380CC4-5D6E-409C-BE32-E72D297353CC}">
                  <c16:uniqueId val="{00000001-99A8-474F-AFC5-88D8A1BC8017}"/>
                </c:ext>
              </c:extLst>
            </c:dLbl>
            <c:dLbl>
              <c:idx val="2"/>
              <c:delete val="1"/>
              <c:extLst>
                <c:ext xmlns:c15="http://schemas.microsoft.com/office/drawing/2012/chart" uri="{CE6537A1-D6FC-4f65-9D91-7224C49458BB}"/>
                <c:ext xmlns:c16="http://schemas.microsoft.com/office/drawing/2014/chart" uri="{C3380CC4-5D6E-409C-BE32-E72D297353CC}">
                  <c16:uniqueId val="{00000002-99A8-474F-AFC5-88D8A1BC8017}"/>
                </c:ext>
              </c:extLst>
            </c:dLbl>
            <c:dLbl>
              <c:idx val="3"/>
              <c:layout>
                <c:manualLayout>
                  <c:x val="0"/>
                  <c:y val="1.533141509564931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9A8-474F-AFC5-88D8A1BC8017}"/>
                </c:ext>
              </c:extLst>
            </c:dLbl>
            <c:dLbl>
              <c:idx val="4"/>
              <c:delete val="1"/>
              <c:extLst>
                <c:ext xmlns:c15="http://schemas.microsoft.com/office/drawing/2012/chart" uri="{CE6537A1-D6FC-4f65-9D91-7224C49458BB}"/>
                <c:ext xmlns:c16="http://schemas.microsoft.com/office/drawing/2014/chart" uri="{C3380CC4-5D6E-409C-BE32-E72D297353CC}">
                  <c16:uniqueId val="{00000004-99A8-474F-AFC5-88D8A1BC8017}"/>
                </c:ext>
              </c:extLst>
            </c:dLbl>
            <c:dLbl>
              <c:idx val="5"/>
              <c:delete val="1"/>
              <c:extLst>
                <c:ext xmlns:c15="http://schemas.microsoft.com/office/drawing/2012/chart" uri="{CE6537A1-D6FC-4f65-9D91-7224C49458BB}"/>
                <c:ext xmlns:c16="http://schemas.microsoft.com/office/drawing/2014/chart" uri="{C3380CC4-5D6E-409C-BE32-E72D297353CC}">
                  <c16:uniqueId val="{00000005-99A8-474F-AFC5-88D8A1BC8017}"/>
                </c:ext>
              </c:extLst>
            </c:dLbl>
            <c:dLbl>
              <c:idx val="6"/>
              <c:layout>
                <c:manualLayout>
                  <c:x val="0"/>
                  <c:y val="1.533141509564931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9A8-474F-AFC5-88D8A1BC8017}"/>
                </c:ext>
              </c:extLst>
            </c:dLbl>
            <c:dLbl>
              <c:idx val="7"/>
              <c:delete val="1"/>
              <c:extLst>
                <c:ext xmlns:c15="http://schemas.microsoft.com/office/drawing/2012/chart" uri="{CE6537A1-D6FC-4f65-9D91-7224C49458BB}"/>
                <c:ext xmlns:c16="http://schemas.microsoft.com/office/drawing/2014/chart" uri="{C3380CC4-5D6E-409C-BE32-E72D297353CC}">
                  <c16:uniqueId val="{00000007-99A8-474F-AFC5-88D8A1BC8017}"/>
                </c:ext>
              </c:extLst>
            </c:dLbl>
            <c:dLbl>
              <c:idx val="8"/>
              <c:delete val="1"/>
              <c:extLst>
                <c:ext xmlns:c15="http://schemas.microsoft.com/office/drawing/2012/chart" uri="{CE6537A1-D6FC-4f65-9D91-7224C49458BB}"/>
                <c:ext xmlns:c16="http://schemas.microsoft.com/office/drawing/2014/chart" uri="{C3380CC4-5D6E-409C-BE32-E72D297353CC}">
                  <c16:uniqueId val="{00000008-99A8-474F-AFC5-88D8A1BC8017}"/>
                </c:ext>
              </c:extLst>
            </c:dLbl>
            <c:dLbl>
              <c:idx val="9"/>
              <c:layout>
                <c:manualLayout>
                  <c:x val="0"/>
                  <c:y val="7.6657075478246597E-3"/>
                </c:manualLayout>
              </c:layout>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9A8-474F-AFC5-88D8A1BC8017}"/>
                </c:ext>
              </c:extLst>
            </c:dLbl>
            <c:dLbl>
              <c:idx val="10"/>
              <c:delete val="1"/>
              <c:extLst>
                <c:ext xmlns:c15="http://schemas.microsoft.com/office/drawing/2012/chart" uri="{CE6537A1-D6FC-4f65-9D91-7224C49458BB}"/>
                <c:ext xmlns:c16="http://schemas.microsoft.com/office/drawing/2014/chart" uri="{C3380CC4-5D6E-409C-BE32-E72D297353CC}">
                  <c16:uniqueId val="{0000000A-99A8-474F-AFC5-88D8A1BC8017}"/>
                </c:ext>
              </c:extLst>
            </c:dLbl>
            <c:dLbl>
              <c:idx val="11"/>
              <c:delete val="1"/>
              <c:extLst>
                <c:ext xmlns:c15="http://schemas.microsoft.com/office/drawing/2012/chart" uri="{CE6537A1-D6FC-4f65-9D91-7224C49458BB}"/>
                <c:ext xmlns:c16="http://schemas.microsoft.com/office/drawing/2014/chart" uri="{C3380CC4-5D6E-409C-BE32-E72D297353CC}">
                  <c16:uniqueId val="{0000000B-99A8-474F-AFC5-88D8A1BC8017}"/>
                </c:ext>
              </c:extLst>
            </c:dLbl>
            <c:dLbl>
              <c:idx val="12"/>
              <c:layout>
                <c:manualLayout>
                  <c:x val="-6.8534048605750327E-3"/>
                  <c:y val="-3.8328537739122947E-3"/>
                </c:manualLayout>
              </c:layout>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9A8-474F-AFC5-88D8A1BC8017}"/>
                </c:ext>
              </c:extLst>
            </c:dLbl>
            <c:dLbl>
              <c:idx val="13"/>
              <c:delete val="1"/>
              <c:extLst>
                <c:ext xmlns:c15="http://schemas.microsoft.com/office/drawing/2012/chart" uri="{CE6537A1-D6FC-4f65-9D91-7224C49458BB}"/>
                <c:ext xmlns:c16="http://schemas.microsoft.com/office/drawing/2014/chart" uri="{C3380CC4-5D6E-409C-BE32-E72D297353CC}">
                  <c16:uniqueId val="{0000000D-99A8-474F-AFC5-88D8A1BC8017}"/>
                </c:ext>
              </c:extLst>
            </c:dLbl>
            <c:dLbl>
              <c:idx val="14"/>
              <c:delete val="1"/>
              <c:extLst>
                <c:ext xmlns:c15="http://schemas.microsoft.com/office/drawing/2012/chart" uri="{CE6537A1-D6FC-4f65-9D91-7224C49458BB}"/>
                <c:ext xmlns:c16="http://schemas.microsoft.com/office/drawing/2014/chart" uri="{C3380CC4-5D6E-409C-BE32-E72D297353CC}">
                  <c16:uniqueId val="{0000000E-99A8-474F-AFC5-88D8A1BC8017}"/>
                </c:ext>
              </c:extLst>
            </c:dLbl>
            <c:dLbl>
              <c:idx val="15"/>
              <c:layout>
                <c:manualLayout>
                  <c:x val="-6.2822152161741877E-17"/>
                  <c:y val="-3.8328537739123298E-3"/>
                </c:manualLayout>
              </c:layout>
              <c:tx>
                <c:rich>
                  <a:bodyPr rot="0" spcFirstLastPara="1" vertOverflow="ellipsis" vert="horz" wrap="square" anchor="ctr" anchorCtr="1"/>
                  <a:lstStyle/>
                  <a:p>
                    <a:pPr>
                      <a:defRPr sz="1000" b="1" i="0" u="none" strike="noStrike" kern="1200" baseline="0">
                        <a:solidFill>
                          <a:schemeClr val="tx1"/>
                        </a:solidFill>
                        <a:latin typeface="Poppins SemiBold" pitchFamily="2" charset="0"/>
                        <a:ea typeface="+mn-ea"/>
                        <a:cs typeface="Poppins SemiBold" pitchFamily="2" charset="0"/>
                      </a:defRPr>
                    </a:pPr>
                    <a:fld id="{775A435E-0E6E-47F2-8357-D3D20E7232C0}" type="VALUE">
                      <a:rPr lang="en-US" altLang="ja-JP">
                        <a:solidFill>
                          <a:srgbClr val="00A7FF"/>
                        </a:solidFill>
                      </a:rPr>
                      <a:pPr>
                        <a:defRPr sz="1000" b="1">
                          <a:solidFill>
                            <a:schemeClr val="tx1"/>
                          </a:solidFill>
                          <a:latin typeface="Poppins SemiBold" pitchFamily="2" charset="0"/>
                          <a:cs typeface="Poppins SemiBold" pitchFamily="2" charset="0"/>
                        </a:defRPr>
                      </a:pPr>
                      <a:t>[値]</a:t>
                    </a:fld>
                    <a:endParaRPr lang="ja-JP" altLang="en-US"/>
                  </a:p>
                </c:rich>
              </c:tx>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Poppins SemiBold" pitchFamily="2" charset="0"/>
                      <a:ea typeface="+mn-ea"/>
                      <a:cs typeface="Poppins SemiBold" pitchFamily="2" charset="0"/>
                    </a:defRPr>
                  </a:pPr>
                  <a:endParaRPr lang="ja-JP"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99A8-474F-AFC5-88D8A1BC8017}"/>
                </c:ext>
              </c:extLst>
            </c:dLbl>
            <c:dLbl>
              <c:idx val="16"/>
              <c:delete val="1"/>
              <c:extLst>
                <c:ext xmlns:c15="http://schemas.microsoft.com/office/drawing/2012/chart" uri="{CE6537A1-D6FC-4f65-9D91-7224C49458BB}"/>
                <c:ext xmlns:c16="http://schemas.microsoft.com/office/drawing/2014/chart" uri="{C3380CC4-5D6E-409C-BE32-E72D297353CC}">
                  <c16:uniqueId val="{00000010-99A8-474F-AFC5-88D8A1BC8017}"/>
                </c:ext>
              </c:extLst>
            </c:dLbl>
            <c:dLbl>
              <c:idx val="17"/>
              <c:delete val="1"/>
              <c:extLst>
                <c:ext xmlns:c15="http://schemas.microsoft.com/office/drawing/2012/chart" uri="{CE6537A1-D6FC-4f65-9D91-7224C49458BB}"/>
                <c:ext xmlns:c16="http://schemas.microsoft.com/office/drawing/2014/chart" uri="{C3380CC4-5D6E-409C-BE32-E72D297353CC}">
                  <c16:uniqueId val="{00000011-99A8-474F-AFC5-88D8A1BC8017}"/>
                </c:ext>
              </c:extLst>
            </c:dLbl>
            <c:dLbl>
              <c:idx val="18"/>
              <c:layout>
                <c:manualLayout>
                  <c:x val="3.4267024302875163E-3"/>
                  <c:y val="-3.8328537739123298E-3"/>
                </c:manualLayout>
              </c:layout>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9A8-474F-AFC5-88D8A1BC8017}"/>
                </c:ext>
              </c:extLst>
            </c:dLbl>
            <c:dLbl>
              <c:idx val="19"/>
              <c:delete val="1"/>
              <c:extLst>
                <c:ext xmlns:c15="http://schemas.microsoft.com/office/drawing/2012/chart" uri="{CE6537A1-D6FC-4f65-9D91-7224C49458BB}"/>
                <c:ext xmlns:c16="http://schemas.microsoft.com/office/drawing/2014/chart" uri="{C3380CC4-5D6E-409C-BE32-E72D297353CC}">
                  <c16:uniqueId val="{00000013-99A8-474F-AFC5-88D8A1BC8017}"/>
                </c:ext>
              </c:extLst>
            </c:dLbl>
            <c:dLbl>
              <c:idx val="20"/>
              <c:delete val="1"/>
              <c:extLst>
                <c:ext xmlns:c15="http://schemas.microsoft.com/office/drawing/2012/chart" uri="{CE6537A1-D6FC-4f65-9D91-7224C49458BB}"/>
                <c:ext xmlns:c16="http://schemas.microsoft.com/office/drawing/2014/chart" uri="{C3380CC4-5D6E-409C-BE32-E72D297353CC}">
                  <c16:uniqueId val="{00000014-99A8-474F-AFC5-88D8A1BC8017}"/>
                </c:ext>
              </c:extLst>
            </c:dLbl>
            <c:dLbl>
              <c:idx val="21"/>
              <c:layout>
                <c:manualLayout>
                  <c:x val="0"/>
                  <c:y val="7.6657075478246241E-3"/>
                </c:manualLayout>
              </c:layout>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9A8-474F-AFC5-88D8A1BC8017}"/>
                </c:ext>
              </c:extLst>
            </c:dLbl>
            <c:dLbl>
              <c:idx val="22"/>
              <c:delete val="1"/>
              <c:extLst>
                <c:ext xmlns:c15="http://schemas.microsoft.com/office/drawing/2012/chart" uri="{CE6537A1-D6FC-4f65-9D91-7224C49458BB}"/>
                <c:ext xmlns:c16="http://schemas.microsoft.com/office/drawing/2014/chart" uri="{C3380CC4-5D6E-409C-BE32-E72D297353CC}">
                  <c16:uniqueId val="{00000016-99A8-474F-AFC5-88D8A1BC8017}"/>
                </c:ext>
              </c:extLst>
            </c:dLbl>
            <c:dLbl>
              <c:idx val="23"/>
              <c:delete val="1"/>
              <c:extLst>
                <c:ext xmlns:c15="http://schemas.microsoft.com/office/drawing/2012/chart" uri="{CE6537A1-D6FC-4f65-9D91-7224C49458BB}"/>
                <c:ext xmlns:c16="http://schemas.microsoft.com/office/drawing/2014/chart" uri="{C3380CC4-5D6E-409C-BE32-E72D297353CC}">
                  <c16:uniqueId val="{00000017-99A8-474F-AFC5-88D8A1BC8017}"/>
                </c:ext>
              </c:extLst>
            </c:dLbl>
            <c:dLbl>
              <c:idx val="24"/>
              <c:layout>
                <c:manualLayout>
                  <c:x val="0"/>
                  <c:y val="3.8328537739123298E-3"/>
                </c:manualLayout>
              </c:layout>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99A8-474F-AFC5-88D8A1BC8017}"/>
                </c:ext>
              </c:extLst>
            </c:dLbl>
            <c:dLbl>
              <c:idx val="25"/>
              <c:delete val="1"/>
              <c:extLst>
                <c:ext xmlns:c15="http://schemas.microsoft.com/office/drawing/2012/chart" uri="{CE6537A1-D6FC-4f65-9D91-7224C49458BB}"/>
                <c:ext xmlns:c16="http://schemas.microsoft.com/office/drawing/2014/chart" uri="{C3380CC4-5D6E-409C-BE32-E72D297353CC}">
                  <c16:uniqueId val="{00000019-99A8-474F-AFC5-88D8A1BC8017}"/>
                </c:ext>
              </c:extLst>
            </c:dLbl>
            <c:dLbl>
              <c:idx val="26"/>
              <c:delete val="1"/>
              <c:extLst>
                <c:ext xmlns:c15="http://schemas.microsoft.com/office/drawing/2012/chart" uri="{CE6537A1-D6FC-4f65-9D91-7224C49458BB}"/>
                <c:ext xmlns:c16="http://schemas.microsoft.com/office/drawing/2014/chart" uri="{C3380CC4-5D6E-409C-BE32-E72D297353CC}">
                  <c16:uniqueId val="{0000001A-99A8-474F-AFC5-88D8A1BC8017}"/>
                </c:ext>
              </c:extLst>
            </c:dLbl>
            <c:dLbl>
              <c:idx val="27"/>
              <c:layout>
                <c:manualLayout>
                  <c:x val="4.7409146392976154E-3"/>
                  <c:y val="-1.5731477199224023E-2"/>
                </c:manualLayout>
              </c:layout>
              <c:tx>
                <c:rich>
                  <a:bodyPr rot="0" spcFirstLastPara="1" vertOverflow="ellipsis" vert="horz" wrap="square" anchor="ctr" anchorCtr="1"/>
                  <a:lstStyle/>
                  <a:p>
                    <a:pPr>
                      <a:defRPr sz="1000" b="1" i="0" u="none" strike="noStrike" kern="1200" baseline="0">
                        <a:solidFill>
                          <a:schemeClr val="tx1"/>
                        </a:solidFill>
                        <a:latin typeface="Poppins SemiBold" pitchFamily="2" charset="0"/>
                        <a:ea typeface="+mn-ea"/>
                        <a:cs typeface="Poppins SemiBold" pitchFamily="2" charset="0"/>
                      </a:defRPr>
                    </a:pPr>
                    <a:fld id="{77A51BAE-6680-4CEA-AD3B-98BD93FD492D}" type="VALUE">
                      <a:rPr lang="en-US" altLang="ja-JP" dirty="0">
                        <a:solidFill>
                          <a:srgbClr val="00A7FF"/>
                        </a:solidFill>
                      </a:rPr>
                      <a:pPr>
                        <a:defRPr sz="1000" b="1">
                          <a:solidFill>
                            <a:schemeClr val="tx1"/>
                          </a:solidFill>
                          <a:latin typeface="Poppins SemiBold" pitchFamily="2" charset="0"/>
                          <a:cs typeface="Poppins SemiBold" pitchFamily="2" charset="0"/>
                        </a:defRPr>
                      </a:pPr>
                      <a:t>[値]</a:t>
                    </a:fld>
                    <a:endParaRPr lang="ja-JP" altLang="en-US"/>
                  </a:p>
                </c:rich>
              </c:tx>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Poppins SemiBold" pitchFamily="2" charset="0"/>
                      <a:ea typeface="+mn-ea"/>
                      <a:cs typeface="Poppins SemiBold" pitchFamily="2" charset="0"/>
                    </a:defRPr>
                  </a:pPr>
                  <a:endParaRPr lang="ja-JP"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B-99A8-474F-AFC5-88D8A1BC8017}"/>
                </c:ext>
              </c:extLst>
            </c:dLbl>
            <c:dLbl>
              <c:idx val="28"/>
              <c:delete val="1"/>
              <c:extLst>
                <c:ext xmlns:c15="http://schemas.microsoft.com/office/drawing/2012/chart" uri="{CE6537A1-D6FC-4f65-9D91-7224C49458BB}"/>
                <c:ext xmlns:c16="http://schemas.microsoft.com/office/drawing/2014/chart" uri="{C3380CC4-5D6E-409C-BE32-E72D297353CC}">
                  <c16:uniqueId val="{0000001C-99A8-474F-AFC5-88D8A1BC8017}"/>
                </c:ext>
              </c:extLst>
            </c:dLbl>
            <c:dLbl>
              <c:idx val="29"/>
              <c:delete val="1"/>
              <c:extLst>
                <c:ext xmlns:c15="http://schemas.microsoft.com/office/drawing/2012/chart" uri="{CE6537A1-D6FC-4f65-9D91-7224C49458BB}"/>
                <c:ext xmlns:c16="http://schemas.microsoft.com/office/drawing/2014/chart" uri="{C3380CC4-5D6E-409C-BE32-E72D297353CC}">
                  <c16:uniqueId val="{0000001D-99A8-474F-AFC5-88D8A1BC8017}"/>
                </c:ext>
              </c:extLst>
            </c:dLbl>
            <c:dLbl>
              <c:idx val="30"/>
              <c:tx>
                <c:rich>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fld id="{66CBEA64-9267-42ED-AA92-3E85587E8585}" type="VALUE">
                      <a:rPr lang="en-US" altLang="ja-JP">
                        <a:solidFill>
                          <a:srgbClr val="00A7FF"/>
                        </a:solidFill>
                      </a:rPr>
                      <a:pPr>
                        <a:defRPr sz="1000" b="1">
                          <a:solidFill>
                            <a:srgbClr val="00A7FF"/>
                          </a:solidFill>
                          <a:latin typeface="Poppins SemiBold" pitchFamily="2" charset="0"/>
                          <a:cs typeface="Poppins SemiBold" pitchFamily="2" charset="0"/>
                        </a:defRPr>
                      </a:pPr>
                      <a:t>[値]</a:t>
                    </a:fld>
                    <a:endParaRPr lang="ja-JP" altLang="en-US"/>
                  </a:p>
                </c:rich>
              </c:tx>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E-99A8-474F-AFC5-88D8A1BC8017}"/>
                </c:ext>
              </c:extLst>
            </c:dLbl>
            <c:dLbl>
              <c:idx val="31"/>
              <c:delete val="1"/>
              <c:extLst>
                <c:ext xmlns:c15="http://schemas.microsoft.com/office/drawing/2012/chart" uri="{CE6537A1-D6FC-4f65-9D91-7224C49458BB}"/>
                <c:ext xmlns:c16="http://schemas.microsoft.com/office/drawing/2014/chart" uri="{C3380CC4-5D6E-409C-BE32-E72D297353CC}">
                  <c16:uniqueId val="{0000001F-99A8-474F-AFC5-88D8A1BC8017}"/>
                </c:ext>
              </c:extLst>
            </c:dLbl>
            <c:dLbl>
              <c:idx val="32"/>
              <c:delete val="1"/>
              <c:extLst>
                <c:ext xmlns:c15="http://schemas.microsoft.com/office/drawing/2012/chart" uri="{CE6537A1-D6FC-4f65-9D91-7224C49458BB}"/>
                <c:ext xmlns:c16="http://schemas.microsoft.com/office/drawing/2014/chart" uri="{C3380CC4-5D6E-409C-BE32-E72D297353CC}">
                  <c16:uniqueId val="{00000020-99A8-474F-AFC5-88D8A1BC8017}"/>
                </c:ext>
              </c:extLst>
            </c:dLbl>
            <c:dLbl>
              <c:idx val="33"/>
              <c:spPr>
                <a:noFill/>
                <a:ln>
                  <a:noFill/>
                </a:ln>
                <a:effectLst/>
              </c:spPr>
              <c:txPr>
                <a:bodyPr rot="0" spcFirstLastPara="1" vertOverflow="ellipsis" vert="horz" wrap="square" anchor="ctr" anchorCtr="1"/>
                <a:lstStyle/>
                <a:p>
                  <a:pPr>
                    <a:defRPr sz="1000" b="1" i="0" u="none" strike="noStrike" kern="1200" baseline="0">
                      <a:solidFill>
                        <a:srgbClr val="00A7FF"/>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6="http://schemas.microsoft.com/office/drawing/2014/chart" uri="{C3380CC4-5D6E-409C-BE32-E72D297353CC}">
                  <c16:uniqueId val="{00000004-3DB0-4F7C-9F76-2E3DA8FE58F2}"/>
                </c:ext>
              </c:extLst>
            </c:dLbl>
            <c:dLbl>
              <c:idx val="34"/>
              <c:delete val="1"/>
              <c:extLst>
                <c:ext xmlns:c15="http://schemas.microsoft.com/office/drawing/2012/chart" uri="{CE6537A1-D6FC-4f65-9D91-7224C49458BB}"/>
                <c:ext xmlns:c16="http://schemas.microsoft.com/office/drawing/2014/chart" uri="{C3380CC4-5D6E-409C-BE32-E72D297353CC}">
                  <c16:uniqueId val="{00000003-3DB0-4F7C-9F76-2E3DA8FE58F2}"/>
                </c:ext>
              </c:extLst>
            </c:dLbl>
            <c:dLbl>
              <c:idx val="35"/>
              <c:delete val="1"/>
              <c:extLst>
                <c:ext xmlns:c15="http://schemas.microsoft.com/office/drawing/2012/chart" uri="{CE6537A1-D6FC-4f65-9D91-7224C49458BB}"/>
                <c:ext xmlns:c16="http://schemas.microsoft.com/office/drawing/2014/chart" uri="{C3380CC4-5D6E-409C-BE32-E72D297353CC}">
                  <c16:uniqueId val="{00000005-3DB0-4F7C-9F76-2E3DA8FE58F2}"/>
                </c:ext>
              </c:extLst>
            </c:dLbl>
            <c:dLbl>
              <c:idx val="36"/>
              <c:spPr>
                <a:noFill/>
                <a:ln>
                  <a:noFill/>
                </a:ln>
                <a:effectLst/>
              </c:spPr>
              <c:txPr>
                <a:bodyPr rot="0" spcFirstLastPara="1" vertOverflow="ellipsis" vert="horz" wrap="square" anchor="ctr" anchorCtr="1"/>
                <a:lstStyle/>
                <a:p>
                  <a:pPr>
                    <a:defRPr sz="1000" b="1" i="0" u="none" strike="noStrike" kern="1200" baseline="0">
                      <a:solidFill>
                        <a:srgbClr val="142EA4"/>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extLst>
                <c:ext xmlns:c16="http://schemas.microsoft.com/office/drawing/2014/chart" uri="{C3380CC4-5D6E-409C-BE32-E72D297353CC}">
                  <c16:uniqueId val="{00000001-5CF8-44AE-B73B-631AA0389234}"/>
                </c:ext>
              </c:extLst>
            </c:dLbl>
            <c:spPr>
              <a:noFill/>
              <a:ln>
                <a:noFill/>
              </a:ln>
              <a:effectLst/>
            </c:spPr>
            <c:txPr>
              <a:bodyPr rot="0" spcFirstLastPara="1" vertOverflow="ellipsis" vert="horz" wrap="square" anchor="ctr" anchorCtr="1"/>
              <a:lstStyle/>
              <a:p>
                <a:pPr>
                  <a:defRPr sz="1000" b="1" i="0" u="none" strike="noStrike" kern="1200" baseline="0">
                    <a:solidFill>
                      <a:schemeClr val="accent1"/>
                    </a:solidFill>
                    <a:latin typeface="Poppins SemiBold" pitchFamily="2" charset="0"/>
                    <a:ea typeface="+mn-ea"/>
                    <a:cs typeface="Poppins SemiBold"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Sheet1!$A$7:$A$43</c:f>
              <c:numCache>
                <c:formatCode>yyyy/m</c:formatCode>
                <c:ptCount val="37"/>
                <c:pt idx="0">
                  <c:v>45078</c:v>
                </c:pt>
                <c:pt idx="1">
                  <c:v>45108</c:v>
                </c:pt>
                <c:pt idx="2">
                  <c:v>45139</c:v>
                </c:pt>
                <c:pt idx="3">
                  <c:v>45170</c:v>
                </c:pt>
                <c:pt idx="4">
                  <c:v>45200</c:v>
                </c:pt>
                <c:pt idx="5">
                  <c:v>45231</c:v>
                </c:pt>
                <c:pt idx="6">
                  <c:v>45261</c:v>
                </c:pt>
                <c:pt idx="7">
                  <c:v>45292</c:v>
                </c:pt>
                <c:pt idx="8">
                  <c:v>45323</c:v>
                </c:pt>
                <c:pt idx="9">
                  <c:v>45352</c:v>
                </c:pt>
                <c:pt idx="10">
                  <c:v>45383</c:v>
                </c:pt>
                <c:pt idx="11">
                  <c:v>45413</c:v>
                </c:pt>
                <c:pt idx="12">
                  <c:v>45444</c:v>
                </c:pt>
                <c:pt idx="13">
                  <c:v>45474</c:v>
                </c:pt>
                <c:pt idx="14">
                  <c:v>45505</c:v>
                </c:pt>
                <c:pt idx="15">
                  <c:v>45536</c:v>
                </c:pt>
                <c:pt idx="16">
                  <c:v>45566</c:v>
                </c:pt>
                <c:pt idx="17">
                  <c:v>45597</c:v>
                </c:pt>
                <c:pt idx="18">
                  <c:v>45627</c:v>
                </c:pt>
                <c:pt idx="19">
                  <c:v>45658</c:v>
                </c:pt>
                <c:pt idx="20">
                  <c:v>45689</c:v>
                </c:pt>
                <c:pt idx="21">
                  <c:v>45717</c:v>
                </c:pt>
                <c:pt idx="22">
                  <c:v>45748</c:v>
                </c:pt>
                <c:pt idx="23">
                  <c:v>45778</c:v>
                </c:pt>
                <c:pt idx="24">
                  <c:v>45809</c:v>
                </c:pt>
                <c:pt idx="25">
                  <c:v>45839</c:v>
                </c:pt>
                <c:pt idx="26">
                  <c:v>45870</c:v>
                </c:pt>
                <c:pt idx="27">
                  <c:v>45901</c:v>
                </c:pt>
                <c:pt idx="28">
                  <c:v>45931</c:v>
                </c:pt>
                <c:pt idx="29">
                  <c:v>45962</c:v>
                </c:pt>
                <c:pt idx="30">
                  <c:v>45992</c:v>
                </c:pt>
                <c:pt idx="31">
                  <c:v>46023</c:v>
                </c:pt>
                <c:pt idx="32">
                  <c:v>46054</c:v>
                </c:pt>
                <c:pt idx="33">
                  <c:v>46082</c:v>
                </c:pt>
                <c:pt idx="34">
                  <c:v>46113</c:v>
                </c:pt>
                <c:pt idx="35">
                  <c:v>46143</c:v>
                </c:pt>
                <c:pt idx="36">
                  <c:v>46174</c:v>
                </c:pt>
              </c:numCache>
            </c:numRef>
          </c:cat>
          <c:val>
            <c:numRef>
              <c:f>Sheet1!$B$7:$B$43</c:f>
              <c:numCache>
                <c:formatCode>#,##0.0</c:formatCode>
                <c:ptCount val="37"/>
                <c:pt idx="0">
                  <c:v>6.1</c:v>
                </c:pt>
                <c:pt idx="1">
                  <c:v>6.3</c:v>
                </c:pt>
                <c:pt idx="2">
                  <c:v>5.7</c:v>
                </c:pt>
                <c:pt idx="3">
                  <c:v>5.8</c:v>
                </c:pt>
                <c:pt idx="4">
                  <c:v>5.6</c:v>
                </c:pt>
                <c:pt idx="5">
                  <c:v>5.2</c:v>
                </c:pt>
                <c:pt idx="6">
                  <c:v>6.4</c:v>
                </c:pt>
                <c:pt idx="7">
                  <c:v>5.0999999999999996</c:v>
                </c:pt>
                <c:pt idx="8">
                  <c:v>5</c:v>
                </c:pt>
                <c:pt idx="9">
                  <c:v>5.8</c:v>
                </c:pt>
                <c:pt idx="10">
                  <c:v>5.6</c:v>
                </c:pt>
                <c:pt idx="11">
                  <c:v>5.8</c:v>
                </c:pt>
                <c:pt idx="12">
                  <c:v>6.2</c:v>
                </c:pt>
                <c:pt idx="13">
                  <c:v>6.2</c:v>
                </c:pt>
                <c:pt idx="14">
                  <c:v>6.1</c:v>
                </c:pt>
                <c:pt idx="15">
                  <c:v>5.8</c:v>
                </c:pt>
                <c:pt idx="16">
                  <c:v>5.8</c:v>
                </c:pt>
                <c:pt idx="17">
                  <c:v>6</c:v>
                </c:pt>
                <c:pt idx="18">
                  <c:v>6.5</c:v>
                </c:pt>
                <c:pt idx="19">
                  <c:v>6.1</c:v>
                </c:pt>
                <c:pt idx="20">
                  <c:v>5.9</c:v>
                </c:pt>
                <c:pt idx="21">
                  <c:v>6.3</c:v>
                </c:pt>
                <c:pt idx="22">
                  <c:v>5.8</c:v>
                </c:pt>
                <c:pt idx="23">
                  <c:v>6.1</c:v>
                </c:pt>
                <c:pt idx="24">
                  <c:v>6.4</c:v>
                </c:pt>
                <c:pt idx="25">
                  <c:v>6.3</c:v>
                </c:pt>
                <c:pt idx="26">
                  <c:v>6</c:v>
                </c:pt>
                <c:pt idx="27">
                  <c:v>5.5</c:v>
                </c:pt>
                <c:pt idx="28">
                  <c:v>5.8</c:v>
                </c:pt>
                <c:pt idx="29">
                  <c:v>5.9</c:v>
                </c:pt>
                <c:pt idx="30">
                  <c:v>6.5</c:v>
                </c:pt>
                <c:pt idx="31">
                  <c:v>6.4</c:v>
                </c:pt>
                <c:pt idx="32">
                  <c:v>6.3</c:v>
                </c:pt>
                <c:pt idx="33">
                  <c:v>6.2</c:v>
                </c:pt>
                <c:pt idx="34">
                  <c:v>5.9</c:v>
                </c:pt>
                <c:pt idx="35">
                  <c:v>6.3</c:v>
                </c:pt>
                <c:pt idx="36">
                  <c:v>6.4</c:v>
                </c:pt>
              </c:numCache>
            </c:numRef>
          </c:val>
          <c:extLst>
            <c:ext xmlns:c16="http://schemas.microsoft.com/office/drawing/2014/chart" uri="{C3380CC4-5D6E-409C-BE32-E72D297353CC}">
              <c16:uniqueId val="{00000021-99A8-474F-AFC5-88D8A1BC8017}"/>
            </c:ext>
          </c:extLst>
        </c:ser>
        <c:dLbls>
          <c:showLegendKey val="0"/>
          <c:showVal val="1"/>
          <c:showCatName val="0"/>
          <c:showSerName val="0"/>
          <c:showPercent val="0"/>
          <c:showBubbleSize val="0"/>
        </c:dLbls>
        <c:gapWidth val="95"/>
        <c:axId val="1121549535"/>
        <c:axId val="1121550975"/>
      </c:barChart>
      <c:lineChart>
        <c:grouping val="standard"/>
        <c:varyColors val="0"/>
        <c:ser>
          <c:idx val="1"/>
          <c:order val="1"/>
          <c:tx>
            <c:strRef>
              <c:f>Sheet1!$C$1</c:f>
              <c:strCache>
                <c:ptCount val="1"/>
                <c:pt idx="0">
                  <c:v>【Reference】MAU</c:v>
                </c:pt>
              </c:strCache>
            </c:strRef>
          </c:tx>
          <c:spPr>
            <a:ln w="12700" cap="rnd">
              <a:solidFill>
                <a:schemeClr val="tx1"/>
              </a:solidFill>
              <a:round/>
            </a:ln>
            <a:effectLst/>
          </c:spPr>
          <c:marker>
            <c:symbol val="circle"/>
            <c:size val="4"/>
            <c:spPr>
              <a:solidFill>
                <a:schemeClr val="tx1"/>
              </a:solidFill>
              <a:ln w="9525">
                <a:noFill/>
              </a:ln>
              <a:effectLst/>
            </c:spPr>
          </c:marker>
          <c:dLbls>
            <c:dLbl>
              <c:idx val="0"/>
              <c:layout>
                <c:manualLayout>
                  <c:x val="-7.4716588800606956E-2"/>
                  <c:y val="-7.2089088815000826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142EA4"/>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99A8-474F-AFC5-88D8A1BC8017}"/>
                </c:ext>
              </c:extLst>
            </c:dLbl>
            <c:dLbl>
              <c:idx val="1"/>
              <c:delete val="1"/>
              <c:extLst>
                <c:ext xmlns:c15="http://schemas.microsoft.com/office/drawing/2012/chart" uri="{CE6537A1-D6FC-4f65-9D91-7224C49458BB}"/>
                <c:ext xmlns:c16="http://schemas.microsoft.com/office/drawing/2014/chart" uri="{C3380CC4-5D6E-409C-BE32-E72D297353CC}">
                  <c16:uniqueId val="{00000023-99A8-474F-AFC5-88D8A1BC8017}"/>
                </c:ext>
              </c:extLst>
            </c:dLbl>
            <c:dLbl>
              <c:idx val="2"/>
              <c:delete val="1"/>
              <c:extLst>
                <c:ext xmlns:c15="http://schemas.microsoft.com/office/drawing/2012/chart" uri="{CE6537A1-D6FC-4f65-9D91-7224C49458BB}"/>
                <c:ext xmlns:c16="http://schemas.microsoft.com/office/drawing/2014/chart" uri="{C3380CC4-5D6E-409C-BE32-E72D297353CC}">
                  <c16:uniqueId val="{00000024-99A8-474F-AFC5-88D8A1BC8017}"/>
                </c:ext>
              </c:extLst>
            </c:dLbl>
            <c:dLbl>
              <c:idx val="3"/>
              <c:layout>
                <c:manualLayout>
                  <c:x val="-2.9886635520242785E-2"/>
                  <c:y val="-8.238753007428666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99A8-474F-AFC5-88D8A1BC8017}"/>
                </c:ext>
              </c:extLst>
            </c:dLbl>
            <c:dLbl>
              <c:idx val="4"/>
              <c:delete val="1"/>
              <c:extLst>
                <c:ext xmlns:c15="http://schemas.microsoft.com/office/drawing/2012/chart" uri="{CE6537A1-D6FC-4f65-9D91-7224C49458BB}"/>
                <c:ext xmlns:c16="http://schemas.microsoft.com/office/drawing/2014/chart" uri="{C3380CC4-5D6E-409C-BE32-E72D297353CC}">
                  <c16:uniqueId val="{00000026-99A8-474F-AFC5-88D8A1BC8017}"/>
                </c:ext>
              </c:extLst>
            </c:dLbl>
            <c:dLbl>
              <c:idx val="5"/>
              <c:delete val="1"/>
              <c:extLst>
                <c:ext xmlns:c15="http://schemas.microsoft.com/office/drawing/2012/chart" uri="{CE6537A1-D6FC-4f65-9D91-7224C49458BB}"/>
                <c:ext xmlns:c16="http://schemas.microsoft.com/office/drawing/2014/chart" uri="{C3380CC4-5D6E-409C-BE32-E72D297353CC}">
                  <c16:uniqueId val="{00000027-99A8-474F-AFC5-88D8A1BC8017}"/>
                </c:ext>
              </c:extLst>
            </c:dLbl>
            <c:dLbl>
              <c:idx val="6"/>
              <c:layout>
                <c:manualLayout>
                  <c:x val="-2.6897971968218505E-2"/>
                  <c:y val="-6.8656275061905525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99A8-474F-AFC5-88D8A1BC8017}"/>
                </c:ext>
              </c:extLst>
            </c:dLbl>
            <c:dLbl>
              <c:idx val="7"/>
              <c:delete val="1"/>
              <c:extLst>
                <c:ext xmlns:c15="http://schemas.microsoft.com/office/drawing/2012/chart" uri="{CE6537A1-D6FC-4f65-9D91-7224C49458BB}"/>
                <c:ext xmlns:c16="http://schemas.microsoft.com/office/drawing/2014/chart" uri="{C3380CC4-5D6E-409C-BE32-E72D297353CC}">
                  <c16:uniqueId val="{00000029-99A8-474F-AFC5-88D8A1BC8017}"/>
                </c:ext>
              </c:extLst>
            </c:dLbl>
            <c:dLbl>
              <c:idx val="8"/>
              <c:delete val="1"/>
              <c:extLst>
                <c:ext xmlns:c15="http://schemas.microsoft.com/office/drawing/2012/chart" uri="{CE6537A1-D6FC-4f65-9D91-7224C49458BB}"/>
                <c:ext xmlns:c16="http://schemas.microsoft.com/office/drawing/2014/chart" uri="{C3380CC4-5D6E-409C-BE32-E72D297353CC}">
                  <c16:uniqueId val="{0000002A-99A8-474F-AFC5-88D8A1BC8017}"/>
                </c:ext>
              </c:extLst>
            </c:dLbl>
            <c:dLbl>
              <c:idx val="9"/>
              <c:layout>
                <c:manualLayout>
                  <c:x val="-5.379594393643701E-2"/>
                  <c:y val="-6.8656275061905525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99A8-474F-AFC5-88D8A1BC8017}"/>
                </c:ext>
              </c:extLst>
            </c:dLbl>
            <c:dLbl>
              <c:idx val="10"/>
              <c:delete val="1"/>
              <c:extLst>
                <c:ext xmlns:c15="http://schemas.microsoft.com/office/drawing/2012/chart" uri="{CE6537A1-D6FC-4f65-9D91-7224C49458BB}"/>
                <c:ext xmlns:c16="http://schemas.microsoft.com/office/drawing/2014/chart" uri="{C3380CC4-5D6E-409C-BE32-E72D297353CC}">
                  <c16:uniqueId val="{0000002C-99A8-474F-AFC5-88D8A1BC8017}"/>
                </c:ext>
              </c:extLst>
            </c:dLbl>
            <c:dLbl>
              <c:idx val="11"/>
              <c:delete val="1"/>
              <c:extLst>
                <c:ext xmlns:c15="http://schemas.microsoft.com/office/drawing/2012/chart" uri="{CE6537A1-D6FC-4f65-9D91-7224C49458BB}"/>
                <c:ext xmlns:c16="http://schemas.microsoft.com/office/drawing/2014/chart" uri="{C3380CC4-5D6E-409C-BE32-E72D297353CC}">
                  <c16:uniqueId val="{0000002D-99A8-474F-AFC5-88D8A1BC8017}"/>
                </c:ext>
              </c:extLst>
            </c:dLbl>
            <c:dLbl>
              <c:idx val="12"/>
              <c:layout>
                <c:manualLayout>
                  <c:x val="-2.6897971968218505E-2"/>
                  <c:y val="-6.5223461308810252E-2"/>
                </c:manualLayout>
              </c:layout>
              <c:tx>
                <c:rich>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fld id="{C911A174-702D-4854-9B7F-7F39497EA114}" type="VALUE">
                      <a:rPr lang="en-US" altLang="ja-JP">
                        <a:solidFill>
                          <a:srgbClr val="142EA4"/>
                        </a:solidFill>
                      </a:rPr>
                      <a:pPr>
                        <a:defRPr sz="1000">
                          <a:solidFill>
                            <a:schemeClr val="bg1"/>
                          </a:solidFill>
                          <a:latin typeface="Poppins SemiBold" panose="00000700000000000000" pitchFamily="2" charset="0"/>
                          <a:cs typeface="Poppins SemiBold" panose="00000700000000000000" pitchFamily="2" charset="0"/>
                        </a:defRPr>
                      </a:pPr>
                      <a:t>[値]</a:t>
                    </a:fld>
                    <a:endParaRPr lang="ja-JP" altLang="en-US"/>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2E-99A8-474F-AFC5-88D8A1BC8017}"/>
                </c:ext>
              </c:extLst>
            </c:dLbl>
            <c:dLbl>
              <c:idx val="13"/>
              <c:delete val="1"/>
              <c:extLst>
                <c:ext xmlns:c15="http://schemas.microsoft.com/office/drawing/2012/chart" uri="{CE6537A1-D6FC-4f65-9D91-7224C49458BB}"/>
                <c:ext xmlns:c16="http://schemas.microsoft.com/office/drawing/2014/chart" uri="{C3380CC4-5D6E-409C-BE32-E72D297353CC}">
                  <c16:uniqueId val="{0000002F-99A8-474F-AFC5-88D8A1BC8017}"/>
                </c:ext>
              </c:extLst>
            </c:dLbl>
            <c:dLbl>
              <c:idx val="14"/>
              <c:delete val="1"/>
              <c:extLst>
                <c:ext xmlns:c15="http://schemas.microsoft.com/office/drawing/2012/chart" uri="{CE6537A1-D6FC-4f65-9D91-7224C49458BB}"/>
                <c:ext xmlns:c16="http://schemas.microsoft.com/office/drawing/2014/chart" uri="{C3380CC4-5D6E-409C-BE32-E72D297353CC}">
                  <c16:uniqueId val="{00000030-99A8-474F-AFC5-88D8A1BC8017}"/>
                </c:ext>
              </c:extLst>
            </c:dLbl>
            <c:dLbl>
              <c:idx val="15"/>
              <c:layout>
                <c:manualLayout>
                  <c:x val="-2.9886635520242785E-2"/>
                  <c:y val="-5.8357833802619725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99A8-474F-AFC5-88D8A1BC8017}"/>
                </c:ext>
              </c:extLst>
            </c:dLbl>
            <c:dLbl>
              <c:idx val="16"/>
              <c:delete val="1"/>
              <c:extLst>
                <c:ext xmlns:c15="http://schemas.microsoft.com/office/drawing/2012/chart" uri="{CE6537A1-D6FC-4f65-9D91-7224C49458BB}"/>
                <c:ext xmlns:c16="http://schemas.microsoft.com/office/drawing/2014/chart" uri="{C3380CC4-5D6E-409C-BE32-E72D297353CC}">
                  <c16:uniqueId val="{00000032-99A8-474F-AFC5-88D8A1BC8017}"/>
                </c:ext>
              </c:extLst>
            </c:dLbl>
            <c:dLbl>
              <c:idx val="17"/>
              <c:delete val="1"/>
              <c:extLst>
                <c:ext xmlns:c15="http://schemas.microsoft.com/office/drawing/2012/chart" uri="{CE6537A1-D6FC-4f65-9D91-7224C49458BB}"/>
                <c:ext xmlns:c16="http://schemas.microsoft.com/office/drawing/2014/chart" uri="{C3380CC4-5D6E-409C-BE32-E72D297353CC}">
                  <c16:uniqueId val="{00000033-99A8-474F-AFC5-88D8A1BC8017}"/>
                </c:ext>
              </c:extLst>
            </c:dLbl>
            <c:dLbl>
              <c:idx val="18"/>
              <c:layout>
                <c:manualLayout>
                  <c:x val="-4.4829953280364286E-2"/>
                  <c:y val="-5.4925020049524417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99A8-474F-AFC5-88D8A1BC8017}"/>
                </c:ext>
              </c:extLst>
            </c:dLbl>
            <c:dLbl>
              <c:idx val="19"/>
              <c:delete val="1"/>
              <c:extLst>
                <c:ext xmlns:c15="http://schemas.microsoft.com/office/drawing/2012/chart" uri="{CE6537A1-D6FC-4f65-9D91-7224C49458BB}"/>
                <c:ext xmlns:c16="http://schemas.microsoft.com/office/drawing/2014/chart" uri="{C3380CC4-5D6E-409C-BE32-E72D297353CC}">
                  <c16:uniqueId val="{00000035-99A8-474F-AFC5-88D8A1BC8017}"/>
                </c:ext>
              </c:extLst>
            </c:dLbl>
            <c:dLbl>
              <c:idx val="20"/>
              <c:delete val="1"/>
              <c:extLst>
                <c:ext xmlns:c15="http://schemas.microsoft.com/office/drawing/2012/chart" uri="{CE6537A1-D6FC-4f65-9D91-7224C49458BB}"/>
                <c:ext xmlns:c16="http://schemas.microsoft.com/office/drawing/2014/chart" uri="{C3380CC4-5D6E-409C-BE32-E72D297353CC}">
                  <c16:uniqueId val="{00000036-99A8-474F-AFC5-88D8A1BC8017}"/>
                </c:ext>
              </c:extLst>
            </c:dLbl>
            <c:dLbl>
              <c:idx val="21"/>
              <c:layout>
                <c:manualLayout>
                  <c:x val="-5.6784607488461286E-2"/>
                  <c:y val="-4.46265787902385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99A8-474F-AFC5-88D8A1BC8017}"/>
                </c:ext>
              </c:extLst>
            </c:dLbl>
            <c:dLbl>
              <c:idx val="22"/>
              <c:delete val="1"/>
              <c:extLst>
                <c:ext xmlns:c15="http://schemas.microsoft.com/office/drawing/2012/chart" uri="{CE6537A1-D6FC-4f65-9D91-7224C49458BB}"/>
                <c:ext xmlns:c16="http://schemas.microsoft.com/office/drawing/2014/chart" uri="{C3380CC4-5D6E-409C-BE32-E72D297353CC}">
                  <c16:uniqueId val="{00000038-99A8-474F-AFC5-88D8A1BC8017}"/>
                </c:ext>
              </c:extLst>
            </c:dLbl>
            <c:dLbl>
              <c:idx val="23"/>
              <c:delete val="1"/>
              <c:extLst>
                <c:ext xmlns:c15="http://schemas.microsoft.com/office/drawing/2012/chart" uri="{CE6537A1-D6FC-4f65-9D91-7224C49458BB}"/>
                <c:ext xmlns:c16="http://schemas.microsoft.com/office/drawing/2014/chart" uri="{C3380CC4-5D6E-409C-BE32-E72D297353CC}">
                  <c16:uniqueId val="{00000039-99A8-474F-AFC5-88D8A1BC8017}"/>
                </c:ext>
              </c:extLst>
            </c:dLbl>
            <c:dLbl>
              <c:idx val="24"/>
              <c:layout>
                <c:manualLayout>
                  <c:x val="-5.379594393643701E-2"/>
                  <c:y val="-5.4925020049524417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142EA4"/>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99A8-474F-AFC5-88D8A1BC8017}"/>
                </c:ext>
              </c:extLst>
            </c:dLbl>
            <c:dLbl>
              <c:idx val="25"/>
              <c:delete val="1"/>
              <c:extLst>
                <c:ext xmlns:c15="http://schemas.microsoft.com/office/drawing/2012/chart" uri="{CE6537A1-D6FC-4f65-9D91-7224C49458BB}"/>
                <c:ext xmlns:c16="http://schemas.microsoft.com/office/drawing/2014/chart" uri="{C3380CC4-5D6E-409C-BE32-E72D297353CC}">
                  <c16:uniqueId val="{0000003B-99A8-474F-AFC5-88D8A1BC8017}"/>
                </c:ext>
              </c:extLst>
            </c:dLbl>
            <c:dLbl>
              <c:idx val="26"/>
              <c:delete val="1"/>
              <c:extLst>
                <c:ext xmlns:c15="http://schemas.microsoft.com/office/drawing/2012/chart" uri="{CE6537A1-D6FC-4f65-9D91-7224C49458BB}"/>
                <c:ext xmlns:c16="http://schemas.microsoft.com/office/drawing/2014/chart" uri="{C3380CC4-5D6E-409C-BE32-E72D297353CC}">
                  <c16:uniqueId val="{0000003C-99A8-474F-AFC5-88D8A1BC8017}"/>
                </c:ext>
              </c:extLst>
            </c:dLbl>
            <c:dLbl>
              <c:idx val="27"/>
              <c:layout>
                <c:manualLayout>
                  <c:x val="-4.4829953280364175E-2"/>
                  <c:y val="-5.4925020049524417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99A8-474F-AFC5-88D8A1BC8017}"/>
                </c:ext>
              </c:extLst>
            </c:dLbl>
            <c:dLbl>
              <c:idx val="28"/>
              <c:delete val="1"/>
              <c:extLst>
                <c:ext xmlns:c15="http://schemas.microsoft.com/office/drawing/2012/chart" uri="{CE6537A1-D6FC-4f65-9D91-7224C49458BB}"/>
                <c:ext xmlns:c16="http://schemas.microsoft.com/office/drawing/2014/chart" uri="{C3380CC4-5D6E-409C-BE32-E72D297353CC}">
                  <c16:uniqueId val="{0000003E-99A8-474F-AFC5-88D8A1BC8017}"/>
                </c:ext>
              </c:extLst>
            </c:dLbl>
            <c:dLbl>
              <c:idx val="29"/>
              <c:delete val="1"/>
              <c:extLst>
                <c:ext xmlns:c15="http://schemas.microsoft.com/office/drawing/2012/chart" uri="{CE6537A1-D6FC-4f65-9D91-7224C49458BB}"/>
                <c:ext xmlns:c16="http://schemas.microsoft.com/office/drawing/2014/chart" uri="{C3380CC4-5D6E-409C-BE32-E72D297353CC}">
                  <c16:uniqueId val="{0000003F-99A8-474F-AFC5-88D8A1BC8017}"/>
                </c:ext>
              </c:extLst>
            </c:dLbl>
            <c:dLbl>
              <c:idx val="30"/>
              <c:layout>
                <c:manualLayout>
                  <c:x val="-6.5750598144534128E-2"/>
                  <c:y val="-6.179064755571497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99A8-474F-AFC5-88D8A1BC8017}"/>
                </c:ext>
              </c:extLst>
            </c:dLbl>
            <c:dLbl>
              <c:idx val="31"/>
              <c:delete val="1"/>
              <c:extLst>
                <c:ext xmlns:c15="http://schemas.microsoft.com/office/drawing/2012/chart" uri="{CE6537A1-D6FC-4f65-9D91-7224C49458BB}"/>
                <c:ext xmlns:c16="http://schemas.microsoft.com/office/drawing/2014/chart" uri="{C3380CC4-5D6E-409C-BE32-E72D297353CC}">
                  <c16:uniqueId val="{00000041-99A8-474F-AFC5-88D8A1BC8017}"/>
                </c:ext>
              </c:extLst>
            </c:dLbl>
            <c:dLbl>
              <c:idx val="32"/>
              <c:delete val="1"/>
              <c:extLst>
                <c:ext xmlns:c15="http://schemas.microsoft.com/office/drawing/2012/chart" uri="{CE6537A1-D6FC-4f65-9D91-7224C49458BB}"/>
                <c:ext xmlns:c16="http://schemas.microsoft.com/office/drawing/2014/chart" uri="{C3380CC4-5D6E-409C-BE32-E72D297353CC}">
                  <c16:uniqueId val="{00000042-99A8-474F-AFC5-88D8A1BC8017}"/>
                </c:ext>
              </c:extLst>
            </c:dLbl>
            <c:dLbl>
              <c:idx val="33"/>
              <c:layout>
                <c:manualLayout>
                  <c:x val="-5.379594393643701E-2"/>
                  <c:y val="-9.9551598839763042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DB0-4F7C-9F76-2E3DA8FE58F2}"/>
                </c:ext>
              </c:extLst>
            </c:dLbl>
            <c:dLbl>
              <c:idx val="34"/>
              <c:layout>
                <c:manualLayout>
                  <c:x val="-7.4716588800607067E-2"/>
                  <c:y val="-5.1492206296429144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DB0-4F7C-9F76-2E3DA8FE58F2}"/>
                </c:ext>
              </c:extLst>
            </c:dLbl>
            <c:dLbl>
              <c:idx val="35"/>
              <c:layout>
                <c:manualLayout>
                  <c:x val="-4.1841289728339899E-2"/>
                  <c:y val="-0.10641722634595356"/>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B0-4F7C-9F76-2E3DA8FE58F2}"/>
                </c:ext>
              </c:extLst>
            </c:dLbl>
            <c:dLbl>
              <c:idx val="36"/>
              <c:layout>
                <c:manualLayout>
                  <c:x val="-5.3795943936437121E-2"/>
                  <c:y val="-4.46265787902386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CF8-44AE-B73B-631AA0389234}"/>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142FA4"/>
                    </a:solidFill>
                    <a:latin typeface="Poppins SemiBold" panose="00000700000000000000" pitchFamily="2" charset="0"/>
                    <a:ea typeface="+mn-ea"/>
                    <a:cs typeface="Poppins SemiBold" panose="00000700000000000000" pitchFamily="2" charset="0"/>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Sheet1!$A$7:$A$43</c:f>
              <c:numCache>
                <c:formatCode>yyyy/m</c:formatCode>
                <c:ptCount val="37"/>
                <c:pt idx="0">
                  <c:v>45078</c:v>
                </c:pt>
                <c:pt idx="1">
                  <c:v>45108</c:v>
                </c:pt>
                <c:pt idx="2">
                  <c:v>45139</c:v>
                </c:pt>
                <c:pt idx="3">
                  <c:v>45170</c:v>
                </c:pt>
                <c:pt idx="4">
                  <c:v>45200</c:v>
                </c:pt>
                <c:pt idx="5">
                  <c:v>45231</c:v>
                </c:pt>
                <c:pt idx="6">
                  <c:v>45261</c:v>
                </c:pt>
                <c:pt idx="7">
                  <c:v>45292</c:v>
                </c:pt>
                <c:pt idx="8">
                  <c:v>45323</c:v>
                </c:pt>
                <c:pt idx="9">
                  <c:v>45352</c:v>
                </c:pt>
                <c:pt idx="10">
                  <c:v>45383</c:v>
                </c:pt>
                <c:pt idx="11">
                  <c:v>45413</c:v>
                </c:pt>
                <c:pt idx="12">
                  <c:v>45444</c:v>
                </c:pt>
                <c:pt idx="13">
                  <c:v>45474</c:v>
                </c:pt>
                <c:pt idx="14">
                  <c:v>45505</c:v>
                </c:pt>
                <c:pt idx="15">
                  <c:v>45536</c:v>
                </c:pt>
                <c:pt idx="16">
                  <c:v>45566</c:v>
                </c:pt>
                <c:pt idx="17">
                  <c:v>45597</c:v>
                </c:pt>
                <c:pt idx="18">
                  <c:v>45627</c:v>
                </c:pt>
                <c:pt idx="19">
                  <c:v>45658</c:v>
                </c:pt>
                <c:pt idx="20">
                  <c:v>45689</c:v>
                </c:pt>
                <c:pt idx="21">
                  <c:v>45717</c:v>
                </c:pt>
                <c:pt idx="22">
                  <c:v>45748</c:v>
                </c:pt>
                <c:pt idx="23">
                  <c:v>45778</c:v>
                </c:pt>
                <c:pt idx="24">
                  <c:v>45809</c:v>
                </c:pt>
                <c:pt idx="25">
                  <c:v>45839</c:v>
                </c:pt>
                <c:pt idx="26">
                  <c:v>45870</c:v>
                </c:pt>
                <c:pt idx="27">
                  <c:v>45901</c:v>
                </c:pt>
                <c:pt idx="28">
                  <c:v>45931</c:v>
                </c:pt>
                <c:pt idx="29">
                  <c:v>45962</c:v>
                </c:pt>
                <c:pt idx="30">
                  <c:v>45992</c:v>
                </c:pt>
                <c:pt idx="31">
                  <c:v>46023</c:v>
                </c:pt>
                <c:pt idx="32">
                  <c:v>46054</c:v>
                </c:pt>
                <c:pt idx="33">
                  <c:v>46082</c:v>
                </c:pt>
                <c:pt idx="34">
                  <c:v>46113</c:v>
                </c:pt>
                <c:pt idx="35">
                  <c:v>46143</c:v>
                </c:pt>
                <c:pt idx="36">
                  <c:v>46174</c:v>
                </c:pt>
              </c:numCache>
            </c:numRef>
          </c:cat>
          <c:val>
            <c:numRef>
              <c:f>Sheet1!$C$7:$C$43</c:f>
              <c:numCache>
                <c:formatCode>#,##0.0</c:formatCode>
                <c:ptCount val="37"/>
                <c:pt idx="0">
                  <c:v>36.5</c:v>
                </c:pt>
                <c:pt idx="1">
                  <c:v>41.1</c:v>
                </c:pt>
                <c:pt idx="2">
                  <c:v>39.5</c:v>
                </c:pt>
                <c:pt idx="3">
                  <c:v>38.299999999999997</c:v>
                </c:pt>
                <c:pt idx="4">
                  <c:v>38.5</c:v>
                </c:pt>
                <c:pt idx="5">
                  <c:v>38.200000000000003</c:v>
                </c:pt>
                <c:pt idx="6">
                  <c:v>37.700000000000003</c:v>
                </c:pt>
                <c:pt idx="7">
                  <c:v>38.799999999999997</c:v>
                </c:pt>
                <c:pt idx="8">
                  <c:v>38.4</c:v>
                </c:pt>
                <c:pt idx="9">
                  <c:v>38.6</c:v>
                </c:pt>
                <c:pt idx="10">
                  <c:v>40.200000000000003</c:v>
                </c:pt>
                <c:pt idx="11">
                  <c:v>38.700000000000003</c:v>
                </c:pt>
                <c:pt idx="12">
                  <c:v>38.799999999999997</c:v>
                </c:pt>
                <c:pt idx="13">
                  <c:v>40.1</c:v>
                </c:pt>
                <c:pt idx="14">
                  <c:v>40.200000000000003</c:v>
                </c:pt>
                <c:pt idx="15">
                  <c:v>37.9</c:v>
                </c:pt>
                <c:pt idx="16">
                  <c:v>38.6</c:v>
                </c:pt>
                <c:pt idx="17">
                  <c:v>38.6</c:v>
                </c:pt>
                <c:pt idx="18">
                  <c:v>40.200000000000003</c:v>
                </c:pt>
                <c:pt idx="19">
                  <c:v>41.9</c:v>
                </c:pt>
                <c:pt idx="20">
                  <c:v>40.6</c:v>
                </c:pt>
                <c:pt idx="21">
                  <c:v>40.5</c:v>
                </c:pt>
                <c:pt idx="22">
                  <c:v>39.799999999999997</c:v>
                </c:pt>
                <c:pt idx="23">
                  <c:v>40.1</c:v>
                </c:pt>
                <c:pt idx="24">
                  <c:v>41</c:v>
                </c:pt>
                <c:pt idx="25">
                  <c:v>41.8</c:v>
                </c:pt>
                <c:pt idx="26">
                  <c:v>40.700000000000003</c:v>
                </c:pt>
                <c:pt idx="27">
                  <c:v>38</c:v>
                </c:pt>
                <c:pt idx="28">
                  <c:v>38.4</c:v>
                </c:pt>
                <c:pt idx="29">
                  <c:v>38.6</c:v>
                </c:pt>
                <c:pt idx="30">
                  <c:v>40</c:v>
                </c:pt>
                <c:pt idx="31">
                  <c:v>41.2</c:v>
                </c:pt>
                <c:pt idx="32">
                  <c:v>41.4</c:v>
                </c:pt>
                <c:pt idx="33">
                  <c:v>40.700000000000003</c:v>
                </c:pt>
                <c:pt idx="34">
                  <c:v>40.299999999999997</c:v>
                </c:pt>
                <c:pt idx="35">
                  <c:v>39.9</c:v>
                </c:pt>
                <c:pt idx="36">
                  <c:v>40.6</c:v>
                </c:pt>
              </c:numCache>
            </c:numRef>
          </c:val>
          <c:smooth val="0"/>
          <c:extLst>
            <c:ext xmlns:c16="http://schemas.microsoft.com/office/drawing/2014/chart" uri="{C3380CC4-5D6E-409C-BE32-E72D297353CC}">
              <c16:uniqueId val="{00000043-99A8-474F-AFC5-88D8A1BC8017}"/>
            </c:ext>
          </c:extLst>
        </c:ser>
        <c:dLbls>
          <c:showLegendKey val="0"/>
          <c:showVal val="1"/>
          <c:showCatName val="0"/>
          <c:showSerName val="0"/>
          <c:showPercent val="0"/>
          <c:showBubbleSize val="0"/>
        </c:dLbls>
        <c:marker val="1"/>
        <c:smooth val="0"/>
        <c:axId val="2034257952"/>
        <c:axId val="2034257472"/>
      </c:lineChart>
      <c:dateAx>
        <c:axId val="1121549535"/>
        <c:scaling>
          <c:orientation val="minMax"/>
        </c:scaling>
        <c:delete val="0"/>
        <c:axPos val="b"/>
        <c:numFmt formatCode="yyyy/m" sourceLinked="1"/>
        <c:majorTickMark val="none"/>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1121550975"/>
        <c:crosses val="autoZero"/>
        <c:auto val="1"/>
        <c:lblOffset val="100"/>
        <c:baseTimeUnit val="months"/>
        <c:majorUnit val="3"/>
        <c:majorTimeUnit val="months"/>
      </c:dateAx>
      <c:valAx>
        <c:axId val="1121550975"/>
        <c:scaling>
          <c:orientation val="minMax"/>
          <c:max val="10"/>
        </c:scaling>
        <c:delete val="0"/>
        <c:axPos val="l"/>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1121549535"/>
        <c:crosses val="autoZero"/>
        <c:crossBetween val="between"/>
        <c:majorUnit val="2.5"/>
      </c:valAx>
      <c:valAx>
        <c:axId val="2034257472"/>
        <c:scaling>
          <c:orientation val="minMax"/>
          <c:max val="50"/>
          <c:min val="0"/>
        </c:scaling>
        <c:delete val="0"/>
        <c:axPos val="r"/>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Poppins" pitchFamily="2" charset="0"/>
                <a:ea typeface="+mn-ea"/>
                <a:cs typeface="Poppins" pitchFamily="2" charset="0"/>
              </a:defRPr>
            </a:pPr>
            <a:endParaRPr lang="ja-JP"/>
          </a:p>
        </c:txPr>
        <c:crossAx val="2034257952"/>
        <c:crosses val="max"/>
        <c:crossBetween val="between"/>
      </c:valAx>
      <c:dateAx>
        <c:axId val="2034257952"/>
        <c:scaling>
          <c:orientation val="minMax"/>
        </c:scaling>
        <c:delete val="1"/>
        <c:axPos val="b"/>
        <c:numFmt formatCode="yyyy/m" sourceLinked="1"/>
        <c:majorTickMark val="out"/>
        <c:minorTickMark val="none"/>
        <c:tickLblPos val="nextTo"/>
        <c:crossAx val="2034257472"/>
        <c:crosses val="autoZero"/>
        <c:auto val="1"/>
        <c:lblOffset val="100"/>
        <c:baseTimeUnit val="months"/>
      </c:dateAx>
      <c:spPr>
        <a:noFill/>
        <a:ln>
          <a:noFill/>
        </a:ln>
        <a:effectLst/>
      </c:spPr>
    </c:plotArea>
    <c:legend>
      <c:legendPos val="t"/>
      <c:legendEntry>
        <c:idx val="1"/>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Entry>
      <c:layout>
        <c:manualLayout>
          <c:xMode val="edge"/>
          <c:yMode val="edge"/>
          <c:x val="0.21098529177475078"/>
          <c:y val="7.9122302504413308E-2"/>
          <c:w val="0.56486494182342839"/>
          <c:h val="6.9821316582253337E-2"/>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142FA4"/>
              </a:solidFill>
              <a:latin typeface="Poppins" pitchFamily="2" charset="0"/>
              <a:ea typeface="M PLUS 1p" panose="020B0502020203020207" pitchFamily="34" charset="-128"/>
              <a:cs typeface="Poppins" pitchFamily="2" charset="0"/>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86233952407692"/>
          <c:y val="0.1105304560093517"/>
          <c:w val="0.88960513015632481"/>
          <c:h val="0.75148320406939251"/>
        </c:manualLayout>
      </c:layout>
      <c:barChart>
        <c:barDir val="col"/>
        <c:grouping val="clustered"/>
        <c:varyColors val="0"/>
        <c:ser>
          <c:idx val="0"/>
          <c:order val="0"/>
          <c:tx>
            <c:strRef>
              <c:f>Sheet1!$B$1</c:f>
              <c:strCache>
                <c:ptCount val="1"/>
                <c:pt idx="0">
                  <c:v>ITエンジニア数</c:v>
                </c:pt>
              </c:strCache>
            </c:strRef>
          </c:tx>
          <c:spPr>
            <a:solidFill>
              <a:srgbClr val="142FA4">
                <a:alpha val="54959"/>
              </a:srgbClr>
            </a:solidFill>
            <a:ln>
              <a:noFill/>
            </a:ln>
            <a:effectLst/>
          </c:spPr>
          <c:invertIfNegative val="0"/>
          <c:dLbls>
            <c:dLbl>
              <c:idx val="0"/>
              <c:layout>
                <c:manualLayout>
                  <c:x val="0"/>
                  <c:y val="-3.798532988613976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7FE-254E-99F0-809F1631F7D9}"/>
                </c:ext>
              </c:extLst>
            </c:dLbl>
            <c:dLbl>
              <c:idx val="1"/>
              <c:delete val="1"/>
              <c:extLst>
                <c:ext xmlns:c15="http://schemas.microsoft.com/office/drawing/2012/chart" uri="{CE6537A1-D6FC-4f65-9D91-7224C49458BB}"/>
                <c:ext xmlns:c16="http://schemas.microsoft.com/office/drawing/2014/chart" uri="{C3380CC4-5D6E-409C-BE32-E72D297353CC}">
                  <c16:uniqueId val="{00000001-A7FE-254E-99F0-809F1631F7D9}"/>
                </c:ext>
              </c:extLst>
            </c:dLbl>
            <c:dLbl>
              <c:idx val="2"/>
              <c:delete val="1"/>
              <c:extLst>
                <c:ext xmlns:c15="http://schemas.microsoft.com/office/drawing/2012/chart" uri="{CE6537A1-D6FC-4f65-9D91-7224C49458BB}"/>
                <c:ext xmlns:c16="http://schemas.microsoft.com/office/drawing/2014/chart" uri="{C3380CC4-5D6E-409C-BE32-E72D297353CC}">
                  <c16:uniqueId val="{00000002-A7FE-254E-99F0-809F1631F7D9}"/>
                </c:ext>
              </c:extLst>
            </c:dLbl>
            <c:dLbl>
              <c:idx val="3"/>
              <c:layout>
                <c:manualLayout>
                  <c:x val="1.3787162577515472E-2"/>
                  <c:y val="-8.704870872829215E-1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7FE-254E-99F0-809F1631F7D9}"/>
                </c:ext>
              </c:extLst>
            </c:dLbl>
            <c:dLbl>
              <c:idx val="4"/>
              <c:delete val="1"/>
              <c:extLst>
                <c:ext xmlns:c15="http://schemas.microsoft.com/office/drawing/2012/chart" uri="{CE6537A1-D6FC-4f65-9D91-7224C49458BB}"/>
                <c:ext xmlns:c16="http://schemas.microsoft.com/office/drawing/2014/chart" uri="{C3380CC4-5D6E-409C-BE32-E72D297353CC}">
                  <c16:uniqueId val="{00000004-A7FE-254E-99F0-809F1631F7D9}"/>
                </c:ext>
              </c:extLst>
            </c:dLbl>
            <c:dLbl>
              <c:idx val="5"/>
              <c:delete val="1"/>
              <c:extLst>
                <c:ext xmlns:c15="http://schemas.microsoft.com/office/drawing/2012/chart" uri="{CE6537A1-D6FC-4f65-9D91-7224C49458BB}"/>
                <c:ext xmlns:c16="http://schemas.microsoft.com/office/drawing/2014/chart" uri="{C3380CC4-5D6E-409C-BE32-E72D297353CC}">
                  <c16:uniqueId val="{00000005-A7FE-254E-99F0-809F1631F7D9}"/>
                </c:ext>
              </c:extLst>
            </c:dLbl>
            <c:dLbl>
              <c:idx val="7"/>
              <c:delete val="1"/>
              <c:extLst>
                <c:ext xmlns:c15="http://schemas.microsoft.com/office/drawing/2012/chart" uri="{CE6537A1-D6FC-4f65-9D91-7224C49458BB}"/>
                <c:ext xmlns:c16="http://schemas.microsoft.com/office/drawing/2014/chart" uri="{C3380CC4-5D6E-409C-BE32-E72D297353CC}">
                  <c16:uniqueId val="{00000007-A7FE-254E-99F0-809F1631F7D9}"/>
                </c:ext>
              </c:extLst>
            </c:dLbl>
            <c:dLbl>
              <c:idx val="8"/>
              <c:delete val="1"/>
              <c:extLst>
                <c:ext xmlns:c15="http://schemas.microsoft.com/office/drawing/2012/chart" uri="{CE6537A1-D6FC-4f65-9D91-7224C49458BB}"/>
                <c:ext xmlns:c16="http://schemas.microsoft.com/office/drawing/2014/chart" uri="{C3380CC4-5D6E-409C-BE32-E72D297353CC}">
                  <c16:uniqueId val="{00000000-A780-426B-8208-AC13BF0852FF}"/>
                </c:ext>
              </c:extLst>
            </c:dLbl>
            <c:dLbl>
              <c:idx val="9"/>
              <c:layout>
                <c:manualLayout>
                  <c:x val="3.4467906443788046E-3"/>
                  <c:y val="3.798532988613954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7FE-254E-99F0-809F1631F7D9}"/>
                </c:ext>
              </c:extLst>
            </c:dLbl>
            <c:dLbl>
              <c:idx val="10"/>
              <c:delete val="1"/>
              <c:extLst>
                <c:ext xmlns:c15="http://schemas.microsoft.com/office/drawing/2012/chart" uri="{CE6537A1-D6FC-4f65-9D91-7224C49458BB}"/>
                <c:ext xmlns:c16="http://schemas.microsoft.com/office/drawing/2014/chart" uri="{C3380CC4-5D6E-409C-BE32-E72D297353CC}">
                  <c16:uniqueId val="{0000000A-A7FE-254E-99F0-809F1631F7D9}"/>
                </c:ext>
              </c:extLst>
            </c:dLbl>
            <c:dLbl>
              <c:idx val="11"/>
              <c:delete val="1"/>
              <c:extLst>
                <c:ext xmlns:c15="http://schemas.microsoft.com/office/drawing/2012/chart" uri="{CE6537A1-D6FC-4f65-9D91-7224C49458BB}"/>
                <c:ext xmlns:c16="http://schemas.microsoft.com/office/drawing/2014/chart" uri="{C3380CC4-5D6E-409C-BE32-E72D297353CC}">
                  <c16:uniqueId val="{00000000-17B4-4800-BEA8-B987D6D40E55}"/>
                </c:ext>
              </c:extLst>
            </c:dLbl>
            <c:dLbl>
              <c:idx val="12"/>
              <c:layout>
                <c:manualLayout>
                  <c:x val="0"/>
                  <c:y val="3.798532988613972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7FE-254E-99F0-809F1631F7D9}"/>
                </c:ext>
              </c:extLst>
            </c:dLbl>
            <c:dLbl>
              <c:idx val="13"/>
              <c:delete val="1"/>
              <c:extLst>
                <c:ext xmlns:c15="http://schemas.microsoft.com/office/drawing/2012/chart" uri="{CE6537A1-D6FC-4f65-9D91-7224C49458BB}"/>
                <c:ext xmlns:c16="http://schemas.microsoft.com/office/drawing/2014/chart" uri="{C3380CC4-5D6E-409C-BE32-E72D297353CC}">
                  <c16:uniqueId val="{0000000D-A7FE-254E-99F0-809F1631F7D9}"/>
                </c:ext>
              </c:extLst>
            </c:dLbl>
            <c:dLbl>
              <c:idx val="14"/>
              <c:delete val="1"/>
              <c:extLst>
                <c:ext xmlns:c15="http://schemas.microsoft.com/office/drawing/2012/chart" uri="{CE6537A1-D6FC-4f65-9D91-7224C49458BB}"/>
                <c:ext xmlns:c16="http://schemas.microsoft.com/office/drawing/2014/chart" uri="{C3380CC4-5D6E-409C-BE32-E72D297353CC}">
                  <c16:uniqueId val="{0000000E-A7FE-254E-99F0-809F1631F7D9}"/>
                </c:ext>
              </c:extLst>
            </c:dLbl>
            <c:dLbl>
              <c:idx val="15"/>
              <c:layout>
                <c:manualLayout>
                  <c:x val="6.8935812887577991E-3"/>
                  <c:y val="2.279119793168383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7FE-254E-99F0-809F1631F7D9}"/>
                </c:ext>
              </c:extLst>
            </c:dLbl>
            <c:dLbl>
              <c:idx val="16"/>
              <c:delete val="1"/>
              <c:extLst>
                <c:ext xmlns:c15="http://schemas.microsoft.com/office/drawing/2012/chart" uri="{CE6537A1-D6FC-4f65-9D91-7224C49458BB}"/>
                <c:ext xmlns:c16="http://schemas.microsoft.com/office/drawing/2014/chart" uri="{C3380CC4-5D6E-409C-BE32-E72D297353CC}">
                  <c16:uniqueId val="{00000010-A7FE-254E-99F0-809F1631F7D9}"/>
                </c:ext>
              </c:extLst>
            </c:dLbl>
            <c:dLbl>
              <c:idx val="17"/>
              <c:delete val="1"/>
              <c:extLst>
                <c:ext xmlns:c15="http://schemas.microsoft.com/office/drawing/2012/chart" uri="{CE6537A1-D6FC-4f65-9D91-7224C49458BB}"/>
                <c:ext xmlns:c16="http://schemas.microsoft.com/office/drawing/2014/chart" uri="{C3380CC4-5D6E-409C-BE32-E72D297353CC}">
                  <c16:uniqueId val="{00000011-A7FE-254E-99F0-809F1631F7D9}"/>
                </c:ext>
              </c:extLst>
            </c:dLbl>
            <c:dLbl>
              <c:idx val="18"/>
              <c:layout>
                <c:manualLayout>
                  <c:x val="3.4467906443787417E-3"/>
                  <c:y val="1.899266494306986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7FE-254E-99F0-809F1631F7D9}"/>
                </c:ext>
              </c:extLst>
            </c:dLbl>
            <c:dLbl>
              <c:idx val="19"/>
              <c:delete val="1"/>
              <c:extLst>
                <c:ext xmlns:c15="http://schemas.microsoft.com/office/drawing/2012/chart" uri="{CE6537A1-D6FC-4f65-9D91-7224C49458BB}"/>
                <c:ext xmlns:c16="http://schemas.microsoft.com/office/drawing/2014/chart" uri="{C3380CC4-5D6E-409C-BE32-E72D297353CC}">
                  <c16:uniqueId val="{00000013-A7FE-254E-99F0-809F1631F7D9}"/>
                </c:ext>
              </c:extLst>
            </c:dLbl>
            <c:dLbl>
              <c:idx val="20"/>
              <c:delete val="1"/>
              <c:extLst>
                <c:ext xmlns:c15="http://schemas.microsoft.com/office/drawing/2012/chart" uri="{CE6537A1-D6FC-4f65-9D91-7224C49458BB}"/>
                <c:ext xmlns:c16="http://schemas.microsoft.com/office/drawing/2014/chart" uri="{C3380CC4-5D6E-409C-BE32-E72D297353CC}">
                  <c16:uniqueId val="{00000014-A7FE-254E-99F0-809F1631F7D9}"/>
                </c:ext>
              </c:extLst>
            </c:dLbl>
            <c:dLbl>
              <c:idx val="21"/>
              <c:layout>
                <c:manualLayout>
                  <c:x val="6.8935812887577358E-3"/>
                  <c:y val="1.139559896584191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7FE-254E-99F0-809F1631F7D9}"/>
                </c:ext>
              </c:extLst>
            </c:dLbl>
            <c:dLbl>
              <c:idx val="22"/>
              <c:delete val="1"/>
              <c:extLst>
                <c:ext xmlns:c15="http://schemas.microsoft.com/office/drawing/2012/chart" uri="{CE6537A1-D6FC-4f65-9D91-7224C49458BB}"/>
                <c:ext xmlns:c16="http://schemas.microsoft.com/office/drawing/2014/chart" uri="{C3380CC4-5D6E-409C-BE32-E72D297353CC}">
                  <c16:uniqueId val="{00000016-A7FE-254E-99F0-809F1631F7D9}"/>
                </c:ext>
              </c:extLst>
            </c:dLbl>
            <c:dLbl>
              <c:idx val="23"/>
              <c:delete val="1"/>
              <c:extLst>
                <c:ext xmlns:c15="http://schemas.microsoft.com/office/drawing/2012/chart" uri="{CE6537A1-D6FC-4f65-9D91-7224C49458BB}"/>
                <c:ext xmlns:c16="http://schemas.microsoft.com/office/drawing/2014/chart" uri="{C3380CC4-5D6E-409C-BE32-E72D297353CC}">
                  <c16:uniqueId val="{00000017-A7FE-254E-99F0-809F1631F7D9}"/>
                </c:ext>
              </c:extLst>
            </c:dLbl>
            <c:dLbl>
              <c:idx val="24"/>
              <c:layout>
                <c:manualLayout>
                  <c:x val="0"/>
                  <c:y val="7.597065977227927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7FE-254E-99F0-809F1631F7D9}"/>
                </c:ext>
              </c:extLst>
            </c:dLbl>
            <c:dLbl>
              <c:idx val="25"/>
              <c:delete val="1"/>
              <c:extLst>
                <c:ext xmlns:c15="http://schemas.microsoft.com/office/drawing/2012/chart" uri="{CE6537A1-D6FC-4f65-9D91-7224C49458BB}"/>
                <c:ext xmlns:c16="http://schemas.microsoft.com/office/drawing/2014/chart" uri="{C3380CC4-5D6E-409C-BE32-E72D297353CC}">
                  <c16:uniqueId val="{00000019-A7FE-254E-99F0-809F1631F7D9}"/>
                </c:ext>
              </c:extLst>
            </c:dLbl>
            <c:dLbl>
              <c:idx val="26"/>
              <c:delete val="1"/>
              <c:extLst>
                <c:ext xmlns:c15="http://schemas.microsoft.com/office/drawing/2012/chart" uri="{CE6537A1-D6FC-4f65-9D91-7224C49458BB}"/>
                <c:ext xmlns:c16="http://schemas.microsoft.com/office/drawing/2014/chart" uri="{C3380CC4-5D6E-409C-BE32-E72D297353CC}">
                  <c16:uniqueId val="{0000001A-A7FE-254E-99F0-809F1631F7D9}"/>
                </c:ext>
              </c:extLst>
            </c:dLbl>
            <c:dLbl>
              <c:idx val="27"/>
              <c:layout>
                <c:manualLayout>
                  <c:x val="-3.324763994114906E-3"/>
                  <c:y val="7.596965100021802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A7FE-254E-99F0-809F1631F7D9}"/>
                </c:ext>
              </c:extLst>
            </c:dLbl>
            <c:dLbl>
              <c:idx val="28"/>
              <c:delete val="1"/>
              <c:extLst>
                <c:ext xmlns:c15="http://schemas.microsoft.com/office/drawing/2012/chart" uri="{CE6537A1-D6FC-4f65-9D91-7224C49458BB}"/>
                <c:ext xmlns:c16="http://schemas.microsoft.com/office/drawing/2014/chart" uri="{C3380CC4-5D6E-409C-BE32-E72D297353CC}">
                  <c16:uniqueId val="{0000001C-A7FE-254E-99F0-809F1631F7D9}"/>
                </c:ext>
              </c:extLst>
            </c:dLbl>
            <c:dLbl>
              <c:idx val="29"/>
              <c:delete val="1"/>
              <c:extLst>
                <c:ext xmlns:c15="http://schemas.microsoft.com/office/drawing/2012/chart" uri="{CE6537A1-D6FC-4f65-9D91-7224C49458BB}"/>
                <c:ext xmlns:c16="http://schemas.microsoft.com/office/drawing/2014/chart" uri="{C3380CC4-5D6E-409C-BE32-E72D297353CC}">
                  <c16:uniqueId val="{0000001D-A7FE-254E-99F0-809F1631F7D9}"/>
                </c:ext>
              </c:extLst>
            </c:dLbl>
            <c:dLbl>
              <c:idx val="30"/>
              <c:layout>
                <c:manualLayout>
                  <c:x val="0"/>
                  <c:y val="1.0886687866657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A7FE-254E-99F0-809F1631F7D9}"/>
                </c:ext>
              </c:extLst>
            </c:dLbl>
            <c:dLbl>
              <c:idx val="31"/>
              <c:delete val="1"/>
              <c:extLst>
                <c:ext xmlns:c15="http://schemas.microsoft.com/office/drawing/2012/chart" uri="{CE6537A1-D6FC-4f65-9D91-7224C49458BB}"/>
                <c:ext xmlns:c16="http://schemas.microsoft.com/office/drawing/2014/chart" uri="{C3380CC4-5D6E-409C-BE32-E72D297353CC}">
                  <c16:uniqueId val="{0000001F-A7FE-254E-99F0-809F1631F7D9}"/>
                </c:ext>
              </c:extLst>
            </c:dLbl>
            <c:dLbl>
              <c:idx val="32"/>
              <c:delete val="1"/>
              <c:extLst>
                <c:ext xmlns:c15="http://schemas.microsoft.com/office/drawing/2012/chart" uri="{CE6537A1-D6FC-4f65-9D91-7224C49458BB}"/>
                <c:ext xmlns:c16="http://schemas.microsoft.com/office/drawing/2014/chart" uri="{C3380CC4-5D6E-409C-BE32-E72D297353CC}">
                  <c16:uniqueId val="{00000020-A7FE-254E-99F0-809F1631F7D9}"/>
                </c:ext>
              </c:extLst>
            </c:dLbl>
            <c:dLbl>
              <c:idx val="33"/>
              <c:layout>
                <c:manualLayout>
                  <c:x val="-1.3299055976459745E-2"/>
                  <c:y val="1.814447977776296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F81-4645-896D-4F1AC3C8608A}"/>
                </c:ext>
              </c:extLst>
            </c:dLbl>
            <c:dLbl>
              <c:idx val="34"/>
              <c:delete val="1"/>
              <c:extLst>
                <c:ext xmlns:c15="http://schemas.microsoft.com/office/drawing/2012/chart" uri="{CE6537A1-D6FC-4f65-9D91-7224C49458BB}"/>
                <c:ext xmlns:c16="http://schemas.microsoft.com/office/drawing/2014/chart" uri="{C3380CC4-5D6E-409C-BE32-E72D297353CC}">
                  <c16:uniqueId val="{00000002-6F81-4645-896D-4F1AC3C8608A}"/>
                </c:ext>
              </c:extLst>
            </c:dLbl>
            <c:dLbl>
              <c:idx val="35"/>
              <c:delete val="1"/>
              <c:extLst>
                <c:ext xmlns:c15="http://schemas.microsoft.com/office/drawing/2012/chart" uri="{CE6537A1-D6FC-4f65-9D91-7224C49458BB}"/>
                <c:ext xmlns:c16="http://schemas.microsoft.com/office/drawing/2014/chart" uri="{C3380CC4-5D6E-409C-BE32-E72D297353CC}">
                  <c16:uniqueId val="{00000001-6F81-4645-896D-4F1AC3C8608A}"/>
                </c:ext>
              </c:extLst>
            </c:dLbl>
            <c:dLbl>
              <c:idx val="36"/>
              <c:layout>
                <c:manualLayout>
                  <c:x val="-1.2190660484204472E-16"/>
                  <c:y val="3.628895955552579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F60-434C-838D-2530D3DB1394}"/>
                </c:ext>
              </c:extLst>
            </c:dLbl>
            <c:spPr>
              <a:noFill/>
              <a:ln>
                <a:noFill/>
              </a:ln>
              <a:effectLst/>
            </c:spPr>
            <c:txPr>
              <a:bodyPr rot="0" spcFirstLastPara="1" vertOverflow="ellipsis" vert="horz" wrap="square" anchor="ctr" anchorCtr="1"/>
              <a:lstStyle/>
              <a:p>
                <a:pPr>
                  <a:defRPr sz="1000" b="1" i="0" u="none" strike="noStrike" kern="1200" baseline="0">
                    <a:solidFill>
                      <a:srgbClr val="142FA4"/>
                    </a:solidFill>
                    <a:latin typeface="Poppins SemiBold" pitchFamily="2" charset="0"/>
                    <a:ea typeface="+mn-ea"/>
                    <a:cs typeface="Poppins SemiBold" pitchFamily="2" charset="0"/>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Sheet1!$A$7:$A$43</c:f>
              <c:strCache>
                <c:ptCount val="37"/>
                <c:pt idx="0">
                  <c:v>2023/6</c:v>
                </c:pt>
                <c:pt idx="1">
                  <c:v>2023/7</c:v>
                </c:pt>
                <c:pt idx="2">
                  <c:v>2023/8</c:v>
                </c:pt>
                <c:pt idx="3">
                  <c:v>2023/9</c:v>
                </c:pt>
                <c:pt idx="4">
                  <c:v>2023/10</c:v>
                </c:pt>
                <c:pt idx="5">
                  <c:v>2023/11</c:v>
                </c:pt>
                <c:pt idx="6">
                  <c:v>2023/12</c:v>
                </c:pt>
                <c:pt idx="7">
                  <c:v>2024/1</c:v>
                </c:pt>
                <c:pt idx="8">
                  <c:v>2024/2</c:v>
                </c:pt>
                <c:pt idx="9">
                  <c:v>2024/3</c:v>
                </c:pt>
                <c:pt idx="10">
                  <c:v>2024/4</c:v>
                </c:pt>
                <c:pt idx="11">
                  <c:v>2024/5</c:v>
                </c:pt>
                <c:pt idx="12">
                  <c:v>2024/6</c:v>
                </c:pt>
                <c:pt idx="13">
                  <c:v>2024/7</c:v>
                </c:pt>
                <c:pt idx="14">
                  <c:v>2024/8</c:v>
                </c:pt>
                <c:pt idx="15">
                  <c:v>2024/9</c:v>
                </c:pt>
                <c:pt idx="16">
                  <c:v>2024/10</c:v>
                </c:pt>
                <c:pt idx="17">
                  <c:v>2024/11</c:v>
                </c:pt>
                <c:pt idx="18">
                  <c:v>2024/12</c:v>
                </c:pt>
                <c:pt idx="19">
                  <c:v>2025/1</c:v>
                </c:pt>
                <c:pt idx="20">
                  <c:v>2025/2</c:v>
                </c:pt>
                <c:pt idx="21">
                  <c:v>2025/3</c:v>
                </c:pt>
                <c:pt idx="22">
                  <c:v>2025/4</c:v>
                </c:pt>
                <c:pt idx="23">
                  <c:v>2025/5</c:v>
                </c:pt>
                <c:pt idx="24">
                  <c:v>2025/6</c:v>
                </c:pt>
                <c:pt idx="25">
                  <c:v>2025/7</c:v>
                </c:pt>
                <c:pt idx="26">
                  <c:v>2025/8</c:v>
                </c:pt>
                <c:pt idx="27">
                  <c:v>2025/9</c:v>
                </c:pt>
                <c:pt idx="28">
                  <c:v>2025/10</c:v>
                </c:pt>
                <c:pt idx="29">
                  <c:v>2025/11</c:v>
                </c:pt>
                <c:pt idx="30">
                  <c:v>2025/12</c:v>
                </c:pt>
                <c:pt idx="31">
                  <c:v>2026/1</c:v>
                </c:pt>
                <c:pt idx="32">
                  <c:v>2026/2</c:v>
                </c:pt>
                <c:pt idx="33">
                  <c:v>2026/3</c:v>
                </c:pt>
                <c:pt idx="34">
                  <c:v>2026/4</c:v>
                </c:pt>
                <c:pt idx="35">
                  <c:v>2026/5</c:v>
                </c:pt>
                <c:pt idx="36">
                  <c:v>2026/6</c:v>
                </c:pt>
              </c:strCache>
            </c:strRef>
          </c:cat>
          <c:val>
            <c:numRef>
              <c:f>Sheet1!$B$7:$B$43</c:f>
              <c:numCache>
                <c:formatCode>General</c:formatCode>
                <c:ptCount val="37"/>
                <c:pt idx="0">
                  <c:v>210</c:v>
                </c:pt>
                <c:pt idx="1">
                  <c:v>216</c:v>
                </c:pt>
                <c:pt idx="2">
                  <c:v>221</c:v>
                </c:pt>
                <c:pt idx="3">
                  <c:v>223</c:v>
                </c:pt>
                <c:pt idx="4">
                  <c:v>231</c:v>
                </c:pt>
                <c:pt idx="5">
                  <c:v>238</c:v>
                </c:pt>
                <c:pt idx="6">
                  <c:v>240</c:v>
                </c:pt>
                <c:pt idx="7">
                  <c:v>243</c:v>
                </c:pt>
                <c:pt idx="8">
                  <c:v>246</c:v>
                </c:pt>
                <c:pt idx="9">
                  <c:v>251</c:v>
                </c:pt>
                <c:pt idx="10">
                  <c:v>260</c:v>
                </c:pt>
                <c:pt idx="11">
                  <c:v>260</c:v>
                </c:pt>
                <c:pt idx="12">
                  <c:v>259</c:v>
                </c:pt>
                <c:pt idx="13">
                  <c:v>259</c:v>
                </c:pt>
                <c:pt idx="14">
                  <c:v>256</c:v>
                </c:pt>
                <c:pt idx="15">
                  <c:v>253</c:v>
                </c:pt>
                <c:pt idx="16">
                  <c:v>245</c:v>
                </c:pt>
                <c:pt idx="17">
                  <c:v>243</c:v>
                </c:pt>
                <c:pt idx="18">
                  <c:v>240</c:v>
                </c:pt>
                <c:pt idx="19">
                  <c:v>242</c:v>
                </c:pt>
                <c:pt idx="20">
                  <c:v>239</c:v>
                </c:pt>
                <c:pt idx="21">
                  <c:v>241</c:v>
                </c:pt>
                <c:pt idx="22">
                  <c:v>239</c:v>
                </c:pt>
                <c:pt idx="23">
                  <c:v>238</c:v>
                </c:pt>
                <c:pt idx="24">
                  <c:v>244</c:v>
                </c:pt>
                <c:pt idx="25">
                  <c:v>248</c:v>
                </c:pt>
                <c:pt idx="26">
                  <c:v>248</c:v>
                </c:pt>
                <c:pt idx="27">
                  <c:v>255</c:v>
                </c:pt>
                <c:pt idx="28">
                  <c:v>252</c:v>
                </c:pt>
                <c:pt idx="29">
                  <c:v>255</c:v>
                </c:pt>
                <c:pt idx="30">
                  <c:v>254</c:v>
                </c:pt>
                <c:pt idx="31">
                  <c:v>260</c:v>
                </c:pt>
                <c:pt idx="32">
                  <c:v>260</c:v>
                </c:pt>
                <c:pt idx="33">
                  <c:v>262</c:v>
                </c:pt>
                <c:pt idx="34">
                  <c:v>279</c:v>
                </c:pt>
                <c:pt idx="35">
                  <c:v>274</c:v>
                </c:pt>
                <c:pt idx="36">
                  <c:v>273</c:v>
                </c:pt>
              </c:numCache>
            </c:numRef>
          </c:val>
          <c:extLst>
            <c:ext xmlns:c16="http://schemas.microsoft.com/office/drawing/2014/chart" uri="{C3380CC4-5D6E-409C-BE32-E72D297353CC}">
              <c16:uniqueId val="{00000021-A7FE-254E-99F0-809F1631F7D9}"/>
            </c:ext>
          </c:extLst>
        </c:ser>
        <c:dLbls>
          <c:dLblPos val="outEnd"/>
          <c:showLegendKey val="0"/>
          <c:showVal val="1"/>
          <c:showCatName val="0"/>
          <c:showSerName val="0"/>
          <c:showPercent val="0"/>
          <c:showBubbleSize val="0"/>
        </c:dLbls>
        <c:gapWidth val="100"/>
        <c:axId val="646071408"/>
        <c:axId val="646069488"/>
      </c:barChart>
      <c:catAx>
        <c:axId val="646071408"/>
        <c:scaling>
          <c:orientation val="minMax"/>
        </c:scaling>
        <c:delete val="0"/>
        <c:axPos val="b"/>
        <c:numFmt formatCode="General" sourceLinked="0"/>
        <c:majorTickMark val="none"/>
        <c:minorTickMark val="none"/>
        <c:tickLblPos val="nextTo"/>
        <c:spPr>
          <a:noFill/>
          <a:ln w="9525" cap="flat" cmpd="sng" algn="ctr">
            <a:solidFill>
              <a:srgbClr val="142FA4"/>
            </a:solidFill>
            <a:round/>
          </a:ln>
          <a:effectLst/>
        </c:spPr>
        <c:txPr>
          <a:bodyPr rot="-5400000" spcFirstLastPara="1" vertOverflow="ellipsis"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646069488"/>
        <c:crosses val="autoZero"/>
        <c:auto val="1"/>
        <c:lblAlgn val="ctr"/>
        <c:lblOffset val="100"/>
        <c:tickLblSkip val="3"/>
        <c:tickMarkSkip val="3"/>
        <c:noMultiLvlLbl val="0"/>
      </c:catAx>
      <c:valAx>
        <c:axId val="646069488"/>
        <c:scaling>
          <c:orientation val="minMax"/>
          <c:max val="300"/>
          <c:min val="0"/>
        </c:scaling>
        <c:delete val="0"/>
        <c:axPos val="l"/>
        <c:numFmt formatCode="General" sourceLinked="1"/>
        <c:majorTickMark val="out"/>
        <c:minorTickMark val="none"/>
        <c:tickLblPos val="high"/>
        <c:spPr>
          <a:noFill/>
          <a:ln>
            <a:noFill/>
          </a:ln>
          <a:effectLst/>
        </c:spPr>
        <c:txPr>
          <a:bodyPr rot="-60000000" spcFirstLastPara="1" vertOverflow="ellipsis" vert="horz" wrap="square" anchor="ctr" anchorCtr="1"/>
          <a:lstStyle/>
          <a:p>
            <a:pPr>
              <a:defRPr sz="800" b="0" i="0" u="none" strike="noStrike" kern="1200" baseline="0">
                <a:noFill/>
                <a:latin typeface="Poppins" pitchFamily="2" charset="0"/>
                <a:ea typeface="+mn-ea"/>
                <a:cs typeface="Poppins" pitchFamily="2" charset="0"/>
              </a:defRPr>
            </a:pPr>
            <a:endParaRPr lang="ja-JP"/>
          </a:p>
        </c:txPr>
        <c:crossAx val="646071408"/>
        <c:crosses val="autoZero"/>
        <c:crossBetween val="between"/>
        <c:maj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rgbClr val="142FA4"/>
          </a:solidFill>
          <a:latin typeface="Poppins" pitchFamily="2" charset="0"/>
          <a:cs typeface="Poppins" pitchFamily="2" charset="0"/>
        </a:defRPr>
      </a:pPr>
      <a:endParaRPr lang="ja-JP"/>
    </a:p>
  </c:txPr>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MAU</c:v>
                </c:pt>
              </c:strCache>
            </c:strRef>
          </c:tx>
          <c:spPr>
            <a:solidFill>
              <a:srgbClr val="A1DEFF"/>
            </a:solidFill>
            <a:ln>
              <a:noFill/>
            </a:ln>
            <a:effectLst/>
          </c:spPr>
          <c:cat>
            <c:strRef>
              <c:f>Sheet1!$A$2:$A$34</c:f>
              <c:strCache>
                <c:ptCount val="33"/>
                <c:pt idx="0">
                  <c:v>2018/5</c:v>
                </c:pt>
                <c:pt idx="1">
                  <c:v>2018/6</c:v>
                </c:pt>
                <c:pt idx="2">
                  <c:v>2018/8</c:v>
                </c:pt>
                <c:pt idx="3">
                  <c:v>2018/9</c:v>
                </c:pt>
                <c:pt idx="4">
                  <c:v>2018/12</c:v>
                </c:pt>
                <c:pt idx="5">
                  <c:v>2019/3</c:v>
                </c:pt>
                <c:pt idx="6">
                  <c:v>2019/6</c:v>
                </c:pt>
                <c:pt idx="7">
                  <c:v>2019/9</c:v>
                </c:pt>
                <c:pt idx="8">
                  <c:v>2019/12</c:v>
                </c:pt>
                <c:pt idx="9">
                  <c:v>2020/3</c:v>
                </c:pt>
                <c:pt idx="10">
                  <c:v>2020/6</c:v>
                </c:pt>
                <c:pt idx="11">
                  <c:v>2020/9</c:v>
                </c:pt>
                <c:pt idx="12">
                  <c:v>2020/12</c:v>
                </c:pt>
                <c:pt idx="13">
                  <c:v>2021/3</c:v>
                </c:pt>
                <c:pt idx="14">
                  <c:v>2021/6</c:v>
                </c:pt>
                <c:pt idx="15">
                  <c:v>2021/9</c:v>
                </c:pt>
                <c:pt idx="16">
                  <c:v>2021/12</c:v>
                </c:pt>
                <c:pt idx="17">
                  <c:v>2022/3</c:v>
                </c:pt>
                <c:pt idx="18">
                  <c:v>2022/6</c:v>
                </c:pt>
                <c:pt idx="19">
                  <c:v>2022/9</c:v>
                </c:pt>
                <c:pt idx="20">
                  <c:v>2022/12</c:v>
                </c:pt>
                <c:pt idx="21">
                  <c:v>2023/3</c:v>
                </c:pt>
                <c:pt idx="22">
                  <c:v>2023/6</c:v>
                </c:pt>
                <c:pt idx="23">
                  <c:v>2023/9</c:v>
                </c:pt>
                <c:pt idx="24">
                  <c:v>2023/12</c:v>
                </c:pt>
                <c:pt idx="25">
                  <c:v>2024/3</c:v>
                </c:pt>
                <c:pt idx="26">
                  <c:v>2024/6</c:v>
                </c:pt>
                <c:pt idx="27">
                  <c:v>2024/9</c:v>
                </c:pt>
                <c:pt idx="28">
                  <c:v>2024/12</c:v>
                </c:pt>
                <c:pt idx="29">
                  <c:v>2025/3</c:v>
                </c:pt>
                <c:pt idx="30">
                  <c:v>2025/6</c:v>
                </c:pt>
                <c:pt idx="31">
                  <c:v>2025/9</c:v>
                </c:pt>
                <c:pt idx="32">
                  <c:v>2025/12</c:v>
                </c:pt>
              </c:strCache>
            </c:strRef>
          </c:cat>
          <c:val>
            <c:numRef>
              <c:f>Sheet1!$B$2:$B$34</c:f>
              <c:numCache>
                <c:formatCode>#,##0_);[Red]\(#,##0\)</c:formatCode>
                <c:ptCount val="33"/>
                <c:pt idx="0">
                  <c:v>1119900.2499999979</c:v>
                </c:pt>
                <c:pt idx="1">
                  <c:v>2815595.9333333233</c:v>
                </c:pt>
                <c:pt idx="2">
                  <c:v>4088160.2903225743</c:v>
                </c:pt>
                <c:pt idx="3">
                  <c:v>4364062.0666666534</c:v>
                </c:pt>
                <c:pt idx="4">
                  <c:v>5317415.8064516</c:v>
                </c:pt>
                <c:pt idx="5">
                  <c:v>6816271.0967741832</c:v>
                </c:pt>
                <c:pt idx="6">
                  <c:v>7942350.9333333224</c:v>
                </c:pt>
                <c:pt idx="7">
                  <c:v>12470578.6</c:v>
                </c:pt>
                <c:pt idx="8">
                  <c:v>10472014.193548379</c:v>
                </c:pt>
                <c:pt idx="9">
                  <c:v>13728386.8064516</c:v>
                </c:pt>
                <c:pt idx="10">
                  <c:v>20048201.166666597</c:v>
                </c:pt>
                <c:pt idx="11">
                  <c:v>22117604.866666626</c:v>
                </c:pt>
                <c:pt idx="12">
                  <c:v>27039360.129032187</c:v>
                </c:pt>
                <c:pt idx="13">
                  <c:v>33069409.999999918</c:v>
                </c:pt>
                <c:pt idx="14">
                  <c:v>33962146.999999993</c:v>
                </c:pt>
                <c:pt idx="15">
                  <c:v>34157630.166666627</c:v>
                </c:pt>
                <c:pt idx="16">
                  <c:v>38316058.354838602</c:v>
                </c:pt>
                <c:pt idx="17">
                  <c:v>40039029.419354811</c:v>
                </c:pt>
                <c:pt idx="18">
                  <c:v>37991672.999999993</c:v>
                </c:pt>
                <c:pt idx="19">
                  <c:v>36844401.999999896</c:v>
                </c:pt>
                <c:pt idx="20">
                  <c:v>40942889.999999896</c:v>
                </c:pt>
                <c:pt idx="21">
                  <c:v>37597162.999999896</c:v>
                </c:pt>
                <c:pt idx="22">
                  <c:v>36559872.999999791</c:v>
                </c:pt>
                <c:pt idx="23">
                  <c:v>38344538.999999799</c:v>
                </c:pt>
                <c:pt idx="24">
                  <c:v>37721495.999999896</c:v>
                </c:pt>
                <c:pt idx="25">
                  <c:v>38639522.999999896</c:v>
                </c:pt>
                <c:pt idx="26">
                  <c:v>38843370.999999896</c:v>
                </c:pt>
                <c:pt idx="27">
                  <c:v>37946996.999999799</c:v>
                </c:pt>
                <c:pt idx="28">
                  <c:v>40279504.999999896</c:v>
                </c:pt>
                <c:pt idx="29">
                  <c:v>40577312.999999799</c:v>
                </c:pt>
                <c:pt idx="30">
                  <c:v>41045421</c:v>
                </c:pt>
                <c:pt idx="31">
                  <c:v>38062499</c:v>
                </c:pt>
                <c:pt idx="32">
                  <c:v>40070081.999999896</c:v>
                </c:pt>
              </c:numCache>
            </c:numRef>
          </c:val>
          <c:extLst>
            <c:ext xmlns:c16="http://schemas.microsoft.com/office/drawing/2014/chart" uri="{C3380CC4-5D6E-409C-BE32-E72D297353CC}">
              <c16:uniqueId val="{00000000-0B24-004A-9167-778726D6BED2}"/>
            </c:ext>
          </c:extLst>
        </c:ser>
        <c:dLbls>
          <c:showLegendKey val="0"/>
          <c:showVal val="0"/>
          <c:showCatName val="0"/>
          <c:showSerName val="0"/>
          <c:showPercent val="0"/>
          <c:showBubbleSize val="0"/>
        </c:dLbls>
        <c:axId val="2085077759"/>
        <c:axId val="2085075839"/>
      </c:areaChart>
      <c:lineChart>
        <c:grouping val="standard"/>
        <c:varyColors val="0"/>
        <c:ser>
          <c:idx val="1"/>
          <c:order val="1"/>
          <c:tx>
            <c:strRef>
              <c:f>Sheet1!$C$1</c:f>
              <c:strCache>
                <c:ptCount val="1"/>
                <c:pt idx="0">
                  <c:v>サブスク契約数(右軸)</c:v>
                </c:pt>
              </c:strCache>
            </c:strRef>
          </c:tx>
          <c:spPr>
            <a:ln w="22225" cap="rnd">
              <a:solidFill>
                <a:srgbClr val="142FA3"/>
              </a:solidFill>
              <a:round/>
            </a:ln>
            <a:effectLst/>
          </c:spPr>
          <c:marker>
            <c:symbol val="none"/>
          </c:marker>
          <c:dPt>
            <c:idx val="32"/>
            <c:marker>
              <c:symbol val="circle"/>
              <c:size val="7"/>
              <c:spPr>
                <a:solidFill>
                  <a:srgbClr val="142FA3"/>
                </a:solidFill>
                <a:ln w="9525">
                  <a:noFill/>
                </a:ln>
                <a:effectLst/>
              </c:spPr>
            </c:marker>
            <c:bubble3D val="0"/>
            <c:spPr>
              <a:ln w="22225" cap="rnd">
                <a:solidFill>
                  <a:srgbClr val="142FA3">
                    <a:alpha val="97000"/>
                  </a:srgbClr>
                </a:solidFill>
                <a:round/>
              </a:ln>
              <a:effectLst/>
            </c:spPr>
            <c:extLst>
              <c:ext xmlns:c16="http://schemas.microsoft.com/office/drawing/2014/chart" uri="{C3380CC4-5D6E-409C-BE32-E72D297353CC}">
                <c16:uniqueId val="{00000001-4924-894D-AB63-4157A87F1EB8}"/>
              </c:ext>
            </c:extLst>
          </c:dPt>
          <c:cat>
            <c:strRef>
              <c:f>Sheet1!$A$2:$A$34</c:f>
              <c:strCache>
                <c:ptCount val="33"/>
                <c:pt idx="0">
                  <c:v>2018/5</c:v>
                </c:pt>
                <c:pt idx="1">
                  <c:v>2018/6</c:v>
                </c:pt>
                <c:pt idx="2">
                  <c:v>2018/8</c:v>
                </c:pt>
                <c:pt idx="3">
                  <c:v>2018/9</c:v>
                </c:pt>
                <c:pt idx="4">
                  <c:v>2018/12</c:v>
                </c:pt>
                <c:pt idx="5">
                  <c:v>2019/3</c:v>
                </c:pt>
                <c:pt idx="6">
                  <c:v>2019/6</c:v>
                </c:pt>
                <c:pt idx="7">
                  <c:v>2019/9</c:v>
                </c:pt>
                <c:pt idx="8">
                  <c:v>2019/12</c:v>
                </c:pt>
                <c:pt idx="9">
                  <c:v>2020/3</c:v>
                </c:pt>
                <c:pt idx="10">
                  <c:v>2020/6</c:v>
                </c:pt>
                <c:pt idx="11">
                  <c:v>2020/9</c:v>
                </c:pt>
                <c:pt idx="12">
                  <c:v>2020/12</c:v>
                </c:pt>
                <c:pt idx="13">
                  <c:v>2021/3</c:v>
                </c:pt>
                <c:pt idx="14">
                  <c:v>2021/6</c:v>
                </c:pt>
                <c:pt idx="15">
                  <c:v>2021/9</c:v>
                </c:pt>
                <c:pt idx="16">
                  <c:v>2021/12</c:v>
                </c:pt>
                <c:pt idx="17">
                  <c:v>2022/3</c:v>
                </c:pt>
                <c:pt idx="18">
                  <c:v>2022/6</c:v>
                </c:pt>
                <c:pt idx="19">
                  <c:v>2022/9</c:v>
                </c:pt>
                <c:pt idx="20">
                  <c:v>2022/12</c:v>
                </c:pt>
                <c:pt idx="21">
                  <c:v>2023/3</c:v>
                </c:pt>
                <c:pt idx="22">
                  <c:v>2023/6</c:v>
                </c:pt>
                <c:pt idx="23">
                  <c:v>2023/9</c:v>
                </c:pt>
                <c:pt idx="24">
                  <c:v>2023/12</c:v>
                </c:pt>
                <c:pt idx="25">
                  <c:v>2024/3</c:v>
                </c:pt>
                <c:pt idx="26">
                  <c:v>2024/6</c:v>
                </c:pt>
                <c:pt idx="27">
                  <c:v>2024/9</c:v>
                </c:pt>
                <c:pt idx="28">
                  <c:v>2024/12</c:v>
                </c:pt>
                <c:pt idx="29">
                  <c:v>2025/3</c:v>
                </c:pt>
                <c:pt idx="30">
                  <c:v>2025/6</c:v>
                </c:pt>
                <c:pt idx="31">
                  <c:v>2025/9</c:v>
                </c:pt>
                <c:pt idx="32">
                  <c:v>2025/12</c:v>
                </c:pt>
              </c:strCache>
            </c:strRef>
          </c:cat>
          <c:val>
            <c:numRef>
              <c:f>Sheet1!$C$2:$C$34</c:f>
              <c:numCache>
                <c:formatCode>#,##0_);[Red]\(#,##0\)</c:formatCode>
                <c:ptCount val="33"/>
                <c:pt idx="0">
                  <c:v>0</c:v>
                </c:pt>
                <c:pt idx="1">
                  <c:v>0</c:v>
                </c:pt>
                <c:pt idx="2">
                  <c:v>1099</c:v>
                </c:pt>
                <c:pt idx="3">
                  <c:v>1765</c:v>
                </c:pt>
                <c:pt idx="4">
                  <c:v>3099</c:v>
                </c:pt>
                <c:pt idx="5">
                  <c:v>4343</c:v>
                </c:pt>
                <c:pt idx="6">
                  <c:v>5646</c:v>
                </c:pt>
                <c:pt idx="7">
                  <c:v>7658</c:v>
                </c:pt>
                <c:pt idx="8">
                  <c:v>11099</c:v>
                </c:pt>
                <c:pt idx="9">
                  <c:v>13968</c:v>
                </c:pt>
                <c:pt idx="10">
                  <c:v>17854</c:v>
                </c:pt>
                <c:pt idx="11">
                  <c:v>21321</c:v>
                </c:pt>
                <c:pt idx="12">
                  <c:v>24011</c:v>
                </c:pt>
                <c:pt idx="13">
                  <c:v>27828</c:v>
                </c:pt>
                <c:pt idx="14">
                  <c:v>29364</c:v>
                </c:pt>
                <c:pt idx="15">
                  <c:v>32626</c:v>
                </c:pt>
                <c:pt idx="16">
                  <c:v>36612</c:v>
                </c:pt>
                <c:pt idx="17">
                  <c:v>45101</c:v>
                </c:pt>
                <c:pt idx="18">
                  <c:v>54302</c:v>
                </c:pt>
                <c:pt idx="19">
                  <c:v>61235</c:v>
                </c:pt>
                <c:pt idx="20">
                  <c:v>66257</c:v>
                </c:pt>
                <c:pt idx="21">
                  <c:v>72509</c:v>
                </c:pt>
                <c:pt idx="22">
                  <c:v>78599</c:v>
                </c:pt>
                <c:pt idx="23">
                  <c:v>95440</c:v>
                </c:pt>
                <c:pt idx="24">
                  <c:v>119380</c:v>
                </c:pt>
                <c:pt idx="25">
                  <c:v>138739</c:v>
                </c:pt>
                <c:pt idx="26">
                  <c:v>171104</c:v>
                </c:pt>
                <c:pt idx="27">
                  <c:v>197523</c:v>
                </c:pt>
                <c:pt idx="28">
                  <c:v>232053</c:v>
                </c:pt>
                <c:pt idx="29">
                  <c:v>274083</c:v>
                </c:pt>
                <c:pt idx="30">
                  <c:v>303789</c:v>
                </c:pt>
                <c:pt idx="31">
                  <c:v>351351</c:v>
                </c:pt>
                <c:pt idx="32">
                  <c:v>397640</c:v>
                </c:pt>
              </c:numCache>
            </c:numRef>
          </c:val>
          <c:smooth val="0"/>
          <c:extLst>
            <c:ext xmlns:c16="http://schemas.microsoft.com/office/drawing/2014/chart" uri="{C3380CC4-5D6E-409C-BE32-E72D297353CC}">
              <c16:uniqueId val="{00000003-0B24-004A-9167-778726D6BED2}"/>
            </c:ext>
          </c:extLst>
        </c:ser>
        <c:dLbls>
          <c:showLegendKey val="0"/>
          <c:showVal val="0"/>
          <c:showCatName val="0"/>
          <c:showSerName val="0"/>
          <c:showPercent val="0"/>
          <c:showBubbleSize val="0"/>
        </c:dLbls>
        <c:marker val="1"/>
        <c:smooth val="0"/>
        <c:axId val="2085079679"/>
        <c:axId val="2085063359"/>
      </c:lineChart>
      <c:catAx>
        <c:axId val="2085077759"/>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sz="500" b="0" i="0" u="none" strike="noStrike" kern="1200" baseline="0">
                <a:solidFill>
                  <a:schemeClr val="bg1"/>
                </a:solidFill>
                <a:latin typeface="+mn-lt"/>
                <a:ea typeface="+mn-ea"/>
                <a:cs typeface="+mn-cs"/>
              </a:defRPr>
            </a:pPr>
            <a:endParaRPr lang="ja-JP"/>
          </a:p>
        </c:txPr>
        <c:crossAx val="2085075839"/>
        <c:crossesAt val="0"/>
        <c:auto val="1"/>
        <c:lblAlgn val="ctr"/>
        <c:lblOffset val="100"/>
        <c:noMultiLvlLbl val="0"/>
      </c:catAx>
      <c:valAx>
        <c:axId val="2085075839"/>
        <c:scaling>
          <c:orientation val="minMax"/>
          <c:max val="50000000"/>
        </c:scaling>
        <c:delete val="0"/>
        <c:axPos val="l"/>
        <c:majorGridlines>
          <c:spPr>
            <a:ln w="9525" cap="flat" cmpd="sng" algn="ctr">
              <a:noFill/>
              <a:round/>
            </a:ln>
            <a:effectLst/>
          </c:spPr>
        </c:majorGridlines>
        <c:numFmt formatCode="#,##0;&quot;△ &quot;#,##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142FA3"/>
                </a:solidFill>
                <a:latin typeface="Poppins" pitchFamily="2" charset="0"/>
                <a:ea typeface="+mn-ea"/>
                <a:cs typeface="Poppins" pitchFamily="2" charset="0"/>
              </a:defRPr>
            </a:pPr>
            <a:endParaRPr lang="ja-JP"/>
          </a:p>
        </c:txPr>
        <c:crossAx val="2085077759"/>
        <c:crosses val="autoZero"/>
        <c:crossBetween val="between"/>
        <c:majorUnit val="10000000"/>
        <c:dispUnits>
          <c:builtInUnit val="millions"/>
        </c:dispUnits>
      </c:valAx>
      <c:valAx>
        <c:axId val="2085063359"/>
        <c:scaling>
          <c:orientation val="minMax"/>
          <c:max val="400000"/>
          <c:min val="0"/>
        </c:scaling>
        <c:delete val="0"/>
        <c:axPos val="r"/>
        <c:numFmt formatCode="#,##0;&quot;△ &quot;#,##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142FA3"/>
                </a:solidFill>
                <a:latin typeface="Poppins" pitchFamily="2" charset="0"/>
                <a:ea typeface="+mn-ea"/>
                <a:cs typeface="Poppins" pitchFamily="2" charset="0"/>
              </a:defRPr>
            </a:pPr>
            <a:endParaRPr lang="ja-JP"/>
          </a:p>
        </c:txPr>
        <c:crossAx val="2085079679"/>
        <c:crosses val="max"/>
        <c:crossBetween val="between"/>
        <c:majorUnit val="80000"/>
        <c:dispUnits>
          <c:builtInUnit val="thousands"/>
        </c:dispUnits>
      </c:valAx>
      <c:catAx>
        <c:axId val="2085079679"/>
        <c:scaling>
          <c:orientation val="minMax"/>
        </c:scaling>
        <c:delete val="1"/>
        <c:axPos val="b"/>
        <c:numFmt formatCode="General" sourceLinked="1"/>
        <c:majorTickMark val="out"/>
        <c:minorTickMark val="none"/>
        <c:tickLblPos val="nextTo"/>
        <c:crossAx val="2085063359"/>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0312726159816E-2"/>
          <c:y val="0.20194653418416747"/>
          <c:w val="0.90193745476803677"/>
          <c:h val="0.56601423910812187"/>
        </c:manualLayout>
      </c:layout>
      <c:doughnutChart>
        <c:varyColors val="1"/>
        <c:ser>
          <c:idx val="0"/>
          <c:order val="0"/>
          <c:tx>
            <c:strRef>
              <c:f>Sheet1!$B$1</c:f>
              <c:strCache>
                <c:ptCount val="1"/>
                <c:pt idx="0">
                  <c:v>売上高</c:v>
                </c:pt>
              </c:strCache>
            </c:strRef>
          </c:tx>
          <c:dPt>
            <c:idx val="0"/>
            <c:bubble3D val="0"/>
            <c:spPr>
              <a:solidFill>
                <a:srgbClr val="00A7FF"/>
              </a:solidFill>
              <a:ln w="19050">
                <a:solidFill>
                  <a:schemeClr val="lt1"/>
                </a:solidFill>
              </a:ln>
              <a:effectLst/>
            </c:spPr>
            <c:extLst>
              <c:ext xmlns:c16="http://schemas.microsoft.com/office/drawing/2014/chart" uri="{C3380CC4-5D6E-409C-BE32-E72D297353CC}">
                <c16:uniqueId val="{00000001-8706-FC4C-9C61-F97BFDA5CF43}"/>
              </c:ext>
            </c:extLst>
          </c:dPt>
          <c:dPt>
            <c:idx val="1"/>
            <c:bubble3D val="0"/>
            <c:spPr>
              <a:solidFill>
                <a:srgbClr val="142FA4"/>
              </a:solidFill>
              <a:ln w="19050">
                <a:solidFill>
                  <a:schemeClr val="lt1"/>
                </a:solidFill>
              </a:ln>
              <a:effectLst/>
            </c:spPr>
            <c:extLst>
              <c:ext xmlns:c16="http://schemas.microsoft.com/office/drawing/2014/chart" uri="{C3380CC4-5D6E-409C-BE32-E72D297353CC}">
                <c16:uniqueId val="{00000003-8706-FC4C-9C61-F97BFDA5CF43}"/>
              </c:ext>
            </c:extLst>
          </c:dPt>
          <c:dPt>
            <c:idx val="2"/>
            <c:bubble3D val="0"/>
            <c:spPr>
              <a:solidFill>
                <a:srgbClr val="D44ED9"/>
              </a:solidFill>
              <a:ln w="19050">
                <a:solidFill>
                  <a:schemeClr val="lt1"/>
                </a:solidFill>
              </a:ln>
              <a:effectLst/>
            </c:spPr>
            <c:extLst>
              <c:ext xmlns:c16="http://schemas.microsoft.com/office/drawing/2014/chart" uri="{C3380CC4-5D6E-409C-BE32-E72D297353CC}">
                <c16:uniqueId val="{00000005-8706-FC4C-9C61-F97BFDA5CF43}"/>
              </c:ext>
            </c:extLst>
          </c:dPt>
          <c:cat>
            <c:strRef>
              <c:f>Sheet1!$A$2:$A$4</c:f>
              <c:strCache>
                <c:ptCount val="3"/>
                <c:pt idx="0">
                  <c:v>モバイル事業</c:v>
                </c:pt>
                <c:pt idx="1">
                  <c:v>ソリューション事業</c:v>
                </c:pt>
                <c:pt idx="2">
                  <c:v>AI歌声合成事業</c:v>
                </c:pt>
              </c:strCache>
            </c:strRef>
          </c:cat>
          <c:val>
            <c:numRef>
              <c:f>Sheet1!$B$2:$B$4</c:f>
              <c:numCache>
                <c:formatCode>0.0%</c:formatCode>
                <c:ptCount val="3"/>
                <c:pt idx="0">
                  <c:v>0.56547030289667399</c:v>
                </c:pt>
                <c:pt idx="1">
                  <c:v>0.41075838887782584</c:v>
                </c:pt>
                <c:pt idx="2">
                  <c:v>2.3771308225500127E-2</c:v>
                </c:pt>
              </c:numCache>
            </c:numRef>
          </c:val>
          <c:extLst>
            <c:ext xmlns:c16="http://schemas.microsoft.com/office/drawing/2014/chart" uri="{C3380CC4-5D6E-409C-BE32-E72D297353CC}">
              <c16:uniqueId val="{00000006-8706-FC4C-9C61-F97BFDA5CF43}"/>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160800717561751E-2"/>
          <c:y val="0"/>
          <c:w val="0.8696783985648765"/>
          <c:h val="1"/>
        </c:manualLayout>
      </c:layout>
      <c:barChart>
        <c:barDir val="bar"/>
        <c:grouping val="stacked"/>
        <c:varyColors val="0"/>
        <c:ser>
          <c:idx val="0"/>
          <c:order val="0"/>
          <c:tx>
            <c:strRef>
              <c:f>Sheet1!$B$1</c:f>
              <c:strCache>
                <c:ptCount val="1"/>
                <c:pt idx="0">
                  <c:v>系列 1</c:v>
                </c:pt>
              </c:strCache>
            </c:strRef>
          </c:tx>
          <c:spPr>
            <a:solidFill>
              <a:srgbClr val="00A6FF"/>
            </a:solidFill>
            <a:ln w="22225">
              <a:solidFill>
                <a:schemeClr val="bg1"/>
              </a:solidFill>
            </a:ln>
            <a:effectLst/>
          </c:spPr>
          <c:invertIfNegative val="0"/>
          <c:cat>
            <c:strRef>
              <c:f>Sheet1!$A$2:$A$5</c:f>
              <c:strCache>
                <c:ptCount val="1"/>
                <c:pt idx="0">
                  <c:v>カテゴリ 1</c:v>
                </c:pt>
              </c:strCache>
            </c:strRef>
          </c:cat>
          <c:val>
            <c:numRef>
              <c:f>Sheet1!$B$2:$B$5</c:f>
              <c:numCache>
                <c:formatCode>General</c:formatCode>
                <c:ptCount val="4"/>
                <c:pt idx="0" formatCode="0%">
                  <c:v>0.75900000000000001</c:v>
                </c:pt>
              </c:numCache>
            </c:numRef>
          </c:val>
          <c:extLst>
            <c:ext xmlns:c16="http://schemas.microsoft.com/office/drawing/2014/chart" uri="{C3380CC4-5D6E-409C-BE32-E72D297353CC}">
              <c16:uniqueId val="{00000000-2F4E-7F42-9560-4BA8EE0C53E4}"/>
            </c:ext>
          </c:extLst>
        </c:ser>
        <c:ser>
          <c:idx val="1"/>
          <c:order val="1"/>
          <c:tx>
            <c:strRef>
              <c:f>Sheet1!$C$1</c:f>
              <c:strCache>
                <c:ptCount val="1"/>
                <c:pt idx="0">
                  <c:v>系列 2</c:v>
                </c:pt>
              </c:strCache>
            </c:strRef>
          </c:tx>
          <c:spPr>
            <a:solidFill>
              <a:srgbClr val="28D8FF"/>
            </a:solidFill>
            <a:ln w="22225">
              <a:solidFill>
                <a:schemeClr val="bg1"/>
              </a:solidFill>
            </a:ln>
            <a:effectLst/>
          </c:spPr>
          <c:invertIfNegative val="0"/>
          <c:cat>
            <c:strRef>
              <c:f>Sheet1!$A$2:$A$5</c:f>
              <c:strCache>
                <c:ptCount val="1"/>
                <c:pt idx="0">
                  <c:v>カテゴリ 1</c:v>
                </c:pt>
              </c:strCache>
            </c:strRef>
          </c:cat>
          <c:val>
            <c:numRef>
              <c:f>Sheet1!$C$2:$C$5</c:f>
              <c:numCache>
                <c:formatCode>General</c:formatCode>
                <c:ptCount val="4"/>
                <c:pt idx="0" formatCode="0%">
                  <c:v>0.24099999999999999</c:v>
                </c:pt>
              </c:numCache>
            </c:numRef>
          </c:val>
          <c:extLst>
            <c:ext xmlns:c16="http://schemas.microsoft.com/office/drawing/2014/chart" uri="{C3380CC4-5D6E-409C-BE32-E72D297353CC}">
              <c16:uniqueId val="{00000001-2F4E-7F42-9560-4BA8EE0C53E4}"/>
            </c:ext>
          </c:extLst>
        </c:ser>
        <c:ser>
          <c:idx val="2"/>
          <c:order val="2"/>
          <c:tx>
            <c:strRef>
              <c:f>Sheet1!$D$1</c:f>
              <c:strCache>
                <c:ptCount val="1"/>
              </c:strCache>
            </c:strRef>
          </c:tx>
          <c:spPr>
            <a:solidFill>
              <a:schemeClr val="accent3"/>
            </a:solidFill>
            <a:ln>
              <a:noFill/>
            </a:ln>
            <a:effectLst/>
          </c:spPr>
          <c:invertIfNegative val="0"/>
          <c:cat>
            <c:strRef>
              <c:f>Sheet1!$A$2:$A$5</c:f>
              <c:strCache>
                <c:ptCount val="1"/>
                <c:pt idx="0">
                  <c:v>カテゴリ 1</c:v>
                </c:pt>
              </c:strCache>
            </c:strRef>
          </c:cat>
          <c:val>
            <c:numRef>
              <c:f>Sheet1!$D$2:$D$5</c:f>
              <c:numCache>
                <c:formatCode>General</c:formatCode>
                <c:ptCount val="4"/>
              </c:numCache>
            </c:numRef>
          </c:val>
          <c:extLst>
            <c:ext xmlns:c16="http://schemas.microsoft.com/office/drawing/2014/chart" uri="{C3380CC4-5D6E-409C-BE32-E72D297353CC}">
              <c16:uniqueId val="{00000002-2F4E-7F42-9560-4BA8EE0C53E4}"/>
            </c:ext>
          </c:extLst>
        </c:ser>
        <c:dLbls>
          <c:showLegendKey val="0"/>
          <c:showVal val="0"/>
          <c:showCatName val="0"/>
          <c:showSerName val="0"/>
          <c:showPercent val="0"/>
          <c:showBubbleSize val="0"/>
        </c:dLbls>
        <c:gapWidth val="0"/>
        <c:overlap val="100"/>
        <c:axId val="766085472"/>
        <c:axId val="766087184"/>
      </c:barChart>
      <c:catAx>
        <c:axId val="766085472"/>
        <c:scaling>
          <c:orientation val="minMax"/>
        </c:scaling>
        <c:delete val="1"/>
        <c:axPos val="l"/>
        <c:numFmt formatCode="General" sourceLinked="1"/>
        <c:majorTickMark val="none"/>
        <c:minorTickMark val="none"/>
        <c:tickLblPos val="nextTo"/>
        <c:crossAx val="766087184"/>
        <c:crosses val="autoZero"/>
        <c:auto val="1"/>
        <c:lblAlgn val="ctr"/>
        <c:lblOffset val="100"/>
        <c:noMultiLvlLbl val="0"/>
      </c:catAx>
      <c:valAx>
        <c:axId val="766087184"/>
        <c:scaling>
          <c:orientation val="minMax"/>
        </c:scaling>
        <c:delete val="1"/>
        <c:axPos val="b"/>
        <c:numFmt formatCode="0%" sourceLinked="1"/>
        <c:majorTickMark val="none"/>
        <c:minorTickMark val="none"/>
        <c:tickLblPos val="nextTo"/>
        <c:crossAx val="7660854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959193818132285E-2"/>
          <c:y val="0.16812169275770691"/>
          <c:w val="0.94488993961854251"/>
          <c:h val="0.76792521883177811"/>
        </c:manualLayout>
      </c:layout>
      <c:barChart>
        <c:barDir val="col"/>
        <c:grouping val="stacked"/>
        <c:varyColors val="0"/>
        <c:ser>
          <c:idx val="0"/>
          <c:order val="0"/>
          <c:tx>
            <c:strRef>
              <c:f>Sheet1!$B$1</c:f>
              <c:strCache>
                <c:ptCount val="1"/>
                <c:pt idx="0">
                  <c:v>ソリューションセグメント</c:v>
                </c:pt>
              </c:strCache>
            </c:strRef>
          </c:tx>
          <c:spPr>
            <a:solidFill>
              <a:srgbClr val="142FA4"/>
            </a:solidFill>
            <a:ln>
              <a:noFill/>
            </a:ln>
            <a:effectLst/>
          </c:spPr>
          <c:invertIfNegative val="0"/>
          <c:dPt>
            <c:idx val="21"/>
            <c:invertIfNegative val="0"/>
            <c:bubble3D val="0"/>
            <c:extLst>
              <c:ext xmlns:c16="http://schemas.microsoft.com/office/drawing/2014/chart" uri="{C3380CC4-5D6E-409C-BE32-E72D297353CC}">
                <c16:uniqueId val="{00000000-A1FA-094C-99C9-F3EC0FE10591}"/>
              </c:ext>
            </c:extLst>
          </c:dPt>
          <c:dPt>
            <c:idx val="22"/>
            <c:invertIfNegative val="0"/>
            <c:bubble3D val="0"/>
            <c:extLst>
              <c:ext xmlns:c16="http://schemas.microsoft.com/office/drawing/2014/chart" uri="{C3380CC4-5D6E-409C-BE32-E72D297353CC}">
                <c16:uniqueId val="{00000001-A1FA-094C-99C9-F3EC0FE10591}"/>
              </c:ext>
            </c:extLst>
          </c:dPt>
          <c:dPt>
            <c:idx val="25"/>
            <c:invertIfNegative val="0"/>
            <c:bubble3D val="0"/>
            <c:spPr>
              <a:solidFill>
                <a:srgbClr val="142FA4"/>
              </a:solidFill>
              <a:ln>
                <a:noFill/>
              </a:ln>
              <a:effectLst/>
            </c:spPr>
            <c:extLst>
              <c:ext xmlns:c16="http://schemas.microsoft.com/office/drawing/2014/chart" uri="{C3380CC4-5D6E-409C-BE32-E72D297353CC}">
                <c16:uniqueId val="{00000003-A1FA-094C-99C9-F3EC0FE10591}"/>
              </c:ext>
            </c:extLst>
          </c:dPt>
          <c:cat>
            <c:strRef>
              <c:f>Sheet1!$A$2:$A$29</c:f>
              <c:strCache>
                <c:ptCount val="27"/>
                <c:pt idx="0">
                  <c:v>FY00/9</c:v>
                </c:pt>
                <c:pt idx="1">
                  <c:v>FY02/9</c:v>
                </c:pt>
                <c:pt idx="2">
                  <c:v>FY03/9</c:v>
                </c:pt>
                <c:pt idx="3">
                  <c:v>FY04/9</c:v>
                </c:pt>
                <c:pt idx="4">
                  <c:v>FY05/9</c:v>
                </c:pt>
                <c:pt idx="5">
                  <c:v>FY06/9</c:v>
                </c:pt>
                <c:pt idx="6">
                  <c:v>FY07/9</c:v>
                </c:pt>
                <c:pt idx="7">
                  <c:v>FY08/9</c:v>
                </c:pt>
                <c:pt idx="8">
                  <c:v>FY09/9</c:v>
                </c:pt>
                <c:pt idx="9">
                  <c:v>FY10/9</c:v>
                </c:pt>
                <c:pt idx="10">
                  <c:v>FY11/9</c:v>
                </c:pt>
                <c:pt idx="11">
                  <c:v>FY12/9</c:v>
                </c:pt>
                <c:pt idx="12">
                  <c:v>FY13/9</c:v>
                </c:pt>
                <c:pt idx="13">
                  <c:v>FY14/9</c:v>
                </c:pt>
                <c:pt idx="14">
                  <c:v>FY15/9</c:v>
                </c:pt>
                <c:pt idx="15">
                  <c:v>FY16/9</c:v>
                </c:pt>
                <c:pt idx="16">
                  <c:v>FY17/9</c:v>
                </c:pt>
                <c:pt idx="17">
                  <c:v>FY18/9</c:v>
                </c:pt>
                <c:pt idx="18">
                  <c:v>FY19/9</c:v>
                </c:pt>
                <c:pt idx="19">
                  <c:v>FY19/12</c:v>
                </c:pt>
                <c:pt idx="20">
                  <c:v>FY20/12</c:v>
                </c:pt>
                <c:pt idx="21">
                  <c:v>FY21/12</c:v>
                </c:pt>
                <c:pt idx="22">
                  <c:v>FY22/12</c:v>
                </c:pt>
                <c:pt idx="23">
                  <c:v>FY23/12</c:v>
                </c:pt>
                <c:pt idx="24">
                  <c:v>FY24/12</c:v>
                </c:pt>
                <c:pt idx="25">
                  <c:v>FY25/12</c:v>
                </c:pt>
                <c:pt idx="26">
                  <c:v>FY26/12</c:v>
                </c:pt>
              </c:strCache>
            </c:strRef>
          </c:cat>
          <c:val>
            <c:numRef>
              <c:f>Sheet1!$B$2:$B$29</c:f>
              <c:numCache>
                <c:formatCode>#,##0</c:formatCode>
                <c:ptCount val="27"/>
                <c:pt idx="0">
                  <c:v>0</c:v>
                </c:pt>
                <c:pt idx="1">
                  <c:v>76</c:v>
                </c:pt>
                <c:pt idx="2">
                  <c:v>126</c:v>
                </c:pt>
                <c:pt idx="3">
                  <c:v>182</c:v>
                </c:pt>
                <c:pt idx="4">
                  <c:v>251</c:v>
                </c:pt>
                <c:pt idx="5">
                  <c:v>269</c:v>
                </c:pt>
                <c:pt idx="6">
                  <c:v>375</c:v>
                </c:pt>
                <c:pt idx="7">
                  <c:v>442</c:v>
                </c:pt>
                <c:pt idx="8">
                  <c:v>284</c:v>
                </c:pt>
                <c:pt idx="9">
                  <c:v>248</c:v>
                </c:pt>
                <c:pt idx="10">
                  <c:v>329</c:v>
                </c:pt>
                <c:pt idx="11">
                  <c:v>476</c:v>
                </c:pt>
                <c:pt idx="12">
                  <c:v>635</c:v>
                </c:pt>
                <c:pt idx="13">
                  <c:v>734</c:v>
                </c:pt>
                <c:pt idx="14">
                  <c:v>713</c:v>
                </c:pt>
                <c:pt idx="15">
                  <c:v>796</c:v>
                </c:pt>
                <c:pt idx="16">
                  <c:v>861</c:v>
                </c:pt>
                <c:pt idx="17">
                  <c:v>954</c:v>
                </c:pt>
                <c:pt idx="18">
                  <c:v>968</c:v>
                </c:pt>
                <c:pt idx="19">
                  <c:v>242</c:v>
                </c:pt>
                <c:pt idx="20">
                  <c:v>1018</c:v>
                </c:pt>
                <c:pt idx="21">
                  <c:v>1084</c:v>
                </c:pt>
                <c:pt idx="22">
                  <c:v>1233</c:v>
                </c:pt>
                <c:pt idx="23">
                  <c:v>1631</c:v>
                </c:pt>
                <c:pt idx="24">
                  <c:v>2014</c:v>
                </c:pt>
                <c:pt idx="25">
                  <c:v>2055</c:v>
                </c:pt>
                <c:pt idx="26">
                  <c:v>2196</c:v>
                </c:pt>
              </c:numCache>
            </c:numRef>
          </c:val>
          <c:extLst>
            <c:ext xmlns:c16="http://schemas.microsoft.com/office/drawing/2014/chart" uri="{C3380CC4-5D6E-409C-BE32-E72D297353CC}">
              <c16:uniqueId val="{00000004-A1FA-094C-99C9-F3EC0FE10591}"/>
            </c:ext>
          </c:extLst>
        </c:ser>
        <c:ser>
          <c:idx val="1"/>
          <c:order val="1"/>
          <c:tx>
            <c:strRef>
              <c:f>Sheet1!$C$1</c:f>
              <c:strCache>
                <c:ptCount val="1"/>
                <c:pt idx="0">
                  <c:v>モバイルセグメント</c:v>
                </c:pt>
              </c:strCache>
            </c:strRef>
          </c:tx>
          <c:spPr>
            <a:solidFill>
              <a:srgbClr val="00A7FF"/>
            </a:solidFill>
            <a:ln>
              <a:noFill/>
            </a:ln>
            <a:effectLst/>
          </c:spPr>
          <c:invertIfNegative val="0"/>
          <c:dPt>
            <c:idx val="22"/>
            <c:invertIfNegative val="0"/>
            <c:bubble3D val="0"/>
            <c:extLst>
              <c:ext xmlns:c16="http://schemas.microsoft.com/office/drawing/2014/chart" uri="{C3380CC4-5D6E-409C-BE32-E72D297353CC}">
                <c16:uniqueId val="{00000005-A1FA-094C-99C9-F3EC0FE10591}"/>
              </c:ext>
            </c:extLst>
          </c:dPt>
          <c:dPt>
            <c:idx val="25"/>
            <c:invertIfNegative val="0"/>
            <c:bubble3D val="0"/>
            <c:spPr>
              <a:solidFill>
                <a:srgbClr val="00A7FF"/>
              </a:solidFill>
              <a:ln>
                <a:noFill/>
              </a:ln>
              <a:effectLst/>
            </c:spPr>
            <c:extLst>
              <c:ext xmlns:c16="http://schemas.microsoft.com/office/drawing/2014/chart" uri="{C3380CC4-5D6E-409C-BE32-E72D297353CC}">
                <c16:uniqueId val="{00000007-A1FA-094C-99C9-F3EC0FE10591}"/>
              </c:ext>
            </c:extLst>
          </c:dPt>
          <c:cat>
            <c:strRef>
              <c:f>Sheet1!$A$2:$A$29</c:f>
              <c:strCache>
                <c:ptCount val="27"/>
                <c:pt idx="0">
                  <c:v>FY00/9</c:v>
                </c:pt>
                <c:pt idx="1">
                  <c:v>FY02/9</c:v>
                </c:pt>
                <c:pt idx="2">
                  <c:v>FY03/9</c:v>
                </c:pt>
                <c:pt idx="3">
                  <c:v>FY04/9</c:v>
                </c:pt>
                <c:pt idx="4">
                  <c:v>FY05/9</c:v>
                </c:pt>
                <c:pt idx="5">
                  <c:v>FY06/9</c:v>
                </c:pt>
                <c:pt idx="6">
                  <c:v>FY07/9</c:v>
                </c:pt>
                <c:pt idx="7">
                  <c:v>FY08/9</c:v>
                </c:pt>
                <c:pt idx="8">
                  <c:v>FY09/9</c:v>
                </c:pt>
                <c:pt idx="9">
                  <c:v>FY10/9</c:v>
                </c:pt>
                <c:pt idx="10">
                  <c:v>FY11/9</c:v>
                </c:pt>
                <c:pt idx="11">
                  <c:v>FY12/9</c:v>
                </c:pt>
                <c:pt idx="12">
                  <c:v>FY13/9</c:v>
                </c:pt>
                <c:pt idx="13">
                  <c:v>FY14/9</c:v>
                </c:pt>
                <c:pt idx="14">
                  <c:v>FY15/9</c:v>
                </c:pt>
                <c:pt idx="15">
                  <c:v>FY16/9</c:v>
                </c:pt>
                <c:pt idx="16">
                  <c:v>FY17/9</c:v>
                </c:pt>
                <c:pt idx="17">
                  <c:v>FY18/9</c:v>
                </c:pt>
                <c:pt idx="18">
                  <c:v>FY19/9</c:v>
                </c:pt>
                <c:pt idx="19">
                  <c:v>FY19/12</c:v>
                </c:pt>
                <c:pt idx="20">
                  <c:v>FY20/12</c:v>
                </c:pt>
                <c:pt idx="21">
                  <c:v>FY21/12</c:v>
                </c:pt>
                <c:pt idx="22">
                  <c:v>FY22/12</c:v>
                </c:pt>
                <c:pt idx="23">
                  <c:v>FY23/12</c:v>
                </c:pt>
                <c:pt idx="24">
                  <c:v>FY24/12</c:v>
                </c:pt>
                <c:pt idx="25">
                  <c:v>FY25/12</c:v>
                </c:pt>
                <c:pt idx="26">
                  <c:v>FY26/12</c:v>
                </c:pt>
              </c:strCache>
            </c:strRef>
          </c:cat>
          <c:val>
            <c:numRef>
              <c:f>Sheet1!$C$2:$C$29</c:f>
              <c:numCache>
                <c:formatCode>General</c:formatCode>
                <c:ptCount val="27"/>
                <c:pt idx="5" formatCode="#,##0">
                  <c:v>11</c:v>
                </c:pt>
                <c:pt idx="6" formatCode="#,##0">
                  <c:v>43</c:v>
                </c:pt>
                <c:pt idx="7" formatCode="#,##0">
                  <c:v>63</c:v>
                </c:pt>
                <c:pt idx="8" formatCode="#,##0">
                  <c:v>99</c:v>
                </c:pt>
                <c:pt idx="9" formatCode="#,##0">
                  <c:v>67</c:v>
                </c:pt>
                <c:pt idx="10" formatCode="#,##0">
                  <c:v>69</c:v>
                </c:pt>
                <c:pt idx="11" formatCode="#,##0">
                  <c:v>4</c:v>
                </c:pt>
                <c:pt idx="12" formatCode="#,##0">
                  <c:v>10</c:v>
                </c:pt>
                <c:pt idx="13" formatCode="#,##0">
                  <c:v>24</c:v>
                </c:pt>
                <c:pt idx="14" formatCode="#,##0">
                  <c:v>39</c:v>
                </c:pt>
                <c:pt idx="15" formatCode="#,##0">
                  <c:v>73</c:v>
                </c:pt>
                <c:pt idx="16" formatCode="#,##0">
                  <c:v>105</c:v>
                </c:pt>
                <c:pt idx="17" formatCode="#,##0">
                  <c:v>161</c:v>
                </c:pt>
                <c:pt idx="18" formatCode="#,##0">
                  <c:v>339</c:v>
                </c:pt>
                <c:pt idx="19" formatCode="#,##0">
                  <c:v>117</c:v>
                </c:pt>
                <c:pt idx="20" formatCode="#,##0">
                  <c:v>600</c:v>
                </c:pt>
                <c:pt idx="21" formatCode="#,##0">
                  <c:v>1659</c:v>
                </c:pt>
                <c:pt idx="22" formatCode="#,##0">
                  <c:v>2164</c:v>
                </c:pt>
                <c:pt idx="23" formatCode="#,##0">
                  <c:v>2455</c:v>
                </c:pt>
                <c:pt idx="24" formatCode="#,##0">
                  <c:v>2611</c:v>
                </c:pt>
                <c:pt idx="25">
                  <c:v>2830</c:v>
                </c:pt>
                <c:pt idx="26">
                  <c:v>3084</c:v>
                </c:pt>
              </c:numCache>
            </c:numRef>
          </c:val>
          <c:extLst>
            <c:ext xmlns:c16="http://schemas.microsoft.com/office/drawing/2014/chart" uri="{C3380CC4-5D6E-409C-BE32-E72D297353CC}">
              <c16:uniqueId val="{00000008-A1FA-094C-99C9-F3EC0FE10591}"/>
            </c:ext>
          </c:extLst>
        </c:ser>
        <c:ser>
          <c:idx val="2"/>
          <c:order val="2"/>
          <c:tx>
            <c:strRef>
              <c:f>Sheet1!$D$1</c:f>
              <c:strCache>
                <c:ptCount val="1"/>
                <c:pt idx="0">
                  <c:v>AI歌声合成セグメント</c:v>
                </c:pt>
              </c:strCache>
            </c:strRef>
          </c:tx>
          <c:spPr>
            <a:solidFill>
              <a:srgbClr val="D44ED9"/>
            </a:solidFill>
            <a:ln>
              <a:noFill/>
            </a:ln>
            <a:effectLst/>
          </c:spPr>
          <c:invertIfNegative val="0"/>
          <c:dPt>
            <c:idx val="22"/>
            <c:invertIfNegative val="0"/>
            <c:bubble3D val="0"/>
            <c:spPr>
              <a:solidFill>
                <a:srgbClr val="D44ED9"/>
              </a:solidFill>
              <a:ln>
                <a:noFill/>
              </a:ln>
              <a:effectLst/>
            </c:spPr>
            <c:extLst>
              <c:ext xmlns:c16="http://schemas.microsoft.com/office/drawing/2014/chart" uri="{C3380CC4-5D6E-409C-BE32-E72D297353CC}">
                <c16:uniqueId val="{0000000A-A1FA-094C-99C9-F3EC0FE10591}"/>
              </c:ext>
            </c:extLst>
          </c:dPt>
          <c:dPt>
            <c:idx val="23"/>
            <c:invertIfNegative val="0"/>
            <c:bubble3D val="0"/>
            <c:spPr>
              <a:solidFill>
                <a:srgbClr val="D44ED9"/>
              </a:solidFill>
              <a:ln>
                <a:noFill/>
              </a:ln>
              <a:effectLst/>
            </c:spPr>
            <c:extLst>
              <c:ext xmlns:c16="http://schemas.microsoft.com/office/drawing/2014/chart" uri="{C3380CC4-5D6E-409C-BE32-E72D297353CC}">
                <c16:uniqueId val="{0000000C-A1FA-094C-99C9-F3EC0FE10591}"/>
              </c:ext>
            </c:extLst>
          </c:dPt>
          <c:cat>
            <c:strRef>
              <c:f>Sheet1!$A$2:$A$29</c:f>
              <c:strCache>
                <c:ptCount val="27"/>
                <c:pt idx="0">
                  <c:v>FY00/9</c:v>
                </c:pt>
                <c:pt idx="1">
                  <c:v>FY02/9</c:v>
                </c:pt>
                <c:pt idx="2">
                  <c:v>FY03/9</c:v>
                </c:pt>
                <c:pt idx="3">
                  <c:v>FY04/9</c:v>
                </c:pt>
                <c:pt idx="4">
                  <c:v>FY05/9</c:v>
                </c:pt>
                <c:pt idx="5">
                  <c:v>FY06/9</c:v>
                </c:pt>
                <c:pt idx="6">
                  <c:v>FY07/9</c:v>
                </c:pt>
                <c:pt idx="7">
                  <c:v>FY08/9</c:v>
                </c:pt>
                <c:pt idx="8">
                  <c:v>FY09/9</c:v>
                </c:pt>
                <c:pt idx="9">
                  <c:v>FY10/9</c:v>
                </c:pt>
                <c:pt idx="10">
                  <c:v>FY11/9</c:v>
                </c:pt>
                <c:pt idx="11">
                  <c:v>FY12/9</c:v>
                </c:pt>
                <c:pt idx="12">
                  <c:v>FY13/9</c:v>
                </c:pt>
                <c:pt idx="13">
                  <c:v>FY14/9</c:v>
                </c:pt>
                <c:pt idx="14">
                  <c:v>FY15/9</c:v>
                </c:pt>
                <c:pt idx="15">
                  <c:v>FY16/9</c:v>
                </c:pt>
                <c:pt idx="16">
                  <c:v>FY17/9</c:v>
                </c:pt>
                <c:pt idx="17">
                  <c:v>FY18/9</c:v>
                </c:pt>
                <c:pt idx="18">
                  <c:v>FY19/9</c:v>
                </c:pt>
                <c:pt idx="19">
                  <c:v>FY19/12</c:v>
                </c:pt>
                <c:pt idx="20">
                  <c:v>FY20/12</c:v>
                </c:pt>
                <c:pt idx="21">
                  <c:v>FY21/12</c:v>
                </c:pt>
                <c:pt idx="22">
                  <c:v>FY22/12</c:v>
                </c:pt>
                <c:pt idx="23">
                  <c:v>FY23/12</c:v>
                </c:pt>
                <c:pt idx="24">
                  <c:v>FY24/12</c:v>
                </c:pt>
                <c:pt idx="25">
                  <c:v>FY25/12</c:v>
                </c:pt>
                <c:pt idx="26">
                  <c:v>FY26/12</c:v>
                </c:pt>
              </c:strCache>
            </c:strRef>
          </c:cat>
          <c:val>
            <c:numRef>
              <c:f>Sheet1!$D$2:$D$29</c:f>
              <c:numCache>
                <c:formatCode>General</c:formatCode>
                <c:ptCount val="27"/>
                <c:pt idx="25">
                  <c:v>118</c:v>
                </c:pt>
                <c:pt idx="26">
                  <c:v>174</c:v>
                </c:pt>
              </c:numCache>
            </c:numRef>
          </c:val>
          <c:extLst>
            <c:ext xmlns:c16="http://schemas.microsoft.com/office/drawing/2014/chart" uri="{C3380CC4-5D6E-409C-BE32-E72D297353CC}">
              <c16:uniqueId val="{0000000D-A1FA-094C-99C9-F3EC0FE10591}"/>
            </c:ext>
          </c:extLst>
        </c:ser>
        <c:dLbls>
          <c:showLegendKey val="0"/>
          <c:showVal val="0"/>
          <c:showCatName val="0"/>
          <c:showSerName val="0"/>
          <c:showPercent val="0"/>
          <c:showBubbleSize val="0"/>
        </c:dLbls>
        <c:gapWidth val="45"/>
        <c:overlap val="100"/>
        <c:axId val="2082214927"/>
        <c:axId val="2082214511"/>
      </c:barChart>
      <c:catAx>
        <c:axId val="2082214927"/>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en-US"/>
          </a:p>
        </c:txPr>
        <c:crossAx val="2082214511"/>
        <c:crosses val="autoZero"/>
        <c:auto val="1"/>
        <c:lblAlgn val="ctr"/>
        <c:lblOffset val="0"/>
        <c:tickLblSkip val="2"/>
        <c:tickMarkSkip val="2"/>
        <c:noMultiLvlLbl val="0"/>
      </c:catAx>
      <c:valAx>
        <c:axId val="2082214511"/>
        <c:scaling>
          <c:orientation val="minMax"/>
          <c:max val="6000"/>
          <c:min val="0"/>
        </c:scaling>
        <c:delete val="0"/>
        <c:axPos val="l"/>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en-US"/>
          </a:p>
        </c:txPr>
        <c:crossAx val="2082214927"/>
        <c:crosses val="autoZero"/>
        <c:crossBetween val="between"/>
        <c:majorUnit val="1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340634694028126E-2"/>
          <c:y val="0.12161978399560254"/>
          <c:w val="0.88724360400985314"/>
          <c:h val="0.53438647766760705"/>
        </c:manualLayout>
      </c:layout>
      <c:barChart>
        <c:barDir val="col"/>
        <c:grouping val="stacked"/>
        <c:varyColors val="0"/>
        <c:ser>
          <c:idx val="0"/>
          <c:order val="0"/>
          <c:tx>
            <c:strRef>
              <c:f>Sheet1!$B$1</c:f>
              <c:strCache>
                <c:ptCount val="1"/>
                <c:pt idx="0">
                  <c:v>列2</c:v>
                </c:pt>
              </c:strCache>
            </c:strRef>
          </c:tx>
          <c:spPr>
            <a:solidFill>
              <a:srgbClr val="00A7FF"/>
            </a:solidFill>
            <a:ln>
              <a:noFill/>
            </a:ln>
            <a:effectLst/>
          </c:spPr>
          <c:invertIfNegative val="0"/>
          <c:cat>
            <c:strRef>
              <c:f>Sheet1!$A$2:$A$6</c:f>
              <c:strCache>
                <c:ptCount val="5"/>
                <c:pt idx="0">
                  <c:v>2018/12</c:v>
                </c:pt>
                <c:pt idx="1">
                  <c:v>2020/12</c:v>
                </c:pt>
                <c:pt idx="2">
                  <c:v>2022/12</c:v>
                </c:pt>
                <c:pt idx="3">
                  <c:v>2024/12</c:v>
                </c:pt>
                <c:pt idx="4">
                  <c:v>2026/12</c:v>
                </c:pt>
              </c:strCache>
            </c:strRef>
          </c:cat>
          <c:val>
            <c:numRef>
              <c:f>Sheet1!$B$2:$B$6</c:f>
              <c:numCache>
                <c:formatCode>General</c:formatCode>
                <c:ptCount val="5"/>
                <c:pt idx="0">
                  <c:v>22</c:v>
                </c:pt>
                <c:pt idx="1">
                  <c:v>106</c:v>
                </c:pt>
                <c:pt idx="2">
                  <c:v>277</c:v>
                </c:pt>
                <c:pt idx="3">
                  <c:v>421</c:v>
                </c:pt>
                <c:pt idx="4">
                  <c:v>500</c:v>
                </c:pt>
              </c:numCache>
            </c:numRef>
          </c:val>
          <c:extLst>
            <c:ext xmlns:c16="http://schemas.microsoft.com/office/drawing/2014/chart" uri="{C3380CC4-5D6E-409C-BE32-E72D297353CC}">
              <c16:uniqueId val="{00000000-BFDE-164A-8DFF-0C5723CD7173}"/>
            </c:ext>
          </c:extLst>
        </c:ser>
        <c:ser>
          <c:idx val="1"/>
          <c:order val="1"/>
          <c:tx>
            <c:strRef>
              <c:f>Sheet1!$C$1</c:f>
              <c:strCache>
                <c:ptCount val="1"/>
                <c:pt idx="0">
                  <c:v>列3</c:v>
                </c:pt>
              </c:strCache>
            </c:strRef>
          </c:tx>
          <c:spPr>
            <a:solidFill>
              <a:srgbClr val="142FA4"/>
            </a:solidFill>
            <a:ln>
              <a:noFill/>
            </a:ln>
            <a:effectLst/>
          </c:spPr>
          <c:invertIfNegative val="0"/>
          <c:cat>
            <c:strRef>
              <c:f>Sheet1!$A$2:$A$6</c:f>
              <c:strCache>
                <c:ptCount val="5"/>
                <c:pt idx="0">
                  <c:v>2018/12</c:v>
                </c:pt>
                <c:pt idx="1">
                  <c:v>2020/12</c:v>
                </c:pt>
                <c:pt idx="2">
                  <c:v>2022/12</c:v>
                </c:pt>
                <c:pt idx="3">
                  <c:v>2024/12</c:v>
                </c:pt>
                <c:pt idx="4">
                  <c:v>2026/12</c:v>
                </c:pt>
              </c:strCache>
            </c:strRef>
          </c:cat>
          <c:val>
            <c:numRef>
              <c:f>Sheet1!$C$2:$C$6</c:f>
              <c:numCache>
                <c:formatCode>General</c:formatCode>
                <c:ptCount val="5"/>
                <c:pt idx="0">
                  <c:v>7</c:v>
                </c:pt>
                <c:pt idx="1">
                  <c:v>13</c:v>
                </c:pt>
                <c:pt idx="2">
                  <c:v>21</c:v>
                </c:pt>
                <c:pt idx="3">
                  <c:v>28</c:v>
                </c:pt>
                <c:pt idx="4">
                  <c:v>70</c:v>
                </c:pt>
              </c:numCache>
            </c:numRef>
          </c:val>
          <c:extLst>
            <c:ext xmlns:c16="http://schemas.microsoft.com/office/drawing/2014/chart" uri="{C3380CC4-5D6E-409C-BE32-E72D297353CC}">
              <c16:uniqueId val="{00000001-BFDE-164A-8DFF-0C5723CD7173}"/>
            </c:ext>
          </c:extLst>
        </c:ser>
        <c:dLbls>
          <c:showLegendKey val="0"/>
          <c:showVal val="0"/>
          <c:showCatName val="0"/>
          <c:showSerName val="0"/>
          <c:showPercent val="0"/>
          <c:showBubbleSize val="0"/>
        </c:dLbls>
        <c:gapWidth val="115"/>
        <c:overlap val="100"/>
        <c:axId val="1721137631"/>
        <c:axId val="1139900479"/>
      </c:barChart>
      <c:catAx>
        <c:axId val="1721137631"/>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sz="800" b="0" i="0" u="none" strike="noStrike" kern="1200" spc="0" baseline="0">
                <a:solidFill>
                  <a:srgbClr val="142FA4"/>
                </a:solidFill>
                <a:latin typeface="Poppins" pitchFamily="2" charset="0"/>
                <a:ea typeface="+mn-ea"/>
                <a:cs typeface="Poppins" pitchFamily="2" charset="0"/>
              </a:defRPr>
            </a:pPr>
            <a:endParaRPr lang="ja-JP"/>
          </a:p>
        </c:txPr>
        <c:crossAx val="1139900479"/>
        <c:crosses val="autoZero"/>
        <c:auto val="1"/>
        <c:lblAlgn val="ctr"/>
        <c:lblOffset val="0"/>
        <c:noMultiLvlLbl val="0"/>
      </c:catAx>
      <c:valAx>
        <c:axId val="1139900479"/>
        <c:scaling>
          <c:orientation val="minMax"/>
        </c:scaling>
        <c:delete val="0"/>
        <c:axPos val="l"/>
        <c:majorGridlines>
          <c:spPr>
            <a:ln w="9525" cap="flat" cmpd="sng" algn="ctr">
              <a:no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142FA4"/>
                </a:solidFill>
                <a:latin typeface="Poppins" pitchFamily="2" charset="0"/>
                <a:ea typeface="+mn-ea"/>
                <a:cs typeface="Poppins" pitchFamily="2" charset="0"/>
              </a:defRPr>
            </a:pPr>
            <a:endParaRPr lang="ja-JP"/>
          </a:p>
        </c:txPr>
        <c:crossAx val="1721137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0312726159816E-2"/>
          <c:y val="0.20194653418416747"/>
          <c:w val="0.90193745476803677"/>
          <c:h val="0.56601423910812187"/>
        </c:manualLayout>
      </c:layout>
      <c:doughnutChart>
        <c:varyColors val="1"/>
        <c:ser>
          <c:idx val="0"/>
          <c:order val="0"/>
          <c:tx>
            <c:strRef>
              <c:f>Sheet1!$B$1</c:f>
              <c:strCache>
                <c:ptCount val="1"/>
                <c:pt idx="0">
                  <c:v>シェア</c:v>
                </c:pt>
              </c:strCache>
            </c:strRef>
          </c:tx>
          <c:dPt>
            <c:idx val="0"/>
            <c:bubble3D val="0"/>
            <c:spPr>
              <a:solidFill>
                <a:srgbClr val="00A7FF"/>
              </a:solidFill>
              <a:ln w="19050">
                <a:solidFill>
                  <a:schemeClr val="lt1"/>
                </a:solidFill>
              </a:ln>
              <a:effectLst/>
            </c:spPr>
            <c:extLst>
              <c:ext xmlns:c16="http://schemas.microsoft.com/office/drawing/2014/chart" uri="{C3380CC4-5D6E-409C-BE32-E72D297353CC}">
                <c16:uniqueId val="{00000001-9A79-0047-A59F-D7D270483992}"/>
              </c:ext>
            </c:extLst>
          </c:dPt>
          <c:dPt>
            <c:idx val="1"/>
            <c:bubble3D val="0"/>
            <c:spPr>
              <a:solidFill>
                <a:srgbClr val="142FA4"/>
              </a:solidFill>
              <a:ln w="19050">
                <a:solidFill>
                  <a:schemeClr val="lt1"/>
                </a:solidFill>
              </a:ln>
              <a:effectLst/>
            </c:spPr>
            <c:extLst>
              <c:ext xmlns:c16="http://schemas.microsoft.com/office/drawing/2014/chart" uri="{C3380CC4-5D6E-409C-BE32-E72D297353CC}">
                <c16:uniqueId val="{00000003-9A79-0047-A59F-D7D270483992}"/>
              </c:ext>
            </c:extLst>
          </c:dPt>
          <c:dPt>
            <c:idx val="2"/>
            <c:bubble3D val="0"/>
            <c:spPr>
              <a:solidFill>
                <a:srgbClr val="D44ED9"/>
              </a:solidFill>
              <a:ln w="19050">
                <a:solidFill>
                  <a:schemeClr val="lt1"/>
                </a:solidFill>
              </a:ln>
              <a:effectLst/>
            </c:spPr>
            <c:extLst>
              <c:ext xmlns:c16="http://schemas.microsoft.com/office/drawing/2014/chart" uri="{C3380CC4-5D6E-409C-BE32-E72D297353CC}">
                <c16:uniqueId val="{00000005-9A79-0047-A59F-D7D27048399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A79-0047-A59F-D7D270483992}"/>
              </c:ext>
            </c:extLst>
          </c:dPt>
          <c:cat>
            <c:strRef>
              <c:f>Sheet1!$A$2:$A$5</c:f>
              <c:strCache>
                <c:ptCount val="2"/>
                <c:pt idx="0">
                  <c:v>ibisPaint</c:v>
                </c:pt>
                <c:pt idx="1">
                  <c:v>競合</c:v>
                </c:pt>
              </c:strCache>
            </c:strRef>
          </c:cat>
          <c:val>
            <c:numRef>
              <c:f>Sheet1!$B$2:$B$5</c:f>
              <c:numCache>
                <c:formatCode>0.0%</c:formatCode>
                <c:ptCount val="4"/>
                <c:pt idx="0">
                  <c:v>0.88677132060513819</c:v>
                </c:pt>
                <c:pt idx="1">
                  <c:v>0.11322867939486181</c:v>
                </c:pt>
              </c:numCache>
            </c:numRef>
          </c:val>
          <c:extLst>
            <c:ext xmlns:c16="http://schemas.microsoft.com/office/drawing/2014/chart" uri="{C3380CC4-5D6E-409C-BE32-E72D297353CC}">
              <c16:uniqueId val="{00000008-9A79-0047-A59F-D7D27048399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0312726159816E-2"/>
          <c:y val="0.20194653418416747"/>
          <c:w val="0.90193745476803677"/>
          <c:h val="0.56601423910812187"/>
        </c:manualLayout>
      </c:layout>
      <c:doughnutChart>
        <c:varyColors val="1"/>
        <c:ser>
          <c:idx val="0"/>
          <c:order val="0"/>
          <c:tx>
            <c:strRef>
              <c:f>Sheet1!$B$1</c:f>
              <c:strCache>
                <c:ptCount val="1"/>
                <c:pt idx="0">
                  <c:v>売上高</c:v>
                </c:pt>
              </c:strCache>
            </c:strRef>
          </c:tx>
          <c:dPt>
            <c:idx val="0"/>
            <c:bubble3D val="0"/>
            <c:spPr>
              <a:solidFill>
                <a:srgbClr val="00A7FF"/>
              </a:solidFill>
              <a:ln w="19050">
                <a:solidFill>
                  <a:schemeClr val="lt1"/>
                </a:solidFill>
              </a:ln>
              <a:effectLst/>
            </c:spPr>
            <c:extLst>
              <c:ext xmlns:c16="http://schemas.microsoft.com/office/drawing/2014/chart" uri="{C3380CC4-5D6E-409C-BE32-E72D297353CC}">
                <c16:uniqueId val="{00000001-9A79-0047-A59F-D7D270483992}"/>
              </c:ext>
            </c:extLst>
          </c:dPt>
          <c:dPt>
            <c:idx val="1"/>
            <c:bubble3D val="0"/>
            <c:spPr>
              <a:solidFill>
                <a:srgbClr val="142FA4"/>
              </a:solidFill>
              <a:ln w="19050">
                <a:solidFill>
                  <a:schemeClr val="lt1"/>
                </a:solidFill>
              </a:ln>
              <a:effectLst/>
            </c:spPr>
            <c:extLst>
              <c:ext xmlns:c16="http://schemas.microsoft.com/office/drawing/2014/chart" uri="{C3380CC4-5D6E-409C-BE32-E72D297353CC}">
                <c16:uniqueId val="{00000003-9A79-0047-A59F-D7D270483992}"/>
              </c:ext>
            </c:extLst>
          </c:dPt>
          <c:cat>
            <c:strRef>
              <c:f>Sheet1!$A$2:$A$3</c:f>
              <c:strCache>
                <c:ptCount val="2"/>
                <c:pt idx="0">
                  <c:v>海外</c:v>
                </c:pt>
                <c:pt idx="1">
                  <c:v>日本</c:v>
                </c:pt>
              </c:strCache>
            </c:strRef>
          </c:cat>
          <c:val>
            <c:numRef>
              <c:f>Sheet1!$B$2:$B$3</c:f>
              <c:numCache>
                <c:formatCode>General</c:formatCode>
                <c:ptCount val="2"/>
                <c:pt idx="0">
                  <c:v>36261758.999999896</c:v>
                </c:pt>
                <c:pt idx="1">
                  <c:v>3808323</c:v>
                </c:pt>
              </c:numCache>
            </c:numRef>
          </c:val>
          <c:extLst>
            <c:ext xmlns:c16="http://schemas.microsoft.com/office/drawing/2014/chart" uri="{C3380CC4-5D6E-409C-BE32-E72D297353CC}">
              <c16:uniqueId val="{00000008-9A79-0047-A59F-D7D27048399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r>
              <a:rPr lang="en-US" altLang="ja-JP" b="0" i="0" dirty="0">
                <a:solidFill>
                  <a:srgbClr val="142FA4"/>
                </a:solidFill>
                <a:latin typeface="Poppins" pitchFamily="2" charset="0"/>
                <a:cs typeface="Poppins" pitchFamily="2" charset="0"/>
              </a:rPr>
              <a:t>Sales</a:t>
            </a:r>
            <a:endParaRPr lang="ja-JP" altLang="en-US" b="0" i="0" dirty="0">
              <a:solidFill>
                <a:srgbClr val="142FA4"/>
              </a:solidFill>
              <a:latin typeface="Poppins" pitchFamily="2" charset="0"/>
              <a:cs typeface="Poppins" pitchFamily="2" charset="0"/>
            </a:endParaRPr>
          </a:p>
        </c:rich>
      </c:tx>
      <c:layout>
        <c:manualLayout>
          <c:xMode val="edge"/>
          <c:yMode val="edge"/>
          <c:x val="0.36278858459528568"/>
          <c:y val="0.28164220751635682"/>
        </c:manualLayout>
      </c:layout>
      <c:overlay val="0"/>
      <c:spPr>
        <a:noFill/>
        <a:ln>
          <a:noFill/>
        </a:ln>
        <a:effectLst/>
      </c:spPr>
      <c:txPr>
        <a:bodyPr rot="0" spcFirstLastPara="1" vertOverflow="ellipsis" vert="horz" wrap="square" anchor="ctr" anchorCtr="1"/>
        <a:lstStyle/>
        <a:p>
          <a:pPr>
            <a:defRPr lang="ja-JP"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endParaRPr lang="ja-JP" altLang="en-US"/>
        </a:p>
      </c:txPr>
    </c:title>
    <c:autoTitleDeleted val="0"/>
    <c:plotArea>
      <c:layout>
        <c:manualLayout>
          <c:layoutTarget val="inner"/>
          <c:xMode val="edge"/>
          <c:yMode val="edge"/>
          <c:x val="4.9525521861641095E-2"/>
          <c:y val="0.10578619039003662"/>
          <c:w val="0.88492033232303646"/>
          <c:h val="0.76768722149206525"/>
        </c:manualLayout>
      </c:layout>
      <c:doughnutChart>
        <c:varyColors val="1"/>
        <c:ser>
          <c:idx val="0"/>
          <c:order val="0"/>
          <c:tx>
            <c:strRef>
              <c:f>Sheet1!$B$1</c:f>
              <c:strCache>
                <c:ptCount val="1"/>
                <c:pt idx="0">
                  <c:v>売上高</c:v>
                </c:pt>
              </c:strCache>
            </c:strRef>
          </c:tx>
          <c:dPt>
            <c:idx val="0"/>
            <c:bubble3D val="0"/>
            <c:spPr>
              <a:solidFill>
                <a:srgbClr val="142FA4"/>
              </a:solidFill>
              <a:ln w="19050">
                <a:solidFill>
                  <a:schemeClr val="lt1"/>
                </a:solidFill>
              </a:ln>
              <a:effectLst/>
            </c:spPr>
            <c:extLst>
              <c:ext xmlns:c16="http://schemas.microsoft.com/office/drawing/2014/chart" uri="{C3380CC4-5D6E-409C-BE32-E72D297353CC}">
                <c16:uniqueId val="{00000001-96AB-A642-B167-68032E1D298C}"/>
              </c:ext>
            </c:extLst>
          </c:dPt>
          <c:dPt>
            <c:idx val="1"/>
            <c:bubble3D val="0"/>
            <c:spPr>
              <a:solidFill>
                <a:srgbClr val="4168E6"/>
              </a:solidFill>
              <a:ln w="19050">
                <a:solidFill>
                  <a:schemeClr val="lt1"/>
                </a:solidFill>
              </a:ln>
              <a:effectLst/>
            </c:spPr>
            <c:extLst>
              <c:ext xmlns:c16="http://schemas.microsoft.com/office/drawing/2014/chart" uri="{C3380CC4-5D6E-409C-BE32-E72D297353CC}">
                <c16:uniqueId val="{00000003-96AB-A642-B167-68032E1D298C}"/>
              </c:ext>
            </c:extLst>
          </c:dPt>
          <c:dPt>
            <c:idx val="2"/>
            <c:bubble3D val="0"/>
            <c:spPr>
              <a:solidFill>
                <a:srgbClr val="A1BFFF"/>
              </a:solidFill>
              <a:ln w="19050">
                <a:solidFill>
                  <a:schemeClr val="lt1"/>
                </a:solidFill>
              </a:ln>
              <a:effectLst/>
            </c:spPr>
            <c:extLst>
              <c:ext xmlns:c16="http://schemas.microsoft.com/office/drawing/2014/chart" uri="{C3380CC4-5D6E-409C-BE32-E72D297353CC}">
                <c16:uniqueId val="{00000005-96AB-A642-B167-68032E1D29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6AB-A642-B167-68032E1D298C}"/>
              </c:ext>
            </c:extLst>
          </c:dPt>
          <c:cat>
            <c:strRef>
              <c:f>Sheet1!$A$2:$A$5</c:f>
              <c:strCache>
                <c:ptCount val="3"/>
                <c:pt idx="0">
                  <c:v>サブスクリプション</c:v>
                </c:pt>
                <c:pt idx="1">
                  <c:v>売切型アプリ</c:v>
                </c:pt>
                <c:pt idx="2">
                  <c:v>アプリ広告</c:v>
                </c:pt>
              </c:strCache>
            </c:strRef>
          </c:cat>
          <c:val>
            <c:numRef>
              <c:f>Sheet1!$B$2:$B$5</c:f>
              <c:numCache>
                <c:formatCode>0.0%</c:formatCode>
                <c:ptCount val="4"/>
                <c:pt idx="0">
                  <c:v>0.4247259938193787</c:v>
                </c:pt>
                <c:pt idx="1">
                  <c:v>9.5569968034450156E-2</c:v>
                </c:pt>
                <c:pt idx="2">
                  <c:v>0.47685081807275043</c:v>
                </c:pt>
              </c:numCache>
            </c:numRef>
          </c:val>
          <c:extLst>
            <c:ext xmlns:c16="http://schemas.microsoft.com/office/drawing/2014/chart" uri="{C3380CC4-5D6E-409C-BE32-E72D297353CC}">
              <c16:uniqueId val="{00000008-96AB-A642-B167-68032E1D298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r>
              <a:rPr lang="en-US" altLang="ja-JP" b="0" i="0" dirty="0">
                <a:latin typeface="Poppins" pitchFamily="2" charset="0"/>
                <a:cs typeface="Poppins" pitchFamily="2" charset="0"/>
              </a:rPr>
              <a:t>Sales</a:t>
            </a:r>
            <a:endParaRPr lang="ja-JP" altLang="en-US" b="0" i="0" dirty="0">
              <a:latin typeface="Poppins" pitchFamily="2" charset="0"/>
              <a:cs typeface="Poppins" pitchFamily="2" charset="0"/>
            </a:endParaRPr>
          </a:p>
        </c:rich>
      </c:tx>
      <c:layout>
        <c:manualLayout>
          <c:xMode val="edge"/>
          <c:yMode val="edge"/>
          <c:x val="0.36278858459528568"/>
          <c:y val="0.28164220751635682"/>
        </c:manualLayout>
      </c:layout>
      <c:overlay val="0"/>
      <c:spPr>
        <a:noFill/>
        <a:ln>
          <a:noFill/>
        </a:ln>
        <a:effectLst/>
      </c:spPr>
      <c:txPr>
        <a:bodyPr rot="0" spcFirstLastPara="1" vertOverflow="ellipsis" vert="horz" wrap="square" anchor="ctr" anchorCtr="1"/>
        <a:lstStyle/>
        <a:p>
          <a:pPr>
            <a:defRPr lang="ja-JP"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endParaRPr lang="ja-JP" altLang="en-US"/>
        </a:p>
      </c:txPr>
    </c:title>
    <c:autoTitleDeleted val="0"/>
    <c:plotArea>
      <c:layout>
        <c:manualLayout>
          <c:layoutTarget val="inner"/>
          <c:xMode val="edge"/>
          <c:yMode val="edge"/>
          <c:x val="4.9525521861641095E-2"/>
          <c:y val="0.10578619039003662"/>
          <c:w val="0.88492033232303646"/>
          <c:h val="0.76768722149206525"/>
        </c:manualLayout>
      </c:layout>
      <c:doughnutChart>
        <c:varyColors val="1"/>
        <c:ser>
          <c:idx val="0"/>
          <c:order val="0"/>
          <c:tx>
            <c:strRef>
              <c:f>Sheet1!$B$1</c:f>
              <c:strCache>
                <c:ptCount val="1"/>
                <c:pt idx="0">
                  <c:v>売上高</c:v>
                </c:pt>
              </c:strCache>
            </c:strRef>
          </c:tx>
          <c:spPr>
            <a:solidFill>
              <a:srgbClr val="142FA4"/>
            </a:solidFill>
          </c:spPr>
          <c:dPt>
            <c:idx val="0"/>
            <c:bubble3D val="0"/>
            <c:spPr>
              <a:solidFill>
                <a:srgbClr val="142FA4"/>
              </a:solidFill>
              <a:ln w="19050">
                <a:solidFill>
                  <a:schemeClr val="lt1"/>
                </a:solidFill>
              </a:ln>
              <a:effectLst/>
            </c:spPr>
            <c:extLst>
              <c:ext xmlns:c16="http://schemas.microsoft.com/office/drawing/2014/chart" uri="{C3380CC4-5D6E-409C-BE32-E72D297353CC}">
                <c16:uniqueId val="{00000001-0F01-3944-9BF0-C713444C2F50}"/>
              </c:ext>
            </c:extLst>
          </c:dPt>
          <c:dPt>
            <c:idx val="1"/>
            <c:bubble3D val="0"/>
            <c:spPr>
              <a:solidFill>
                <a:srgbClr val="A1BFFF"/>
              </a:solidFill>
              <a:ln w="19050">
                <a:solidFill>
                  <a:schemeClr val="lt1"/>
                </a:solidFill>
              </a:ln>
              <a:effectLst/>
            </c:spPr>
            <c:extLst>
              <c:ext xmlns:c16="http://schemas.microsoft.com/office/drawing/2014/chart" uri="{C3380CC4-5D6E-409C-BE32-E72D297353CC}">
                <c16:uniqueId val="{00000003-0F01-3944-9BF0-C713444C2F50}"/>
              </c:ext>
            </c:extLst>
          </c:dPt>
          <c:dPt>
            <c:idx val="2"/>
            <c:bubble3D val="0"/>
            <c:spPr>
              <a:solidFill>
                <a:srgbClr val="142FA4"/>
              </a:solidFill>
              <a:ln w="19050">
                <a:solidFill>
                  <a:schemeClr val="lt1"/>
                </a:solidFill>
              </a:ln>
              <a:effectLst/>
            </c:spPr>
            <c:extLst>
              <c:ext xmlns:c16="http://schemas.microsoft.com/office/drawing/2014/chart" uri="{C3380CC4-5D6E-409C-BE32-E72D297353CC}">
                <c16:uniqueId val="{00000005-0F01-3944-9BF0-C713444C2F50}"/>
              </c:ext>
            </c:extLst>
          </c:dPt>
          <c:cat>
            <c:strRef>
              <c:f>Sheet1!$A$2:$A$4</c:f>
              <c:strCache>
                <c:ptCount val="2"/>
                <c:pt idx="0">
                  <c:v>受託開発</c:v>
                </c:pt>
                <c:pt idx="1">
                  <c:v>IT技術者派遣</c:v>
                </c:pt>
              </c:strCache>
            </c:strRef>
          </c:cat>
          <c:val>
            <c:numRef>
              <c:f>Sheet1!$B$2:$B$4</c:f>
              <c:numCache>
                <c:formatCode>General</c:formatCode>
                <c:ptCount val="3"/>
                <c:pt idx="0">
                  <c:v>26.1</c:v>
                </c:pt>
                <c:pt idx="1">
                  <c:v>73.900000000000006</c:v>
                </c:pt>
              </c:numCache>
            </c:numRef>
          </c:val>
          <c:extLst>
            <c:ext xmlns:c16="http://schemas.microsoft.com/office/drawing/2014/chart" uri="{C3380CC4-5D6E-409C-BE32-E72D297353CC}">
              <c16:uniqueId val="{00000008-0F01-3944-9BF0-C713444C2F5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350" b="0" i="0" u="none" strike="noStrike" kern="1200" spc="0" baseline="0">
                <a:solidFill>
                  <a:srgbClr val="D44ED9"/>
                </a:solidFill>
                <a:latin typeface="M PLUS 1p Medium" panose="020B0502020203020207" pitchFamily="34" charset="-128"/>
                <a:ea typeface="M PLUS 1p Medium" panose="020B0502020203020207" pitchFamily="34" charset="-128"/>
                <a:cs typeface="M PLUS 1p Medium" panose="020B0502020203020207" pitchFamily="34" charset="-128"/>
              </a:defRPr>
            </a:pPr>
            <a:r>
              <a:rPr lang="en-US" altLang="ja-JP" b="0" i="0" dirty="0">
                <a:latin typeface="Poppins" pitchFamily="2" charset="0"/>
                <a:cs typeface="Poppins" pitchFamily="2" charset="0"/>
              </a:rPr>
              <a:t>Sales</a:t>
            </a:r>
            <a:endParaRPr lang="ja-JP" altLang="en-US" b="0" i="0" dirty="0">
              <a:latin typeface="Poppins" pitchFamily="2" charset="0"/>
              <a:cs typeface="Poppins" pitchFamily="2" charset="0"/>
            </a:endParaRPr>
          </a:p>
        </c:rich>
      </c:tx>
      <c:layout>
        <c:manualLayout>
          <c:xMode val="edge"/>
          <c:yMode val="edge"/>
          <c:x val="0.36278858459528562"/>
          <c:y val="0.27658114399164085"/>
        </c:manualLayout>
      </c:layout>
      <c:overlay val="0"/>
      <c:spPr>
        <a:noFill/>
        <a:ln>
          <a:noFill/>
        </a:ln>
        <a:effectLst/>
      </c:spPr>
      <c:txPr>
        <a:bodyPr rot="0" spcFirstLastPara="1" vertOverflow="ellipsis" vert="horz" wrap="square" anchor="ctr" anchorCtr="1"/>
        <a:lstStyle/>
        <a:p>
          <a:pPr>
            <a:defRPr lang="ja-JP" sz="1350" b="0" i="0" u="none" strike="noStrike" kern="1200" spc="0" baseline="0">
              <a:solidFill>
                <a:srgbClr val="D44ED9"/>
              </a:solidFill>
              <a:latin typeface="M PLUS 1p Medium" panose="020B0502020203020207" pitchFamily="34" charset="-128"/>
              <a:ea typeface="M PLUS 1p Medium" panose="020B0502020203020207" pitchFamily="34" charset="-128"/>
              <a:cs typeface="M PLUS 1p Medium" panose="020B0502020203020207" pitchFamily="34" charset="-128"/>
            </a:defRPr>
          </a:pPr>
          <a:endParaRPr lang="ja-JP" altLang="en-US"/>
        </a:p>
      </c:txPr>
    </c:title>
    <c:autoTitleDeleted val="0"/>
    <c:plotArea>
      <c:layout>
        <c:manualLayout>
          <c:layoutTarget val="inner"/>
          <c:xMode val="edge"/>
          <c:yMode val="edge"/>
          <c:x val="4.9525521861641095E-2"/>
          <c:y val="0.10578619039003662"/>
          <c:w val="0.88492033232303646"/>
          <c:h val="0.76768722149206525"/>
        </c:manualLayout>
      </c:layout>
      <c:doughnutChart>
        <c:varyColors val="1"/>
        <c:ser>
          <c:idx val="0"/>
          <c:order val="0"/>
          <c:tx>
            <c:strRef>
              <c:f>Sheet1!$B$1</c:f>
              <c:strCache>
                <c:ptCount val="1"/>
                <c:pt idx="0">
                  <c:v>売上高</c:v>
                </c:pt>
              </c:strCache>
            </c:strRef>
          </c:tx>
          <c:spPr>
            <a:solidFill>
              <a:srgbClr val="D44ED9"/>
            </a:solidFill>
          </c:spPr>
          <c:dPt>
            <c:idx val="0"/>
            <c:bubble3D val="0"/>
            <c:spPr>
              <a:solidFill>
                <a:srgbClr val="D44ED9"/>
              </a:solidFill>
              <a:ln w="19050">
                <a:solidFill>
                  <a:schemeClr val="lt1"/>
                </a:solidFill>
              </a:ln>
              <a:effectLst/>
            </c:spPr>
            <c:extLst>
              <c:ext xmlns:c16="http://schemas.microsoft.com/office/drawing/2014/chart" uri="{C3380CC4-5D6E-409C-BE32-E72D297353CC}">
                <c16:uniqueId val="{00000001-0F01-3944-9BF0-C713444C2F50}"/>
              </c:ext>
            </c:extLst>
          </c:dPt>
          <c:dPt>
            <c:idx val="1"/>
            <c:bubble3D val="0"/>
            <c:spPr>
              <a:solidFill>
                <a:srgbClr val="FDA6FF"/>
              </a:solidFill>
              <a:ln w="19050">
                <a:solidFill>
                  <a:schemeClr val="lt1"/>
                </a:solidFill>
              </a:ln>
              <a:effectLst/>
            </c:spPr>
            <c:extLst>
              <c:ext xmlns:c16="http://schemas.microsoft.com/office/drawing/2014/chart" uri="{C3380CC4-5D6E-409C-BE32-E72D297353CC}">
                <c16:uniqueId val="{00000003-0F01-3944-9BF0-C713444C2F50}"/>
              </c:ext>
            </c:extLst>
          </c:dPt>
          <c:cat>
            <c:strRef>
              <c:f>Sheet1!$A$2:$A$3</c:f>
              <c:strCache>
                <c:ptCount val="2"/>
                <c:pt idx="0">
                  <c:v>VoiSona</c:v>
                </c:pt>
                <c:pt idx="1">
                  <c:v>受託開発</c:v>
                </c:pt>
              </c:strCache>
            </c:strRef>
          </c:cat>
          <c:val>
            <c:numRef>
              <c:f>Sheet1!$B$2:$B$3</c:f>
              <c:numCache>
                <c:formatCode>0.0%</c:formatCode>
                <c:ptCount val="2"/>
                <c:pt idx="0">
                  <c:v>0.78111740988907019</c:v>
                </c:pt>
                <c:pt idx="1">
                  <c:v>0.21888259011092981</c:v>
                </c:pt>
              </c:numCache>
            </c:numRef>
          </c:val>
          <c:extLst>
            <c:ext xmlns:c16="http://schemas.microsoft.com/office/drawing/2014/chart" uri="{C3380CC4-5D6E-409C-BE32-E72D297353CC}">
              <c16:uniqueId val="{00000008-0F01-3944-9BF0-C713444C2F5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218611473536637E-2"/>
          <c:y val="6.9937760446079855E-2"/>
          <c:w val="0.92403887795275585"/>
          <c:h val="0.7781602112036482"/>
        </c:manualLayout>
      </c:layout>
      <c:areaChart>
        <c:grouping val="stacked"/>
        <c:varyColors val="0"/>
        <c:ser>
          <c:idx val="0"/>
          <c:order val="0"/>
          <c:tx>
            <c:strRef>
              <c:f>Sheet1!$B$1</c:f>
              <c:strCache>
                <c:ptCount val="1"/>
                <c:pt idx="0">
                  <c:v>ソリューションセグメント</c:v>
                </c:pt>
              </c:strCache>
            </c:strRef>
          </c:tx>
          <c:spPr>
            <a:solidFill>
              <a:srgbClr val="142FA4"/>
            </a:solidFill>
            <a:ln>
              <a:noFill/>
            </a:ln>
            <a:effectLst/>
          </c:spPr>
          <c:cat>
            <c:strRef>
              <c:f>Sheet1!$A$2:$A$38</c:f>
              <c:strCache>
                <c:ptCount val="36"/>
                <c:pt idx="0">
                  <c:v>FY2000/9</c:v>
                </c:pt>
                <c:pt idx="1">
                  <c:v>FY2001/9</c:v>
                </c:pt>
                <c:pt idx="2">
                  <c:v>FY2002/9</c:v>
                </c:pt>
                <c:pt idx="3">
                  <c:v>FY2003/9</c:v>
                </c:pt>
                <c:pt idx="4">
                  <c:v>FY2004/9</c:v>
                </c:pt>
                <c:pt idx="5">
                  <c:v>FY2005/9</c:v>
                </c:pt>
                <c:pt idx="6">
                  <c:v>FY2006/9</c:v>
                </c:pt>
                <c:pt idx="7">
                  <c:v>FY2007/9</c:v>
                </c:pt>
                <c:pt idx="8">
                  <c:v>FY2008/9</c:v>
                </c:pt>
                <c:pt idx="9">
                  <c:v>FY2009/9</c:v>
                </c:pt>
                <c:pt idx="10">
                  <c:v>FY2010/9</c:v>
                </c:pt>
                <c:pt idx="11">
                  <c:v>FY2011/9</c:v>
                </c:pt>
                <c:pt idx="12">
                  <c:v>FY2012/9</c:v>
                </c:pt>
                <c:pt idx="13">
                  <c:v>FY2013/9</c:v>
                </c:pt>
                <c:pt idx="14">
                  <c:v>FY2014/9</c:v>
                </c:pt>
                <c:pt idx="15">
                  <c:v>FY2015/9</c:v>
                </c:pt>
                <c:pt idx="16">
                  <c:v>FY2016/9</c:v>
                </c:pt>
                <c:pt idx="17">
                  <c:v>FY2017/9</c:v>
                </c:pt>
                <c:pt idx="18">
                  <c:v>FY2018/9</c:v>
                </c:pt>
                <c:pt idx="19">
                  <c:v>FY2019/12</c:v>
                </c:pt>
                <c:pt idx="20">
                  <c:v>FY2020/12</c:v>
                </c:pt>
                <c:pt idx="21">
                  <c:v>FY2021/12</c:v>
                </c:pt>
                <c:pt idx="22">
                  <c:v>FY2022/12</c:v>
                </c:pt>
                <c:pt idx="23">
                  <c:v>FY2023/12</c:v>
                </c:pt>
                <c:pt idx="24">
                  <c:v>FY2024/12</c:v>
                </c:pt>
                <c:pt idx="25">
                  <c:v>FY2025/12</c:v>
                </c:pt>
                <c:pt idx="26">
                  <c:v>FY2026/12</c:v>
                </c:pt>
                <c:pt idx="27">
                  <c:v>FY2027/12</c:v>
                </c:pt>
                <c:pt idx="28">
                  <c:v>FY2028/12</c:v>
                </c:pt>
                <c:pt idx="29">
                  <c:v>FY2029/12</c:v>
                </c:pt>
                <c:pt idx="30">
                  <c:v>FY2030/12</c:v>
                </c:pt>
                <c:pt idx="31">
                  <c:v>FY2031/12</c:v>
                </c:pt>
                <c:pt idx="32">
                  <c:v>FY2032/12</c:v>
                </c:pt>
                <c:pt idx="33">
                  <c:v>FY2033/12</c:v>
                </c:pt>
                <c:pt idx="34">
                  <c:v>FY2034/12</c:v>
                </c:pt>
                <c:pt idx="35">
                  <c:v>FY2035/12</c:v>
                </c:pt>
              </c:strCache>
            </c:strRef>
          </c:cat>
          <c:val>
            <c:numRef>
              <c:f>Sheet1!$B$2:$B$38</c:f>
              <c:numCache>
                <c:formatCode>General</c:formatCode>
                <c:ptCount val="36"/>
                <c:pt idx="0">
                  <c:v>0</c:v>
                </c:pt>
                <c:pt idx="1">
                  <c:v>20</c:v>
                </c:pt>
                <c:pt idx="2">
                  <c:v>76</c:v>
                </c:pt>
                <c:pt idx="3">
                  <c:v>126</c:v>
                </c:pt>
                <c:pt idx="4">
                  <c:v>182</c:v>
                </c:pt>
                <c:pt idx="5">
                  <c:v>251</c:v>
                </c:pt>
                <c:pt idx="6">
                  <c:v>269</c:v>
                </c:pt>
                <c:pt idx="7">
                  <c:v>375</c:v>
                </c:pt>
                <c:pt idx="8">
                  <c:v>442</c:v>
                </c:pt>
                <c:pt idx="9">
                  <c:v>284</c:v>
                </c:pt>
                <c:pt idx="10">
                  <c:v>248</c:v>
                </c:pt>
                <c:pt idx="11">
                  <c:v>329</c:v>
                </c:pt>
                <c:pt idx="12">
                  <c:v>476</c:v>
                </c:pt>
                <c:pt idx="13">
                  <c:v>635</c:v>
                </c:pt>
                <c:pt idx="14">
                  <c:v>734</c:v>
                </c:pt>
                <c:pt idx="15">
                  <c:v>713</c:v>
                </c:pt>
                <c:pt idx="16">
                  <c:v>796</c:v>
                </c:pt>
                <c:pt idx="17">
                  <c:v>861</c:v>
                </c:pt>
                <c:pt idx="18">
                  <c:v>954</c:v>
                </c:pt>
                <c:pt idx="19">
                  <c:v>968</c:v>
                </c:pt>
                <c:pt idx="20" formatCode="#,##0">
                  <c:v>1018</c:v>
                </c:pt>
                <c:pt idx="21" formatCode="#,##0">
                  <c:v>1084</c:v>
                </c:pt>
                <c:pt idx="22" formatCode="#,##0">
                  <c:v>1233</c:v>
                </c:pt>
                <c:pt idx="23" formatCode="#,##0">
                  <c:v>1631</c:v>
                </c:pt>
                <c:pt idx="24" formatCode="#,##0">
                  <c:v>2014</c:v>
                </c:pt>
                <c:pt idx="25" formatCode="#,##0">
                  <c:v>2056</c:v>
                </c:pt>
                <c:pt idx="26" formatCode="#,##0">
                  <c:v>2196</c:v>
                </c:pt>
                <c:pt idx="27" formatCode="#,##0">
                  <c:v>2525</c:v>
                </c:pt>
                <c:pt idx="28" formatCode="#,##0">
                  <c:v>3030</c:v>
                </c:pt>
                <c:pt idx="29" formatCode="#,##0">
                  <c:v>3637</c:v>
                </c:pt>
                <c:pt idx="30" formatCode="#,##0">
                  <c:v>4182</c:v>
                </c:pt>
                <c:pt idx="31" formatCode="#,##0">
                  <c:v>4601</c:v>
                </c:pt>
                <c:pt idx="32" formatCode="#,##0">
                  <c:v>5061</c:v>
                </c:pt>
                <c:pt idx="33" formatCode="#,##0">
                  <c:v>5567</c:v>
                </c:pt>
                <c:pt idx="34" formatCode="#,##0">
                  <c:v>6123</c:v>
                </c:pt>
                <c:pt idx="35" formatCode="#,##0">
                  <c:v>6736</c:v>
                </c:pt>
              </c:numCache>
            </c:numRef>
          </c:val>
          <c:extLst>
            <c:ext xmlns:c16="http://schemas.microsoft.com/office/drawing/2014/chart" uri="{C3380CC4-5D6E-409C-BE32-E72D297353CC}">
              <c16:uniqueId val="{00000000-1054-4740-803A-EBD8E28B6089}"/>
            </c:ext>
          </c:extLst>
        </c:ser>
        <c:ser>
          <c:idx val="1"/>
          <c:order val="1"/>
          <c:tx>
            <c:strRef>
              <c:f>Sheet1!$C$1</c:f>
              <c:strCache>
                <c:ptCount val="1"/>
                <c:pt idx="0">
                  <c:v>モバイルセグメント (非サブスク)</c:v>
                </c:pt>
              </c:strCache>
            </c:strRef>
          </c:tx>
          <c:spPr>
            <a:solidFill>
              <a:srgbClr val="A1DEFF"/>
            </a:solidFill>
            <a:ln>
              <a:noFill/>
            </a:ln>
            <a:effectLst/>
          </c:spPr>
          <c:cat>
            <c:strRef>
              <c:f>Sheet1!$A$2:$A$38</c:f>
              <c:strCache>
                <c:ptCount val="36"/>
                <c:pt idx="0">
                  <c:v>FY2000/9</c:v>
                </c:pt>
                <c:pt idx="1">
                  <c:v>FY2001/9</c:v>
                </c:pt>
                <c:pt idx="2">
                  <c:v>FY2002/9</c:v>
                </c:pt>
                <c:pt idx="3">
                  <c:v>FY2003/9</c:v>
                </c:pt>
                <c:pt idx="4">
                  <c:v>FY2004/9</c:v>
                </c:pt>
                <c:pt idx="5">
                  <c:v>FY2005/9</c:v>
                </c:pt>
                <c:pt idx="6">
                  <c:v>FY2006/9</c:v>
                </c:pt>
                <c:pt idx="7">
                  <c:v>FY2007/9</c:v>
                </c:pt>
                <c:pt idx="8">
                  <c:v>FY2008/9</c:v>
                </c:pt>
                <c:pt idx="9">
                  <c:v>FY2009/9</c:v>
                </c:pt>
                <c:pt idx="10">
                  <c:v>FY2010/9</c:v>
                </c:pt>
                <c:pt idx="11">
                  <c:v>FY2011/9</c:v>
                </c:pt>
                <c:pt idx="12">
                  <c:v>FY2012/9</c:v>
                </c:pt>
                <c:pt idx="13">
                  <c:v>FY2013/9</c:v>
                </c:pt>
                <c:pt idx="14">
                  <c:v>FY2014/9</c:v>
                </c:pt>
                <c:pt idx="15">
                  <c:v>FY2015/9</c:v>
                </c:pt>
                <c:pt idx="16">
                  <c:v>FY2016/9</c:v>
                </c:pt>
                <c:pt idx="17">
                  <c:v>FY2017/9</c:v>
                </c:pt>
                <c:pt idx="18">
                  <c:v>FY2018/9</c:v>
                </c:pt>
                <c:pt idx="19">
                  <c:v>FY2019/12</c:v>
                </c:pt>
                <c:pt idx="20">
                  <c:v>FY2020/12</c:v>
                </c:pt>
                <c:pt idx="21">
                  <c:v>FY2021/12</c:v>
                </c:pt>
                <c:pt idx="22">
                  <c:v>FY2022/12</c:v>
                </c:pt>
                <c:pt idx="23">
                  <c:v>FY2023/12</c:v>
                </c:pt>
                <c:pt idx="24">
                  <c:v>FY2024/12</c:v>
                </c:pt>
                <c:pt idx="25">
                  <c:v>FY2025/12</c:v>
                </c:pt>
                <c:pt idx="26">
                  <c:v>FY2026/12</c:v>
                </c:pt>
                <c:pt idx="27">
                  <c:v>FY2027/12</c:v>
                </c:pt>
                <c:pt idx="28">
                  <c:v>FY2028/12</c:v>
                </c:pt>
                <c:pt idx="29">
                  <c:v>FY2029/12</c:v>
                </c:pt>
                <c:pt idx="30">
                  <c:v>FY2030/12</c:v>
                </c:pt>
                <c:pt idx="31">
                  <c:v>FY2031/12</c:v>
                </c:pt>
                <c:pt idx="32">
                  <c:v>FY2032/12</c:v>
                </c:pt>
                <c:pt idx="33">
                  <c:v>FY2033/12</c:v>
                </c:pt>
                <c:pt idx="34">
                  <c:v>FY2034/12</c:v>
                </c:pt>
                <c:pt idx="35">
                  <c:v>FY2035/12</c:v>
                </c:pt>
              </c:strCache>
            </c:strRef>
          </c:cat>
          <c:val>
            <c:numRef>
              <c:f>Sheet1!$C$2:$C$38</c:f>
              <c:numCache>
                <c:formatCode>General</c:formatCode>
                <c:ptCount val="36"/>
                <c:pt idx="6">
                  <c:v>11</c:v>
                </c:pt>
                <c:pt idx="7">
                  <c:v>43</c:v>
                </c:pt>
                <c:pt idx="8">
                  <c:v>63</c:v>
                </c:pt>
                <c:pt idx="9">
                  <c:v>99</c:v>
                </c:pt>
                <c:pt idx="10">
                  <c:v>67</c:v>
                </c:pt>
                <c:pt idx="11">
                  <c:v>69</c:v>
                </c:pt>
                <c:pt idx="12" formatCode="#,##0_);[Red]\(#,##0\)">
                  <c:v>4</c:v>
                </c:pt>
                <c:pt idx="13">
                  <c:v>10</c:v>
                </c:pt>
                <c:pt idx="14">
                  <c:v>24</c:v>
                </c:pt>
                <c:pt idx="15">
                  <c:v>39</c:v>
                </c:pt>
                <c:pt idx="16">
                  <c:v>73</c:v>
                </c:pt>
                <c:pt idx="17">
                  <c:v>105</c:v>
                </c:pt>
                <c:pt idx="18">
                  <c:v>161</c:v>
                </c:pt>
                <c:pt idx="19" formatCode="#,##0_);[Red]\(#,##0\)">
                  <c:v>352.14473628852238</c:v>
                </c:pt>
                <c:pt idx="20">
                  <c:v>538</c:v>
                </c:pt>
                <c:pt idx="21" formatCode="#,##0">
                  <c:v>1554</c:v>
                </c:pt>
                <c:pt idx="22" formatCode="#,##0">
                  <c:v>1965</c:v>
                </c:pt>
                <c:pt idx="23" formatCode="#,##0">
                  <c:v>2125</c:v>
                </c:pt>
                <c:pt idx="24" formatCode="#,##0">
                  <c:v>1923</c:v>
                </c:pt>
                <c:pt idx="25" formatCode="#,##0">
                  <c:v>1628</c:v>
                </c:pt>
                <c:pt idx="26" formatCode="#,##0">
                  <c:v>1352</c:v>
                </c:pt>
                <c:pt idx="27" formatCode="#,##0">
                  <c:v>1335</c:v>
                </c:pt>
                <c:pt idx="28" formatCode="#,##0">
                  <c:v>1318</c:v>
                </c:pt>
                <c:pt idx="29" formatCode="#,##0">
                  <c:v>1294</c:v>
                </c:pt>
                <c:pt idx="30" formatCode="#,##0">
                  <c:v>1273</c:v>
                </c:pt>
                <c:pt idx="31" formatCode="#,##0">
                  <c:v>1256</c:v>
                </c:pt>
                <c:pt idx="32" formatCode="#,##0">
                  <c:v>1241</c:v>
                </c:pt>
                <c:pt idx="33" formatCode="#,##0">
                  <c:v>1228</c:v>
                </c:pt>
                <c:pt idx="34" formatCode="#,##0">
                  <c:v>1217</c:v>
                </c:pt>
                <c:pt idx="35" formatCode="#,##0">
                  <c:v>1207</c:v>
                </c:pt>
              </c:numCache>
            </c:numRef>
          </c:val>
          <c:extLst>
            <c:ext xmlns:c16="http://schemas.microsoft.com/office/drawing/2014/chart" uri="{C3380CC4-5D6E-409C-BE32-E72D297353CC}">
              <c16:uniqueId val="{00000001-1054-4740-803A-EBD8E28B6089}"/>
            </c:ext>
          </c:extLst>
        </c:ser>
        <c:ser>
          <c:idx val="2"/>
          <c:order val="2"/>
          <c:tx>
            <c:strRef>
              <c:f>Sheet1!$D$1</c:f>
              <c:strCache>
                <c:ptCount val="1"/>
                <c:pt idx="0">
                  <c:v>モバイルセグメント (サブスク)</c:v>
                </c:pt>
              </c:strCache>
            </c:strRef>
          </c:tx>
          <c:spPr>
            <a:solidFill>
              <a:srgbClr val="00A7FF"/>
            </a:solidFill>
            <a:ln w="25400">
              <a:noFill/>
            </a:ln>
            <a:effectLst/>
          </c:spPr>
          <c:cat>
            <c:strRef>
              <c:f>Sheet1!$A$2:$A$38</c:f>
              <c:strCache>
                <c:ptCount val="36"/>
                <c:pt idx="0">
                  <c:v>FY2000/9</c:v>
                </c:pt>
                <c:pt idx="1">
                  <c:v>FY2001/9</c:v>
                </c:pt>
                <c:pt idx="2">
                  <c:v>FY2002/9</c:v>
                </c:pt>
                <c:pt idx="3">
                  <c:v>FY2003/9</c:v>
                </c:pt>
                <c:pt idx="4">
                  <c:v>FY2004/9</c:v>
                </c:pt>
                <c:pt idx="5">
                  <c:v>FY2005/9</c:v>
                </c:pt>
                <c:pt idx="6">
                  <c:v>FY2006/9</c:v>
                </c:pt>
                <c:pt idx="7">
                  <c:v>FY2007/9</c:v>
                </c:pt>
                <c:pt idx="8">
                  <c:v>FY2008/9</c:v>
                </c:pt>
                <c:pt idx="9">
                  <c:v>FY2009/9</c:v>
                </c:pt>
                <c:pt idx="10">
                  <c:v>FY2010/9</c:v>
                </c:pt>
                <c:pt idx="11">
                  <c:v>FY2011/9</c:v>
                </c:pt>
                <c:pt idx="12">
                  <c:v>FY2012/9</c:v>
                </c:pt>
                <c:pt idx="13">
                  <c:v>FY2013/9</c:v>
                </c:pt>
                <c:pt idx="14">
                  <c:v>FY2014/9</c:v>
                </c:pt>
                <c:pt idx="15">
                  <c:v>FY2015/9</c:v>
                </c:pt>
                <c:pt idx="16">
                  <c:v>FY2016/9</c:v>
                </c:pt>
                <c:pt idx="17">
                  <c:v>FY2017/9</c:v>
                </c:pt>
                <c:pt idx="18">
                  <c:v>FY2018/9</c:v>
                </c:pt>
                <c:pt idx="19">
                  <c:v>FY2019/12</c:v>
                </c:pt>
                <c:pt idx="20">
                  <c:v>FY2020/12</c:v>
                </c:pt>
                <c:pt idx="21">
                  <c:v>FY2021/12</c:v>
                </c:pt>
                <c:pt idx="22">
                  <c:v>FY2022/12</c:v>
                </c:pt>
                <c:pt idx="23">
                  <c:v>FY2023/12</c:v>
                </c:pt>
                <c:pt idx="24">
                  <c:v>FY2024/12</c:v>
                </c:pt>
                <c:pt idx="25">
                  <c:v>FY2025/12</c:v>
                </c:pt>
                <c:pt idx="26">
                  <c:v>FY2026/12</c:v>
                </c:pt>
                <c:pt idx="27">
                  <c:v>FY2027/12</c:v>
                </c:pt>
                <c:pt idx="28">
                  <c:v>FY2028/12</c:v>
                </c:pt>
                <c:pt idx="29">
                  <c:v>FY2029/12</c:v>
                </c:pt>
                <c:pt idx="30">
                  <c:v>FY2030/12</c:v>
                </c:pt>
                <c:pt idx="31">
                  <c:v>FY2031/12</c:v>
                </c:pt>
                <c:pt idx="32">
                  <c:v>FY2032/12</c:v>
                </c:pt>
                <c:pt idx="33">
                  <c:v>FY2033/12</c:v>
                </c:pt>
                <c:pt idx="34">
                  <c:v>FY2034/12</c:v>
                </c:pt>
                <c:pt idx="35">
                  <c:v>FY2035/12</c:v>
                </c:pt>
              </c:strCache>
            </c:strRef>
          </c:cat>
          <c:val>
            <c:numRef>
              <c:f>Sheet1!$D$2:$D$38</c:f>
              <c:numCache>
                <c:formatCode>General</c:formatCode>
                <c:ptCount val="36"/>
                <c:pt idx="6">
                  <c:v>0</c:v>
                </c:pt>
                <c:pt idx="7">
                  <c:v>0</c:v>
                </c:pt>
                <c:pt idx="8">
                  <c:v>0</c:v>
                </c:pt>
                <c:pt idx="9">
                  <c:v>0</c:v>
                </c:pt>
                <c:pt idx="10">
                  <c:v>0</c:v>
                </c:pt>
                <c:pt idx="11">
                  <c:v>0</c:v>
                </c:pt>
                <c:pt idx="12">
                  <c:v>0</c:v>
                </c:pt>
                <c:pt idx="13">
                  <c:v>0</c:v>
                </c:pt>
                <c:pt idx="14">
                  <c:v>0</c:v>
                </c:pt>
                <c:pt idx="15">
                  <c:v>0</c:v>
                </c:pt>
                <c:pt idx="16">
                  <c:v>0</c:v>
                </c:pt>
                <c:pt idx="17">
                  <c:v>0</c:v>
                </c:pt>
                <c:pt idx="18">
                  <c:v>0</c:v>
                </c:pt>
                <c:pt idx="19" formatCode="#,##0_);[Red]\(#,##0\)">
                  <c:v>19.89777790453817</c:v>
                </c:pt>
                <c:pt idx="20">
                  <c:v>62</c:v>
                </c:pt>
                <c:pt idx="21">
                  <c:v>107</c:v>
                </c:pt>
                <c:pt idx="22">
                  <c:v>198</c:v>
                </c:pt>
                <c:pt idx="23">
                  <c:v>330</c:v>
                </c:pt>
                <c:pt idx="24">
                  <c:v>687</c:v>
                </c:pt>
                <c:pt idx="25" formatCode="#,##0">
                  <c:v>1202</c:v>
                </c:pt>
                <c:pt idx="26" formatCode="#,##0">
                  <c:v>1731</c:v>
                </c:pt>
                <c:pt idx="27" formatCode="#,##0">
                  <c:v>2254</c:v>
                </c:pt>
                <c:pt idx="28" formatCode="#,##0">
                  <c:v>2790</c:v>
                </c:pt>
                <c:pt idx="29" formatCode="#,##0">
                  <c:v>3140</c:v>
                </c:pt>
                <c:pt idx="30" formatCode="#,##0">
                  <c:v>3668</c:v>
                </c:pt>
                <c:pt idx="31" formatCode="#,##0">
                  <c:v>4193</c:v>
                </c:pt>
                <c:pt idx="32" formatCode="#,##0">
                  <c:v>4717</c:v>
                </c:pt>
                <c:pt idx="33" formatCode="#,##0">
                  <c:v>5258</c:v>
                </c:pt>
                <c:pt idx="34" formatCode="#,##0">
                  <c:v>5870</c:v>
                </c:pt>
                <c:pt idx="35" formatCode="#,##0">
                  <c:v>6651</c:v>
                </c:pt>
              </c:numCache>
            </c:numRef>
          </c:val>
          <c:extLst>
            <c:ext xmlns:c16="http://schemas.microsoft.com/office/drawing/2014/chart" uri="{C3380CC4-5D6E-409C-BE32-E72D297353CC}">
              <c16:uniqueId val="{00000002-1054-4740-803A-EBD8E28B6089}"/>
            </c:ext>
          </c:extLst>
        </c:ser>
        <c:ser>
          <c:idx val="3"/>
          <c:order val="3"/>
          <c:tx>
            <c:strRef>
              <c:f>Sheet1!$E$1</c:f>
              <c:strCache>
                <c:ptCount val="1"/>
                <c:pt idx="0">
                  <c:v>AI歌声合成セグメント</c:v>
                </c:pt>
              </c:strCache>
            </c:strRef>
          </c:tx>
          <c:spPr>
            <a:solidFill>
              <a:srgbClr val="D44ED9"/>
            </a:solidFill>
            <a:ln w="25400">
              <a:noFill/>
            </a:ln>
            <a:effectLst/>
          </c:spPr>
          <c:cat>
            <c:strRef>
              <c:f>Sheet1!$A$2:$A$38</c:f>
              <c:strCache>
                <c:ptCount val="36"/>
                <c:pt idx="0">
                  <c:v>FY2000/9</c:v>
                </c:pt>
                <c:pt idx="1">
                  <c:v>FY2001/9</c:v>
                </c:pt>
                <c:pt idx="2">
                  <c:v>FY2002/9</c:v>
                </c:pt>
                <c:pt idx="3">
                  <c:v>FY2003/9</c:v>
                </c:pt>
                <c:pt idx="4">
                  <c:v>FY2004/9</c:v>
                </c:pt>
                <c:pt idx="5">
                  <c:v>FY2005/9</c:v>
                </c:pt>
                <c:pt idx="6">
                  <c:v>FY2006/9</c:v>
                </c:pt>
                <c:pt idx="7">
                  <c:v>FY2007/9</c:v>
                </c:pt>
                <c:pt idx="8">
                  <c:v>FY2008/9</c:v>
                </c:pt>
                <c:pt idx="9">
                  <c:v>FY2009/9</c:v>
                </c:pt>
                <c:pt idx="10">
                  <c:v>FY2010/9</c:v>
                </c:pt>
                <c:pt idx="11">
                  <c:v>FY2011/9</c:v>
                </c:pt>
                <c:pt idx="12">
                  <c:v>FY2012/9</c:v>
                </c:pt>
                <c:pt idx="13">
                  <c:v>FY2013/9</c:v>
                </c:pt>
                <c:pt idx="14">
                  <c:v>FY2014/9</c:v>
                </c:pt>
                <c:pt idx="15">
                  <c:v>FY2015/9</c:v>
                </c:pt>
                <c:pt idx="16">
                  <c:v>FY2016/9</c:v>
                </c:pt>
                <c:pt idx="17">
                  <c:v>FY2017/9</c:v>
                </c:pt>
                <c:pt idx="18">
                  <c:v>FY2018/9</c:v>
                </c:pt>
                <c:pt idx="19">
                  <c:v>FY2019/12</c:v>
                </c:pt>
                <c:pt idx="20">
                  <c:v>FY2020/12</c:v>
                </c:pt>
                <c:pt idx="21">
                  <c:v>FY2021/12</c:v>
                </c:pt>
                <c:pt idx="22">
                  <c:v>FY2022/12</c:v>
                </c:pt>
                <c:pt idx="23">
                  <c:v>FY2023/12</c:v>
                </c:pt>
                <c:pt idx="24">
                  <c:v>FY2024/12</c:v>
                </c:pt>
                <c:pt idx="25">
                  <c:v>FY2025/12</c:v>
                </c:pt>
                <c:pt idx="26">
                  <c:v>FY2026/12</c:v>
                </c:pt>
                <c:pt idx="27">
                  <c:v>FY2027/12</c:v>
                </c:pt>
                <c:pt idx="28">
                  <c:v>FY2028/12</c:v>
                </c:pt>
                <c:pt idx="29">
                  <c:v>FY2029/12</c:v>
                </c:pt>
                <c:pt idx="30">
                  <c:v>FY2030/12</c:v>
                </c:pt>
                <c:pt idx="31">
                  <c:v>FY2031/12</c:v>
                </c:pt>
                <c:pt idx="32">
                  <c:v>FY2032/12</c:v>
                </c:pt>
                <c:pt idx="33">
                  <c:v>FY2033/12</c:v>
                </c:pt>
                <c:pt idx="34">
                  <c:v>FY2034/12</c:v>
                </c:pt>
                <c:pt idx="35">
                  <c:v>FY2035/12</c:v>
                </c:pt>
              </c:strCache>
            </c:strRef>
          </c:cat>
          <c:val>
            <c:numRef>
              <c:f>Sheet1!$E$2:$E$38</c:f>
              <c:numCache>
                <c:formatCode>General</c:formatCode>
                <c:ptCount val="36"/>
                <c:pt idx="25">
                  <c:v>118.9</c:v>
                </c:pt>
                <c:pt idx="26">
                  <c:v>174</c:v>
                </c:pt>
                <c:pt idx="27">
                  <c:v>210</c:v>
                </c:pt>
                <c:pt idx="28">
                  <c:v>286</c:v>
                </c:pt>
                <c:pt idx="29" formatCode="#,##0">
                  <c:v>423</c:v>
                </c:pt>
                <c:pt idx="30" formatCode="#,##0">
                  <c:v>666</c:v>
                </c:pt>
                <c:pt idx="31" formatCode="#,##0">
                  <c:v>680</c:v>
                </c:pt>
                <c:pt idx="32" formatCode="#,##0">
                  <c:v>693</c:v>
                </c:pt>
                <c:pt idx="33" formatCode="#,##0">
                  <c:v>707</c:v>
                </c:pt>
                <c:pt idx="34" formatCode="#,##0">
                  <c:v>721</c:v>
                </c:pt>
                <c:pt idx="35" formatCode="#,##0">
                  <c:v>736</c:v>
                </c:pt>
              </c:numCache>
            </c:numRef>
          </c:val>
          <c:extLst>
            <c:ext xmlns:c16="http://schemas.microsoft.com/office/drawing/2014/chart" uri="{C3380CC4-5D6E-409C-BE32-E72D297353CC}">
              <c16:uniqueId val="{00000003-1054-4740-803A-EBD8E28B6089}"/>
            </c:ext>
          </c:extLst>
        </c:ser>
        <c:ser>
          <c:idx val="4"/>
          <c:order val="4"/>
          <c:tx>
            <c:strRef>
              <c:f>Sheet1!$F$1</c:f>
              <c:strCache>
                <c:ptCount val="1"/>
                <c:pt idx="0">
                  <c:v>M&amp;A</c:v>
                </c:pt>
              </c:strCache>
            </c:strRef>
          </c:tx>
          <c:spPr>
            <a:solidFill>
              <a:srgbClr val="FDA6FF"/>
            </a:solidFill>
            <a:ln w="25400">
              <a:noFill/>
            </a:ln>
            <a:effectLst/>
          </c:spPr>
          <c:cat>
            <c:strRef>
              <c:f>Sheet1!$A$2:$A$38</c:f>
              <c:strCache>
                <c:ptCount val="36"/>
                <c:pt idx="0">
                  <c:v>FY2000/9</c:v>
                </c:pt>
                <c:pt idx="1">
                  <c:v>FY2001/9</c:v>
                </c:pt>
                <c:pt idx="2">
                  <c:v>FY2002/9</c:v>
                </c:pt>
                <c:pt idx="3">
                  <c:v>FY2003/9</c:v>
                </c:pt>
                <c:pt idx="4">
                  <c:v>FY2004/9</c:v>
                </c:pt>
                <c:pt idx="5">
                  <c:v>FY2005/9</c:v>
                </c:pt>
                <c:pt idx="6">
                  <c:v>FY2006/9</c:v>
                </c:pt>
                <c:pt idx="7">
                  <c:v>FY2007/9</c:v>
                </c:pt>
                <c:pt idx="8">
                  <c:v>FY2008/9</c:v>
                </c:pt>
                <c:pt idx="9">
                  <c:v>FY2009/9</c:v>
                </c:pt>
                <c:pt idx="10">
                  <c:v>FY2010/9</c:v>
                </c:pt>
                <c:pt idx="11">
                  <c:v>FY2011/9</c:v>
                </c:pt>
                <c:pt idx="12">
                  <c:v>FY2012/9</c:v>
                </c:pt>
                <c:pt idx="13">
                  <c:v>FY2013/9</c:v>
                </c:pt>
                <c:pt idx="14">
                  <c:v>FY2014/9</c:v>
                </c:pt>
                <c:pt idx="15">
                  <c:v>FY2015/9</c:v>
                </c:pt>
                <c:pt idx="16">
                  <c:v>FY2016/9</c:v>
                </c:pt>
                <c:pt idx="17">
                  <c:v>FY2017/9</c:v>
                </c:pt>
                <c:pt idx="18">
                  <c:v>FY2018/9</c:v>
                </c:pt>
                <c:pt idx="19">
                  <c:v>FY2019/12</c:v>
                </c:pt>
                <c:pt idx="20">
                  <c:v>FY2020/12</c:v>
                </c:pt>
                <c:pt idx="21">
                  <c:v>FY2021/12</c:v>
                </c:pt>
                <c:pt idx="22">
                  <c:v>FY2022/12</c:v>
                </c:pt>
                <c:pt idx="23">
                  <c:v>FY2023/12</c:v>
                </c:pt>
                <c:pt idx="24">
                  <c:v>FY2024/12</c:v>
                </c:pt>
                <c:pt idx="25">
                  <c:v>FY2025/12</c:v>
                </c:pt>
                <c:pt idx="26">
                  <c:v>FY2026/12</c:v>
                </c:pt>
                <c:pt idx="27">
                  <c:v>FY2027/12</c:v>
                </c:pt>
                <c:pt idx="28">
                  <c:v>FY2028/12</c:v>
                </c:pt>
                <c:pt idx="29">
                  <c:v>FY2029/12</c:v>
                </c:pt>
                <c:pt idx="30">
                  <c:v>FY2030/12</c:v>
                </c:pt>
                <c:pt idx="31">
                  <c:v>FY2031/12</c:v>
                </c:pt>
                <c:pt idx="32">
                  <c:v>FY2032/12</c:v>
                </c:pt>
                <c:pt idx="33">
                  <c:v>FY2033/12</c:v>
                </c:pt>
                <c:pt idx="34">
                  <c:v>FY2034/12</c:v>
                </c:pt>
                <c:pt idx="35">
                  <c:v>FY2035/12</c:v>
                </c:pt>
              </c:strCache>
            </c:strRef>
          </c:cat>
          <c:val>
            <c:numRef>
              <c:f>Sheet1!$F$2:$F$38</c:f>
              <c:numCache>
                <c:formatCode>General</c:formatCode>
                <c:ptCount val="36"/>
                <c:pt idx="29">
                  <c:v>100</c:v>
                </c:pt>
                <c:pt idx="30">
                  <c:v>300</c:v>
                </c:pt>
                <c:pt idx="31">
                  <c:v>500</c:v>
                </c:pt>
                <c:pt idx="32">
                  <c:v>1000</c:v>
                </c:pt>
                <c:pt idx="33">
                  <c:v>2000</c:v>
                </c:pt>
                <c:pt idx="34">
                  <c:v>3000</c:v>
                </c:pt>
                <c:pt idx="35" formatCode="#,##0">
                  <c:v>4000</c:v>
                </c:pt>
              </c:numCache>
            </c:numRef>
          </c:val>
          <c:extLst>
            <c:ext xmlns:c16="http://schemas.microsoft.com/office/drawing/2014/chart" uri="{C3380CC4-5D6E-409C-BE32-E72D297353CC}">
              <c16:uniqueId val="{00000004-1054-4740-803A-EBD8E28B6089}"/>
            </c:ext>
          </c:extLst>
        </c:ser>
        <c:dLbls>
          <c:showLegendKey val="0"/>
          <c:showVal val="0"/>
          <c:showCatName val="0"/>
          <c:showSerName val="0"/>
          <c:showPercent val="0"/>
          <c:showBubbleSize val="0"/>
        </c:dLbls>
        <c:axId val="1295550031"/>
        <c:axId val="1036272175"/>
      </c:areaChart>
      <c:catAx>
        <c:axId val="1295550031"/>
        <c:scaling>
          <c:orientation val="minMax"/>
        </c:scaling>
        <c:delete val="0"/>
        <c:axPos val="b"/>
        <c:numFmt formatCode="General" sourceLinked="1"/>
        <c:majorTickMark val="out"/>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ja-JP"/>
          </a:p>
        </c:txPr>
        <c:crossAx val="1036272175"/>
        <c:crosses val="autoZero"/>
        <c:auto val="1"/>
        <c:lblAlgn val="ctr"/>
        <c:lblOffset val="100"/>
        <c:tickLblSkip val="5"/>
        <c:tickMarkSkip val="5"/>
        <c:noMultiLvlLbl val="0"/>
      </c:catAx>
      <c:valAx>
        <c:axId val="1036272175"/>
        <c:scaling>
          <c:orientation val="minMax"/>
          <c:max val="16000"/>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142FA4"/>
                </a:solidFill>
                <a:latin typeface="Poppins" pitchFamily="2" charset="0"/>
                <a:ea typeface="+mn-ea"/>
                <a:cs typeface="Poppins" pitchFamily="2" charset="0"/>
              </a:defRPr>
            </a:pPr>
            <a:endParaRPr lang="ja-JP"/>
          </a:p>
        </c:txPr>
        <c:crossAx val="1295550031"/>
        <c:crosses val="autoZero"/>
        <c:crossBetween val="midCat"/>
        <c:dispUnits>
          <c:builtInUnit val="hundreds"/>
        </c:dispUnits>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112476458038"/>
          <c:y val="0.37436855082875875"/>
          <c:w val="0.83047176224584318"/>
          <c:h val="0.38536793905309613"/>
        </c:manualLayout>
      </c:layout>
      <c:barChart>
        <c:barDir val="col"/>
        <c:grouping val="stacked"/>
        <c:varyColors val="0"/>
        <c:ser>
          <c:idx val="0"/>
          <c:order val="0"/>
          <c:tx>
            <c:strRef>
              <c:f>Sheet1!$B$1</c:f>
              <c:strCache>
                <c:ptCount val="1"/>
                <c:pt idx="0">
                  <c:v>モバイル</c:v>
                </c:pt>
              </c:strCache>
            </c:strRef>
          </c:tx>
          <c:spPr>
            <a:solidFill>
              <a:srgbClr val="00A7FF"/>
            </a:solidFill>
            <a:ln>
              <a:noFill/>
            </a:ln>
            <a:effectLst/>
          </c:spPr>
          <c:invertIfNegative val="0"/>
          <c:cat>
            <c:strRef>
              <c:f>Sheet1!$A$2:$A$9</c:f>
              <c:strCache>
                <c:ptCount val="8"/>
                <c:pt idx="0">
                  <c:v>FY21/12</c:v>
                </c:pt>
                <c:pt idx="1">
                  <c:v>FY22/12</c:v>
                </c:pt>
                <c:pt idx="2">
                  <c:v>FY23/12</c:v>
                </c:pt>
                <c:pt idx="3">
                  <c:v>FY24/12</c:v>
                </c:pt>
                <c:pt idx="4">
                  <c:v>FY25/12</c:v>
                </c:pt>
                <c:pt idx="5">
                  <c:v>FY26/12</c:v>
                </c:pt>
                <c:pt idx="6">
                  <c:v>FY27/12</c:v>
                </c:pt>
                <c:pt idx="7">
                  <c:v>FY28/12</c:v>
                </c:pt>
              </c:strCache>
            </c:strRef>
          </c:cat>
          <c:val>
            <c:numRef>
              <c:f>Sheet1!$B$2:$B$9</c:f>
              <c:numCache>
                <c:formatCode>General</c:formatCode>
                <c:ptCount val="8"/>
                <c:pt idx="0">
                  <c:v>36.6</c:v>
                </c:pt>
                <c:pt idx="1">
                  <c:v>66.2</c:v>
                </c:pt>
                <c:pt idx="2">
                  <c:v>119.3</c:v>
                </c:pt>
                <c:pt idx="3">
                  <c:v>208.3</c:v>
                </c:pt>
                <c:pt idx="4">
                  <c:v>346.9</c:v>
                </c:pt>
                <c:pt idx="5">
                  <c:v>469.4</c:v>
                </c:pt>
                <c:pt idx="6">
                  <c:v>595.5</c:v>
                </c:pt>
                <c:pt idx="7">
                  <c:v>721.6</c:v>
                </c:pt>
              </c:numCache>
            </c:numRef>
          </c:val>
          <c:extLst>
            <c:ext xmlns:c16="http://schemas.microsoft.com/office/drawing/2014/chart" uri="{C3380CC4-5D6E-409C-BE32-E72D297353CC}">
              <c16:uniqueId val="{00000000-AB87-2748-A397-D981AC4464B3}"/>
            </c:ext>
          </c:extLst>
        </c:ser>
        <c:ser>
          <c:idx val="1"/>
          <c:order val="1"/>
          <c:tx>
            <c:strRef>
              <c:f>Sheet1!$C$1</c:f>
              <c:strCache>
                <c:ptCount val="1"/>
                <c:pt idx="0">
                  <c:v>PC</c:v>
                </c:pt>
              </c:strCache>
            </c:strRef>
          </c:tx>
          <c:spPr>
            <a:solidFill>
              <a:srgbClr val="D44ED9"/>
            </a:solidFill>
            <a:ln>
              <a:noFill/>
            </a:ln>
            <a:effectLst/>
          </c:spPr>
          <c:invertIfNegative val="0"/>
          <c:cat>
            <c:strRef>
              <c:f>Sheet1!$A$2:$A$9</c:f>
              <c:strCache>
                <c:ptCount val="8"/>
                <c:pt idx="0">
                  <c:v>FY21/12</c:v>
                </c:pt>
                <c:pt idx="1">
                  <c:v>FY22/12</c:v>
                </c:pt>
                <c:pt idx="2">
                  <c:v>FY23/12</c:v>
                </c:pt>
                <c:pt idx="3">
                  <c:v>FY24/12</c:v>
                </c:pt>
                <c:pt idx="4">
                  <c:v>FY25/12</c:v>
                </c:pt>
                <c:pt idx="5">
                  <c:v>FY26/12</c:v>
                </c:pt>
                <c:pt idx="6">
                  <c:v>FY27/12</c:v>
                </c:pt>
                <c:pt idx="7">
                  <c:v>FY28/12</c:v>
                </c:pt>
              </c:strCache>
            </c:strRef>
          </c:cat>
          <c:val>
            <c:numRef>
              <c:f>Sheet1!$C$2:$C$9</c:f>
              <c:numCache>
                <c:formatCode>General</c:formatCode>
                <c:ptCount val="8"/>
                <c:pt idx="0">
                  <c:v>0</c:v>
                </c:pt>
                <c:pt idx="1">
                  <c:v>0</c:v>
                </c:pt>
                <c:pt idx="2">
                  <c:v>0</c:v>
                </c:pt>
                <c:pt idx="3">
                  <c:v>23.7</c:v>
                </c:pt>
                <c:pt idx="4">
                  <c:v>50.6</c:v>
                </c:pt>
                <c:pt idx="5" formatCode="0.0">
                  <c:v>78</c:v>
                </c:pt>
                <c:pt idx="6">
                  <c:v>105.1</c:v>
                </c:pt>
                <c:pt idx="7">
                  <c:v>132.19999999999999</c:v>
                </c:pt>
              </c:numCache>
            </c:numRef>
          </c:val>
          <c:extLst>
            <c:ext xmlns:c16="http://schemas.microsoft.com/office/drawing/2014/chart" uri="{C3380CC4-5D6E-409C-BE32-E72D297353CC}">
              <c16:uniqueId val="{00000001-AB87-2748-A397-D981AC4464B3}"/>
            </c:ext>
          </c:extLst>
        </c:ser>
        <c:dLbls>
          <c:showLegendKey val="0"/>
          <c:showVal val="0"/>
          <c:showCatName val="0"/>
          <c:showSerName val="0"/>
          <c:showPercent val="0"/>
          <c:showBubbleSize val="0"/>
        </c:dLbls>
        <c:gapWidth val="60"/>
        <c:overlap val="100"/>
        <c:axId val="1721137631"/>
        <c:axId val="1139900479"/>
      </c:barChart>
      <c:catAx>
        <c:axId val="1721137631"/>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900" b="0" i="0" u="none" strike="noStrike" kern="1200" spc="0" baseline="0">
                <a:solidFill>
                  <a:srgbClr val="142FA4"/>
                </a:solidFill>
                <a:latin typeface="Poppins Medium" pitchFamily="2" charset="0"/>
                <a:ea typeface="+mn-ea"/>
                <a:cs typeface="Poppins Medium" pitchFamily="2" charset="0"/>
              </a:defRPr>
            </a:pPr>
            <a:endParaRPr lang="en-US"/>
          </a:p>
        </c:txPr>
        <c:crossAx val="1139900479"/>
        <c:crosses val="autoZero"/>
        <c:auto val="1"/>
        <c:lblAlgn val="ctr"/>
        <c:lblOffset val="100"/>
        <c:noMultiLvlLbl val="0"/>
      </c:catAx>
      <c:valAx>
        <c:axId val="1139900479"/>
        <c:scaling>
          <c:orientation val="minMax"/>
        </c:scaling>
        <c:delete val="0"/>
        <c:axPos val="l"/>
        <c:majorGridlines>
          <c:spPr>
            <a:ln w="9525" cap="flat" cmpd="sng" algn="ctr">
              <a:no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rgbClr val="142FA4"/>
                </a:solidFill>
                <a:latin typeface="Poppins" pitchFamily="2" charset="0"/>
                <a:ea typeface="+mn-ea"/>
                <a:cs typeface="Poppins" pitchFamily="2" charset="0"/>
              </a:defRPr>
            </a:pPr>
            <a:endParaRPr lang="en-US"/>
          </a:p>
        </c:txPr>
        <c:crossAx val="1721137631"/>
        <c:crosses val="autoZero"/>
        <c:crossBetween val="between"/>
        <c:majorUnit val="3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userShapes r:id="rId4"/>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313049490045498"/>
          <c:y val="6.5375314989691249E-2"/>
          <c:w val="0.83218196358267715"/>
          <c:h val="0.81172675334909372"/>
        </c:manualLayout>
      </c:layout>
      <c:barChart>
        <c:barDir val="col"/>
        <c:grouping val="stacked"/>
        <c:varyColors val="0"/>
        <c:ser>
          <c:idx val="0"/>
          <c:order val="0"/>
          <c:tx>
            <c:strRef>
              <c:f>Sheet1!$B$1</c:f>
              <c:strCache>
                <c:ptCount val="1"/>
                <c:pt idx="0">
                  <c:v>サブスク</c:v>
                </c:pt>
              </c:strCache>
            </c:strRef>
          </c:tx>
          <c:spPr>
            <a:solidFill>
              <a:srgbClr val="00A7FF"/>
            </a:solidFill>
            <a:ln>
              <a:noFill/>
            </a:ln>
            <a:effectLst/>
          </c:spPr>
          <c:invertIfNegative val="0"/>
          <c:cat>
            <c:strRef>
              <c:f>Sheet1!$A$2:$A$16</c:f>
              <c:strCache>
                <c:ptCount val="15"/>
                <c:pt idx="0">
                  <c:v>Q2</c:v>
                </c:pt>
                <c:pt idx="1">
                  <c:v>Q3</c:v>
                </c:pt>
                <c:pt idx="2">
                  <c:v>Q4</c:v>
                </c:pt>
                <c:pt idx="3">
                  <c:v>Q1</c:v>
                </c:pt>
                <c:pt idx="4">
                  <c:v>Q2</c:v>
                </c:pt>
                <c:pt idx="5">
                  <c:v>Q3</c:v>
                </c:pt>
                <c:pt idx="6">
                  <c:v>Q4</c:v>
                </c:pt>
                <c:pt idx="7">
                  <c:v>Q1</c:v>
                </c:pt>
                <c:pt idx="8">
                  <c:v>Q2</c:v>
                </c:pt>
                <c:pt idx="9">
                  <c:v>Q3</c:v>
                </c:pt>
                <c:pt idx="10">
                  <c:v>Q4</c:v>
                </c:pt>
                <c:pt idx="11">
                  <c:v>Q1</c:v>
                </c:pt>
                <c:pt idx="12">
                  <c:v>Q2</c:v>
                </c:pt>
                <c:pt idx="13">
                  <c:v>Q3</c:v>
                </c:pt>
                <c:pt idx="14">
                  <c:v>Q4</c:v>
                </c:pt>
              </c:strCache>
            </c:strRef>
          </c:cat>
          <c:val>
            <c:numRef>
              <c:f>Sheet1!$B$2:$B$16</c:f>
              <c:numCache>
                <c:formatCode>General</c:formatCode>
                <c:ptCount val="15"/>
                <c:pt idx="0">
                  <c:v>0</c:v>
                </c:pt>
                <c:pt idx="1">
                  <c:v>0</c:v>
                </c:pt>
                <c:pt idx="2">
                  <c:v>0</c:v>
                </c:pt>
                <c:pt idx="3">
                  <c:v>0</c:v>
                </c:pt>
                <c:pt idx="4">
                  <c:v>0</c:v>
                </c:pt>
                <c:pt idx="5">
                  <c:v>0</c:v>
                </c:pt>
                <c:pt idx="6">
                  <c:v>0</c:v>
                </c:pt>
                <c:pt idx="7" formatCode="#,##0_);[Red]\(#,##0\)">
                  <c:v>259754.42480424599</c:v>
                </c:pt>
                <c:pt idx="8" formatCode="#,##0">
                  <c:v>6198058.8687136108</c:v>
                </c:pt>
                <c:pt idx="9" formatCode="#,##0">
                  <c:v>14428031.628939603</c:v>
                </c:pt>
                <c:pt idx="10" formatCode="#,##0">
                  <c:v>21984739.801470373</c:v>
                </c:pt>
                <c:pt idx="11" formatCode="#,##0">
                  <c:v>32115883.136337854</c:v>
                </c:pt>
                <c:pt idx="12" formatCode="#,##0">
                  <c:v>37850852.844700687</c:v>
                </c:pt>
                <c:pt idx="13" formatCode="#,##0">
                  <c:v>43747086.104802579</c:v>
                </c:pt>
                <c:pt idx="14">
                  <c:v>52299338.496965848</c:v>
                </c:pt>
              </c:numCache>
            </c:numRef>
          </c:val>
          <c:extLst>
            <c:ext xmlns:c16="http://schemas.microsoft.com/office/drawing/2014/chart" uri="{C3380CC4-5D6E-409C-BE32-E72D297353CC}">
              <c16:uniqueId val="{00000000-1F09-6841-860F-4883AB72470C}"/>
            </c:ext>
          </c:extLst>
        </c:ser>
        <c:ser>
          <c:idx val="1"/>
          <c:order val="1"/>
          <c:tx>
            <c:strRef>
              <c:f>Sheet1!$C$1</c:f>
              <c:strCache>
                <c:ptCount val="1"/>
                <c:pt idx="0">
                  <c:v>売切型</c:v>
                </c:pt>
              </c:strCache>
            </c:strRef>
          </c:tx>
          <c:spPr>
            <a:solidFill>
              <a:srgbClr val="142FA4"/>
            </a:solidFill>
            <a:ln>
              <a:noFill/>
            </a:ln>
            <a:effectLst/>
          </c:spPr>
          <c:invertIfNegative val="0"/>
          <c:cat>
            <c:strRef>
              <c:f>Sheet1!$A$2:$A$16</c:f>
              <c:strCache>
                <c:ptCount val="15"/>
                <c:pt idx="0">
                  <c:v>Q2</c:v>
                </c:pt>
                <c:pt idx="1">
                  <c:v>Q3</c:v>
                </c:pt>
                <c:pt idx="2">
                  <c:v>Q4</c:v>
                </c:pt>
                <c:pt idx="3">
                  <c:v>Q1</c:v>
                </c:pt>
                <c:pt idx="4">
                  <c:v>Q2</c:v>
                </c:pt>
                <c:pt idx="5">
                  <c:v>Q3</c:v>
                </c:pt>
                <c:pt idx="6">
                  <c:v>Q4</c:v>
                </c:pt>
                <c:pt idx="7">
                  <c:v>Q1</c:v>
                </c:pt>
                <c:pt idx="8">
                  <c:v>Q2</c:v>
                </c:pt>
                <c:pt idx="9">
                  <c:v>Q3</c:v>
                </c:pt>
                <c:pt idx="10">
                  <c:v>Q4</c:v>
                </c:pt>
                <c:pt idx="11">
                  <c:v>Q1</c:v>
                </c:pt>
                <c:pt idx="12">
                  <c:v>Q2</c:v>
                </c:pt>
                <c:pt idx="13">
                  <c:v>Q3</c:v>
                </c:pt>
                <c:pt idx="14">
                  <c:v>Q4</c:v>
                </c:pt>
              </c:strCache>
            </c:strRef>
          </c:cat>
          <c:val>
            <c:numRef>
              <c:f>Sheet1!$C$2:$C$16</c:f>
              <c:numCache>
                <c:formatCode>#,##0</c:formatCode>
                <c:ptCount val="15"/>
                <c:pt idx="0">
                  <c:v>538197.64329603675</c:v>
                </c:pt>
                <c:pt idx="1">
                  <c:v>25621174.333593495</c:v>
                </c:pt>
                <c:pt idx="2">
                  <c:v>29539064.702483475</c:v>
                </c:pt>
                <c:pt idx="3">
                  <c:v>30396104.654998183</c:v>
                </c:pt>
                <c:pt idx="4">
                  <c:v>27850010.328380652</c:v>
                </c:pt>
                <c:pt idx="5">
                  <c:v>31275303.670490406</c:v>
                </c:pt>
                <c:pt idx="6">
                  <c:v>43774730.45691812</c:v>
                </c:pt>
                <c:pt idx="7">
                  <c:v>46435654.887068063</c:v>
                </c:pt>
                <c:pt idx="8">
                  <c:v>22402062.579637695</c:v>
                </c:pt>
                <c:pt idx="9">
                  <c:v>21716535.802619979</c:v>
                </c:pt>
                <c:pt idx="10">
                  <c:v>21322598.040760566</c:v>
                </c:pt>
                <c:pt idx="11">
                  <c:v>24123980.790116429</c:v>
                </c:pt>
                <c:pt idx="12">
                  <c:v>21404159.374568474</c:v>
                </c:pt>
                <c:pt idx="13">
                  <c:v>25767267.404545937</c:v>
                </c:pt>
                <c:pt idx="14" formatCode="General">
                  <c:v>27133780.898321971</c:v>
                </c:pt>
              </c:numCache>
            </c:numRef>
          </c:val>
          <c:extLst>
            <c:ext xmlns:c16="http://schemas.microsoft.com/office/drawing/2014/chart" uri="{C3380CC4-5D6E-409C-BE32-E72D297353CC}">
              <c16:uniqueId val="{00000001-1F09-6841-860F-4883AB72470C}"/>
            </c:ext>
          </c:extLst>
        </c:ser>
        <c:dLbls>
          <c:showLegendKey val="0"/>
          <c:showVal val="0"/>
          <c:showCatName val="0"/>
          <c:showSerName val="0"/>
          <c:showPercent val="0"/>
          <c:showBubbleSize val="0"/>
        </c:dLbls>
        <c:gapWidth val="80"/>
        <c:overlap val="100"/>
        <c:axId val="1782668160"/>
        <c:axId val="1856600928"/>
      </c:barChart>
      <c:catAx>
        <c:axId val="1782668160"/>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ctr" anchorCtr="1"/>
          <a:lstStyle/>
          <a:p>
            <a:pPr>
              <a:defRPr lang="ja-JP" sz="900" b="0" i="0" u="none" strike="noStrike" kern="1200" baseline="0">
                <a:solidFill>
                  <a:srgbClr val="142FA4"/>
                </a:solidFill>
                <a:latin typeface="Poppins" pitchFamily="2" charset="0"/>
                <a:ea typeface="+mn-ea"/>
                <a:cs typeface="Poppins" pitchFamily="2" charset="0"/>
              </a:defRPr>
            </a:pPr>
            <a:endParaRPr lang="en-US"/>
          </a:p>
        </c:txPr>
        <c:crossAx val="1856600928"/>
        <c:crosses val="autoZero"/>
        <c:auto val="1"/>
        <c:lblAlgn val="ctr"/>
        <c:lblOffset val="100"/>
        <c:tickMarkSkip val="1"/>
        <c:noMultiLvlLbl val="0"/>
      </c:catAx>
      <c:valAx>
        <c:axId val="1856600928"/>
        <c:scaling>
          <c:orientation val="minMax"/>
        </c:scaling>
        <c:delete val="0"/>
        <c:axPos val="l"/>
        <c:majorGridlines>
          <c:spPr>
            <a:ln w="9525" cap="flat" cmpd="sng" algn="ctr">
              <a:noFill/>
              <a:round/>
            </a:ln>
            <a:effectLst/>
          </c:spPr>
        </c:majorGridlines>
        <c:numFmt formatCode="#,##0_);[Red]\(#,##0\)" sourceLinked="0"/>
        <c:majorTickMark val="none"/>
        <c:minorTickMark val="none"/>
        <c:tickLblPos val="nextTo"/>
        <c:spPr>
          <a:noFill/>
          <a:ln>
            <a:solidFill>
              <a:srgbClr val="142FA4"/>
            </a:solidFill>
          </a:ln>
          <a:effectLst/>
        </c:spPr>
        <c:txPr>
          <a:bodyPr rot="-60000000" spcFirstLastPara="1" vertOverflow="ellipsis" vert="horz" wrap="square" anchor="ctr" anchorCtr="1"/>
          <a:lstStyle/>
          <a:p>
            <a:pPr>
              <a:defRPr lang="ja-JP" sz="900" b="0" i="0" u="none" strike="noStrike" kern="1200" baseline="0">
                <a:solidFill>
                  <a:srgbClr val="142FA4"/>
                </a:solidFill>
                <a:latin typeface="Poppins" pitchFamily="2" charset="0"/>
                <a:ea typeface="+mn-ea"/>
                <a:cs typeface="Poppins" pitchFamily="2" charset="0"/>
              </a:defRPr>
            </a:pPr>
            <a:endParaRPr lang="en-US"/>
          </a:p>
        </c:txPr>
        <c:crossAx val="1782668160"/>
        <c:crosses val="autoZero"/>
        <c:crossBetween val="between"/>
        <c:dispUnits>
          <c:builtInUnit val="thousands"/>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6566793920222"/>
          <c:y val="0.16601296267809626"/>
          <c:w val="0.70942633807279576"/>
          <c:h val="0.76921112777798162"/>
        </c:manualLayout>
      </c:layout>
      <c:barChart>
        <c:barDir val="col"/>
        <c:grouping val="clustered"/>
        <c:varyColors val="0"/>
        <c:ser>
          <c:idx val="0"/>
          <c:order val="0"/>
          <c:tx>
            <c:strRef>
              <c:f>Sheet1!$B$1</c:f>
              <c:strCache>
                <c:ptCount val="1"/>
                <c:pt idx="0">
                  <c:v>サブスク</c:v>
                </c:pt>
              </c:strCache>
            </c:strRef>
          </c:tx>
          <c:spPr>
            <a:solidFill>
              <a:schemeClr val="accent1"/>
            </a:solidFill>
            <a:ln>
              <a:noFill/>
            </a:ln>
            <a:effectLst/>
          </c:spPr>
          <c:invertIfNegative val="0"/>
          <c:dPt>
            <c:idx val="0"/>
            <c:invertIfNegative val="0"/>
            <c:bubble3D val="0"/>
            <c:spPr>
              <a:solidFill>
                <a:srgbClr val="142FA4"/>
              </a:solidFill>
              <a:ln>
                <a:noFill/>
              </a:ln>
              <a:effectLst/>
            </c:spPr>
            <c:extLst>
              <c:ext xmlns:c16="http://schemas.microsoft.com/office/drawing/2014/chart" uri="{C3380CC4-5D6E-409C-BE32-E72D297353CC}">
                <c16:uniqueId val="{00000001-F747-F44B-A746-CB119B33EED2}"/>
              </c:ext>
            </c:extLst>
          </c:dPt>
          <c:dPt>
            <c:idx val="1"/>
            <c:invertIfNegative val="0"/>
            <c:bubble3D val="0"/>
            <c:spPr>
              <a:solidFill>
                <a:srgbClr val="142FA4"/>
              </a:solidFill>
              <a:ln>
                <a:noFill/>
              </a:ln>
              <a:effectLst/>
            </c:spPr>
            <c:extLst>
              <c:ext xmlns:c16="http://schemas.microsoft.com/office/drawing/2014/chart" uri="{C3380CC4-5D6E-409C-BE32-E72D297353CC}">
                <c16:uniqueId val="{00000003-F747-F44B-A746-CB119B33EED2}"/>
              </c:ext>
            </c:extLst>
          </c:dPt>
          <c:dLbls>
            <c:delete val="1"/>
          </c:dLbls>
          <c:cat>
            <c:strRef>
              <c:f>Sheet1!$A$2:$A$3</c:f>
              <c:strCache>
                <c:ptCount val="2"/>
                <c:pt idx="0">
                  <c:v>FY25/12
実績</c:v>
                </c:pt>
                <c:pt idx="1">
                  <c:v>FY26/12
計画</c:v>
                </c:pt>
              </c:strCache>
            </c:strRef>
          </c:cat>
          <c:val>
            <c:numRef>
              <c:f>Sheet1!$B$2:$B$3</c:f>
              <c:numCache>
                <c:formatCode>General</c:formatCode>
                <c:ptCount val="2"/>
                <c:pt idx="0">
                  <c:v>1202</c:v>
                </c:pt>
                <c:pt idx="1">
                  <c:v>1731</c:v>
                </c:pt>
              </c:numCache>
            </c:numRef>
          </c:val>
          <c:extLst>
            <c:ext xmlns:c16="http://schemas.microsoft.com/office/drawing/2014/chart" uri="{C3380CC4-5D6E-409C-BE32-E72D297353CC}">
              <c16:uniqueId val="{00000004-F747-F44B-A746-CB119B33EED2}"/>
            </c:ext>
          </c:extLst>
        </c:ser>
        <c:dLbls>
          <c:dLblPos val="outEnd"/>
          <c:showLegendKey val="0"/>
          <c:showVal val="1"/>
          <c:showCatName val="0"/>
          <c:showSerName val="0"/>
          <c:showPercent val="0"/>
          <c:showBubbleSize val="0"/>
        </c:dLbls>
        <c:gapWidth val="116"/>
        <c:axId val="1809606959"/>
        <c:axId val="1809608671"/>
      </c:barChart>
      <c:lineChart>
        <c:grouping val="standard"/>
        <c:varyColors val="0"/>
        <c:ser>
          <c:idx val="1"/>
          <c:order val="1"/>
          <c:tx>
            <c:strRef>
              <c:f>Sheet1!$C$1</c:f>
              <c:strCache>
                <c:ptCount val="1"/>
                <c:pt idx="0">
                  <c:v>サブスク契約数</c:v>
                </c:pt>
              </c:strCache>
            </c:strRef>
          </c:tx>
          <c:spPr>
            <a:ln w="25400" cap="rnd">
              <a:solidFill>
                <a:srgbClr val="00A7FF"/>
              </a:solidFill>
              <a:round/>
            </a:ln>
            <a:effectLst/>
          </c:spPr>
          <c:marker>
            <c:symbol val="circle"/>
            <c:size val="8"/>
            <c:spPr>
              <a:solidFill>
                <a:srgbClr val="00A7FF"/>
              </a:solidFill>
              <a:ln w="9525">
                <a:noFill/>
              </a:ln>
              <a:effectLst/>
            </c:spPr>
          </c:marker>
          <c:dLbls>
            <c:dLbl>
              <c:idx val="1"/>
              <c:layout>
                <c:manualLayout>
                  <c:x val="-8.6319786826957706E-2"/>
                  <c:y val="-5.2889767261598448E-2"/>
                </c:manualLayout>
              </c:layout>
              <c:tx>
                <c:rich>
                  <a:bodyPr/>
                  <a:lstStyle/>
                  <a:p>
                    <a:fld id="{86413AC1-3B77-5B45-8AA9-3484FF43DCB8}" type="VALUE">
                      <a:rPr lang="en-US" altLang="ja-JP" b="0" i="0">
                        <a:ea typeface="M PLUS 1p" panose="020B0502020203020207" pitchFamily="34" charset="-128"/>
                      </a:rPr>
                      <a:pPr/>
                      <a:t>[値]</a:t>
                    </a:fld>
                    <a:endParaRPr lang="ja-JP" alt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F747-F44B-A746-CB119B33EED2}"/>
                </c:ext>
              </c:extLst>
            </c:dLbl>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rgbClr val="00A7FF"/>
                    </a:solidFill>
                    <a:latin typeface="Poppins SemiBold" pitchFamily="2" charset="0"/>
                    <a:ea typeface="+mn-ea"/>
                    <a:cs typeface="Poppins SemiBold" pitchFamily="2"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FY25/12
実績</c:v>
                </c:pt>
                <c:pt idx="1">
                  <c:v>FY26/12
計画</c:v>
                </c:pt>
              </c:strCache>
            </c:strRef>
          </c:cat>
          <c:val>
            <c:numRef>
              <c:f>Sheet1!$C$2:$C$3</c:f>
              <c:numCache>
                <c:formatCode>General</c:formatCode>
                <c:ptCount val="2"/>
                <c:pt idx="0">
                  <c:v>397</c:v>
                </c:pt>
                <c:pt idx="1">
                  <c:v>547</c:v>
                </c:pt>
              </c:numCache>
            </c:numRef>
          </c:val>
          <c:smooth val="0"/>
          <c:extLst>
            <c:ext xmlns:c16="http://schemas.microsoft.com/office/drawing/2014/chart" uri="{C3380CC4-5D6E-409C-BE32-E72D297353CC}">
              <c16:uniqueId val="{00000006-F747-F44B-A746-CB119B33EED2}"/>
            </c:ext>
          </c:extLst>
        </c:ser>
        <c:dLbls>
          <c:showLegendKey val="0"/>
          <c:showVal val="1"/>
          <c:showCatName val="0"/>
          <c:showSerName val="0"/>
          <c:showPercent val="0"/>
          <c:showBubbleSize val="0"/>
        </c:dLbls>
        <c:marker val="1"/>
        <c:smooth val="0"/>
        <c:axId val="2015014639"/>
        <c:axId val="1904338623"/>
      </c:lineChart>
      <c:catAx>
        <c:axId val="1809606959"/>
        <c:scaling>
          <c:orientation val="minMax"/>
        </c:scaling>
        <c:delete val="1"/>
        <c:axPos val="b"/>
        <c:numFmt formatCode="General" sourceLinked="1"/>
        <c:majorTickMark val="none"/>
        <c:minorTickMark val="none"/>
        <c:tickLblPos val="nextTo"/>
        <c:crossAx val="1809608671"/>
        <c:crosses val="autoZero"/>
        <c:auto val="1"/>
        <c:lblAlgn val="ctr"/>
        <c:lblOffset val="100"/>
        <c:noMultiLvlLbl val="0"/>
      </c:catAx>
      <c:valAx>
        <c:axId val="1809608671"/>
        <c:scaling>
          <c:orientation val="minMax"/>
          <c:max val="2100"/>
          <c:min val="0"/>
        </c:scaling>
        <c:delete val="0"/>
        <c:axPos val="l"/>
        <c:majorGridlines>
          <c:spPr>
            <a:ln w="9525" cap="flat" cmpd="sng" algn="ctr">
              <a:no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bg1"/>
                </a:solidFill>
                <a:latin typeface="+mn-lt"/>
                <a:ea typeface="+mn-ea"/>
                <a:cs typeface="+mn-cs"/>
              </a:defRPr>
            </a:pPr>
            <a:endParaRPr lang="en-US"/>
          </a:p>
        </c:txPr>
        <c:crossAx val="1809606959"/>
        <c:crosses val="autoZero"/>
        <c:crossBetween val="between"/>
      </c:valAx>
      <c:valAx>
        <c:axId val="1904338623"/>
        <c:scaling>
          <c:orientation val="minMax"/>
          <c:max val="6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600" b="0" i="0" u="none" strike="noStrike" kern="1200" baseline="0">
                <a:solidFill>
                  <a:schemeClr val="bg1"/>
                </a:solidFill>
                <a:latin typeface="+mn-lt"/>
                <a:ea typeface="+mn-ea"/>
                <a:cs typeface="+mn-cs"/>
              </a:defRPr>
            </a:pPr>
            <a:endParaRPr lang="en-US"/>
          </a:p>
        </c:txPr>
        <c:crossAx val="2015014639"/>
        <c:crosses val="max"/>
        <c:crossBetween val="between"/>
      </c:valAx>
      <c:catAx>
        <c:axId val="2015014639"/>
        <c:scaling>
          <c:orientation val="minMax"/>
        </c:scaling>
        <c:delete val="1"/>
        <c:axPos val="b"/>
        <c:numFmt formatCode="General" sourceLinked="1"/>
        <c:majorTickMark val="out"/>
        <c:minorTickMark val="none"/>
        <c:tickLblPos val="nextTo"/>
        <c:crossAx val="1904338623"/>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濃青（上部）</c:v>
                </c:pt>
              </c:strCache>
            </c:strRef>
          </c:tx>
          <c:spPr>
            <a:solidFill>
              <a:srgbClr val="142FA4"/>
            </a:solidFill>
            <a:ln>
              <a:noFill/>
            </a:ln>
            <a:effectLst/>
          </c:spPr>
          <c:invertIfNegative val="0"/>
          <c:cat>
            <c:strRef>
              <c:f>Sheet1!$A$2:$A$4</c:f>
              <c:strCache>
                <c:ptCount val="3"/>
                <c:pt idx="0">
                  <c:v>FY25/12
実績</c:v>
                </c:pt>
                <c:pt idx="2">
                  <c:v>FY26/12
計画</c:v>
                </c:pt>
              </c:strCache>
            </c:strRef>
          </c:cat>
          <c:val>
            <c:numRef>
              <c:f>Sheet1!$B$2:$B$4</c:f>
              <c:numCache>
                <c:formatCode>General</c:formatCode>
                <c:ptCount val="3"/>
                <c:pt idx="0" formatCode="0_ ">
                  <c:v>5005</c:v>
                </c:pt>
                <c:pt idx="2">
                  <c:v>5454</c:v>
                </c:pt>
              </c:numCache>
            </c:numRef>
          </c:val>
          <c:extLst>
            <c:ext xmlns:c16="http://schemas.microsoft.com/office/drawing/2014/chart" uri="{C3380CC4-5D6E-409C-BE32-E72D297353CC}">
              <c16:uniqueId val="{00000000-1F6B-ED47-B6C8-CD0512D65216}"/>
            </c:ext>
          </c:extLst>
        </c:ser>
        <c:dLbls>
          <c:showLegendKey val="0"/>
          <c:showVal val="0"/>
          <c:showCatName val="0"/>
          <c:showSerName val="0"/>
          <c:showPercent val="0"/>
          <c:showBubbleSize val="0"/>
        </c:dLbls>
        <c:gapWidth val="25"/>
        <c:overlap val="100"/>
        <c:axId val="847024752"/>
        <c:axId val="847026464"/>
      </c:barChart>
      <c:catAx>
        <c:axId val="847024752"/>
        <c:scaling>
          <c:orientation val="minMax"/>
        </c:scaling>
        <c:delete val="1"/>
        <c:axPos val="b"/>
        <c:numFmt formatCode="General" sourceLinked="1"/>
        <c:majorTickMark val="none"/>
        <c:minorTickMark val="none"/>
        <c:tickLblPos val="nextTo"/>
        <c:crossAx val="847026464"/>
        <c:crosses val="autoZero"/>
        <c:auto val="1"/>
        <c:lblAlgn val="ctr"/>
        <c:lblOffset val="100"/>
        <c:noMultiLvlLbl val="0"/>
      </c:catAx>
      <c:valAx>
        <c:axId val="847026464"/>
        <c:scaling>
          <c:orientation val="minMax"/>
          <c:min val="0"/>
        </c:scaling>
        <c:delete val="1"/>
        <c:axPos val="l"/>
        <c:majorGridlines>
          <c:spPr>
            <a:ln w="9525" cap="flat" cmpd="sng" algn="ctr">
              <a:noFill/>
              <a:round/>
            </a:ln>
            <a:effectLst/>
          </c:spPr>
        </c:majorGridlines>
        <c:numFmt formatCode="0_ " sourceLinked="1"/>
        <c:majorTickMark val="out"/>
        <c:minorTickMark val="none"/>
        <c:tickLblPos val="nextTo"/>
        <c:crossAx val="847024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濃青（上部）</c:v>
                </c:pt>
              </c:strCache>
            </c:strRef>
          </c:tx>
          <c:spPr>
            <a:solidFill>
              <a:schemeClr val="accent1"/>
            </a:solidFill>
            <a:ln>
              <a:noFill/>
            </a:ln>
            <a:effectLst/>
          </c:spPr>
          <c:invertIfNegative val="0"/>
          <c:dPt>
            <c:idx val="0"/>
            <c:invertIfNegative val="0"/>
            <c:bubble3D val="0"/>
            <c:spPr>
              <a:solidFill>
                <a:srgbClr val="00A7FF"/>
              </a:solidFill>
              <a:ln>
                <a:noFill/>
              </a:ln>
              <a:effectLst/>
            </c:spPr>
            <c:extLst>
              <c:ext xmlns:c16="http://schemas.microsoft.com/office/drawing/2014/chart" uri="{C3380CC4-5D6E-409C-BE32-E72D297353CC}">
                <c16:uniqueId val="{00000001-A3BD-4D8F-BE7A-393CDFAC5999}"/>
              </c:ext>
            </c:extLst>
          </c:dPt>
          <c:dPt>
            <c:idx val="2"/>
            <c:invertIfNegative val="0"/>
            <c:bubble3D val="0"/>
            <c:spPr>
              <a:solidFill>
                <a:srgbClr val="00A7FF"/>
              </a:solidFill>
              <a:ln>
                <a:noFill/>
              </a:ln>
              <a:effectLst/>
            </c:spPr>
            <c:extLst>
              <c:ext xmlns:c16="http://schemas.microsoft.com/office/drawing/2014/chart" uri="{C3380CC4-5D6E-409C-BE32-E72D297353CC}">
                <c16:uniqueId val="{00000000-A3BD-4D8F-BE7A-393CDFAC5999}"/>
              </c:ext>
            </c:extLst>
          </c:dPt>
          <c:cat>
            <c:strRef>
              <c:f>Sheet1!$A$2:$A$4</c:f>
              <c:strCache>
                <c:ptCount val="3"/>
                <c:pt idx="0">
                  <c:v>FY25/12
実績</c:v>
                </c:pt>
                <c:pt idx="2">
                  <c:v>FY26/12
計画</c:v>
                </c:pt>
              </c:strCache>
            </c:strRef>
          </c:cat>
          <c:val>
            <c:numRef>
              <c:f>Sheet1!$B$2:$B$4</c:f>
              <c:numCache>
                <c:formatCode>General</c:formatCode>
                <c:ptCount val="3"/>
                <c:pt idx="0">
                  <c:v>1201</c:v>
                </c:pt>
                <c:pt idx="2">
                  <c:v>1355</c:v>
                </c:pt>
              </c:numCache>
            </c:numRef>
          </c:val>
          <c:extLst>
            <c:ext xmlns:c16="http://schemas.microsoft.com/office/drawing/2014/chart" uri="{C3380CC4-5D6E-409C-BE32-E72D297353CC}">
              <c16:uniqueId val="{00000000-135E-F048-A790-AFF84870FA38}"/>
            </c:ext>
          </c:extLst>
        </c:ser>
        <c:dLbls>
          <c:showLegendKey val="0"/>
          <c:showVal val="0"/>
          <c:showCatName val="0"/>
          <c:showSerName val="0"/>
          <c:showPercent val="0"/>
          <c:showBubbleSize val="0"/>
        </c:dLbls>
        <c:gapWidth val="25"/>
        <c:overlap val="100"/>
        <c:axId val="847024752"/>
        <c:axId val="847026464"/>
      </c:barChart>
      <c:catAx>
        <c:axId val="847024752"/>
        <c:scaling>
          <c:orientation val="minMax"/>
        </c:scaling>
        <c:delete val="1"/>
        <c:axPos val="b"/>
        <c:numFmt formatCode="General" sourceLinked="1"/>
        <c:majorTickMark val="none"/>
        <c:minorTickMark val="none"/>
        <c:tickLblPos val="nextTo"/>
        <c:crossAx val="847026464"/>
        <c:crosses val="autoZero"/>
        <c:auto val="1"/>
        <c:lblAlgn val="ctr"/>
        <c:lblOffset val="100"/>
        <c:noMultiLvlLbl val="0"/>
      </c:catAx>
      <c:valAx>
        <c:axId val="847026464"/>
        <c:scaling>
          <c:orientation val="minMax"/>
          <c:max val="6000"/>
          <c:min val="0"/>
        </c:scaling>
        <c:delete val="1"/>
        <c:axPos val="l"/>
        <c:majorGridlines>
          <c:spPr>
            <a:ln w="9525" cap="flat" cmpd="sng" algn="ctr">
              <a:noFill/>
              <a:round/>
            </a:ln>
            <a:effectLst/>
          </c:spPr>
        </c:majorGridlines>
        <c:numFmt formatCode="General" sourceLinked="1"/>
        <c:majorTickMark val="out"/>
        <c:minorTickMark val="none"/>
        <c:tickLblPos val="nextTo"/>
        <c:crossAx val="847024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濃青（上部）</c:v>
                </c:pt>
              </c:strCache>
            </c:strRef>
          </c:tx>
          <c:spPr>
            <a:solidFill>
              <a:srgbClr val="00A7FF"/>
            </a:solidFill>
            <a:ln>
              <a:noFill/>
            </a:ln>
            <a:effectLst/>
          </c:spPr>
          <c:invertIfNegative val="0"/>
          <c:dPt>
            <c:idx val="1"/>
            <c:invertIfNegative val="0"/>
            <c:bubble3D val="0"/>
            <c:spPr>
              <a:solidFill>
                <a:srgbClr val="142FA4"/>
              </a:solidFill>
              <a:ln>
                <a:noFill/>
              </a:ln>
              <a:effectLst/>
            </c:spPr>
            <c:extLst>
              <c:ext xmlns:c16="http://schemas.microsoft.com/office/drawing/2014/chart" uri="{C3380CC4-5D6E-409C-BE32-E72D297353CC}">
                <c16:uniqueId val="{00000001-0F2D-B845-8923-9311EBD723A6}"/>
              </c:ext>
            </c:extLst>
          </c:dPt>
          <c:dPt>
            <c:idx val="2"/>
            <c:invertIfNegative val="0"/>
            <c:bubble3D val="0"/>
            <c:spPr>
              <a:solidFill>
                <a:srgbClr val="D44ED9"/>
              </a:solidFill>
              <a:ln>
                <a:noFill/>
              </a:ln>
              <a:effectLst/>
            </c:spPr>
            <c:extLst>
              <c:ext xmlns:c16="http://schemas.microsoft.com/office/drawing/2014/chart" uri="{C3380CC4-5D6E-409C-BE32-E72D297353CC}">
                <c16:uniqueId val="{00000003-0F2D-B845-8923-9311EBD723A6}"/>
              </c:ext>
            </c:extLst>
          </c:dPt>
          <c:cat>
            <c:strRef>
              <c:f>Sheet1!$A$2:$A$4</c:f>
              <c:strCache>
                <c:ptCount val="3"/>
                <c:pt idx="0">
                  <c:v>FY25/12
実績</c:v>
                </c:pt>
                <c:pt idx="2">
                  <c:v>FY26/12
計画</c:v>
                </c:pt>
              </c:strCache>
            </c:strRef>
          </c:cat>
          <c:val>
            <c:numRef>
              <c:f>Sheet1!$B$2:$B$4</c:f>
              <c:numCache>
                <c:formatCode>General</c:formatCode>
                <c:ptCount val="3"/>
                <c:pt idx="0" formatCode="0_ ">
                  <c:v>2796</c:v>
                </c:pt>
                <c:pt idx="1">
                  <c:v>2108</c:v>
                </c:pt>
                <c:pt idx="2">
                  <c:v>119</c:v>
                </c:pt>
              </c:numCache>
            </c:numRef>
          </c:val>
          <c:extLst>
            <c:ext xmlns:c16="http://schemas.microsoft.com/office/drawing/2014/chart" uri="{C3380CC4-5D6E-409C-BE32-E72D297353CC}">
              <c16:uniqueId val="{00000004-0F2D-B845-8923-9311EBD723A6}"/>
            </c:ext>
          </c:extLst>
        </c:ser>
        <c:dLbls>
          <c:showLegendKey val="0"/>
          <c:showVal val="0"/>
          <c:showCatName val="0"/>
          <c:showSerName val="0"/>
          <c:showPercent val="0"/>
          <c:showBubbleSize val="0"/>
        </c:dLbls>
        <c:gapWidth val="85"/>
        <c:overlap val="100"/>
        <c:axId val="847024752"/>
        <c:axId val="847026464"/>
      </c:barChart>
      <c:catAx>
        <c:axId val="847024752"/>
        <c:scaling>
          <c:orientation val="minMax"/>
        </c:scaling>
        <c:delete val="1"/>
        <c:axPos val="b"/>
        <c:numFmt formatCode="General" sourceLinked="1"/>
        <c:majorTickMark val="none"/>
        <c:minorTickMark val="none"/>
        <c:tickLblPos val="nextTo"/>
        <c:crossAx val="847026464"/>
        <c:crosses val="autoZero"/>
        <c:auto val="1"/>
        <c:lblAlgn val="ctr"/>
        <c:lblOffset val="100"/>
        <c:noMultiLvlLbl val="0"/>
      </c:catAx>
      <c:valAx>
        <c:axId val="847026464"/>
        <c:scaling>
          <c:orientation val="minMax"/>
          <c:max val="3000"/>
          <c:min val="0"/>
        </c:scaling>
        <c:delete val="1"/>
        <c:axPos val="l"/>
        <c:majorGridlines>
          <c:spPr>
            <a:ln w="9525" cap="flat" cmpd="sng" algn="ctr">
              <a:noFill/>
              <a:round/>
            </a:ln>
            <a:effectLst/>
          </c:spPr>
        </c:majorGridlines>
        <c:numFmt formatCode="0_ " sourceLinked="1"/>
        <c:majorTickMark val="out"/>
        <c:minorTickMark val="none"/>
        <c:tickLblPos val="nextTo"/>
        <c:crossAx val="847024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濃青（上部）</c:v>
                </c:pt>
              </c:strCache>
            </c:strRef>
          </c:tx>
          <c:spPr>
            <a:solidFill>
              <a:srgbClr val="A1DEFF"/>
            </a:solidFill>
            <a:ln>
              <a:noFill/>
            </a:ln>
            <a:effectLst/>
          </c:spPr>
          <c:invertIfNegative val="0"/>
          <c:dPt>
            <c:idx val="1"/>
            <c:invertIfNegative val="0"/>
            <c:bubble3D val="0"/>
            <c:spPr>
              <a:solidFill>
                <a:srgbClr val="A1BFFF"/>
              </a:solidFill>
              <a:ln>
                <a:noFill/>
              </a:ln>
              <a:effectLst/>
            </c:spPr>
            <c:extLst>
              <c:ext xmlns:c16="http://schemas.microsoft.com/office/drawing/2014/chart" uri="{C3380CC4-5D6E-409C-BE32-E72D297353CC}">
                <c16:uniqueId val="{00000001-3022-244D-8CA1-6CEF7E36AFBE}"/>
              </c:ext>
            </c:extLst>
          </c:dPt>
          <c:dPt>
            <c:idx val="2"/>
            <c:invertIfNegative val="0"/>
            <c:bubble3D val="0"/>
            <c:spPr>
              <a:solidFill>
                <a:srgbClr val="FDA6FF"/>
              </a:solidFill>
              <a:ln>
                <a:noFill/>
              </a:ln>
              <a:effectLst/>
            </c:spPr>
            <c:extLst>
              <c:ext xmlns:c16="http://schemas.microsoft.com/office/drawing/2014/chart" uri="{C3380CC4-5D6E-409C-BE32-E72D297353CC}">
                <c16:uniqueId val="{00000003-3022-244D-8CA1-6CEF7E36AFBE}"/>
              </c:ext>
            </c:extLst>
          </c:dPt>
          <c:cat>
            <c:strRef>
              <c:f>Sheet1!$A$2:$A$4</c:f>
              <c:strCache>
                <c:ptCount val="3"/>
                <c:pt idx="0">
                  <c:v>FY25/12
実績</c:v>
                </c:pt>
                <c:pt idx="2">
                  <c:v>FY26/12
計画</c:v>
                </c:pt>
              </c:strCache>
            </c:strRef>
          </c:cat>
          <c:val>
            <c:numRef>
              <c:f>Sheet1!$B$2:$B$4</c:f>
              <c:numCache>
                <c:formatCode>General</c:formatCode>
                <c:ptCount val="3"/>
                <c:pt idx="0" formatCode="0_ ">
                  <c:v>1446</c:v>
                </c:pt>
                <c:pt idx="1">
                  <c:v>285</c:v>
                </c:pt>
                <c:pt idx="2">
                  <c:v>-74</c:v>
                </c:pt>
              </c:numCache>
            </c:numRef>
          </c:val>
          <c:extLst>
            <c:ext xmlns:c16="http://schemas.microsoft.com/office/drawing/2014/chart" uri="{C3380CC4-5D6E-409C-BE32-E72D297353CC}">
              <c16:uniqueId val="{00000004-3022-244D-8CA1-6CEF7E36AFBE}"/>
            </c:ext>
          </c:extLst>
        </c:ser>
        <c:dLbls>
          <c:showLegendKey val="0"/>
          <c:showVal val="0"/>
          <c:showCatName val="0"/>
          <c:showSerName val="0"/>
          <c:showPercent val="0"/>
          <c:showBubbleSize val="0"/>
        </c:dLbls>
        <c:gapWidth val="90"/>
        <c:overlap val="100"/>
        <c:axId val="847024752"/>
        <c:axId val="847026464"/>
      </c:barChart>
      <c:catAx>
        <c:axId val="847024752"/>
        <c:scaling>
          <c:orientation val="minMax"/>
        </c:scaling>
        <c:delete val="1"/>
        <c:axPos val="t"/>
        <c:numFmt formatCode="General" sourceLinked="1"/>
        <c:majorTickMark val="none"/>
        <c:minorTickMark val="none"/>
        <c:tickLblPos val="nextTo"/>
        <c:crossAx val="847026464"/>
        <c:crosses val="max"/>
        <c:auto val="1"/>
        <c:lblAlgn val="ctr"/>
        <c:lblOffset val="100"/>
        <c:noMultiLvlLbl val="0"/>
      </c:catAx>
      <c:valAx>
        <c:axId val="847026464"/>
        <c:scaling>
          <c:orientation val="minMax"/>
          <c:max val="3000"/>
          <c:min val="-500"/>
        </c:scaling>
        <c:delete val="1"/>
        <c:axPos val="l"/>
        <c:majorGridlines>
          <c:spPr>
            <a:ln w="9525" cap="flat" cmpd="sng" algn="ctr">
              <a:noFill/>
              <a:round/>
            </a:ln>
            <a:effectLst/>
          </c:spPr>
        </c:majorGridlines>
        <c:numFmt formatCode="0_ " sourceLinked="1"/>
        <c:majorTickMark val="out"/>
        <c:minorTickMark val="none"/>
        <c:tickLblPos val="nextTo"/>
        <c:crossAx val="847024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536540354330712E-2"/>
          <c:y val="1.8046873889833052E-2"/>
          <c:w val="0.91215342027559054"/>
          <c:h val="0.82580623610936044"/>
        </c:manualLayout>
      </c:layout>
      <c:barChart>
        <c:barDir val="col"/>
        <c:grouping val="clustered"/>
        <c:varyColors val="0"/>
        <c:ser>
          <c:idx val="0"/>
          <c:order val="0"/>
          <c:tx>
            <c:strRef>
              <c:f>Sheet1!$B$1</c:f>
              <c:strCache>
                <c:ptCount val="1"/>
                <c:pt idx="0">
                  <c:v>当期純利益</c:v>
                </c:pt>
              </c:strCache>
            </c:strRef>
          </c:tx>
          <c:spPr>
            <a:solidFill>
              <a:srgbClr val="00A7FF"/>
            </a:solidFill>
            <a:ln>
              <a:noFill/>
            </a:ln>
            <a:effectLst/>
          </c:spPr>
          <c:invertIfNegative val="0"/>
          <c:cat>
            <c:strRef>
              <c:f>Sheet1!$A$2:$A$6</c:f>
              <c:strCache>
                <c:ptCount val="5"/>
                <c:pt idx="0">
                  <c:v>FY22
Result</c:v>
                </c:pt>
                <c:pt idx="1">
                  <c:v>FY23
Result</c:v>
                </c:pt>
                <c:pt idx="2">
                  <c:v>FY24
Result</c:v>
                </c:pt>
                <c:pt idx="3">
                  <c:v>FY25
Result</c:v>
                </c:pt>
                <c:pt idx="4">
                  <c:v>FY26
Plan</c:v>
                </c:pt>
              </c:strCache>
            </c:strRef>
          </c:cat>
          <c:val>
            <c:numRef>
              <c:f>Sheet1!$B$2:$B$6</c:f>
              <c:numCache>
                <c:formatCode>General</c:formatCode>
                <c:ptCount val="5"/>
                <c:pt idx="0">
                  <c:v>1.6</c:v>
                </c:pt>
                <c:pt idx="1">
                  <c:v>2.8</c:v>
                </c:pt>
                <c:pt idx="2">
                  <c:v>8.3000000000000007</c:v>
                </c:pt>
                <c:pt idx="3">
                  <c:v>8.4</c:v>
                </c:pt>
                <c:pt idx="4">
                  <c:v>9.4</c:v>
                </c:pt>
              </c:numCache>
            </c:numRef>
          </c:val>
          <c:extLst>
            <c:ext xmlns:c16="http://schemas.microsoft.com/office/drawing/2014/chart" uri="{C3380CC4-5D6E-409C-BE32-E72D297353CC}">
              <c16:uniqueId val="{00000000-180C-B34F-B29A-173FDB841C1F}"/>
            </c:ext>
          </c:extLst>
        </c:ser>
        <c:dLbls>
          <c:showLegendKey val="0"/>
          <c:showVal val="0"/>
          <c:showCatName val="0"/>
          <c:showSerName val="0"/>
          <c:showPercent val="0"/>
          <c:showBubbleSize val="0"/>
        </c:dLbls>
        <c:gapWidth val="140"/>
        <c:axId val="568777184"/>
        <c:axId val="568530288"/>
      </c:barChart>
      <c:lineChart>
        <c:grouping val="standard"/>
        <c:varyColors val="0"/>
        <c:ser>
          <c:idx val="1"/>
          <c:order val="1"/>
          <c:tx>
            <c:strRef>
              <c:f>Sheet1!$C$1</c:f>
              <c:strCache>
                <c:ptCount val="1"/>
                <c:pt idx="0">
                  <c:v>一株当たり配当金</c:v>
                </c:pt>
              </c:strCache>
            </c:strRef>
          </c:tx>
          <c:spPr>
            <a:ln w="25400" cap="rnd">
              <a:solidFill>
                <a:srgbClr val="142FA4"/>
              </a:solidFill>
              <a:round/>
              <a:tailEnd w="lg" len="lg"/>
            </a:ln>
            <a:effectLst/>
          </c:spPr>
          <c:marker>
            <c:symbol val="circle"/>
            <c:size val="8"/>
            <c:spPr>
              <a:solidFill>
                <a:srgbClr val="142FA4"/>
              </a:solidFill>
              <a:ln w="9525">
                <a:noFill/>
              </a:ln>
              <a:effectLst/>
            </c:spPr>
          </c:marker>
          <c:cat>
            <c:strRef>
              <c:f>Sheet1!$A$2:$A$6</c:f>
              <c:strCache>
                <c:ptCount val="5"/>
                <c:pt idx="0">
                  <c:v>FY22
Result</c:v>
                </c:pt>
                <c:pt idx="1">
                  <c:v>FY23
Result</c:v>
                </c:pt>
                <c:pt idx="2">
                  <c:v>FY24
Result</c:v>
                </c:pt>
                <c:pt idx="3">
                  <c:v>FY25
Result</c:v>
                </c:pt>
                <c:pt idx="4">
                  <c:v>FY26
Plan</c:v>
                </c:pt>
              </c:strCache>
            </c:strRef>
          </c:cat>
          <c:val>
            <c:numRef>
              <c:f>Sheet1!$C$2:$C$6</c:f>
              <c:numCache>
                <c:formatCode>General</c:formatCode>
                <c:ptCount val="5"/>
                <c:pt idx="1">
                  <c:v>14</c:v>
                </c:pt>
                <c:pt idx="2">
                  <c:v>40</c:v>
                </c:pt>
                <c:pt idx="3">
                  <c:v>50</c:v>
                </c:pt>
                <c:pt idx="4">
                  <c:v>60</c:v>
                </c:pt>
              </c:numCache>
            </c:numRef>
          </c:val>
          <c:smooth val="0"/>
          <c:extLst>
            <c:ext xmlns:c16="http://schemas.microsoft.com/office/drawing/2014/chart" uri="{C3380CC4-5D6E-409C-BE32-E72D297353CC}">
              <c16:uniqueId val="{00000001-180C-B34F-B29A-173FDB841C1F}"/>
            </c:ext>
          </c:extLst>
        </c:ser>
        <c:ser>
          <c:idx val="2"/>
          <c:order val="2"/>
          <c:tx>
            <c:strRef>
              <c:f>Sheet1!$D$1</c:f>
              <c:strCache>
                <c:ptCount val="1"/>
                <c:pt idx="0">
                  <c:v>ROE（％）</c:v>
                </c:pt>
              </c:strCache>
            </c:strRef>
          </c:tx>
          <c:spPr>
            <a:ln w="25400" cap="rnd">
              <a:solidFill>
                <a:srgbClr val="D44ED9"/>
              </a:solidFill>
              <a:round/>
            </a:ln>
            <a:effectLst/>
          </c:spPr>
          <c:marker>
            <c:symbol val="circle"/>
            <c:size val="8"/>
            <c:spPr>
              <a:solidFill>
                <a:srgbClr val="D44ED9"/>
              </a:solidFill>
              <a:ln w="9525">
                <a:noFill/>
              </a:ln>
              <a:effectLst/>
            </c:spPr>
          </c:marker>
          <c:cat>
            <c:strRef>
              <c:f>Sheet1!$A$2:$A$6</c:f>
              <c:strCache>
                <c:ptCount val="5"/>
                <c:pt idx="0">
                  <c:v>FY22
Result</c:v>
                </c:pt>
                <c:pt idx="1">
                  <c:v>FY23
Result</c:v>
                </c:pt>
                <c:pt idx="2">
                  <c:v>FY24
Result</c:v>
                </c:pt>
                <c:pt idx="3">
                  <c:v>FY25
Result</c:v>
                </c:pt>
                <c:pt idx="4">
                  <c:v>FY26
Plan</c:v>
                </c:pt>
              </c:strCache>
            </c:strRef>
          </c:cat>
          <c:val>
            <c:numRef>
              <c:f>Sheet1!$D$2:$D$6</c:f>
              <c:numCache>
                <c:formatCode>General</c:formatCode>
                <c:ptCount val="5"/>
                <c:pt idx="2" formatCode="0.0">
                  <c:v>49.7</c:v>
                </c:pt>
                <c:pt idx="3" formatCode="0.0">
                  <c:v>29.908421204268276</c:v>
                </c:pt>
                <c:pt idx="4" formatCode="0.0">
                  <c:v>29.287781861764898</c:v>
                </c:pt>
              </c:numCache>
            </c:numRef>
          </c:val>
          <c:smooth val="0"/>
          <c:extLst>
            <c:ext xmlns:c16="http://schemas.microsoft.com/office/drawing/2014/chart" uri="{C3380CC4-5D6E-409C-BE32-E72D297353CC}">
              <c16:uniqueId val="{00000002-180C-B34F-B29A-173FDB841C1F}"/>
            </c:ext>
          </c:extLst>
        </c:ser>
        <c:dLbls>
          <c:showLegendKey val="0"/>
          <c:showVal val="0"/>
          <c:showCatName val="0"/>
          <c:showSerName val="0"/>
          <c:showPercent val="0"/>
          <c:showBubbleSize val="0"/>
        </c:dLbls>
        <c:marker val="1"/>
        <c:smooth val="0"/>
        <c:axId val="258749136"/>
        <c:axId val="1604127184"/>
      </c:lineChart>
      <c:catAx>
        <c:axId val="568777184"/>
        <c:scaling>
          <c:orientation val="minMax"/>
        </c:scaling>
        <c:delete val="0"/>
        <c:axPos val="b"/>
        <c:numFmt formatCode="General" sourceLinked="1"/>
        <c:majorTickMark val="none"/>
        <c:minorTickMark val="none"/>
        <c:tickLblPos val="nextTo"/>
        <c:spPr>
          <a:noFill/>
          <a:ln w="9525" cap="flat" cmpd="sng" algn="ctr">
            <a:solidFill>
              <a:srgbClr val="142FA4"/>
            </a:solidFill>
            <a:round/>
          </a:ln>
          <a:effectLst/>
        </c:spPr>
        <c:txPr>
          <a:bodyPr rot="-60000000" spcFirstLastPara="1" vertOverflow="ellipsis" vert="horz" wrap="square" anchor="t" anchorCtr="1"/>
          <a:lstStyle/>
          <a:p>
            <a:pPr>
              <a:lnSpc>
                <a:spcPts val="1260"/>
              </a:lnSpc>
              <a:defRPr sz="1050" b="0" i="0" u="none" strike="noStrike" kern="120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endParaRPr lang="ja-JP"/>
          </a:p>
        </c:txPr>
        <c:crossAx val="568530288"/>
        <c:crosses val="autoZero"/>
        <c:auto val="1"/>
        <c:lblAlgn val="ctr"/>
        <c:lblOffset val="100"/>
        <c:noMultiLvlLbl val="0"/>
      </c:catAx>
      <c:valAx>
        <c:axId val="56853028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ja-JP"/>
          </a:p>
        </c:txPr>
        <c:crossAx val="568777184"/>
        <c:crosses val="autoZero"/>
        <c:crossBetween val="between"/>
      </c:valAx>
      <c:valAx>
        <c:axId val="1604127184"/>
        <c:scaling>
          <c:orientation val="minMax"/>
          <c:max val="70"/>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ja-JP"/>
          </a:p>
        </c:txPr>
        <c:crossAx val="258749136"/>
        <c:crosses val="max"/>
        <c:crossBetween val="between"/>
      </c:valAx>
      <c:catAx>
        <c:axId val="258749136"/>
        <c:scaling>
          <c:orientation val="minMax"/>
        </c:scaling>
        <c:delete val="1"/>
        <c:axPos val="b"/>
        <c:numFmt formatCode="General" sourceLinked="1"/>
        <c:majorTickMark val="none"/>
        <c:minorTickMark val="none"/>
        <c:tickLblPos val="nextTo"/>
        <c:crossAx val="1604127184"/>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4.xml.rels><?xml version="1.0" encoding="UTF-8" standalone="yes"?>
<Relationships xmlns="http://schemas.openxmlformats.org/package/2006/relationships"><Relationship Id="rId1" Type="http://schemas.openxmlformats.org/officeDocument/2006/relationships/image" Target="../media/image73.png"/></Relationships>
</file>

<file path=ppt/drawings/drawing1.xml><?xml version="1.0" encoding="utf-8"?>
<c:userShapes xmlns:c="http://schemas.openxmlformats.org/drawingml/2006/chart">
  <cdr:relSizeAnchor xmlns:cdr="http://schemas.openxmlformats.org/drawingml/2006/chartDrawing">
    <cdr:from>
      <cdr:x>0.11556</cdr:x>
      <cdr:y>0.20604</cdr:y>
    </cdr:from>
    <cdr:to>
      <cdr:x>0.21974</cdr:x>
      <cdr:y>0.31129</cdr:y>
    </cdr:to>
    <cdr:sp macro="" textlink="">
      <cdr:nvSpPr>
        <cdr:cNvPr id="2" name="テキスト ボックス 1">
          <a:extLst xmlns:a="http://schemas.openxmlformats.org/drawingml/2006/main">
            <a:ext uri="{FF2B5EF4-FFF2-40B4-BE49-F238E27FC236}">
              <a16:creationId xmlns:a16="http://schemas.microsoft.com/office/drawing/2014/main" id="{3FC27B0A-D165-7F24-EBC9-60036B114344}"/>
            </a:ext>
          </a:extLst>
        </cdr:cNvPr>
        <cdr:cNvSpPr txBox="1"/>
      </cdr:nvSpPr>
      <cdr:spPr>
        <a:xfrm xmlns:a="http://schemas.openxmlformats.org/drawingml/2006/main">
          <a:off x="633402" y="662740"/>
          <a:ext cx="570989" cy="33855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ja-JP" alt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0.4714</cdr:x>
      <cdr:y>0.32096</cdr:y>
    </cdr:from>
    <cdr:to>
      <cdr:x>0.53217</cdr:x>
      <cdr:y>0.38686</cdr:y>
    </cdr:to>
    <cdr:sp macro="" textlink="">
      <cdr:nvSpPr>
        <cdr:cNvPr id="2" name="テキスト ボックス 6">
          <a:extLst xmlns:a="http://schemas.openxmlformats.org/drawingml/2006/main">
            <a:ext uri="{FF2B5EF4-FFF2-40B4-BE49-F238E27FC236}">
              <a16:creationId xmlns:a16="http://schemas.microsoft.com/office/drawing/2014/main" id="{EE4EFAAF-AA00-C72F-7E25-6F508EEDAA6D}"/>
            </a:ext>
          </a:extLst>
        </cdr:cNvPr>
        <cdr:cNvSpPr txBox="1"/>
      </cdr:nvSpPr>
      <cdr:spPr>
        <a:xfrm xmlns:a="http://schemas.openxmlformats.org/drawingml/2006/main">
          <a:off x="3073783" y="1199131"/>
          <a:ext cx="396262" cy="246221"/>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defTabSz="457178">
            <a:defRPr/>
          </a:pPr>
          <a:r>
            <a:rPr kumimoji="1" lang="en-US" altLang="ja-JP" sz="1000" dirty="0">
              <a:solidFill>
                <a:schemeClr val="bg1"/>
              </a:solidFill>
              <a:latin typeface="+mn-ea"/>
            </a:rPr>
            <a:t>628</a:t>
          </a:r>
        </a:p>
      </cdr:txBody>
    </cdr:sp>
  </cdr:relSizeAnchor>
</c:userShapes>
</file>

<file path=ppt/drawings/drawing3.xml><?xml version="1.0" encoding="utf-8"?>
<c:userShapes xmlns:c="http://schemas.openxmlformats.org/drawingml/2006/chart">
  <cdr:relSizeAnchor xmlns:cdr="http://schemas.openxmlformats.org/drawingml/2006/chartDrawing">
    <cdr:from>
      <cdr:x>0.52171</cdr:x>
      <cdr:y>0.11388</cdr:y>
    </cdr:from>
    <cdr:to>
      <cdr:x>0.58797</cdr:x>
      <cdr:y>0.16816</cdr:y>
    </cdr:to>
    <cdr:sp macro="" textlink="">
      <cdr:nvSpPr>
        <cdr:cNvPr id="2" name="テキスト ボックス 6">
          <a:extLst xmlns:a="http://schemas.openxmlformats.org/drawingml/2006/main">
            <a:ext uri="{FF2B5EF4-FFF2-40B4-BE49-F238E27FC236}">
              <a16:creationId xmlns:a16="http://schemas.microsoft.com/office/drawing/2014/main" id="{0DD3BEE1-0926-02E2-A916-2E531BC5341B}"/>
            </a:ext>
          </a:extLst>
        </cdr:cNvPr>
        <cdr:cNvSpPr txBox="1"/>
      </cdr:nvSpPr>
      <cdr:spPr>
        <a:xfrm xmlns:a="http://schemas.openxmlformats.org/drawingml/2006/main">
          <a:off x="3119812" y="516560"/>
          <a:ext cx="396262" cy="246221"/>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defTabSz="457178">
            <a:defRPr/>
          </a:pPr>
          <a:r>
            <a:rPr kumimoji="1" lang="en-US" altLang="ja-JP" sz="1000" dirty="0">
              <a:solidFill>
                <a:schemeClr val="bg1"/>
              </a:solidFill>
              <a:latin typeface="+mn-ea"/>
            </a:rPr>
            <a:t>455</a:t>
          </a:r>
          <a:endParaRPr kumimoji="1" lang="ja-JP" altLang="en-US" sz="1000" dirty="0">
            <a:solidFill>
              <a:schemeClr val="bg1"/>
            </a:solidFill>
            <a:latin typeface="+mn-ea"/>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0.31211</cdr:x>
      <cdr:y>0.13047</cdr:y>
    </cdr:from>
    <cdr:to>
      <cdr:x>0.68734</cdr:x>
      <cdr:y>0.25782</cdr:y>
    </cdr:to>
    <cdr:pic>
      <cdr:nvPicPr>
        <cdr:cNvPr id="4" name="図 3" descr="ロゴ&#10;&#10;AI 生成コンテンツは誤りを含む可能性があります。">
          <a:extLst xmlns:a="http://schemas.openxmlformats.org/drawingml/2006/main">
            <a:ext uri="{FF2B5EF4-FFF2-40B4-BE49-F238E27FC236}">
              <a16:creationId xmlns:a16="http://schemas.microsoft.com/office/drawing/2014/main" id="{AD064519-06BF-C2C6-490E-21EFE79FDA1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1027972" y="300926"/>
          <a:ext cx="1235837" cy="293719"/>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8188C1-D33C-7545-A675-028488F0DAD2}" type="datetimeFigureOut">
              <a:rPr lang="ja-JP" altLang="en-US"/>
              <a:t>2026/8/7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38CCA-5007-0348-90F4-998A54C8AA62}" type="slidenum">
              <a:rPr/>
              <a:t>‹#›</a:t>
            </a:fld>
            <a:endParaRPr kumimoji="1" lang="ja-JP" altLang="en-US"/>
          </a:p>
        </p:txBody>
      </p:sp>
    </p:spTree>
    <p:extLst>
      <p:ext uri="{BB962C8B-B14F-4D97-AF65-F5344CB8AC3E}">
        <p14:creationId xmlns:p14="http://schemas.microsoft.com/office/powerpoint/2010/main" val="10735620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1</a:t>
            </a:fld>
            <a:endParaRPr kumimoji="1" lang="ja-JP" altLang="en-US"/>
          </a:p>
        </p:txBody>
      </p:sp>
    </p:spTree>
    <p:extLst>
      <p:ext uri="{BB962C8B-B14F-4D97-AF65-F5344CB8AC3E}">
        <p14:creationId xmlns:p14="http://schemas.microsoft.com/office/powerpoint/2010/main" val="239956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4</a:t>
            </a:fld>
            <a:endParaRPr kumimoji="1" lang="ja-JP" altLang="en-US"/>
          </a:p>
        </p:txBody>
      </p:sp>
    </p:spTree>
    <p:extLst>
      <p:ext uri="{BB962C8B-B14F-4D97-AF65-F5344CB8AC3E}">
        <p14:creationId xmlns:p14="http://schemas.microsoft.com/office/powerpoint/2010/main" val="2560432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5</a:t>
            </a:fld>
            <a:endParaRPr kumimoji="1" lang="ja-JP" altLang="en-US"/>
          </a:p>
        </p:txBody>
      </p:sp>
    </p:spTree>
    <p:extLst>
      <p:ext uri="{BB962C8B-B14F-4D97-AF65-F5344CB8AC3E}">
        <p14:creationId xmlns:p14="http://schemas.microsoft.com/office/powerpoint/2010/main" val="2633188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6</a:t>
            </a:fld>
            <a:endParaRPr kumimoji="1" lang="ja-JP" altLang="en-US"/>
          </a:p>
        </p:txBody>
      </p:sp>
    </p:spTree>
    <p:extLst>
      <p:ext uri="{BB962C8B-B14F-4D97-AF65-F5344CB8AC3E}">
        <p14:creationId xmlns:p14="http://schemas.microsoft.com/office/powerpoint/2010/main" val="2346969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7</a:t>
            </a:fld>
            <a:endParaRPr kumimoji="1" lang="ja-JP" altLang="en-US"/>
          </a:p>
        </p:txBody>
      </p:sp>
    </p:spTree>
    <p:extLst>
      <p:ext uri="{BB962C8B-B14F-4D97-AF65-F5344CB8AC3E}">
        <p14:creationId xmlns:p14="http://schemas.microsoft.com/office/powerpoint/2010/main" val="1726911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テキストを入れる</a:t>
            </a: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8</a:t>
            </a:fld>
            <a:endParaRPr kumimoji="1" lang="ja-JP" altLang="en-US"/>
          </a:p>
        </p:txBody>
      </p:sp>
    </p:spTree>
    <p:extLst>
      <p:ext uri="{BB962C8B-B14F-4D97-AF65-F5344CB8AC3E}">
        <p14:creationId xmlns:p14="http://schemas.microsoft.com/office/powerpoint/2010/main" val="1265298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F345E36A-2E7D-4022-BEB2-5B1884457A75}" type="slidenum">
              <a:rPr kumimoji="1" lang="ja-JP" altLang="en-US" smtClean="0"/>
              <a:t>9</a:t>
            </a:fld>
            <a:endParaRPr kumimoji="1" lang="ja-JP" altLang="en-US"/>
          </a:p>
        </p:txBody>
      </p:sp>
    </p:spTree>
    <p:extLst>
      <p:ext uri="{BB962C8B-B14F-4D97-AF65-F5344CB8AC3E}">
        <p14:creationId xmlns:p14="http://schemas.microsoft.com/office/powerpoint/2010/main" val="3012919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2400"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mn-cs"/>
            </a:endParaRPr>
          </a:p>
        </p:txBody>
      </p:sp>
    </p:spTree>
    <p:extLst>
      <p:ext uri="{BB962C8B-B14F-4D97-AF65-F5344CB8AC3E}">
        <p14:creationId xmlns:p14="http://schemas.microsoft.com/office/powerpoint/2010/main" val="2906168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4ABED-45BC-04C4-C146-200702EC6E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C114B6-3E5A-4631-4E8B-C4A4956CA954}"/>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6457D0E-1167-A616-9045-89DB83426224}"/>
              </a:ext>
            </a:extLst>
          </p:cNvPr>
          <p:cNvSpPr>
            <a:spLocks noGrp="1"/>
          </p:cNvSpPr>
          <p:nvPr>
            <p:ph type="body" idx="1"/>
          </p:nvPr>
        </p:nvSpPr>
        <p:spPr/>
        <p:txBody>
          <a:bodyPr/>
          <a:lstStyle/>
          <a:p>
            <a:pPr>
              <a:lnSpc>
                <a:spcPts val="1500"/>
              </a:lnSpc>
            </a:pPr>
            <a:endParaRPr lang="ja-JP" altLang="en-US" sz="1200" b="1">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4" name="スライド番号プレースホルダー 3">
            <a:extLst>
              <a:ext uri="{FF2B5EF4-FFF2-40B4-BE49-F238E27FC236}">
                <a16:creationId xmlns:a16="http://schemas.microsoft.com/office/drawing/2014/main" id="{678D1C11-A482-E9FF-A6B3-EF482D7EEA05}"/>
              </a:ext>
            </a:extLst>
          </p:cNvPr>
          <p:cNvSpPr>
            <a:spLocks noGrp="1"/>
          </p:cNvSpPr>
          <p:nvPr>
            <p:ph type="sldNum" sz="quarter" idx="5"/>
          </p:nvPr>
        </p:nvSpPr>
        <p:spPr/>
        <p:txBody>
          <a:bodyPr/>
          <a:lstStyle/>
          <a:p>
            <a:fld id="{C7338CCA-5007-0348-90F4-998A54C8AA62}" type="slidenum">
              <a:rPr lang="en-US" altLang="ja-JP">
                <a:ea typeface="M PLUS 1p" panose="020B0502020203020207" pitchFamily="34" charset="-128"/>
              </a:rPr>
              <a:t>11</a:t>
            </a:fld>
            <a:endParaRPr kumimoji="1" lang="ja-JP" altLang="en-US">
              <a:ea typeface="M PLUS 1p" panose="020B0502020203020207" pitchFamily="34" charset="-128"/>
            </a:endParaRPr>
          </a:p>
        </p:txBody>
      </p:sp>
    </p:spTree>
    <p:extLst>
      <p:ext uri="{BB962C8B-B14F-4D97-AF65-F5344CB8AC3E}">
        <p14:creationId xmlns:p14="http://schemas.microsoft.com/office/powerpoint/2010/main" val="3012219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7653B-CC58-8A20-EB44-C6D791154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756A25-0039-44D8-B1D8-DB4FFAE4A90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1793F58-90A5-CE62-39DF-7BBC714A0DD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7500832-1943-709D-5448-D07184B531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M PLUS 1p" panose="020B0502020203020207" pitchFamily="34" charset="-128"/>
                <a:ea typeface="M PLUS 1p" panose="020B0502020203020207"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M PLUS 1p" panose="020B0502020203020207" pitchFamily="34" charset="-128"/>
              <a:ea typeface="M PLUS 1p" panose="020B0502020203020207" pitchFamily="34" charset="-128"/>
              <a:cs typeface="+mn-cs"/>
            </a:endParaRPr>
          </a:p>
        </p:txBody>
      </p:sp>
    </p:spTree>
    <p:extLst>
      <p:ext uri="{BB962C8B-B14F-4D97-AF65-F5344CB8AC3E}">
        <p14:creationId xmlns:p14="http://schemas.microsoft.com/office/powerpoint/2010/main" val="426221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1579689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23205-8E76-5026-8966-01B8629720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7004D1-2B43-B5AC-C634-BA599ACC6E0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969EE6B7-3D3E-A754-0BF0-F6B74FAC8C26}"/>
              </a:ext>
            </a:extLst>
          </p:cNvPr>
          <p:cNvSpPr>
            <a:spLocks noGrp="1"/>
          </p:cNvSpPr>
          <p:nvPr>
            <p:ph type="body" idx="1"/>
          </p:nvPr>
        </p:nvSpPr>
        <p:spPr/>
        <p:txBody>
          <a:bodyPr/>
          <a:lstStyle/>
          <a:p>
            <a:r>
              <a:rPr kumimoji="1" lang="ja-JP" altLang="en-US"/>
              <a:t>改行変更</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7C1DE23C-B370-7405-E9A7-703AE2F89E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2654306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2645088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a:t>改行変更</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555079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3CA8B-0152-B05E-E09C-254FA274BF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191714-689B-602C-67BA-1D7B53722636}"/>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995C015-5E88-1949-97FF-725A5C59094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B4F78E0A-258B-31C8-D5F4-3F22991474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210337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sz="2800">
              <a:solidFill>
                <a:srgbClr val="142FA4"/>
              </a:solidFill>
            </a:endParaRP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3222477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3990872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pPr marL="0" indent="0">
              <a:lnSpc>
                <a:spcPts val="1720"/>
              </a:lnSpc>
              <a:buFont typeface="Wingdings" pitchFamily="2" charset="2"/>
              <a:buNone/>
            </a:pPr>
            <a:r>
              <a:rPr lang="ja-JP" altLang="en-US" sz="1200">
                <a:solidFill>
                  <a:srgbClr val="142FA4"/>
                </a:solidFill>
                <a:latin typeface="Poppins" pitchFamily="2" charset="0"/>
                <a:ea typeface="M PLUS 1p Medium" panose="020B0502020203020207" pitchFamily="34" charset="-128"/>
                <a:cs typeface="Poppins" pitchFamily="2" charset="0"/>
              </a:rPr>
              <a:t>メインメッセージ改行</a:t>
            </a: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3311223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013843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a:t>改行</a:t>
            </a: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1086364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r>
              <a:rPr kumimoji="1" lang="ja-JP" altLang="en-US"/>
              <a:t>改行変更</a:t>
            </a: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16439227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A179E-BF6E-19C3-3469-5B3CF81B85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469D923-A497-00B8-D9A8-CDB3C2BF3D96}"/>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A6C2D4D-149F-8449-41B9-184BA0C675D9}"/>
              </a:ext>
            </a:extLst>
          </p:cNvPr>
          <p:cNvSpPr>
            <a:spLocks noGrp="1"/>
          </p:cNvSpPr>
          <p:nvPr>
            <p:ph type="body" idx="1"/>
          </p:nvPr>
        </p:nvSpPr>
        <p:spPr/>
        <p:txBody>
          <a:bodyPr/>
          <a:lstStyle/>
          <a:p>
            <a:r>
              <a:rPr kumimoji="1" lang="ja-JP" altLang="en-US"/>
              <a:t>改行変更</a:t>
            </a:r>
            <a:endParaRPr kumimoji="1" lang="en-US" altLang="ja-JP"/>
          </a:p>
        </p:txBody>
      </p:sp>
      <p:sp>
        <p:nvSpPr>
          <p:cNvPr id="4" name="スライド番号プレースホルダー 3">
            <a:extLst>
              <a:ext uri="{FF2B5EF4-FFF2-40B4-BE49-F238E27FC236}">
                <a16:creationId xmlns:a16="http://schemas.microsoft.com/office/drawing/2014/main" id="{BD9C1770-ACB8-2D7E-571E-663FC3057C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17511412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2982460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kern="1200">
              <a:solidFill>
                <a:schemeClr val="tx1"/>
              </a:solidFill>
              <a:effectLst/>
              <a:cs typeface="+mn-cs"/>
            </a:endParaRP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1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Tree>
    <p:extLst>
      <p:ext uri="{BB962C8B-B14F-4D97-AF65-F5344CB8AC3E}">
        <p14:creationId xmlns:p14="http://schemas.microsoft.com/office/powerpoint/2010/main" val="3048454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61B8-13DA-2C70-C0A1-DD628A939F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0FFE10-83CA-4F54-F41D-A2E37A2746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3A1E45-6557-38B9-06B8-D464E2B597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u="none" strike="noStrike">
              <a:solidFill>
                <a:srgbClr val="142FA4"/>
              </a:solidFill>
              <a:effectLst/>
              <a:latin typeface="Poppins" pitchFamily="2" charset="0"/>
              <a:cs typeface="Poppins" pitchFamily="2" charset="0"/>
            </a:endParaRPr>
          </a:p>
        </p:txBody>
      </p:sp>
      <p:sp>
        <p:nvSpPr>
          <p:cNvPr id="4" name="スライド番号プレースホルダー 3">
            <a:extLst>
              <a:ext uri="{FF2B5EF4-FFF2-40B4-BE49-F238E27FC236}">
                <a16:creationId xmlns:a16="http://schemas.microsoft.com/office/drawing/2014/main" id="{EC613CD3-534A-9C6A-3390-A0ACE91AB6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4B776AC-3B93-4F46-9CFC-9DEF6AA76730}" type="slidenum">
              <a:rPr kumimoji="1" lang="ja-JP" altLang="en-US" sz="1200" b="0" i="0" u="none" strike="noStrike" kern="1200" cap="none" spc="0" normalizeH="0" baseline="0" noProof="0" smtClean="0">
                <a:ln>
                  <a:noFill/>
                </a:ln>
                <a:solidFill>
                  <a:prstClr val="black"/>
                </a:solidFill>
                <a:effectLst/>
                <a:uLnTx/>
                <a:uFillTx/>
                <a:latin typeface="Poppins" pitchFamily="2" charset="0"/>
                <a:ea typeface="M PLUS 1p" panose="020B0502020203020207"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1" lang="ja-JP" altLang="en-US" sz="12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mn-cs"/>
            </a:endParaRPr>
          </a:p>
        </p:txBody>
      </p:sp>
    </p:spTree>
    <p:extLst>
      <p:ext uri="{BB962C8B-B14F-4D97-AF65-F5344CB8AC3E}">
        <p14:creationId xmlns:p14="http://schemas.microsoft.com/office/powerpoint/2010/main" val="12528713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9B89D-9368-8058-1070-5026F555E3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B379CC-7B6D-4DAC-2BA8-8DD1AB645C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AEC2105-767D-5545-C23F-99E221C26DF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ED8596F-0C17-A21B-F76A-B2C2A0B211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M PLUS 1p" panose="020B0502020203020207" pitchFamily="34" charset="-128"/>
                <a:ea typeface="M PLUS 1p" panose="020B0502020203020207"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1200" b="0" i="0" u="none" strike="noStrike" kern="1200" cap="none" spc="0" normalizeH="0" baseline="0" noProof="0">
              <a:ln>
                <a:noFill/>
              </a:ln>
              <a:solidFill>
                <a:prstClr val="black"/>
              </a:solidFill>
              <a:effectLst/>
              <a:uLnTx/>
              <a:uFillTx/>
              <a:latin typeface="M PLUS 1p" panose="020B0502020203020207" pitchFamily="34" charset="-128"/>
              <a:ea typeface="M PLUS 1p" panose="020B0502020203020207" pitchFamily="34" charset="-128"/>
              <a:cs typeface="+mn-cs"/>
            </a:endParaRPr>
          </a:p>
        </p:txBody>
      </p:sp>
    </p:spTree>
    <p:extLst>
      <p:ext uri="{BB962C8B-B14F-4D97-AF65-F5344CB8AC3E}">
        <p14:creationId xmlns:p14="http://schemas.microsoft.com/office/powerpoint/2010/main" val="13468615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3DD61-6378-D2DB-682A-1ED2437E2D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2274AE-9F3A-B77A-FF36-DB8B1526D4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6933EA-29B4-5BD0-7D1A-F08B6A176E7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0CB6E7F-91B9-FB09-29F7-95BD18ED1E3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4B776AC-3B93-4F46-9CFC-9DEF6AA76730}" type="slidenum">
              <a:rPr kumimoji="1" lang="ja-JP" altLang="en-US" sz="1200" b="0" i="0" u="none" strike="noStrike" kern="1200" cap="none" spc="0" normalizeH="0" baseline="0" noProof="0" smtClean="0">
                <a:ln>
                  <a:noFill/>
                </a:ln>
                <a:solidFill>
                  <a:prstClr val="black"/>
                </a:solidFill>
                <a:effectLst/>
                <a:uLnTx/>
                <a:uFillTx/>
                <a:latin typeface="Poppins" pitchFamily="2" charset="0"/>
                <a:ea typeface="M PLUS 1p" panose="020B0502020203020207"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1" lang="ja-JP" altLang="en-US" sz="12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mn-cs"/>
            </a:endParaRPr>
          </a:p>
        </p:txBody>
      </p:sp>
    </p:spTree>
    <p:extLst>
      <p:ext uri="{BB962C8B-B14F-4D97-AF65-F5344CB8AC3E}">
        <p14:creationId xmlns:p14="http://schemas.microsoft.com/office/powerpoint/2010/main" val="881197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38CCA-5007-0348-90F4-998A54C8AA62}" type="slidenum">
              <a:rPr kumimoji="1" lang="en-US" altLang="ja-JP" sz="12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12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mn-cs"/>
            </a:endParaRPr>
          </a:p>
        </p:txBody>
      </p:sp>
    </p:spTree>
    <p:extLst>
      <p:ext uri="{BB962C8B-B14F-4D97-AF65-F5344CB8AC3E}">
        <p14:creationId xmlns:p14="http://schemas.microsoft.com/office/powerpoint/2010/main" val="7886688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pic>
        <p:nvPicPr>
          <p:cNvPr id="2" name="図 1" descr="ポーズをとっている人たち&#10;&#10;AI 生成コンテンツは誤りを含む可能性があります。">
            <a:extLst>
              <a:ext uri="{FF2B5EF4-FFF2-40B4-BE49-F238E27FC236}">
                <a16:creationId xmlns:a16="http://schemas.microsoft.com/office/drawing/2014/main" id="{89564084-B8A0-5611-4804-F0672731204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9063" y="116251"/>
            <a:ext cx="11953875" cy="6625499"/>
          </a:xfrm>
          <a:prstGeom prst="rect">
            <a:avLst/>
          </a:prstGeom>
        </p:spPr>
      </p:pic>
    </p:spTree>
    <p:extLst>
      <p:ext uri="{BB962C8B-B14F-4D97-AF65-F5344CB8AC3E}">
        <p14:creationId xmlns:p14="http://schemas.microsoft.com/office/powerpoint/2010/main" val="12102655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73">
          <p15:clr>
            <a:srgbClr val="FBAE40"/>
          </p15:clr>
        </p15:guide>
        <p15:guide id="4">
          <p15:clr>
            <a:srgbClr val="FBAE40"/>
          </p15:clr>
        </p15:guide>
        <p15:guide id="5" pos="7333">
          <p15:clr>
            <a:srgbClr val="FBAE40"/>
          </p15:clr>
        </p15:guide>
        <p15:guide id="7" orient="horz" pos="3952">
          <p15:clr>
            <a:srgbClr val="FBAE40"/>
          </p15:clr>
        </p15:guide>
        <p15:guide id="8" orient="horz" pos="890">
          <p15:clr>
            <a:srgbClr val="FBAE40"/>
          </p15:clr>
        </p15:guide>
        <p15:guide id="10" orient="horz" pos="73">
          <p15:clr>
            <a:srgbClr val="FBAE40"/>
          </p15:clr>
        </p15:guide>
        <p15:guide id="14" pos="347">
          <p15:clr>
            <a:srgbClr val="FBAE40"/>
          </p15:clr>
        </p15:guide>
        <p15:guide id="16" pos="3999">
          <p15:clr>
            <a:srgbClr val="FBAE40"/>
          </p15:clr>
        </p15:guide>
        <p15:guide id="17" pos="3681">
          <p15:clr>
            <a:srgbClr val="FBAE40"/>
          </p15:clr>
        </p15:guide>
        <p15:guide id="19" pos="75">
          <p15:clr>
            <a:srgbClr val="FBAE40"/>
          </p15:clr>
        </p15:guide>
        <p15:guide id="20" pos="7605">
          <p15:clr>
            <a:srgbClr val="FBAE40"/>
          </p15:clr>
        </p15:guide>
        <p15:guide id="21" orient="horz" pos="4247">
          <p15:clr>
            <a:srgbClr val="FBAE40"/>
          </p15:clr>
        </p15:guide>
        <p15:guide id="22" orient="horz" pos="3612">
          <p15:clr>
            <a:srgbClr val="FBAE40"/>
          </p15:clr>
        </p15:guide>
        <p15:guide id="23" pos="642">
          <p15:clr>
            <a:srgbClr val="FBAE40"/>
          </p15:clr>
        </p15:guide>
        <p15:guide id="24" pos="42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odyA">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11" name="角丸四角形 10">
            <a:extLst>
              <a:ext uri="{FF2B5EF4-FFF2-40B4-BE49-F238E27FC236}">
                <a16:creationId xmlns:a16="http://schemas.microsoft.com/office/drawing/2014/main" id="{3B06C11F-26DA-5AAE-A0D9-512A0B0E238B}"/>
              </a:ext>
            </a:extLst>
          </p:cNvPr>
          <p:cNvSpPr/>
          <p:nvPr userDrawn="1"/>
        </p:nvSpPr>
        <p:spPr>
          <a:xfrm>
            <a:off x="119063" y="116292"/>
            <a:ext cx="11953875" cy="6625417"/>
          </a:xfrm>
          <a:prstGeom prst="roundRect">
            <a:avLst>
              <a:gd name="adj" fmla="val 123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315777"/>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528061" y="6387045"/>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4" name="テキスト プレースホルダー 5">
            <a:extLst>
              <a:ext uri="{FF2B5EF4-FFF2-40B4-BE49-F238E27FC236}">
                <a16:creationId xmlns:a16="http://schemas.microsoft.com/office/drawing/2014/main" id="{26B217A3-0AAB-6ED7-9835-1D2181051392}"/>
              </a:ext>
            </a:extLst>
          </p:cNvPr>
          <p:cNvSpPr>
            <a:spLocks noGrp="1"/>
          </p:cNvSpPr>
          <p:nvPr>
            <p:ph type="body" sz="quarter" idx="12" hasCustomPrompt="1"/>
          </p:nvPr>
        </p:nvSpPr>
        <p:spPr>
          <a:xfrm>
            <a:off x="273048" y="256132"/>
            <a:ext cx="11368089" cy="375400"/>
          </a:xfrm>
          <a:prstGeom prst="rect">
            <a:avLst/>
          </a:prstGeom>
        </p:spPr>
        <p:txBody>
          <a:bodyPr>
            <a:normAutofit/>
          </a:bodyPr>
          <a:lstStyle>
            <a:lvl1pPr>
              <a:buNone/>
              <a:defRPr sz="1300" b="0" i="0">
                <a:solidFill>
                  <a:srgbClr val="142FA4"/>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2" name="タイトル 1">
            <a:extLst>
              <a:ext uri="{FF2B5EF4-FFF2-40B4-BE49-F238E27FC236}">
                <a16:creationId xmlns:a16="http://schemas.microsoft.com/office/drawing/2014/main" id="{5614E6B3-3AD5-2F01-4347-9ADF2A0E935B}"/>
              </a:ext>
            </a:extLst>
          </p:cNvPr>
          <p:cNvSpPr>
            <a:spLocks noGrp="1"/>
          </p:cNvSpPr>
          <p:nvPr>
            <p:ph type="ctrTitle" hasCustomPrompt="1"/>
          </p:nvPr>
        </p:nvSpPr>
        <p:spPr>
          <a:xfrm>
            <a:off x="610272" y="625008"/>
            <a:ext cx="10971455" cy="622579"/>
          </a:xfrm>
          <a:prstGeom prst="rect">
            <a:avLst/>
          </a:prstGeom>
        </p:spPr>
        <p:txBody>
          <a:bodyPr anchor="ctr">
            <a:noAutofit/>
          </a:bodyPr>
          <a:lstStyle>
            <a:lvl1pPr algn="ctr">
              <a:lnSpc>
                <a:spcPct val="100000"/>
              </a:lnSpc>
              <a:defRPr sz="2400" b="1" i="0">
                <a:solidFill>
                  <a:srgbClr val="142FA4"/>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 here</a:t>
            </a:r>
            <a:br>
              <a:rPr kumimoji="1" lang="en-US" altLang="ja-JP" dirty="0"/>
            </a:br>
            <a:r>
              <a:rPr kumimoji="1" lang="en-US" altLang="ja-JP" dirty="0"/>
              <a:t>Main message here</a:t>
            </a:r>
            <a:endParaRPr kumimoji="1" lang="ja-JP" altLang="en-US"/>
          </a:p>
        </p:txBody>
      </p:sp>
      <p:sp>
        <p:nvSpPr>
          <p:cNvPr id="5" name="テキスト ボックス 4">
            <a:extLst>
              <a:ext uri="{FF2B5EF4-FFF2-40B4-BE49-F238E27FC236}">
                <a16:creationId xmlns:a16="http://schemas.microsoft.com/office/drawing/2014/main" id="{42D96377-119F-F656-A5BB-A1A59E4CB844}"/>
              </a:ext>
            </a:extLst>
          </p:cNvPr>
          <p:cNvSpPr txBox="1"/>
          <p:nvPr userDrawn="1"/>
        </p:nvSpPr>
        <p:spPr>
          <a:xfrm>
            <a:off x="1226912" y="6404974"/>
            <a:ext cx="2765965" cy="210827"/>
          </a:xfrm>
          <a:prstGeom prst="rect">
            <a:avLst/>
          </a:prstGeom>
          <a:noFill/>
        </p:spPr>
        <p:txBody>
          <a:bodyPr wrap="square" rtlCol="0">
            <a:spAutoFit/>
          </a:bodyPr>
          <a:lstStyle/>
          <a:p>
            <a:r>
              <a:rPr kumimoji="1" lang="en-US" altLang="ja-JP" sz="750" b="0" i="0" dirty="0">
                <a:solidFill>
                  <a:srgbClr val="142FA4"/>
                </a:solidFill>
                <a:latin typeface="Poppins" pitchFamily="2" charset="0"/>
                <a:cs typeface="Poppins" pitchFamily="2" charset="0"/>
              </a:rPr>
              <a:t>Copyright © </a:t>
            </a:r>
            <a:r>
              <a:rPr kumimoji="1" lang="en-US" altLang="ja-JP" sz="770" b="0" i="0" dirty="0">
                <a:solidFill>
                  <a:srgbClr val="142FA4"/>
                </a:solidFill>
                <a:latin typeface="Poppins" pitchFamily="2" charset="0"/>
                <a:cs typeface="Poppins" pitchFamily="2" charset="0"/>
              </a:rPr>
              <a:t>ibis</a:t>
            </a:r>
            <a:r>
              <a:rPr kumimoji="1" lang="en-US" altLang="ja-JP" sz="750" b="0" i="0" dirty="0">
                <a:solidFill>
                  <a:srgbClr val="142FA4"/>
                </a:solidFill>
                <a:latin typeface="Poppins" pitchFamily="2" charset="0"/>
                <a:cs typeface="Poppins" pitchFamily="2" charset="0"/>
              </a:rPr>
              <a:t> inc. All Rights Reserved.</a:t>
            </a:r>
            <a:endParaRPr kumimoji="1" lang="ja-JP" altLang="en-US" sz="750" b="0" i="0">
              <a:solidFill>
                <a:srgbClr val="142FA4"/>
              </a:solidFill>
              <a:latin typeface="Poppins" pitchFamily="2" charset="0"/>
              <a:cs typeface="Poppins" pitchFamily="2" charset="0"/>
            </a:endParaRPr>
          </a:p>
        </p:txBody>
      </p:sp>
      <p:cxnSp>
        <p:nvCxnSpPr>
          <p:cNvPr id="22" name="直線コネクタ 21">
            <a:extLst>
              <a:ext uri="{FF2B5EF4-FFF2-40B4-BE49-F238E27FC236}">
                <a16:creationId xmlns:a16="http://schemas.microsoft.com/office/drawing/2014/main" id="{6EC96B86-2BBF-2362-41DD-F3C8B526F5BF}"/>
              </a:ext>
            </a:extLst>
          </p:cNvPr>
          <p:cNvCxnSpPr>
            <a:cxnSpLocks/>
          </p:cNvCxnSpPr>
          <p:nvPr userDrawn="1"/>
        </p:nvCxnSpPr>
        <p:spPr>
          <a:xfrm flipH="1">
            <a:off x="550863" y="1404056"/>
            <a:ext cx="11090275"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25" name="図 24" descr="ロゴ&#10;&#10;AI 生成コンテンツは誤りを含む可能性があります。">
            <a:extLst>
              <a:ext uri="{FF2B5EF4-FFF2-40B4-BE49-F238E27FC236}">
                <a16:creationId xmlns:a16="http://schemas.microsoft.com/office/drawing/2014/main" id="{73128517-9691-EB13-E50E-A7E3A5316E1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523404" y="6276792"/>
            <a:ext cx="698997" cy="315361"/>
          </a:xfrm>
          <a:prstGeom prst="rect">
            <a:avLst/>
          </a:prstGeom>
        </p:spPr>
      </p:pic>
      <p:sp>
        <p:nvSpPr>
          <p:cNvPr id="6" name="テキスト プレースホルダー 5">
            <a:extLst>
              <a:ext uri="{FF2B5EF4-FFF2-40B4-BE49-F238E27FC236}">
                <a16:creationId xmlns:a16="http://schemas.microsoft.com/office/drawing/2014/main" id="{9798407B-5522-D5B5-7833-E7CF72F06627}"/>
              </a:ext>
            </a:extLst>
          </p:cNvPr>
          <p:cNvSpPr>
            <a:spLocks noGrp="1"/>
          </p:cNvSpPr>
          <p:nvPr>
            <p:ph type="body" sz="quarter" idx="21" hasCustomPrompt="1"/>
          </p:nvPr>
        </p:nvSpPr>
        <p:spPr>
          <a:xfrm>
            <a:off x="4948517" y="6109200"/>
            <a:ext cx="6985273" cy="519492"/>
          </a:xfrm>
          <a:prstGeom prst="rect">
            <a:avLst/>
          </a:prstGeom>
        </p:spPr>
        <p:txBody>
          <a:bodyPr anchor="b">
            <a:normAutofit/>
          </a:bodyPr>
          <a:lstStyle>
            <a:lvl1pPr marL="0" indent="0">
              <a:lnSpc>
                <a:spcPts val="800"/>
              </a:lnSpc>
              <a:spcBef>
                <a:spcPts val="0"/>
              </a:spcBef>
              <a:buSzTx/>
              <a:buFontTx/>
              <a:buNone/>
              <a:defRPr sz="600"/>
            </a:lvl1pPr>
          </a:lstStyle>
          <a:p>
            <a:r>
              <a:rPr dirty="0"/>
              <a:t>* Text</a:t>
            </a:r>
          </a:p>
        </p:txBody>
      </p:sp>
    </p:spTree>
    <p:extLst>
      <p:ext uri="{BB962C8B-B14F-4D97-AF65-F5344CB8AC3E}">
        <p14:creationId xmlns:p14="http://schemas.microsoft.com/office/powerpoint/2010/main" val="28071346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73" userDrawn="1">
          <p15:clr>
            <a:srgbClr val="FBAE40"/>
          </p15:clr>
        </p15:guide>
        <p15:guide id="4">
          <p15:clr>
            <a:srgbClr val="FBAE40"/>
          </p15:clr>
        </p15:guide>
        <p15:guide id="5" pos="7333">
          <p15:clr>
            <a:srgbClr val="FBAE40"/>
          </p15:clr>
        </p15:guide>
        <p15:guide id="7" orient="horz" pos="3952">
          <p15:clr>
            <a:srgbClr val="FBAE40"/>
          </p15:clr>
        </p15:guide>
        <p15:guide id="8" orient="horz" pos="890" userDrawn="1">
          <p15:clr>
            <a:srgbClr val="FBAE40"/>
          </p15:clr>
        </p15:guide>
        <p15:guide id="10" orient="horz" pos="73" userDrawn="1">
          <p15:clr>
            <a:srgbClr val="FBAE40"/>
          </p15:clr>
        </p15:guide>
        <p15:guide id="14" pos="347" userDrawn="1">
          <p15:clr>
            <a:srgbClr val="FBAE40"/>
          </p15:clr>
        </p15:guide>
        <p15:guide id="16" pos="3999">
          <p15:clr>
            <a:srgbClr val="FBAE40"/>
          </p15:clr>
        </p15:guide>
        <p15:guide id="17" pos="3681">
          <p15:clr>
            <a:srgbClr val="FBAE40"/>
          </p15:clr>
        </p15:guide>
        <p15:guide id="19" pos="75" userDrawn="1">
          <p15:clr>
            <a:srgbClr val="FBAE40"/>
          </p15:clr>
        </p15:guide>
        <p15:guide id="20" pos="7605" userDrawn="1">
          <p15:clr>
            <a:srgbClr val="FBAE40"/>
          </p15:clr>
        </p15:guide>
        <p15:guide id="21" orient="horz" pos="4247" userDrawn="1">
          <p15:clr>
            <a:srgbClr val="FBAE40"/>
          </p15:clr>
        </p15:guide>
        <p15:guide id="22" orient="horz" pos="3612" userDrawn="1">
          <p15:clr>
            <a:srgbClr val="FBAE40"/>
          </p15:clr>
        </p15:guide>
        <p15:guide id="23" pos="642" userDrawn="1">
          <p15:clr>
            <a:srgbClr val="FBAE40"/>
          </p15:clr>
        </p15:guide>
        <p15:guide id="24" pos="4294" userDrawn="1">
          <p15:clr>
            <a:srgbClr val="FBAE40"/>
          </p15:clr>
        </p15:guide>
        <p15:guide id="25" orient="horz" pos="13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odyB">
    <p:spTree>
      <p:nvGrpSpPr>
        <p:cNvPr id="1" name=""/>
        <p:cNvGrpSpPr/>
        <p:nvPr/>
      </p:nvGrpSpPr>
      <p:grpSpPr>
        <a:xfrm>
          <a:off x="0" y="0"/>
          <a:ext cx="0" cy="0"/>
          <a:chOff x="0" y="0"/>
          <a:chExt cx="0" cy="0"/>
        </a:xfrm>
      </p:grpSpPr>
      <p:pic>
        <p:nvPicPr>
          <p:cNvPr id="18" name="図 17">
            <a:extLst>
              <a:ext uri="{FF2B5EF4-FFF2-40B4-BE49-F238E27FC236}">
                <a16:creationId xmlns:a16="http://schemas.microsoft.com/office/drawing/2014/main" id="{594C44E7-ADB5-2E7D-B133-7F57E632AD6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角丸四角形 10">
            <a:extLst>
              <a:ext uri="{FF2B5EF4-FFF2-40B4-BE49-F238E27FC236}">
                <a16:creationId xmlns:a16="http://schemas.microsoft.com/office/drawing/2014/main" id="{3B06C11F-26DA-5AAE-A0D9-512A0B0E238B}"/>
              </a:ext>
            </a:extLst>
          </p:cNvPr>
          <p:cNvSpPr/>
          <p:nvPr userDrawn="1"/>
        </p:nvSpPr>
        <p:spPr>
          <a:xfrm>
            <a:off x="119063" y="116292"/>
            <a:ext cx="11953875" cy="6625417"/>
          </a:xfrm>
          <a:prstGeom prst="roundRect">
            <a:avLst>
              <a:gd name="adj" fmla="val 123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315777"/>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528061" y="6387045"/>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5" name="テキスト ボックス 4">
            <a:extLst>
              <a:ext uri="{FF2B5EF4-FFF2-40B4-BE49-F238E27FC236}">
                <a16:creationId xmlns:a16="http://schemas.microsoft.com/office/drawing/2014/main" id="{42D96377-119F-F656-A5BB-A1A59E4CB844}"/>
              </a:ext>
            </a:extLst>
          </p:cNvPr>
          <p:cNvSpPr txBox="1"/>
          <p:nvPr userDrawn="1"/>
        </p:nvSpPr>
        <p:spPr>
          <a:xfrm>
            <a:off x="1226912" y="6404974"/>
            <a:ext cx="2765965" cy="210827"/>
          </a:xfrm>
          <a:prstGeom prst="rect">
            <a:avLst/>
          </a:prstGeom>
          <a:noFill/>
        </p:spPr>
        <p:txBody>
          <a:bodyPr wrap="square" rtlCol="0">
            <a:spAutoFit/>
          </a:bodyPr>
          <a:lstStyle/>
          <a:p>
            <a:r>
              <a:rPr kumimoji="1" lang="en-US" altLang="ja-JP" sz="750" b="0" i="0" dirty="0">
                <a:solidFill>
                  <a:srgbClr val="142FA4"/>
                </a:solidFill>
                <a:latin typeface="Poppins" pitchFamily="2" charset="0"/>
                <a:cs typeface="Poppins" pitchFamily="2" charset="0"/>
              </a:rPr>
              <a:t>Copyright © </a:t>
            </a:r>
            <a:r>
              <a:rPr kumimoji="1" lang="en-US" altLang="ja-JP" sz="770" b="0" i="0" dirty="0">
                <a:solidFill>
                  <a:srgbClr val="142FA4"/>
                </a:solidFill>
                <a:latin typeface="Poppins" pitchFamily="2" charset="0"/>
                <a:cs typeface="Poppins" pitchFamily="2" charset="0"/>
              </a:rPr>
              <a:t>ibis</a:t>
            </a:r>
            <a:r>
              <a:rPr kumimoji="1" lang="en-US" altLang="ja-JP" sz="750" b="0" i="0" dirty="0">
                <a:solidFill>
                  <a:srgbClr val="142FA4"/>
                </a:solidFill>
                <a:latin typeface="Poppins" pitchFamily="2" charset="0"/>
                <a:cs typeface="Poppins" pitchFamily="2" charset="0"/>
              </a:rPr>
              <a:t> inc. All Rights Reserved.</a:t>
            </a:r>
            <a:endParaRPr kumimoji="1" lang="ja-JP" altLang="en-US" sz="750" b="0" i="0">
              <a:solidFill>
                <a:srgbClr val="142FA4"/>
              </a:solidFill>
              <a:latin typeface="Poppins" pitchFamily="2" charset="0"/>
              <a:cs typeface="Poppins" pitchFamily="2" charset="0"/>
            </a:endParaRPr>
          </a:p>
        </p:txBody>
      </p:sp>
      <p:cxnSp>
        <p:nvCxnSpPr>
          <p:cNvPr id="22" name="直線コネクタ 21">
            <a:extLst>
              <a:ext uri="{FF2B5EF4-FFF2-40B4-BE49-F238E27FC236}">
                <a16:creationId xmlns:a16="http://schemas.microsoft.com/office/drawing/2014/main" id="{6EC96B86-2BBF-2362-41DD-F3C8B526F5BF}"/>
              </a:ext>
            </a:extLst>
          </p:cNvPr>
          <p:cNvCxnSpPr>
            <a:cxnSpLocks/>
          </p:cNvCxnSpPr>
          <p:nvPr userDrawn="1"/>
        </p:nvCxnSpPr>
        <p:spPr>
          <a:xfrm flipH="1">
            <a:off x="550863" y="1404056"/>
            <a:ext cx="11090275"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21" name="図 20" descr="ロゴ&#10;&#10;AI 生成コンテンツは誤りを含む可能性があります。">
            <a:extLst>
              <a:ext uri="{FF2B5EF4-FFF2-40B4-BE49-F238E27FC236}">
                <a16:creationId xmlns:a16="http://schemas.microsoft.com/office/drawing/2014/main" id="{C1F19455-F8B4-1AFF-2CAE-9C8B31C6938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523404" y="6276792"/>
            <a:ext cx="698997" cy="315361"/>
          </a:xfrm>
          <a:prstGeom prst="rect">
            <a:avLst/>
          </a:prstGeom>
        </p:spPr>
      </p:pic>
      <p:sp>
        <p:nvSpPr>
          <p:cNvPr id="6" name="テキスト プレースホルダー 5">
            <a:extLst>
              <a:ext uri="{FF2B5EF4-FFF2-40B4-BE49-F238E27FC236}">
                <a16:creationId xmlns:a16="http://schemas.microsoft.com/office/drawing/2014/main" id="{14410F8E-3EFA-32E3-BFC4-788C09FD4F0F}"/>
              </a:ext>
            </a:extLst>
          </p:cNvPr>
          <p:cNvSpPr>
            <a:spLocks noGrp="1"/>
          </p:cNvSpPr>
          <p:nvPr>
            <p:ph type="body" sz="quarter" idx="12" hasCustomPrompt="1"/>
          </p:nvPr>
        </p:nvSpPr>
        <p:spPr>
          <a:xfrm>
            <a:off x="273048" y="256132"/>
            <a:ext cx="11368089" cy="375400"/>
          </a:xfrm>
          <a:prstGeom prst="rect">
            <a:avLst/>
          </a:prstGeom>
        </p:spPr>
        <p:txBody>
          <a:bodyPr>
            <a:normAutofit/>
          </a:bodyPr>
          <a:lstStyle>
            <a:lvl1pPr>
              <a:buNone/>
              <a:defRPr sz="1300" b="0" i="0">
                <a:solidFill>
                  <a:srgbClr val="142FA4"/>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7" name="タイトル 1">
            <a:extLst>
              <a:ext uri="{FF2B5EF4-FFF2-40B4-BE49-F238E27FC236}">
                <a16:creationId xmlns:a16="http://schemas.microsoft.com/office/drawing/2014/main" id="{420565E8-8C99-D867-4A96-4C33693131FE}"/>
              </a:ext>
            </a:extLst>
          </p:cNvPr>
          <p:cNvSpPr>
            <a:spLocks noGrp="1"/>
          </p:cNvSpPr>
          <p:nvPr>
            <p:ph type="ctrTitle" hasCustomPrompt="1"/>
          </p:nvPr>
        </p:nvSpPr>
        <p:spPr>
          <a:xfrm>
            <a:off x="610272" y="625008"/>
            <a:ext cx="10971455" cy="622579"/>
          </a:xfrm>
          <a:prstGeom prst="rect">
            <a:avLst/>
          </a:prstGeom>
        </p:spPr>
        <p:txBody>
          <a:bodyPr anchor="ctr">
            <a:noAutofit/>
          </a:bodyPr>
          <a:lstStyle>
            <a:lvl1pPr algn="ctr">
              <a:lnSpc>
                <a:spcPct val="100000"/>
              </a:lnSpc>
              <a:defRPr sz="2400" b="1" i="0">
                <a:solidFill>
                  <a:srgbClr val="142FA4"/>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 here</a:t>
            </a:r>
            <a:br>
              <a:rPr kumimoji="1" lang="en-US" altLang="ja-JP" dirty="0"/>
            </a:br>
            <a:r>
              <a:rPr kumimoji="1" lang="en-US" altLang="ja-JP" dirty="0"/>
              <a:t>Main message here</a:t>
            </a:r>
            <a:endParaRPr kumimoji="1" lang="ja-JP" altLang="en-US"/>
          </a:p>
        </p:txBody>
      </p:sp>
      <p:sp>
        <p:nvSpPr>
          <p:cNvPr id="8" name="テキスト プレースホルダー 5">
            <a:extLst>
              <a:ext uri="{FF2B5EF4-FFF2-40B4-BE49-F238E27FC236}">
                <a16:creationId xmlns:a16="http://schemas.microsoft.com/office/drawing/2014/main" id="{EDDD3FD1-FF9C-59BB-5A4C-460EB6C94BB6}"/>
              </a:ext>
            </a:extLst>
          </p:cNvPr>
          <p:cNvSpPr>
            <a:spLocks noGrp="1"/>
          </p:cNvSpPr>
          <p:nvPr>
            <p:ph type="body" sz="quarter" idx="21" hasCustomPrompt="1"/>
          </p:nvPr>
        </p:nvSpPr>
        <p:spPr>
          <a:xfrm>
            <a:off x="4948517" y="6109200"/>
            <a:ext cx="6985273" cy="519492"/>
          </a:xfrm>
          <a:prstGeom prst="rect">
            <a:avLst/>
          </a:prstGeom>
        </p:spPr>
        <p:txBody>
          <a:bodyPr anchor="b">
            <a:normAutofit/>
          </a:bodyPr>
          <a:lstStyle>
            <a:lvl1pPr marL="0" indent="0">
              <a:lnSpc>
                <a:spcPts val="800"/>
              </a:lnSpc>
              <a:spcBef>
                <a:spcPts val="0"/>
              </a:spcBef>
              <a:buSzTx/>
              <a:buFontTx/>
              <a:buNone/>
              <a:defRPr sz="600"/>
            </a:lvl1pPr>
          </a:lstStyle>
          <a:p>
            <a:r>
              <a:rPr dirty="0"/>
              <a:t>* Text</a:t>
            </a:r>
          </a:p>
        </p:txBody>
      </p:sp>
    </p:spTree>
    <p:extLst>
      <p:ext uri="{BB962C8B-B14F-4D97-AF65-F5344CB8AC3E}">
        <p14:creationId xmlns:p14="http://schemas.microsoft.com/office/powerpoint/2010/main" val="5756117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73">
          <p15:clr>
            <a:srgbClr val="FBAE40"/>
          </p15:clr>
        </p15:guide>
        <p15:guide id="4">
          <p15:clr>
            <a:srgbClr val="FBAE40"/>
          </p15:clr>
        </p15:guide>
        <p15:guide id="5" pos="7333">
          <p15:clr>
            <a:srgbClr val="FBAE40"/>
          </p15:clr>
        </p15:guide>
        <p15:guide id="7" orient="horz" pos="3952">
          <p15:clr>
            <a:srgbClr val="FBAE40"/>
          </p15:clr>
        </p15:guide>
        <p15:guide id="8" orient="horz" pos="890">
          <p15:clr>
            <a:srgbClr val="FBAE40"/>
          </p15:clr>
        </p15:guide>
        <p15:guide id="10" orient="horz" pos="73">
          <p15:clr>
            <a:srgbClr val="FBAE40"/>
          </p15:clr>
        </p15:guide>
        <p15:guide id="14" pos="347">
          <p15:clr>
            <a:srgbClr val="FBAE40"/>
          </p15:clr>
        </p15:guide>
        <p15:guide id="16" pos="3999">
          <p15:clr>
            <a:srgbClr val="FBAE40"/>
          </p15:clr>
        </p15:guide>
        <p15:guide id="17" pos="3681">
          <p15:clr>
            <a:srgbClr val="FBAE40"/>
          </p15:clr>
        </p15:guide>
        <p15:guide id="19" pos="75">
          <p15:clr>
            <a:srgbClr val="FBAE40"/>
          </p15:clr>
        </p15:guide>
        <p15:guide id="20" pos="7605">
          <p15:clr>
            <a:srgbClr val="FBAE40"/>
          </p15:clr>
        </p15:guide>
        <p15:guide id="21" orient="horz" pos="4247">
          <p15:clr>
            <a:srgbClr val="FBAE40"/>
          </p15:clr>
        </p15:guide>
        <p15:guide id="22" orient="horz" pos="3612" userDrawn="1">
          <p15:clr>
            <a:srgbClr val="FBAE40"/>
          </p15:clr>
        </p15:guide>
        <p15:guide id="23" pos="4294" userDrawn="1">
          <p15:clr>
            <a:srgbClr val="FBAE40"/>
          </p15:clr>
        </p15:guide>
        <p15:guide id="24" orient="horz" pos="1344" userDrawn="1">
          <p15:clr>
            <a:srgbClr val="FBAE40"/>
          </p15:clr>
        </p15:guide>
        <p15:guide id="25" pos="64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bodyC">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B1542F1D-0EA3-B02A-7AF9-AB48557F95E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11" name="角丸四角形 10">
            <a:extLst>
              <a:ext uri="{FF2B5EF4-FFF2-40B4-BE49-F238E27FC236}">
                <a16:creationId xmlns:a16="http://schemas.microsoft.com/office/drawing/2014/main" id="{3B06C11F-26DA-5AAE-A0D9-512A0B0E238B}"/>
              </a:ext>
            </a:extLst>
          </p:cNvPr>
          <p:cNvSpPr/>
          <p:nvPr userDrawn="1"/>
        </p:nvSpPr>
        <p:spPr>
          <a:xfrm>
            <a:off x="119063" y="116292"/>
            <a:ext cx="11953875" cy="6625417"/>
          </a:xfrm>
          <a:prstGeom prst="roundRect">
            <a:avLst>
              <a:gd name="adj" fmla="val 123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315777"/>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528061" y="6387045"/>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5" name="テキスト ボックス 4">
            <a:extLst>
              <a:ext uri="{FF2B5EF4-FFF2-40B4-BE49-F238E27FC236}">
                <a16:creationId xmlns:a16="http://schemas.microsoft.com/office/drawing/2014/main" id="{42D96377-119F-F656-A5BB-A1A59E4CB844}"/>
              </a:ext>
            </a:extLst>
          </p:cNvPr>
          <p:cNvSpPr txBox="1"/>
          <p:nvPr userDrawn="1"/>
        </p:nvSpPr>
        <p:spPr>
          <a:xfrm>
            <a:off x="1226912" y="6404974"/>
            <a:ext cx="2765965" cy="210827"/>
          </a:xfrm>
          <a:prstGeom prst="rect">
            <a:avLst/>
          </a:prstGeom>
          <a:noFill/>
        </p:spPr>
        <p:txBody>
          <a:bodyPr wrap="square" rtlCol="0">
            <a:spAutoFit/>
          </a:bodyPr>
          <a:lstStyle/>
          <a:p>
            <a:r>
              <a:rPr kumimoji="1" lang="en-US" altLang="ja-JP" sz="750" b="0" i="0" dirty="0">
                <a:solidFill>
                  <a:srgbClr val="142FA4"/>
                </a:solidFill>
                <a:latin typeface="Poppins" pitchFamily="2" charset="0"/>
                <a:cs typeface="Poppins" pitchFamily="2" charset="0"/>
              </a:rPr>
              <a:t>Copyright © </a:t>
            </a:r>
            <a:r>
              <a:rPr kumimoji="1" lang="en-US" altLang="ja-JP" sz="770" b="0" i="0" dirty="0">
                <a:solidFill>
                  <a:srgbClr val="142FA4"/>
                </a:solidFill>
                <a:latin typeface="Poppins" pitchFamily="2" charset="0"/>
                <a:cs typeface="Poppins" pitchFamily="2" charset="0"/>
              </a:rPr>
              <a:t>ibis</a:t>
            </a:r>
            <a:r>
              <a:rPr kumimoji="1" lang="en-US" altLang="ja-JP" sz="750" b="0" i="0" dirty="0">
                <a:solidFill>
                  <a:srgbClr val="142FA4"/>
                </a:solidFill>
                <a:latin typeface="Poppins" pitchFamily="2" charset="0"/>
                <a:cs typeface="Poppins" pitchFamily="2" charset="0"/>
              </a:rPr>
              <a:t> inc. All Rights Reserved.</a:t>
            </a:r>
            <a:endParaRPr kumimoji="1" lang="ja-JP" altLang="en-US" sz="750" b="0" i="0">
              <a:solidFill>
                <a:srgbClr val="142FA4"/>
              </a:solidFill>
              <a:latin typeface="Poppins" pitchFamily="2" charset="0"/>
              <a:cs typeface="Poppins" pitchFamily="2" charset="0"/>
            </a:endParaRPr>
          </a:p>
        </p:txBody>
      </p:sp>
      <p:cxnSp>
        <p:nvCxnSpPr>
          <p:cNvPr id="22" name="直線コネクタ 21">
            <a:extLst>
              <a:ext uri="{FF2B5EF4-FFF2-40B4-BE49-F238E27FC236}">
                <a16:creationId xmlns:a16="http://schemas.microsoft.com/office/drawing/2014/main" id="{6EC96B86-2BBF-2362-41DD-F3C8B526F5BF}"/>
              </a:ext>
            </a:extLst>
          </p:cNvPr>
          <p:cNvCxnSpPr>
            <a:cxnSpLocks/>
          </p:cNvCxnSpPr>
          <p:nvPr userDrawn="1"/>
        </p:nvCxnSpPr>
        <p:spPr>
          <a:xfrm flipH="1">
            <a:off x="550863" y="1404056"/>
            <a:ext cx="11090275"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21" name="図 20" descr="ロゴ&#10;&#10;AI 生成コンテンツは誤りを含む可能性があります。">
            <a:extLst>
              <a:ext uri="{FF2B5EF4-FFF2-40B4-BE49-F238E27FC236}">
                <a16:creationId xmlns:a16="http://schemas.microsoft.com/office/drawing/2014/main" id="{C1F19455-F8B4-1AFF-2CAE-9C8B31C6938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523404" y="6276792"/>
            <a:ext cx="698997" cy="315361"/>
          </a:xfrm>
          <a:prstGeom prst="rect">
            <a:avLst/>
          </a:prstGeom>
        </p:spPr>
      </p:pic>
      <p:sp>
        <p:nvSpPr>
          <p:cNvPr id="6" name="テキスト プレースホルダー 5">
            <a:extLst>
              <a:ext uri="{FF2B5EF4-FFF2-40B4-BE49-F238E27FC236}">
                <a16:creationId xmlns:a16="http://schemas.microsoft.com/office/drawing/2014/main" id="{1B0277FD-7B32-515A-7C48-AE31E80BCB75}"/>
              </a:ext>
            </a:extLst>
          </p:cNvPr>
          <p:cNvSpPr>
            <a:spLocks noGrp="1"/>
          </p:cNvSpPr>
          <p:nvPr>
            <p:ph type="body" sz="quarter" idx="12" hasCustomPrompt="1"/>
          </p:nvPr>
        </p:nvSpPr>
        <p:spPr>
          <a:xfrm>
            <a:off x="273048" y="256132"/>
            <a:ext cx="11368089" cy="375400"/>
          </a:xfrm>
          <a:prstGeom prst="rect">
            <a:avLst/>
          </a:prstGeom>
        </p:spPr>
        <p:txBody>
          <a:bodyPr>
            <a:normAutofit/>
          </a:bodyPr>
          <a:lstStyle>
            <a:lvl1pPr>
              <a:buNone/>
              <a:defRPr sz="1300" b="0" i="0">
                <a:solidFill>
                  <a:srgbClr val="142FA4"/>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8" name="タイトル 1">
            <a:extLst>
              <a:ext uri="{FF2B5EF4-FFF2-40B4-BE49-F238E27FC236}">
                <a16:creationId xmlns:a16="http://schemas.microsoft.com/office/drawing/2014/main" id="{39AF03FB-B2BE-F841-FDB7-BB0869C215F1}"/>
              </a:ext>
            </a:extLst>
          </p:cNvPr>
          <p:cNvSpPr>
            <a:spLocks noGrp="1"/>
          </p:cNvSpPr>
          <p:nvPr>
            <p:ph type="ctrTitle" hasCustomPrompt="1"/>
          </p:nvPr>
        </p:nvSpPr>
        <p:spPr>
          <a:xfrm>
            <a:off x="610272" y="625008"/>
            <a:ext cx="10971455" cy="622579"/>
          </a:xfrm>
          <a:prstGeom prst="rect">
            <a:avLst/>
          </a:prstGeom>
        </p:spPr>
        <p:txBody>
          <a:bodyPr anchor="ctr">
            <a:noAutofit/>
          </a:bodyPr>
          <a:lstStyle>
            <a:lvl1pPr algn="ctr">
              <a:lnSpc>
                <a:spcPct val="100000"/>
              </a:lnSpc>
              <a:defRPr sz="2400" b="1" i="0">
                <a:solidFill>
                  <a:srgbClr val="142FA4"/>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 here</a:t>
            </a:r>
            <a:br>
              <a:rPr kumimoji="1" lang="en-US" altLang="ja-JP" dirty="0"/>
            </a:br>
            <a:r>
              <a:rPr kumimoji="1" lang="en-US" altLang="ja-JP" dirty="0"/>
              <a:t>Main message here</a:t>
            </a:r>
            <a:endParaRPr kumimoji="1" lang="ja-JP" altLang="en-US"/>
          </a:p>
        </p:txBody>
      </p:sp>
      <p:sp>
        <p:nvSpPr>
          <p:cNvPr id="9" name="テキスト プレースホルダー 5">
            <a:extLst>
              <a:ext uri="{FF2B5EF4-FFF2-40B4-BE49-F238E27FC236}">
                <a16:creationId xmlns:a16="http://schemas.microsoft.com/office/drawing/2014/main" id="{11024FBC-F05D-CCBD-68FA-9102C75782E7}"/>
              </a:ext>
            </a:extLst>
          </p:cNvPr>
          <p:cNvSpPr>
            <a:spLocks noGrp="1"/>
          </p:cNvSpPr>
          <p:nvPr>
            <p:ph type="body" sz="quarter" idx="21" hasCustomPrompt="1"/>
          </p:nvPr>
        </p:nvSpPr>
        <p:spPr>
          <a:xfrm>
            <a:off x="4948517" y="6109200"/>
            <a:ext cx="6985273" cy="519492"/>
          </a:xfrm>
          <a:prstGeom prst="rect">
            <a:avLst/>
          </a:prstGeom>
        </p:spPr>
        <p:txBody>
          <a:bodyPr anchor="b">
            <a:normAutofit/>
          </a:bodyPr>
          <a:lstStyle>
            <a:lvl1pPr marL="0" indent="0">
              <a:lnSpc>
                <a:spcPts val="800"/>
              </a:lnSpc>
              <a:spcBef>
                <a:spcPts val="0"/>
              </a:spcBef>
              <a:buSzTx/>
              <a:buFontTx/>
              <a:buNone/>
              <a:defRPr sz="600"/>
            </a:lvl1pPr>
          </a:lstStyle>
          <a:p>
            <a:r>
              <a:rPr dirty="0"/>
              <a:t>* Text</a:t>
            </a:r>
          </a:p>
        </p:txBody>
      </p:sp>
    </p:spTree>
    <p:extLst>
      <p:ext uri="{BB962C8B-B14F-4D97-AF65-F5344CB8AC3E}">
        <p14:creationId xmlns:p14="http://schemas.microsoft.com/office/powerpoint/2010/main" val="2430044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73">
          <p15:clr>
            <a:srgbClr val="FBAE40"/>
          </p15:clr>
        </p15:guide>
        <p15:guide id="4">
          <p15:clr>
            <a:srgbClr val="FBAE40"/>
          </p15:clr>
        </p15:guide>
        <p15:guide id="5" pos="7333">
          <p15:clr>
            <a:srgbClr val="FBAE40"/>
          </p15:clr>
        </p15:guide>
        <p15:guide id="7" orient="horz" pos="3952">
          <p15:clr>
            <a:srgbClr val="FBAE40"/>
          </p15:clr>
        </p15:guide>
        <p15:guide id="8" orient="horz" pos="890">
          <p15:clr>
            <a:srgbClr val="FBAE40"/>
          </p15:clr>
        </p15:guide>
        <p15:guide id="10" orient="horz" pos="73">
          <p15:clr>
            <a:srgbClr val="FBAE40"/>
          </p15:clr>
        </p15:guide>
        <p15:guide id="14" pos="347">
          <p15:clr>
            <a:srgbClr val="FBAE40"/>
          </p15:clr>
        </p15:guide>
        <p15:guide id="16" pos="3999">
          <p15:clr>
            <a:srgbClr val="FBAE40"/>
          </p15:clr>
        </p15:guide>
        <p15:guide id="17" pos="3681">
          <p15:clr>
            <a:srgbClr val="FBAE40"/>
          </p15:clr>
        </p15:guide>
        <p15:guide id="19" pos="75">
          <p15:clr>
            <a:srgbClr val="FBAE40"/>
          </p15:clr>
        </p15:guide>
        <p15:guide id="20" pos="7605">
          <p15:clr>
            <a:srgbClr val="FBAE40"/>
          </p15:clr>
        </p15:guide>
        <p15:guide id="21" orient="horz" pos="4247">
          <p15:clr>
            <a:srgbClr val="FBAE40"/>
          </p15:clr>
        </p15:guide>
        <p15:guide id="22" orient="horz" pos="3521" userDrawn="1">
          <p15:clr>
            <a:srgbClr val="FBAE40"/>
          </p15:clr>
        </p15:guide>
        <p15:guide id="23" pos="4294">
          <p15:clr>
            <a:srgbClr val="FBAE40"/>
          </p15:clr>
        </p15:guide>
        <p15:guide id="24" orient="horz" pos="1344" userDrawn="1">
          <p15:clr>
            <a:srgbClr val="FBAE40"/>
          </p15:clr>
        </p15:guide>
        <p15:guide id="25" pos="642">
          <p15:clr>
            <a:srgbClr val="FBAE40"/>
          </p15:clr>
        </p15:guide>
        <p15:guide id="26" orient="horz" pos="3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A-無地">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18" name="角丸四角形 17">
            <a:extLst>
              <a:ext uri="{FF2B5EF4-FFF2-40B4-BE49-F238E27FC236}">
                <a16:creationId xmlns:a16="http://schemas.microsoft.com/office/drawing/2014/main" id="{2D73E0B5-81F2-D8D4-3AB2-5AEA7DBE2DFA}"/>
              </a:ext>
            </a:extLst>
          </p:cNvPr>
          <p:cNvSpPr/>
          <p:nvPr userDrawn="1"/>
        </p:nvSpPr>
        <p:spPr>
          <a:xfrm>
            <a:off x="119063" y="116292"/>
            <a:ext cx="11953874" cy="6625416"/>
          </a:xfrm>
          <a:prstGeom prst="roundRect">
            <a:avLst>
              <a:gd name="adj" fmla="val 1155"/>
            </a:avLst>
          </a:prstGeom>
          <a:solidFill>
            <a:schemeClr val="bg1">
              <a:alpha val="70000"/>
            </a:schemeClr>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315777"/>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528061" y="6387045"/>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5" name="テキスト ボックス 4">
            <a:extLst>
              <a:ext uri="{FF2B5EF4-FFF2-40B4-BE49-F238E27FC236}">
                <a16:creationId xmlns:a16="http://schemas.microsoft.com/office/drawing/2014/main" id="{42D96377-119F-F656-A5BB-A1A59E4CB844}"/>
              </a:ext>
            </a:extLst>
          </p:cNvPr>
          <p:cNvSpPr txBox="1"/>
          <p:nvPr userDrawn="1"/>
        </p:nvSpPr>
        <p:spPr>
          <a:xfrm>
            <a:off x="1226912" y="6404974"/>
            <a:ext cx="2765965" cy="210827"/>
          </a:xfrm>
          <a:prstGeom prst="rect">
            <a:avLst/>
          </a:prstGeom>
          <a:noFill/>
        </p:spPr>
        <p:txBody>
          <a:bodyPr wrap="square" rtlCol="0">
            <a:spAutoFit/>
          </a:bodyPr>
          <a:lstStyle/>
          <a:p>
            <a:r>
              <a:rPr kumimoji="1" lang="en-US" altLang="ja-JP" sz="750" b="0" i="0" dirty="0">
                <a:solidFill>
                  <a:srgbClr val="142FA4"/>
                </a:solidFill>
                <a:latin typeface="Poppins" pitchFamily="2" charset="0"/>
                <a:cs typeface="Poppins" pitchFamily="2" charset="0"/>
              </a:rPr>
              <a:t>Copyright © </a:t>
            </a:r>
            <a:r>
              <a:rPr kumimoji="1" lang="en-US" altLang="ja-JP" sz="770" b="0" i="0" dirty="0">
                <a:solidFill>
                  <a:srgbClr val="142FA4"/>
                </a:solidFill>
                <a:latin typeface="Poppins" pitchFamily="2" charset="0"/>
                <a:cs typeface="Poppins" pitchFamily="2" charset="0"/>
              </a:rPr>
              <a:t>ibis</a:t>
            </a:r>
            <a:r>
              <a:rPr kumimoji="1" lang="en-US" altLang="ja-JP" sz="750" b="0" i="0" dirty="0">
                <a:solidFill>
                  <a:srgbClr val="142FA4"/>
                </a:solidFill>
                <a:latin typeface="Poppins" pitchFamily="2" charset="0"/>
                <a:cs typeface="Poppins" pitchFamily="2" charset="0"/>
              </a:rPr>
              <a:t> inc. All Rights Reserved.</a:t>
            </a:r>
            <a:endParaRPr kumimoji="1" lang="ja-JP" altLang="en-US" sz="750" b="0" i="0">
              <a:solidFill>
                <a:srgbClr val="142FA4"/>
              </a:solidFill>
              <a:latin typeface="Poppins" pitchFamily="2" charset="0"/>
              <a:cs typeface="Poppins" pitchFamily="2" charset="0"/>
            </a:endParaRPr>
          </a:p>
        </p:txBody>
      </p:sp>
      <p:pic>
        <p:nvPicPr>
          <p:cNvPr id="25" name="図 24" descr="ロゴ&#10;&#10;AI 生成コンテンツは誤りを含む可能性があります。">
            <a:extLst>
              <a:ext uri="{FF2B5EF4-FFF2-40B4-BE49-F238E27FC236}">
                <a16:creationId xmlns:a16="http://schemas.microsoft.com/office/drawing/2014/main" id="{73128517-9691-EB13-E50E-A7E3A5316E1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3404" y="6276792"/>
            <a:ext cx="698997" cy="315361"/>
          </a:xfrm>
          <a:prstGeom prst="rect">
            <a:avLst/>
          </a:prstGeom>
        </p:spPr>
      </p:pic>
      <p:sp>
        <p:nvSpPr>
          <p:cNvPr id="2" name="角丸四角形 1">
            <a:extLst>
              <a:ext uri="{FF2B5EF4-FFF2-40B4-BE49-F238E27FC236}">
                <a16:creationId xmlns:a16="http://schemas.microsoft.com/office/drawing/2014/main" id="{1FC56A4B-5BBC-8388-AA98-0FEE147E03E4}"/>
              </a:ext>
            </a:extLst>
          </p:cNvPr>
          <p:cNvSpPr/>
          <p:nvPr userDrawn="1"/>
        </p:nvSpPr>
        <p:spPr>
          <a:xfrm>
            <a:off x="119063" y="116292"/>
            <a:ext cx="11953874" cy="6625416"/>
          </a:xfrm>
          <a:prstGeom prst="roundRect">
            <a:avLst>
              <a:gd name="adj" fmla="val 1155"/>
            </a:avLst>
          </a:prstGeom>
          <a:noFill/>
          <a:ln w="1270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5">
            <a:extLst>
              <a:ext uri="{FF2B5EF4-FFF2-40B4-BE49-F238E27FC236}">
                <a16:creationId xmlns:a16="http://schemas.microsoft.com/office/drawing/2014/main" id="{F6AD7B9D-03B8-C5E5-475C-D352CEFD6F53}"/>
              </a:ext>
            </a:extLst>
          </p:cNvPr>
          <p:cNvSpPr>
            <a:spLocks noGrp="1"/>
          </p:cNvSpPr>
          <p:nvPr>
            <p:ph type="body" sz="quarter" idx="12" hasCustomPrompt="1"/>
          </p:nvPr>
        </p:nvSpPr>
        <p:spPr>
          <a:xfrm>
            <a:off x="273048" y="256132"/>
            <a:ext cx="11368089" cy="375400"/>
          </a:xfrm>
          <a:prstGeom prst="rect">
            <a:avLst/>
          </a:prstGeom>
        </p:spPr>
        <p:txBody>
          <a:bodyPr>
            <a:normAutofit/>
          </a:bodyPr>
          <a:lstStyle>
            <a:lvl1pPr>
              <a:buNone/>
              <a:defRPr sz="1300" b="0" i="0">
                <a:solidFill>
                  <a:srgbClr val="142FA4"/>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9" name="テキスト プレースホルダー 5">
            <a:extLst>
              <a:ext uri="{FF2B5EF4-FFF2-40B4-BE49-F238E27FC236}">
                <a16:creationId xmlns:a16="http://schemas.microsoft.com/office/drawing/2014/main" id="{6ED6C083-D4B6-315B-FC11-CD430E2146BB}"/>
              </a:ext>
            </a:extLst>
          </p:cNvPr>
          <p:cNvSpPr>
            <a:spLocks noGrp="1"/>
          </p:cNvSpPr>
          <p:nvPr>
            <p:ph type="body" sz="quarter" idx="21" hasCustomPrompt="1"/>
          </p:nvPr>
        </p:nvSpPr>
        <p:spPr>
          <a:xfrm>
            <a:off x="4948517" y="6109200"/>
            <a:ext cx="6985273" cy="519492"/>
          </a:xfrm>
          <a:prstGeom prst="rect">
            <a:avLst/>
          </a:prstGeom>
        </p:spPr>
        <p:txBody>
          <a:bodyPr anchor="b">
            <a:normAutofit/>
          </a:bodyPr>
          <a:lstStyle>
            <a:lvl1pPr marL="0" indent="0">
              <a:lnSpc>
                <a:spcPts val="800"/>
              </a:lnSpc>
              <a:spcBef>
                <a:spcPts val="0"/>
              </a:spcBef>
              <a:buSzTx/>
              <a:buFontTx/>
              <a:buNone/>
              <a:defRPr sz="600"/>
            </a:lvl1pPr>
          </a:lstStyle>
          <a:p>
            <a:r>
              <a:rPr dirty="0"/>
              <a:t>* Text</a:t>
            </a:r>
          </a:p>
        </p:txBody>
      </p:sp>
    </p:spTree>
    <p:extLst>
      <p:ext uri="{BB962C8B-B14F-4D97-AF65-F5344CB8AC3E}">
        <p14:creationId xmlns:p14="http://schemas.microsoft.com/office/powerpoint/2010/main" val="34147679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73">
          <p15:clr>
            <a:srgbClr val="FBAE40"/>
          </p15:clr>
        </p15:guide>
        <p15:guide id="4">
          <p15:clr>
            <a:srgbClr val="FBAE40"/>
          </p15:clr>
        </p15:guide>
        <p15:guide id="5" pos="7333">
          <p15:clr>
            <a:srgbClr val="FBAE40"/>
          </p15:clr>
        </p15:guide>
        <p15:guide id="7" orient="horz" pos="3952">
          <p15:clr>
            <a:srgbClr val="FBAE40"/>
          </p15:clr>
        </p15:guide>
        <p15:guide id="8" orient="horz" pos="890">
          <p15:clr>
            <a:srgbClr val="FBAE40"/>
          </p15:clr>
        </p15:guide>
        <p15:guide id="10" orient="horz" pos="73">
          <p15:clr>
            <a:srgbClr val="FBAE40"/>
          </p15:clr>
        </p15:guide>
        <p15:guide id="14" pos="347">
          <p15:clr>
            <a:srgbClr val="FBAE40"/>
          </p15:clr>
        </p15:guide>
        <p15:guide id="16" pos="3999">
          <p15:clr>
            <a:srgbClr val="FBAE40"/>
          </p15:clr>
        </p15:guide>
        <p15:guide id="17" pos="3681">
          <p15:clr>
            <a:srgbClr val="FBAE40"/>
          </p15:clr>
        </p15:guide>
        <p15:guide id="19" pos="75">
          <p15:clr>
            <a:srgbClr val="FBAE40"/>
          </p15:clr>
        </p15:guide>
        <p15:guide id="20" pos="7605">
          <p15:clr>
            <a:srgbClr val="FBAE40"/>
          </p15:clr>
        </p15:guide>
        <p15:guide id="21" orient="horz" pos="4247">
          <p15:clr>
            <a:srgbClr val="FBAE40"/>
          </p15:clr>
        </p15:guide>
        <p15:guide id="22" orient="horz" pos="3612">
          <p15:clr>
            <a:srgbClr val="FBAE40"/>
          </p15:clr>
        </p15:guide>
        <p15:guide id="23" pos="642">
          <p15:clr>
            <a:srgbClr val="FBAE40"/>
          </p15:clr>
        </p15:guide>
        <p15:guide id="24" pos="429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3_bodyA">
    <p:spTree>
      <p:nvGrpSpPr>
        <p:cNvPr id="1" name=""/>
        <p:cNvGrpSpPr/>
        <p:nvPr/>
      </p:nvGrpSpPr>
      <p:grpSpPr>
        <a:xfrm>
          <a:off x="0" y="0"/>
          <a:ext cx="0" cy="0"/>
          <a:chOff x="0" y="0"/>
          <a:chExt cx="0" cy="0"/>
        </a:xfrm>
      </p:grpSpPr>
      <p:pic>
        <p:nvPicPr>
          <p:cNvPr id="20" name="図 6" descr="図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413"/>
            <a:ext cx="12192000" cy="6857174"/>
          </a:xfrm>
          <a:prstGeom prst="rect">
            <a:avLst/>
          </a:prstGeom>
          <a:ln w="12700">
            <a:miter lim="400000"/>
          </a:ln>
        </p:spPr>
      </p:pic>
      <p:sp>
        <p:nvSpPr>
          <p:cNvPr id="21" name="角丸四角形 10"/>
          <p:cNvSpPr/>
          <p:nvPr/>
        </p:nvSpPr>
        <p:spPr>
          <a:xfrm>
            <a:off x="119062" y="116292"/>
            <a:ext cx="11953876" cy="6625418"/>
          </a:xfrm>
          <a:prstGeom prst="roundRect">
            <a:avLst>
              <a:gd name="adj" fmla="val 1233"/>
            </a:avLst>
          </a:prstGeom>
          <a:solidFill>
            <a:srgbClr val="FFFFFF"/>
          </a:solidFill>
          <a:ln w="12700">
            <a:miter lim="400000"/>
          </a:ln>
          <a:effectLst>
            <a:outerShdw blurRad="50800" dist="38100" dir="2700000" rotWithShape="0">
              <a:srgbClr val="002060">
                <a:alpha val="15000"/>
              </a:srgbClr>
            </a:outerShdw>
          </a:effectLst>
        </p:spPr>
        <p:txBody>
          <a:bodyPr lIns="45719" rIns="45719" anchor="ctr"/>
          <a:lstStyle/>
          <a:p>
            <a:pPr algn="ctr">
              <a:defRPr>
                <a:solidFill>
                  <a:srgbClr val="FFFFFF"/>
                </a:solidFill>
              </a:defRPr>
            </a:pPr>
            <a:endParaRPr/>
          </a:p>
        </p:txBody>
      </p:sp>
      <p:sp>
        <p:nvSpPr>
          <p:cNvPr id="22" name="正方形/長方形 2"/>
          <p:cNvSpPr/>
          <p:nvPr/>
        </p:nvSpPr>
        <p:spPr>
          <a:xfrm>
            <a:off x="273049" y="315776"/>
            <a:ext cx="45720" cy="133493"/>
          </a:xfrm>
          <a:prstGeom prst="rect">
            <a:avLst/>
          </a:prstGeom>
          <a:solidFill>
            <a:srgbClr val="C0FF00"/>
          </a:solidFill>
          <a:ln w="12700">
            <a:miter lim="400000"/>
          </a:ln>
        </p:spPr>
        <p:txBody>
          <a:bodyPr lIns="45719" rIns="45719" anchor="ctr"/>
          <a:lstStyle/>
          <a:p>
            <a:pPr algn="ctr">
              <a:defRPr>
                <a:solidFill>
                  <a:srgbClr val="FFFFFF"/>
                </a:solidFill>
              </a:defRPr>
            </a:pPr>
            <a:endParaRPr/>
          </a:p>
        </p:txBody>
      </p:sp>
      <p:pic>
        <p:nvPicPr>
          <p:cNvPr id="23" name="図 15" descr="図 1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8815" y="6443805"/>
            <a:ext cx="628220" cy="221041"/>
          </a:xfrm>
          <a:prstGeom prst="rect">
            <a:avLst/>
          </a:prstGeom>
          <a:ln w="12700">
            <a:miter lim="400000"/>
          </a:ln>
        </p:spPr>
      </p:pic>
      <p:sp>
        <p:nvSpPr>
          <p:cNvPr id="24" name="スライド番号"/>
          <p:cNvSpPr txBox="1">
            <a:spLocks noGrp="1"/>
          </p:cNvSpPr>
          <p:nvPr>
            <p:ph type="sldNum" sz="quarter" idx="2"/>
          </p:nvPr>
        </p:nvSpPr>
        <p:spPr>
          <a:xfrm>
            <a:off x="11691269" y="6387045"/>
            <a:ext cx="242520" cy="304800"/>
          </a:xfrm>
          <a:prstGeom prst="rect">
            <a:avLst/>
          </a:prstGeom>
        </p:spPr>
        <p:txBody>
          <a:bodyPr anchor="t"/>
          <a:lstStyle>
            <a:lvl1pPr>
              <a:defRPr>
                <a:solidFill>
                  <a:srgbClr val="142FA4"/>
                </a:solidFill>
                <a:latin typeface="Poppins Light"/>
                <a:ea typeface="Poppins Light"/>
                <a:cs typeface="Poppins Light"/>
                <a:sym typeface="Poppins Light"/>
              </a:defRPr>
            </a:lvl1pPr>
          </a:lstStyle>
          <a:p>
            <a:fld id="{86CB4B4D-7CA3-9044-876B-883B54F8677D}" type="slidenum">
              <a:t>‹#›</a:t>
            </a:fld>
            <a:endParaRPr/>
          </a:p>
        </p:txBody>
      </p:sp>
      <p:sp>
        <p:nvSpPr>
          <p:cNvPr id="25" name="テキスト ボックス 4"/>
          <p:cNvSpPr txBox="1"/>
          <p:nvPr/>
        </p:nvSpPr>
        <p:spPr>
          <a:xfrm>
            <a:off x="1272631" y="6404974"/>
            <a:ext cx="2674527" cy="209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700">
                <a:solidFill>
                  <a:srgbClr val="142FA4"/>
                </a:solidFill>
                <a:latin typeface="Poppins Regular"/>
                <a:ea typeface="Poppins Regular"/>
                <a:cs typeface="Poppins Regular"/>
                <a:sym typeface="Poppins Regular"/>
              </a:defRPr>
            </a:lvl1pPr>
          </a:lstStyle>
          <a:p>
            <a:r>
              <a:t>Copyright © ibis inc. All Rights Reserved.</a:t>
            </a:r>
          </a:p>
        </p:txBody>
      </p:sp>
      <p:sp>
        <p:nvSpPr>
          <p:cNvPr id="26" name="直線コネクタ 21"/>
          <p:cNvSpPr/>
          <p:nvPr/>
        </p:nvSpPr>
        <p:spPr>
          <a:xfrm flipH="1" flipV="1">
            <a:off x="550862" y="1404055"/>
            <a:ext cx="11090276" cy="1"/>
          </a:xfrm>
          <a:prstGeom prst="line">
            <a:avLst/>
          </a:prstGeom>
          <a:ln>
            <a:solidFill>
              <a:srgbClr val="142FA4"/>
            </a:solidFill>
            <a:miter/>
          </a:ln>
        </p:spPr>
        <p:txBody>
          <a:bodyPr lIns="45719" rIns="45719"/>
          <a:lstStyle/>
          <a:p>
            <a:endParaRPr/>
          </a:p>
        </p:txBody>
      </p:sp>
      <p:pic>
        <p:nvPicPr>
          <p:cNvPr id="27" name="図 24" descr="図 2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3404" y="6276792"/>
            <a:ext cx="698998" cy="315362"/>
          </a:xfrm>
          <a:prstGeom prst="rect">
            <a:avLst/>
          </a:prstGeom>
          <a:ln w="12700">
            <a:miter lim="400000"/>
          </a:ln>
        </p:spPr>
      </p:pic>
      <p:sp>
        <p:nvSpPr>
          <p:cNvPr id="28" name="main message"/>
          <p:cNvSpPr txBox="1">
            <a:spLocks noGrp="1"/>
          </p:cNvSpPr>
          <p:nvPr>
            <p:ph type="title" hasCustomPrompt="1"/>
          </p:nvPr>
        </p:nvSpPr>
        <p:spPr>
          <a:xfrm>
            <a:off x="610272" y="630000"/>
            <a:ext cx="10971456" cy="622580"/>
          </a:xfrm>
          <a:prstGeom prst="rect">
            <a:avLst/>
          </a:prstGeom>
        </p:spPr>
        <p:txBody>
          <a:bodyPr/>
          <a:lstStyle>
            <a:lvl1pPr algn="ctr">
              <a:lnSpc>
                <a:spcPct val="100000"/>
              </a:lnSpc>
              <a:defRPr sz="2500" b="1">
                <a:solidFill>
                  <a:srgbClr val="142FA4"/>
                </a:solidFill>
                <a:latin typeface="Poppins SemiBold"/>
                <a:ea typeface="Poppins SemiBold"/>
                <a:cs typeface="Poppins SemiBold"/>
                <a:sym typeface="Poppins SemiBold"/>
              </a:defRPr>
            </a:lvl1pPr>
          </a:lstStyle>
          <a:p>
            <a:r>
              <a:rPr dirty="0"/>
              <a:t>main message</a:t>
            </a:r>
          </a:p>
        </p:txBody>
      </p:sp>
      <p:sp>
        <p:nvSpPr>
          <p:cNvPr id="30" name="テキスト プレースホルダー 5"/>
          <p:cNvSpPr>
            <a:spLocks noGrp="1"/>
          </p:cNvSpPr>
          <p:nvPr>
            <p:ph type="body" sz="quarter" idx="21" hasCustomPrompt="1"/>
          </p:nvPr>
        </p:nvSpPr>
        <p:spPr>
          <a:xfrm>
            <a:off x="4948517" y="6109200"/>
            <a:ext cx="6985273" cy="519492"/>
          </a:xfrm>
          <a:prstGeom prst="rect">
            <a:avLst/>
          </a:prstGeom>
        </p:spPr>
        <p:txBody>
          <a:bodyPr anchor="b">
            <a:normAutofit/>
          </a:bodyPr>
          <a:lstStyle>
            <a:lvl1pPr marL="0" indent="0">
              <a:lnSpc>
                <a:spcPts val="800"/>
              </a:lnSpc>
              <a:spcBef>
                <a:spcPts val="0"/>
              </a:spcBef>
              <a:buSzTx/>
              <a:buFontTx/>
              <a:buNone/>
              <a:defRPr sz="600"/>
            </a:lvl1pPr>
          </a:lstStyle>
          <a:p>
            <a:r>
              <a:rPr dirty="0"/>
              <a:t>* Text</a:t>
            </a:r>
          </a:p>
        </p:txBody>
      </p:sp>
      <p:sp>
        <p:nvSpPr>
          <p:cNvPr id="4" name="テキスト プレースホルダー 5">
            <a:extLst>
              <a:ext uri="{FF2B5EF4-FFF2-40B4-BE49-F238E27FC236}">
                <a16:creationId xmlns:a16="http://schemas.microsoft.com/office/drawing/2014/main" id="{EEF2E259-3FC0-72E8-C68B-AF5EE530FA56}"/>
              </a:ext>
            </a:extLst>
          </p:cNvPr>
          <p:cNvSpPr>
            <a:spLocks noGrp="1"/>
          </p:cNvSpPr>
          <p:nvPr>
            <p:ph type="body" sz="quarter" idx="12" hasCustomPrompt="1"/>
          </p:nvPr>
        </p:nvSpPr>
        <p:spPr>
          <a:xfrm>
            <a:off x="273048" y="256132"/>
            <a:ext cx="11368089" cy="375400"/>
          </a:xfrm>
          <a:prstGeom prst="rect">
            <a:avLst/>
          </a:prstGeom>
        </p:spPr>
        <p:txBody>
          <a:bodyPr>
            <a:normAutofit/>
          </a:bodyPr>
          <a:lstStyle>
            <a:lvl1pPr>
              <a:buNone/>
              <a:defRPr sz="1300" b="0" i="0">
                <a:solidFill>
                  <a:srgbClr val="142FA4"/>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Tree>
    <p:extLst>
      <p:ext uri="{BB962C8B-B14F-4D97-AF65-F5344CB8AC3E}">
        <p14:creationId xmlns:p14="http://schemas.microsoft.com/office/powerpoint/2010/main" val="256360962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無地">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4" name="テキスト プレースホルダー 5">
            <a:extLst>
              <a:ext uri="{FF2B5EF4-FFF2-40B4-BE49-F238E27FC236}">
                <a16:creationId xmlns:a16="http://schemas.microsoft.com/office/drawing/2014/main" id="{26B217A3-0AAB-6ED7-9835-1D2181051392}"/>
              </a:ext>
            </a:extLst>
          </p:cNvPr>
          <p:cNvSpPr>
            <a:spLocks noGrp="1"/>
          </p:cNvSpPr>
          <p:nvPr>
            <p:ph type="body" sz="quarter" idx="12" hasCustomPrompt="1"/>
          </p:nvPr>
        </p:nvSpPr>
        <p:spPr>
          <a:xfrm>
            <a:off x="273048" y="208800"/>
            <a:ext cx="11918952" cy="375400"/>
          </a:xfrm>
        </p:spPr>
        <p:txBody>
          <a:bodyPr/>
          <a:lstStyle>
            <a:lvl1pPr>
              <a:buNone/>
              <a:defRPr sz="1300" b="0" i="0" baseline="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2" name="タイトル 1">
            <a:extLst>
              <a:ext uri="{FF2B5EF4-FFF2-40B4-BE49-F238E27FC236}">
                <a16:creationId xmlns:a16="http://schemas.microsoft.com/office/drawing/2014/main" id="{5614E6B3-3AD5-2F01-4347-9ADF2A0E935B}"/>
              </a:ext>
            </a:extLst>
          </p:cNvPr>
          <p:cNvSpPr>
            <a:spLocks noGrp="1"/>
          </p:cNvSpPr>
          <p:nvPr>
            <p:ph type="ctrTitle" hasCustomPrompt="1"/>
          </p:nvPr>
        </p:nvSpPr>
        <p:spPr>
          <a:xfrm>
            <a:off x="265132" y="590695"/>
            <a:ext cx="11661737" cy="622579"/>
          </a:xfrm>
          <a:prstGeom prst="rect">
            <a:avLst/>
          </a:prstGeom>
        </p:spPr>
        <p:txBody>
          <a:bodyPr anchor="ctr">
            <a:noAutofit/>
          </a:bodyPr>
          <a:lstStyle>
            <a:lvl1pPr algn="ctr">
              <a:lnSpc>
                <a:spcPts val="3180"/>
              </a:lnSpc>
              <a:defRPr sz="2650" b="0" i="0" baseline="0">
                <a:solidFill>
                  <a:schemeClr val="bg1"/>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a:t>
            </a:r>
            <a:br>
              <a:rPr kumimoji="1" lang="en-US" altLang="ja-JP" dirty="0"/>
            </a:br>
            <a:r>
              <a:rPr kumimoji="1" lang="en-US" altLang="ja-JP" dirty="0"/>
              <a:t>Main</a:t>
            </a:r>
            <a:r>
              <a:rPr kumimoji="1" lang="ja-JP" altLang="en-US" dirty="0"/>
              <a:t> </a:t>
            </a:r>
            <a:r>
              <a:rPr kumimoji="1" lang="en-US" altLang="ja-JP" dirty="0"/>
              <a:t>message</a:t>
            </a:r>
            <a:endParaRPr kumimoji="1" lang="ja-JP" altLang="en-US"/>
          </a:p>
        </p:txBody>
      </p:sp>
      <p:sp>
        <p:nvSpPr>
          <p:cNvPr id="5" name="テキスト ボックス 4">
            <a:extLst>
              <a:ext uri="{FF2B5EF4-FFF2-40B4-BE49-F238E27FC236}">
                <a16:creationId xmlns:a16="http://schemas.microsoft.com/office/drawing/2014/main" id="{42D96377-119F-F656-A5BB-A1A59E4CB844}"/>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9" name="テキスト プレースホルダー 10">
            <a:extLst>
              <a:ext uri="{FF2B5EF4-FFF2-40B4-BE49-F238E27FC236}">
                <a16:creationId xmlns:a16="http://schemas.microsoft.com/office/drawing/2014/main" id="{AE7AF832-EBF2-B7E1-2396-16B2AAAA29FA}"/>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338285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A-無地">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4" name="テキスト プレースホルダー 5">
            <a:extLst>
              <a:ext uri="{FF2B5EF4-FFF2-40B4-BE49-F238E27FC236}">
                <a16:creationId xmlns:a16="http://schemas.microsoft.com/office/drawing/2014/main" id="{26B217A3-0AAB-6ED7-9835-1D2181051392}"/>
              </a:ext>
            </a:extLst>
          </p:cNvPr>
          <p:cNvSpPr>
            <a:spLocks noGrp="1"/>
          </p:cNvSpPr>
          <p:nvPr>
            <p:ph type="body" sz="quarter" idx="12" hasCustomPrompt="1"/>
          </p:nvPr>
        </p:nvSpPr>
        <p:spPr>
          <a:xfrm>
            <a:off x="273048" y="208800"/>
            <a:ext cx="11918951" cy="375400"/>
          </a:xfrm>
        </p:spPr>
        <p:txBody>
          <a:bodyPr/>
          <a:lstStyle>
            <a:lvl1pPr>
              <a:buNone/>
              <a:defRPr sz="1300" b="0" i="0" baseline="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2" name="タイトル 1">
            <a:extLst>
              <a:ext uri="{FF2B5EF4-FFF2-40B4-BE49-F238E27FC236}">
                <a16:creationId xmlns:a16="http://schemas.microsoft.com/office/drawing/2014/main" id="{5614E6B3-3AD5-2F01-4347-9ADF2A0E935B}"/>
              </a:ext>
            </a:extLst>
          </p:cNvPr>
          <p:cNvSpPr>
            <a:spLocks noGrp="1"/>
          </p:cNvSpPr>
          <p:nvPr>
            <p:ph type="ctrTitle" hasCustomPrompt="1"/>
          </p:nvPr>
        </p:nvSpPr>
        <p:spPr>
          <a:xfrm>
            <a:off x="265132" y="590695"/>
            <a:ext cx="11661737" cy="622579"/>
          </a:xfrm>
          <a:prstGeom prst="rect">
            <a:avLst/>
          </a:prstGeom>
        </p:spPr>
        <p:txBody>
          <a:bodyPr anchor="ctr">
            <a:noAutofit/>
          </a:bodyPr>
          <a:lstStyle>
            <a:lvl1pPr algn="ctr">
              <a:lnSpc>
                <a:spcPts val="3180"/>
              </a:lnSpc>
              <a:defRPr sz="2650" b="0" i="0" baseline="0">
                <a:solidFill>
                  <a:schemeClr val="bg1"/>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a:t>
            </a:r>
            <a:br>
              <a:rPr kumimoji="1" lang="en-US" altLang="ja-JP" dirty="0"/>
            </a:br>
            <a:r>
              <a:rPr kumimoji="1" lang="en-US" altLang="ja-JP" dirty="0"/>
              <a:t>Main</a:t>
            </a:r>
            <a:r>
              <a:rPr kumimoji="1" lang="ja-JP" altLang="en-US" dirty="0"/>
              <a:t> </a:t>
            </a:r>
            <a:r>
              <a:rPr kumimoji="1" lang="en-US" altLang="ja-JP" dirty="0"/>
              <a:t>message</a:t>
            </a:r>
            <a:endParaRPr kumimoji="1" lang="ja-JP" altLang="en-US"/>
          </a:p>
        </p:txBody>
      </p:sp>
      <p:sp>
        <p:nvSpPr>
          <p:cNvPr id="5" name="テキスト ボックス 4">
            <a:extLst>
              <a:ext uri="{FF2B5EF4-FFF2-40B4-BE49-F238E27FC236}">
                <a16:creationId xmlns:a16="http://schemas.microsoft.com/office/drawing/2014/main" id="{42D96377-119F-F656-A5BB-A1A59E4CB844}"/>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6" name="角丸四角形 5">
            <a:extLst>
              <a:ext uri="{FF2B5EF4-FFF2-40B4-BE49-F238E27FC236}">
                <a16:creationId xmlns:a16="http://schemas.microsoft.com/office/drawing/2014/main" id="{F0F90FDC-52C3-BEB5-7CFD-184165DF2FF1}"/>
              </a:ext>
            </a:extLst>
          </p:cNvPr>
          <p:cNvSpPr/>
          <p:nvPr userDrawn="1"/>
        </p:nvSpPr>
        <p:spPr>
          <a:xfrm>
            <a:off x="561504" y="1484313"/>
            <a:ext cx="11060520" cy="4789487"/>
          </a:xfrm>
          <a:prstGeom prst="roundRect">
            <a:avLst>
              <a:gd name="adj" fmla="val 4176"/>
            </a:avLst>
          </a:prstGeom>
          <a:solidFill>
            <a:schemeClr val="bg1">
              <a:alpha val="70000"/>
            </a:schemeClr>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Poppins" pitchFamily="2" charset="0"/>
            </a:endParaRPr>
          </a:p>
        </p:txBody>
      </p:sp>
      <p:sp>
        <p:nvSpPr>
          <p:cNvPr id="8" name="角丸四角形 7">
            <a:extLst>
              <a:ext uri="{FF2B5EF4-FFF2-40B4-BE49-F238E27FC236}">
                <a16:creationId xmlns:a16="http://schemas.microsoft.com/office/drawing/2014/main" id="{AD293F9D-E22A-EA22-49E9-1BBC7F43DF8E}"/>
              </a:ext>
            </a:extLst>
          </p:cNvPr>
          <p:cNvSpPr/>
          <p:nvPr userDrawn="1"/>
        </p:nvSpPr>
        <p:spPr>
          <a:xfrm>
            <a:off x="561504" y="1484313"/>
            <a:ext cx="11060520" cy="4789487"/>
          </a:xfrm>
          <a:prstGeom prst="roundRect">
            <a:avLst>
              <a:gd name="adj" fmla="val 4176"/>
            </a:avLst>
          </a:prstGeom>
          <a:noFill/>
          <a:ln w="1270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Poppins" pitchFamily="2" charset="0"/>
            </a:endParaRPr>
          </a:p>
        </p:txBody>
      </p:sp>
      <p:sp>
        <p:nvSpPr>
          <p:cNvPr id="10" name="テキスト プレースホルダー 10">
            <a:extLst>
              <a:ext uri="{FF2B5EF4-FFF2-40B4-BE49-F238E27FC236}">
                <a16:creationId xmlns:a16="http://schemas.microsoft.com/office/drawing/2014/main" id="{4B6D92CE-109E-0F09-1661-1DBE03849A6B}"/>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24369074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メッセージ2行/無地">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9" name="テキスト プレースホルダー 5">
            <a:extLst>
              <a:ext uri="{FF2B5EF4-FFF2-40B4-BE49-F238E27FC236}">
                <a16:creationId xmlns:a16="http://schemas.microsoft.com/office/drawing/2014/main" id="{555D2739-B5A0-D25A-86A1-897CEAA8DA03}"/>
              </a:ext>
            </a:extLst>
          </p:cNvPr>
          <p:cNvSpPr>
            <a:spLocks noGrp="1"/>
          </p:cNvSpPr>
          <p:nvPr>
            <p:ph type="body" sz="quarter" idx="12" hasCustomPrompt="1"/>
          </p:nvPr>
        </p:nvSpPr>
        <p:spPr>
          <a:xfrm>
            <a:off x="273049" y="208800"/>
            <a:ext cx="11918950" cy="375400"/>
          </a:xfrm>
        </p:spPr>
        <p:txBody>
          <a:bodyPr/>
          <a:lstStyle>
            <a:lvl1pPr>
              <a:buNone/>
              <a:defRPr sz="1300" b="0" i="0" baseline="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4" name="テキスト プレースホルダー 20">
            <a:extLst>
              <a:ext uri="{FF2B5EF4-FFF2-40B4-BE49-F238E27FC236}">
                <a16:creationId xmlns:a16="http://schemas.microsoft.com/office/drawing/2014/main" id="{19834264-9A07-B79C-87E1-5B4E7DAEBD63}"/>
              </a:ext>
            </a:extLst>
          </p:cNvPr>
          <p:cNvSpPr>
            <a:spLocks noGrp="1"/>
          </p:cNvSpPr>
          <p:nvPr>
            <p:ph type="body" sz="quarter" idx="11" hasCustomPrompt="1"/>
          </p:nvPr>
        </p:nvSpPr>
        <p:spPr>
          <a:xfrm>
            <a:off x="558815" y="565200"/>
            <a:ext cx="11020041" cy="286966"/>
          </a:xfrm>
        </p:spPr>
        <p:txBody>
          <a:bodyPr/>
          <a:lstStyle>
            <a:lvl1pPr algn="ctr">
              <a:buNone/>
              <a:defRPr sz="2000" b="0" i="0">
                <a:solidFill>
                  <a:schemeClr val="bg1"/>
                </a:solidFill>
                <a:latin typeface="Poppins" pitchFamily="2" charset="0"/>
                <a:ea typeface="M PLUS 1p Medium" panose="020B0502020203020207" pitchFamily="34" charset="-128"/>
                <a:cs typeface="Poppins" pitchFamily="2" charset="0"/>
              </a:defRPr>
            </a:lvl1pPr>
          </a:lstStyle>
          <a:p>
            <a:pPr lvl="0"/>
            <a:r>
              <a:rPr kumimoji="1" lang="en-US" altLang="ja-JP" dirty="0"/>
              <a:t>Sub message</a:t>
            </a:r>
            <a:endParaRPr kumimoji="1" lang="ja-JP" altLang="en-US"/>
          </a:p>
        </p:txBody>
      </p:sp>
      <p:sp>
        <p:nvSpPr>
          <p:cNvPr id="5" name="タイトル 1">
            <a:extLst>
              <a:ext uri="{FF2B5EF4-FFF2-40B4-BE49-F238E27FC236}">
                <a16:creationId xmlns:a16="http://schemas.microsoft.com/office/drawing/2014/main" id="{838B942C-8D9A-E0AD-1711-A5A0C36060DA}"/>
              </a:ext>
            </a:extLst>
          </p:cNvPr>
          <p:cNvSpPr>
            <a:spLocks noGrp="1"/>
          </p:cNvSpPr>
          <p:nvPr>
            <p:ph type="ctrTitle" hasCustomPrompt="1"/>
          </p:nvPr>
        </p:nvSpPr>
        <p:spPr>
          <a:xfrm>
            <a:off x="610272" y="795600"/>
            <a:ext cx="10971455" cy="622579"/>
          </a:xfrm>
          <a:prstGeom prst="rect">
            <a:avLst/>
          </a:prstGeom>
        </p:spPr>
        <p:txBody>
          <a:bodyPr anchor="ctr">
            <a:noAutofit/>
          </a:bodyPr>
          <a:lstStyle>
            <a:lvl1pPr algn="ctr">
              <a:defRPr sz="3000" b="0" i="0" baseline="0">
                <a:solidFill>
                  <a:schemeClr val="bg1"/>
                </a:solidFill>
                <a:latin typeface="Poppins Medium" pitchFamily="2" charset="0"/>
                <a:ea typeface="M PLUS 1p Medium" panose="020B0502020203020207" pitchFamily="34" charset="-128"/>
                <a:cs typeface="Poppins Medium" pitchFamily="2" charset="0"/>
              </a:defRPr>
            </a:lvl1pPr>
          </a:lstStyle>
          <a:p>
            <a:r>
              <a:rPr kumimoji="1" lang="en-US" altLang="ja-JP" dirty="0"/>
              <a:t>Main message</a:t>
            </a:r>
            <a:endParaRPr kumimoji="1" lang="ja-JP" altLang="en-US"/>
          </a:p>
        </p:txBody>
      </p:sp>
      <p:sp>
        <p:nvSpPr>
          <p:cNvPr id="6" name="テキスト ボックス 5">
            <a:extLst>
              <a:ext uri="{FF2B5EF4-FFF2-40B4-BE49-F238E27FC236}">
                <a16:creationId xmlns:a16="http://schemas.microsoft.com/office/drawing/2014/main" id="{922D49C7-8A8E-7DB6-AF97-2FD8A47BF767}"/>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12" name="テキスト プレースホルダー 10">
            <a:extLst>
              <a:ext uri="{FF2B5EF4-FFF2-40B4-BE49-F238E27FC236}">
                <a16:creationId xmlns:a16="http://schemas.microsoft.com/office/drawing/2014/main" id="{C8BDC9D4-65BF-2990-152B-FDFFA8FBE925}"/>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56880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無地">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64ED7CC-75CA-A607-8E54-5D96AF63B51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13" name="テキスト プレースホルダー 5">
            <a:extLst>
              <a:ext uri="{FF2B5EF4-FFF2-40B4-BE49-F238E27FC236}">
                <a16:creationId xmlns:a16="http://schemas.microsoft.com/office/drawing/2014/main" id="{39D2A08A-681A-7427-D592-02ABEBC2EB0D}"/>
              </a:ext>
            </a:extLst>
          </p:cNvPr>
          <p:cNvSpPr>
            <a:spLocks noGrp="1"/>
          </p:cNvSpPr>
          <p:nvPr>
            <p:ph type="body" sz="quarter" idx="12" hasCustomPrompt="1"/>
          </p:nvPr>
        </p:nvSpPr>
        <p:spPr>
          <a:xfrm>
            <a:off x="273049" y="208800"/>
            <a:ext cx="11918950" cy="375400"/>
          </a:xfrm>
        </p:spPr>
        <p:txBody>
          <a:bodyPr/>
          <a:lstStyle>
            <a:lvl1pPr>
              <a:buNone/>
              <a:defRPr sz="1300" b="0" i="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5" name="テキスト ボックス 4">
            <a:extLst>
              <a:ext uri="{FF2B5EF4-FFF2-40B4-BE49-F238E27FC236}">
                <a16:creationId xmlns:a16="http://schemas.microsoft.com/office/drawing/2014/main" id="{B79B1A6B-4857-59DD-E188-389651198199}"/>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7" name="タイトル 1">
            <a:extLst>
              <a:ext uri="{FF2B5EF4-FFF2-40B4-BE49-F238E27FC236}">
                <a16:creationId xmlns:a16="http://schemas.microsoft.com/office/drawing/2014/main" id="{EEA168E3-FBB1-274D-4BA0-406868BDAF9A}"/>
              </a:ext>
            </a:extLst>
          </p:cNvPr>
          <p:cNvSpPr>
            <a:spLocks noGrp="1"/>
          </p:cNvSpPr>
          <p:nvPr>
            <p:ph type="ctrTitle" hasCustomPrompt="1"/>
          </p:nvPr>
        </p:nvSpPr>
        <p:spPr>
          <a:xfrm>
            <a:off x="265132" y="590695"/>
            <a:ext cx="11661737" cy="622579"/>
          </a:xfrm>
          <a:prstGeom prst="rect">
            <a:avLst/>
          </a:prstGeom>
        </p:spPr>
        <p:txBody>
          <a:bodyPr anchor="ctr">
            <a:noAutofit/>
          </a:bodyPr>
          <a:lstStyle>
            <a:lvl1pPr algn="ctr">
              <a:lnSpc>
                <a:spcPts val="3180"/>
              </a:lnSpc>
              <a:defRPr sz="2650" b="0" i="0" baseline="0">
                <a:solidFill>
                  <a:schemeClr val="bg1"/>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a:t>
            </a:r>
            <a:br>
              <a:rPr kumimoji="1" lang="en-US" altLang="ja-JP" dirty="0"/>
            </a:br>
            <a:r>
              <a:rPr kumimoji="1" lang="en-US" altLang="ja-JP" dirty="0"/>
              <a:t>Main</a:t>
            </a:r>
            <a:r>
              <a:rPr kumimoji="1" lang="ja-JP" altLang="en-US" dirty="0"/>
              <a:t> </a:t>
            </a:r>
            <a:r>
              <a:rPr kumimoji="1" lang="en-US" altLang="ja-JP" dirty="0"/>
              <a:t>message</a:t>
            </a:r>
            <a:endParaRPr kumimoji="1" lang="ja-JP" altLang="en-US"/>
          </a:p>
        </p:txBody>
      </p:sp>
      <p:sp>
        <p:nvSpPr>
          <p:cNvPr id="6" name="テキスト プレースホルダー 10">
            <a:extLst>
              <a:ext uri="{FF2B5EF4-FFF2-40B4-BE49-F238E27FC236}">
                <a16:creationId xmlns:a16="http://schemas.microsoft.com/office/drawing/2014/main" id="{BD70F4D0-CB17-307B-F44E-967CC4CE871C}"/>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40232987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無地">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04F80845-EFF2-2C74-DFA8-96F49D9BD2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414"/>
            <a:ext cx="12192000" cy="6857172"/>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13" name="テキスト プレースホルダー 5">
            <a:extLst>
              <a:ext uri="{FF2B5EF4-FFF2-40B4-BE49-F238E27FC236}">
                <a16:creationId xmlns:a16="http://schemas.microsoft.com/office/drawing/2014/main" id="{39D2A08A-681A-7427-D592-02ABEBC2EB0D}"/>
              </a:ext>
            </a:extLst>
          </p:cNvPr>
          <p:cNvSpPr>
            <a:spLocks noGrp="1"/>
          </p:cNvSpPr>
          <p:nvPr>
            <p:ph type="body" sz="quarter" idx="12" hasCustomPrompt="1"/>
          </p:nvPr>
        </p:nvSpPr>
        <p:spPr>
          <a:xfrm>
            <a:off x="273049" y="208800"/>
            <a:ext cx="11918950" cy="375400"/>
          </a:xfrm>
        </p:spPr>
        <p:txBody>
          <a:bodyPr/>
          <a:lstStyle>
            <a:lvl1pPr>
              <a:buNone/>
              <a:defRPr sz="1300" b="0" i="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4" name="テキスト ボックス 3">
            <a:extLst>
              <a:ext uri="{FF2B5EF4-FFF2-40B4-BE49-F238E27FC236}">
                <a16:creationId xmlns:a16="http://schemas.microsoft.com/office/drawing/2014/main" id="{9CEAD7C2-F9C3-3711-1DFA-789CBAC4E79D}"/>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6" name="タイトル 1">
            <a:extLst>
              <a:ext uri="{FF2B5EF4-FFF2-40B4-BE49-F238E27FC236}">
                <a16:creationId xmlns:a16="http://schemas.microsoft.com/office/drawing/2014/main" id="{15AC6EB9-0A9A-5EAE-CE5B-7EB382CC3C78}"/>
              </a:ext>
            </a:extLst>
          </p:cNvPr>
          <p:cNvSpPr>
            <a:spLocks noGrp="1"/>
          </p:cNvSpPr>
          <p:nvPr>
            <p:ph type="ctrTitle" hasCustomPrompt="1"/>
          </p:nvPr>
        </p:nvSpPr>
        <p:spPr>
          <a:xfrm>
            <a:off x="265132" y="590695"/>
            <a:ext cx="11661737" cy="622579"/>
          </a:xfrm>
          <a:prstGeom prst="rect">
            <a:avLst/>
          </a:prstGeom>
        </p:spPr>
        <p:txBody>
          <a:bodyPr anchor="ctr">
            <a:noAutofit/>
          </a:bodyPr>
          <a:lstStyle>
            <a:lvl1pPr algn="ctr">
              <a:lnSpc>
                <a:spcPts val="3180"/>
              </a:lnSpc>
              <a:defRPr sz="2650" b="0" i="0" baseline="0">
                <a:solidFill>
                  <a:schemeClr val="bg1"/>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a:t>
            </a:r>
            <a:br>
              <a:rPr kumimoji="1" lang="en-US" altLang="ja-JP" dirty="0"/>
            </a:br>
            <a:r>
              <a:rPr kumimoji="1" lang="en-US" altLang="ja-JP" dirty="0"/>
              <a:t>Main</a:t>
            </a:r>
            <a:r>
              <a:rPr kumimoji="1" lang="ja-JP" altLang="en-US" dirty="0"/>
              <a:t> </a:t>
            </a:r>
            <a:r>
              <a:rPr kumimoji="1" lang="en-US" altLang="ja-JP" dirty="0"/>
              <a:t>message</a:t>
            </a:r>
            <a:endParaRPr kumimoji="1" lang="ja-JP" altLang="en-US"/>
          </a:p>
        </p:txBody>
      </p:sp>
      <p:sp>
        <p:nvSpPr>
          <p:cNvPr id="5" name="テキスト プレースホルダー 10">
            <a:extLst>
              <a:ext uri="{FF2B5EF4-FFF2-40B4-BE49-F238E27FC236}">
                <a16:creationId xmlns:a16="http://schemas.microsoft.com/office/drawing/2014/main" id="{C81E9498-3EE0-9B84-820C-8BE29BC7E5FB}"/>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2962142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特殊ページ1">
    <p:spTree>
      <p:nvGrpSpPr>
        <p:cNvPr id="1" name=""/>
        <p:cNvGrpSpPr/>
        <p:nvPr/>
      </p:nvGrpSpPr>
      <p:grpSpPr>
        <a:xfrm>
          <a:off x="0" y="0"/>
          <a:ext cx="0" cy="0"/>
          <a:chOff x="0" y="0"/>
          <a:chExt cx="0" cy="0"/>
        </a:xfrm>
      </p:grpSpPr>
      <p:pic>
        <p:nvPicPr>
          <p:cNvPr id="18" name="図 17" descr="屋外, ブルー, 飛行機, 飛ぶ が含まれている画像&#10;&#10;AI 生成コンテンツは誤りを含む可能性があります。">
            <a:extLst>
              <a:ext uri="{FF2B5EF4-FFF2-40B4-BE49-F238E27FC236}">
                <a16:creationId xmlns:a16="http://schemas.microsoft.com/office/drawing/2014/main" id="{57713603-CB1E-ADE9-80A6-C69703BF21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3473" cy="6858000"/>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3"/>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14" name="テキスト ボックス 13">
            <a:extLst>
              <a:ext uri="{FF2B5EF4-FFF2-40B4-BE49-F238E27FC236}">
                <a16:creationId xmlns:a16="http://schemas.microsoft.com/office/drawing/2014/main" id="{FC70F1D5-CF48-B502-15D7-8C3EC51E993C}"/>
              </a:ext>
            </a:extLst>
          </p:cNvPr>
          <p:cNvSpPr txBox="1"/>
          <p:nvPr userDrawn="1"/>
        </p:nvSpPr>
        <p:spPr>
          <a:xfrm>
            <a:off x="11311200" y="6501600"/>
            <a:ext cx="405728" cy="276999"/>
          </a:xfrm>
          <a:prstGeom prst="rect">
            <a:avLst/>
          </a:prstGeom>
          <a:noFill/>
        </p:spPr>
        <p:txBody>
          <a:bodyPr wrap="square" rtlCol="0">
            <a:spAutoFit/>
          </a:bodyPr>
          <a:lstStyle/>
          <a:p>
            <a:pPr algn="r"/>
            <a:fld id="{7350FDB5-5533-274B-8EC0-FE2FC0CFC6C4}" type="slidenum">
              <a:rPr kumimoji="1" lang="en-US" altLang="ja-JP" sz="1200" b="0" i="0">
                <a:solidFill>
                  <a:schemeClr val="bg1"/>
                </a:solidFill>
                <a:latin typeface="Poppins Light" pitchFamily="2" charset="0"/>
                <a:cs typeface="Poppins Light" pitchFamily="2" charset="0"/>
              </a:rPr>
              <a:pPr algn="r"/>
              <a:t>‹#›</a:t>
            </a:fld>
            <a:endParaRPr kumimoji="1" lang="ja-JP" altLang="en-US" sz="1200" b="0" i="0">
              <a:solidFill>
                <a:schemeClr val="bg1"/>
              </a:solidFill>
              <a:latin typeface="Poppins Light" pitchFamily="2" charset="0"/>
              <a:cs typeface="Poppins Light" pitchFamily="2" charset="0"/>
            </a:endParaRPr>
          </a:p>
        </p:txBody>
      </p:sp>
      <p:sp>
        <p:nvSpPr>
          <p:cNvPr id="2" name="テキスト プレースホルダー 5">
            <a:extLst>
              <a:ext uri="{FF2B5EF4-FFF2-40B4-BE49-F238E27FC236}">
                <a16:creationId xmlns:a16="http://schemas.microsoft.com/office/drawing/2014/main" id="{1F4A608A-D04B-B0FB-EF57-AA60D95F2239}"/>
              </a:ext>
            </a:extLst>
          </p:cNvPr>
          <p:cNvSpPr>
            <a:spLocks noGrp="1"/>
          </p:cNvSpPr>
          <p:nvPr>
            <p:ph type="body" sz="quarter" idx="12" hasCustomPrompt="1"/>
          </p:nvPr>
        </p:nvSpPr>
        <p:spPr>
          <a:xfrm>
            <a:off x="273049" y="208800"/>
            <a:ext cx="11918950" cy="375400"/>
          </a:xfrm>
        </p:spPr>
        <p:txBody>
          <a:bodyPr/>
          <a:lstStyle>
            <a:lvl1pPr>
              <a:buNone/>
              <a:defRPr sz="1300" b="0" i="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5" name="テキスト ボックス 4">
            <a:extLst>
              <a:ext uri="{FF2B5EF4-FFF2-40B4-BE49-F238E27FC236}">
                <a16:creationId xmlns:a16="http://schemas.microsoft.com/office/drawing/2014/main" id="{3C481EB9-DE2A-E787-CDA7-4C3D9E2DB2B4}"/>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4" name="タイトル 1">
            <a:extLst>
              <a:ext uri="{FF2B5EF4-FFF2-40B4-BE49-F238E27FC236}">
                <a16:creationId xmlns:a16="http://schemas.microsoft.com/office/drawing/2014/main" id="{7452710D-B09F-9190-656F-E717F34CF58D}"/>
              </a:ext>
            </a:extLst>
          </p:cNvPr>
          <p:cNvSpPr>
            <a:spLocks noGrp="1"/>
          </p:cNvSpPr>
          <p:nvPr>
            <p:ph type="ctrTitle" hasCustomPrompt="1"/>
          </p:nvPr>
        </p:nvSpPr>
        <p:spPr>
          <a:xfrm>
            <a:off x="265132" y="590695"/>
            <a:ext cx="11661737" cy="622579"/>
          </a:xfrm>
          <a:prstGeom prst="rect">
            <a:avLst/>
          </a:prstGeom>
        </p:spPr>
        <p:txBody>
          <a:bodyPr anchor="ctr">
            <a:noAutofit/>
          </a:bodyPr>
          <a:lstStyle>
            <a:lvl1pPr algn="ctr">
              <a:lnSpc>
                <a:spcPts val="3180"/>
              </a:lnSpc>
              <a:defRPr sz="2650" b="0" i="0" baseline="0">
                <a:solidFill>
                  <a:schemeClr val="bg1"/>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a:t>
            </a:r>
            <a:br>
              <a:rPr kumimoji="1" lang="en-US" altLang="ja-JP" dirty="0"/>
            </a:br>
            <a:r>
              <a:rPr kumimoji="1" lang="en-US" altLang="ja-JP" dirty="0"/>
              <a:t>Main</a:t>
            </a:r>
            <a:r>
              <a:rPr kumimoji="1" lang="ja-JP" altLang="en-US" dirty="0"/>
              <a:t> </a:t>
            </a:r>
            <a:r>
              <a:rPr kumimoji="1" lang="en-US" altLang="ja-JP" dirty="0"/>
              <a:t>message</a:t>
            </a:r>
            <a:endParaRPr kumimoji="1" lang="ja-JP" altLang="en-US"/>
          </a:p>
        </p:txBody>
      </p:sp>
      <p:sp>
        <p:nvSpPr>
          <p:cNvPr id="8" name="テキスト プレースホルダー 10">
            <a:extLst>
              <a:ext uri="{FF2B5EF4-FFF2-40B4-BE49-F238E27FC236}">
                <a16:creationId xmlns:a16="http://schemas.microsoft.com/office/drawing/2014/main" id="{938324F2-8002-3E6F-60FE-687B0D41E4E3}"/>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1499244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特殊ページ2">
    <p:spTree>
      <p:nvGrpSpPr>
        <p:cNvPr id="1" name=""/>
        <p:cNvGrpSpPr/>
        <p:nvPr/>
      </p:nvGrpSpPr>
      <p:grpSpPr>
        <a:xfrm>
          <a:off x="0" y="0"/>
          <a:ext cx="0" cy="0"/>
          <a:chOff x="0" y="0"/>
          <a:chExt cx="0" cy="0"/>
        </a:xfrm>
      </p:grpSpPr>
      <p:pic>
        <p:nvPicPr>
          <p:cNvPr id="4" name="図 3" descr="屋外, 水, 飛ぶ, ブルー が含まれている画像&#10;&#10;AI 生成コンテンツは誤りを含む可能性があります。">
            <a:extLst>
              <a:ext uri="{FF2B5EF4-FFF2-40B4-BE49-F238E27FC236}">
                <a16:creationId xmlns:a16="http://schemas.microsoft.com/office/drawing/2014/main" id="{A26DBDF0-8A6D-F9B3-0950-5B228CA030F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3473" cy="6858000"/>
          </a:xfrm>
          <a:prstGeom prst="rect">
            <a:avLst/>
          </a:prstGeom>
        </p:spPr>
      </p:pic>
      <p:pic>
        <p:nvPicPr>
          <p:cNvPr id="7" name="図 6" descr="紫のドレスを着た女性のcg&#10;&#10;AI 生成コンテンツは誤りを含む可能性があります。">
            <a:extLst>
              <a:ext uri="{FF2B5EF4-FFF2-40B4-BE49-F238E27FC236}">
                <a16:creationId xmlns:a16="http://schemas.microsoft.com/office/drawing/2014/main" id="{21A7200A-C4D7-4BD3-499F-86EE00EB7F1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1044859" y="995289"/>
            <a:ext cx="4791205" cy="5862711"/>
          </a:xfrm>
          <a:prstGeom prst="rect">
            <a:avLst/>
          </a:prstGeom>
        </p:spPr>
      </p:pic>
      <p:sp>
        <p:nvSpPr>
          <p:cNvPr id="3" name="正方形/長方形 2">
            <a:extLst>
              <a:ext uri="{FF2B5EF4-FFF2-40B4-BE49-F238E27FC236}">
                <a16:creationId xmlns:a16="http://schemas.microsoft.com/office/drawing/2014/main" id="{6B8B53B5-E61E-F969-7870-C073DCCD5DF1}"/>
              </a:ext>
            </a:extLst>
          </p:cNvPr>
          <p:cNvSpPr/>
          <p:nvPr userDrawn="1"/>
        </p:nvSpPr>
        <p:spPr>
          <a:xfrm>
            <a:off x="273049" y="263525"/>
            <a:ext cx="45719" cy="133492"/>
          </a:xfrm>
          <a:prstGeom prst="rect">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Poppins" pitchFamily="2" charset="0"/>
            </a:endParaRPr>
          </a:p>
        </p:txBody>
      </p:sp>
      <p:pic>
        <p:nvPicPr>
          <p:cNvPr id="16" name="図 15">
            <a:extLst>
              <a:ext uri="{FF2B5EF4-FFF2-40B4-BE49-F238E27FC236}">
                <a16:creationId xmlns:a16="http://schemas.microsoft.com/office/drawing/2014/main" id="{7E8BD245-B6FD-5827-129A-6ACFE04DEF76}"/>
              </a:ext>
            </a:extLst>
          </p:cNvPr>
          <p:cNvPicPr>
            <a:picLocks noChangeAspect="1"/>
          </p:cNvPicPr>
          <p:nvPr userDrawn="1"/>
        </p:nvPicPr>
        <p:blipFill>
          <a:blip r:embed="rId4"/>
          <a:stretch>
            <a:fillRect/>
          </a:stretch>
        </p:blipFill>
        <p:spPr>
          <a:xfrm>
            <a:off x="558815" y="6443805"/>
            <a:ext cx="628219" cy="221040"/>
          </a:xfrm>
          <a:prstGeom prst="rect">
            <a:avLst/>
          </a:prstGeom>
        </p:spPr>
      </p:pic>
      <p:sp>
        <p:nvSpPr>
          <p:cNvPr id="15" name="テキスト ボックス 14">
            <a:extLst>
              <a:ext uri="{FF2B5EF4-FFF2-40B4-BE49-F238E27FC236}">
                <a16:creationId xmlns:a16="http://schemas.microsoft.com/office/drawing/2014/main" id="{F51CEFA9-0074-3A51-28CF-9434D49FE1B0}"/>
              </a:ext>
            </a:extLst>
          </p:cNvPr>
          <p:cNvSpPr txBox="1"/>
          <p:nvPr userDrawn="1"/>
        </p:nvSpPr>
        <p:spPr>
          <a:xfrm>
            <a:off x="11312912" y="6500243"/>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FA4"/>
                </a:solidFill>
                <a:latin typeface="Poppins Light" pitchFamily="2" charset="0"/>
                <a:cs typeface="Poppins Light" pitchFamily="2" charset="0"/>
              </a:rPr>
              <a:pPr algn="r"/>
              <a:t>‹#›</a:t>
            </a:fld>
            <a:endParaRPr kumimoji="1" lang="ja-JP" altLang="en-US" sz="1200" b="0" i="0">
              <a:solidFill>
                <a:srgbClr val="142FA4"/>
              </a:solidFill>
              <a:latin typeface="Poppins Light" pitchFamily="2" charset="0"/>
              <a:cs typeface="Poppins Light" pitchFamily="2" charset="0"/>
            </a:endParaRPr>
          </a:p>
        </p:txBody>
      </p:sp>
      <p:sp>
        <p:nvSpPr>
          <p:cNvPr id="5" name="テキスト プレースホルダー 5">
            <a:extLst>
              <a:ext uri="{FF2B5EF4-FFF2-40B4-BE49-F238E27FC236}">
                <a16:creationId xmlns:a16="http://schemas.microsoft.com/office/drawing/2014/main" id="{B9B05809-F07C-99FB-B4D6-811157625805}"/>
              </a:ext>
            </a:extLst>
          </p:cNvPr>
          <p:cNvSpPr>
            <a:spLocks noGrp="1"/>
          </p:cNvSpPr>
          <p:nvPr>
            <p:ph type="body" sz="quarter" idx="12" hasCustomPrompt="1"/>
          </p:nvPr>
        </p:nvSpPr>
        <p:spPr>
          <a:xfrm>
            <a:off x="273048" y="208800"/>
            <a:ext cx="11918951" cy="375400"/>
          </a:xfrm>
        </p:spPr>
        <p:txBody>
          <a:bodyPr/>
          <a:lstStyle>
            <a:lvl1pPr>
              <a:buNone/>
              <a:defRPr sz="1300" b="0" i="0">
                <a:solidFill>
                  <a:schemeClr val="bg1"/>
                </a:solidFill>
                <a:latin typeface="Poppins Medium" pitchFamily="2" charset="0"/>
                <a:ea typeface="M PLUS 1p Medium" panose="020B0502020203020207" pitchFamily="34" charset="-128"/>
                <a:cs typeface="Poppins Medium" pitchFamily="2" charset="0"/>
              </a:defRPr>
            </a:lvl1pPr>
          </a:lstStyle>
          <a:p>
            <a:pPr lvl="0"/>
            <a:r>
              <a:rPr kumimoji="1" lang="en-US" altLang="ja-JP" dirty="0"/>
              <a:t>Title</a:t>
            </a:r>
            <a:endParaRPr kumimoji="1" lang="ja-JP" altLang="en-US"/>
          </a:p>
        </p:txBody>
      </p:sp>
      <p:sp>
        <p:nvSpPr>
          <p:cNvPr id="6" name="テキスト ボックス 5">
            <a:extLst>
              <a:ext uri="{FF2B5EF4-FFF2-40B4-BE49-F238E27FC236}">
                <a16:creationId xmlns:a16="http://schemas.microsoft.com/office/drawing/2014/main" id="{D1F69C6C-0E93-1E70-ED40-19A790BCF3B4}"/>
              </a:ext>
            </a:extLst>
          </p:cNvPr>
          <p:cNvSpPr txBox="1"/>
          <p:nvPr userDrawn="1"/>
        </p:nvSpPr>
        <p:spPr>
          <a:xfrm>
            <a:off x="1226912" y="6530477"/>
            <a:ext cx="2765965" cy="210827"/>
          </a:xfrm>
          <a:prstGeom prst="rect">
            <a:avLst/>
          </a:prstGeom>
          <a:noFill/>
        </p:spPr>
        <p:txBody>
          <a:bodyPr wrap="square" rtlCol="0">
            <a:spAutoFit/>
          </a:bodyPr>
          <a:lstStyle/>
          <a:p>
            <a:r>
              <a:rPr kumimoji="1" lang="en-US" altLang="ja-JP" sz="750" b="0" i="0" dirty="0">
                <a:solidFill>
                  <a:schemeClr val="bg1"/>
                </a:solidFill>
                <a:latin typeface="Poppins" pitchFamily="2" charset="0"/>
                <a:cs typeface="Poppins" pitchFamily="2" charset="0"/>
              </a:rPr>
              <a:t>Copyright © </a:t>
            </a:r>
            <a:r>
              <a:rPr kumimoji="1" lang="en-US" altLang="ja-JP" sz="770" b="0" i="0" dirty="0">
                <a:solidFill>
                  <a:schemeClr val="bg1"/>
                </a:solidFill>
                <a:latin typeface="Poppins" pitchFamily="2" charset="0"/>
                <a:cs typeface="Poppins" pitchFamily="2" charset="0"/>
              </a:rPr>
              <a:t>ibis</a:t>
            </a:r>
            <a:r>
              <a:rPr kumimoji="1" lang="en-US" altLang="ja-JP" sz="750" b="0" i="0" dirty="0">
                <a:solidFill>
                  <a:schemeClr val="bg1"/>
                </a:solidFill>
                <a:latin typeface="Poppins" pitchFamily="2" charset="0"/>
                <a:cs typeface="Poppins" pitchFamily="2" charset="0"/>
              </a:rPr>
              <a:t> inc. All Rights Reserved.</a:t>
            </a:r>
            <a:endParaRPr kumimoji="1" lang="ja-JP" altLang="en-US" sz="750" b="0" i="0">
              <a:solidFill>
                <a:schemeClr val="bg1"/>
              </a:solidFill>
              <a:latin typeface="Poppins" pitchFamily="2" charset="0"/>
              <a:cs typeface="Poppins" pitchFamily="2" charset="0"/>
            </a:endParaRPr>
          </a:p>
        </p:txBody>
      </p:sp>
      <p:sp>
        <p:nvSpPr>
          <p:cNvPr id="2" name="タイトル 1">
            <a:extLst>
              <a:ext uri="{FF2B5EF4-FFF2-40B4-BE49-F238E27FC236}">
                <a16:creationId xmlns:a16="http://schemas.microsoft.com/office/drawing/2014/main" id="{FFD8CD38-8BA8-AA63-CEFA-FB80350FB01F}"/>
              </a:ext>
            </a:extLst>
          </p:cNvPr>
          <p:cNvSpPr>
            <a:spLocks noGrp="1"/>
          </p:cNvSpPr>
          <p:nvPr>
            <p:ph type="ctrTitle" hasCustomPrompt="1"/>
          </p:nvPr>
        </p:nvSpPr>
        <p:spPr>
          <a:xfrm>
            <a:off x="265132" y="590695"/>
            <a:ext cx="11661737" cy="622579"/>
          </a:xfrm>
          <a:prstGeom prst="rect">
            <a:avLst/>
          </a:prstGeom>
        </p:spPr>
        <p:txBody>
          <a:bodyPr anchor="ctr">
            <a:noAutofit/>
          </a:bodyPr>
          <a:lstStyle>
            <a:lvl1pPr algn="ctr">
              <a:lnSpc>
                <a:spcPts val="3180"/>
              </a:lnSpc>
              <a:defRPr sz="2650" b="0" i="0" baseline="0">
                <a:solidFill>
                  <a:schemeClr val="bg1"/>
                </a:solidFill>
                <a:latin typeface="Poppins SemiBold" pitchFamily="2" charset="0"/>
                <a:ea typeface="M PLUS 1p Medium" panose="020B0502020203020207" pitchFamily="34" charset="-128"/>
                <a:cs typeface="Poppins SemiBold" pitchFamily="2" charset="0"/>
              </a:defRPr>
            </a:lvl1pPr>
          </a:lstStyle>
          <a:p>
            <a:r>
              <a:rPr kumimoji="1" lang="en-US" altLang="ja-JP" dirty="0"/>
              <a:t>Main message</a:t>
            </a:r>
            <a:br>
              <a:rPr kumimoji="1" lang="en-US" altLang="ja-JP" dirty="0"/>
            </a:br>
            <a:r>
              <a:rPr kumimoji="1" lang="en-US" altLang="ja-JP" dirty="0"/>
              <a:t>Main</a:t>
            </a:r>
            <a:r>
              <a:rPr kumimoji="1" lang="ja-JP" altLang="en-US" dirty="0"/>
              <a:t> </a:t>
            </a:r>
            <a:r>
              <a:rPr kumimoji="1" lang="en-US" altLang="ja-JP" dirty="0"/>
              <a:t>message</a:t>
            </a:r>
            <a:endParaRPr kumimoji="1" lang="ja-JP" altLang="en-US"/>
          </a:p>
        </p:txBody>
      </p:sp>
      <p:sp>
        <p:nvSpPr>
          <p:cNvPr id="9" name="テキスト プレースホルダー 10">
            <a:extLst>
              <a:ext uri="{FF2B5EF4-FFF2-40B4-BE49-F238E27FC236}">
                <a16:creationId xmlns:a16="http://schemas.microsoft.com/office/drawing/2014/main" id="{88D0770B-5675-0AC3-75D9-EFAEAA24FF66}"/>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42942836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タイトル スライド">
    <p:spTree>
      <p:nvGrpSpPr>
        <p:cNvPr id="1" name=""/>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D27DC8DF-6B12-3D86-8A90-8D94833BEAE4}"/>
              </a:ext>
            </a:extLst>
          </p:cNvPr>
          <p:cNvSpPr txBox="1"/>
          <p:nvPr userDrawn="1"/>
        </p:nvSpPr>
        <p:spPr>
          <a:xfrm>
            <a:off x="15692718" y="107576"/>
            <a:ext cx="184731" cy="369332"/>
          </a:xfrm>
          <a:prstGeom prst="rect">
            <a:avLst/>
          </a:prstGeom>
          <a:noFill/>
        </p:spPr>
        <p:txBody>
          <a:bodyPr wrap="none" rtlCol="0">
            <a:spAutoFit/>
          </a:bodyPr>
          <a:lstStyle/>
          <a:p>
            <a:endParaRPr kumimoji="1" lang="ja-JP" altLang="en-US" b="0" i="0">
              <a:latin typeface="Poppins" pitchFamily="2" charset="0"/>
            </a:endParaRPr>
          </a:p>
        </p:txBody>
      </p:sp>
      <p:pic>
        <p:nvPicPr>
          <p:cNvPr id="3" name="図 2">
            <a:extLst>
              <a:ext uri="{FF2B5EF4-FFF2-40B4-BE49-F238E27FC236}">
                <a16:creationId xmlns:a16="http://schemas.microsoft.com/office/drawing/2014/main" id="{07952355-F2C3-7BD4-DF7D-911E837D769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3471" cy="6858000"/>
          </a:xfrm>
          <a:prstGeom prst="rect">
            <a:avLst/>
          </a:prstGeom>
        </p:spPr>
      </p:pic>
      <p:sp>
        <p:nvSpPr>
          <p:cNvPr id="4" name="テキスト プレースホルダー 10">
            <a:extLst>
              <a:ext uri="{FF2B5EF4-FFF2-40B4-BE49-F238E27FC236}">
                <a16:creationId xmlns:a16="http://schemas.microsoft.com/office/drawing/2014/main" id="{956F2D82-C338-BD6F-C96A-BD7184298DC5}"/>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6480241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メッセージ2行/無地">
    <p:spTree>
      <p:nvGrpSpPr>
        <p:cNvPr id="1" name=""/>
        <p:cNvGrpSpPr/>
        <p:nvPr/>
      </p:nvGrpSpPr>
      <p:grpSpPr>
        <a:xfrm>
          <a:off x="0" y="0"/>
          <a:ext cx="0" cy="0"/>
          <a:chOff x="0" y="0"/>
          <a:chExt cx="0" cy="0"/>
        </a:xfrm>
      </p:grpSpPr>
      <p:pic>
        <p:nvPicPr>
          <p:cNvPr id="3" name="図 2" descr="白い背景にある&#10;&#10;AI 生成コンテンツは誤りを含む可能性があります。">
            <a:extLst>
              <a:ext uri="{FF2B5EF4-FFF2-40B4-BE49-F238E27FC236}">
                <a16:creationId xmlns:a16="http://schemas.microsoft.com/office/drawing/2014/main" id="{ADCFC06E-01D2-3032-E31A-94EAFDBEFC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3473" cy="6858000"/>
          </a:xfrm>
          <a:prstGeom prst="rect">
            <a:avLst/>
          </a:prstGeom>
        </p:spPr>
      </p:pic>
      <p:sp>
        <p:nvSpPr>
          <p:cNvPr id="11" name="テキスト ボックス 10">
            <a:extLst>
              <a:ext uri="{FF2B5EF4-FFF2-40B4-BE49-F238E27FC236}">
                <a16:creationId xmlns:a16="http://schemas.microsoft.com/office/drawing/2014/main" id="{D27DC8DF-6B12-3D86-8A90-8D94833BEAE4}"/>
              </a:ext>
            </a:extLst>
          </p:cNvPr>
          <p:cNvSpPr txBox="1"/>
          <p:nvPr userDrawn="1"/>
        </p:nvSpPr>
        <p:spPr>
          <a:xfrm>
            <a:off x="15692718" y="107576"/>
            <a:ext cx="184731" cy="369332"/>
          </a:xfrm>
          <a:prstGeom prst="rect">
            <a:avLst/>
          </a:prstGeom>
          <a:noFill/>
        </p:spPr>
        <p:txBody>
          <a:bodyPr wrap="none" rtlCol="0">
            <a:spAutoFit/>
          </a:bodyPr>
          <a:lstStyle/>
          <a:p>
            <a:endParaRPr kumimoji="1" lang="ja-JP" altLang="en-US" b="0" i="0">
              <a:latin typeface="Poppins" pitchFamily="2" charset="0"/>
            </a:endParaRPr>
          </a:p>
        </p:txBody>
      </p:sp>
      <p:sp>
        <p:nvSpPr>
          <p:cNvPr id="4" name="テキスト プレースホルダー 10">
            <a:extLst>
              <a:ext uri="{FF2B5EF4-FFF2-40B4-BE49-F238E27FC236}">
                <a16:creationId xmlns:a16="http://schemas.microsoft.com/office/drawing/2014/main" id="{A55CB7E4-0F5B-3F66-5CE6-66319CDA228F}"/>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2160660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メッセージ2行/無地">
    <p:spTree>
      <p:nvGrpSpPr>
        <p:cNvPr id="1" name=""/>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D27DC8DF-6B12-3D86-8A90-8D94833BEAE4}"/>
              </a:ext>
            </a:extLst>
          </p:cNvPr>
          <p:cNvSpPr txBox="1"/>
          <p:nvPr userDrawn="1"/>
        </p:nvSpPr>
        <p:spPr>
          <a:xfrm>
            <a:off x="15692718" y="107576"/>
            <a:ext cx="184731" cy="369332"/>
          </a:xfrm>
          <a:prstGeom prst="rect">
            <a:avLst/>
          </a:prstGeom>
          <a:noFill/>
        </p:spPr>
        <p:txBody>
          <a:bodyPr wrap="none" rtlCol="0">
            <a:spAutoFit/>
          </a:bodyPr>
          <a:lstStyle/>
          <a:p>
            <a:endParaRPr kumimoji="1" lang="ja-JP" altLang="en-US" b="0" i="0">
              <a:latin typeface="Poppins" pitchFamily="2" charset="0"/>
            </a:endParaRPr>
          </a:p>
        </p:txBody>
      </p:sp>
      <p:pic>
        <p:nvPicPr>
          <p:cNvPr id="2" name="図 1">
            <a:extLst>
              <a:ext uri="{FF2B5EF4-FFF2-40B4-BE49-F238E27FC236}">
                <a16:creationId xmlns:a16="http://schemas.microsoft.com/office/drawing/2014/main" id="{3F8D419D-3A5F-A55F-56E6-B1618757900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テキスト プレースホルダー 10">
            <a:extLst>
              <a:ext uri="{FF2B5EF4-FFF2-40B4-BE49-F238E27FC236}">
                <a16:creationId xmlns:a16="http://schemas.microsoft.com/office/drawing/2014/main" id="{54E6CDF2-2A0C-4C86-9972-B2ADE8EE99A2}"/>
              </a:ext>
            </a:extLst>
          </p:cNvPr>
          <p:cNvSpPr>
            <a:spLocks noGrp="1"/>
          </p:cNvSpPr>
          <p:nvPr>
            <p:ph type="body" sz="quarter" idx="14" hasCustomPrompt="1"/>
          </p:nvPr>
        </p:nvSpPr>
        <p:spPr>
          <a:xfrm>
            <a:off x="5945186" y="6310211"/>
            <a:ext cx="6246813" cy="444389"/>
          </a:xfrm>
        </p:spPr>
        <p:txBody>
          <a:bodyPr anchor="b"/>
          <a:lstStyle>
            <a:lvl1pPr marL="0">
              <a:lnSpc>
                <a:spcPct val="100000"/>
              </a:lnSpc>
              <a:spcBef>
                <a:spcPts val="0"/>
              </a:spcBef>
              <a:buFontTx/>
              <a:buNone/>
              <a:defRPr sz="700">
                <a:latin typeface="Poppins" pitchFamily="2" charset="0"/>
                <a:cs typeface="Poppins" pitchFamily="2" charset="0"/>
              </a:defRPr>
            </a:lvl1pPr>
            <a:lvl2pPr>
              <a:defRPr sz="700">
                <a:latin typeface="Poppins" pitchFamily="2" charset="0"/>
                <a:cs typeface="Poppins" pitchFamily="2" charset="0"/>
              </a:defRPr>
            </a:lvl2pPr>
            <a:lvl3pPr>
              <a:defRPr sz="700">
                <a:latin typeface="Poppins" pitchFamily="2" charset="0"/>
                <a:cs typeface="Poppins" pitchFamily="2" charset="0"/>
              </a:defRPr>
            </a:lvl3pPr>
            <a:lvl4pPr>
              <a:defRPr sz="700">
                <a:latin typeface="Poppins" pitchFamily="2" charset="0"/>
                <a:cs typeface="Poppins" pitchFamily="2" charset="0"/>
              </a:defRPr>
            </a:lvl4pPr>
            <a:lvl5pPr>
              <a:defRPr sz="700">
                <a:latin typeface="Poppins" pitchFamily="2" charset="0"/>
                <a:cs typeface="Poppins" pitchFamily="2" charset="0"/>
              </a:defRPr>
            </a:lvl5pPr>
          </a:lstStyle>
          <a:p>
            <a:pPr lvl="0"/>
            <a:r>
              <a:rPr kumimoji="1" lang="en-US" altLang="ja-JP" dirty="0"/>
              <a:t>* text</a:t>
            </a:r>
          </a:p>
          <a:p>
            <a:pPr lvl="0"/>
            <a:r>
              <a:rPr kumimoji="1" lang="en-US" altLang="ja-JP" dirty="0"/>
              <a:t>* text</a:t>
            </a:r>
          </a:p>
          <a:p>
            <a:pPr lvl="0"/>
            <a:r>
              <a:rPr kumimoji="1" lang="en-US" altLang="ja-JP" dirty="0"/>
              <a:t>* text</a:t>
            </a:r>
            <a:endParaRPr kumimoji="1" lang="ja-JP" altLang="en-US"/>
          </a:p>
        </p:txBody>
      </p:sp>
    </p:spTree>
    <p:extLst>
      <p:ext uri="{BB962C8B-B14F-4D97-AF65-F5344CB8AC3E}">
        <p14:creationId xmlns:p14="http://schemas.microsoft.com/office/powerpoint/2010/main" val="40498549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p15:clr>
            <a:srgbClr val="FBAE40"/>
          </p15:clr>
        </p15:guide>
        <p15:guide id="4">
          <p15:clr>
            <a:srgbClr val="FBAE40"/>
          </p15:clr>
        </p15:guide>
        <p15:guide id="5" pos="7333">
          <p15:clr>
            <a:srgbClr val="FBAE40"/>
          </p15:clr>
        </p15:guide>
        <p15:guide id="6" pos="347">
          <p15:clr>
            <a:srgbClr val="FBAE40"/>
          </p15:clr>
        </p15:guide>
        <p15:guide id="7" orient="horz" pos="3952">
          <p15:clr>
            <a:srgbClr val="FBAE40"/>
          </p15:clr>
        </p15:guide>
        <p15:guide id="8" orient="horz" pos="935">
          <p15:clr>
            <a:srgbClr val="FBAE40"/>
          </p15:clr>
        </p15:guide>
        <p15:guide id="9" orient="horz" pos="4201">
          <p15:clr>
            <a:srgbClr val="FBAE40"/>
          </p15:clr>
        </p15:guide>
        <p15:guide id="10" orient="horz" pos="119">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4046A1F2-8FB7-0CAF-ADBB-9030C2E629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Poppins" pitchFamily="2" charset="0"/>
                <a:cs typeface="Poppins" pitchFamily="2" charset="0"/>
              </a:defRPr>
            </a:lvl1pPr>
          </a:lstStyle>
          <a:p>
            <a:fld id="{B6687A8F-C286-0141-AFFD-E59003FC50EF}" type="datetimeFigureOut">
              <a:rPr lang="ja-JP" altLang="en-US" smtClean="0"/>
              <a:pPr/>
              <a:t>2026/8/7</a:t>
            </a:fld>
            <a:endParaRPr lang="ja-JP" altLang="en-US"/>
          </a:p>
        </p:txBody>
      </p:sp>
      <p:sp>
        <p:nvSpPr>
          <p:cNvPr id="6" name="スライド番号プレースホルダー 5">
            <a:extLst>
              <a:ext uri="{FF2B5EF4-FFF2-40B4-BE49-F238E27FC236}">
                <a16:creationId xmlns:a16="http://schemas.microsoft.com/office/drawing/2014/main" id="{539A5B8C-81AC-2BDA-8B3C-160D7FB6C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Poppins" pitchFamily="2" charset="0"/>
                <a:cs typeface="Poppins" pitchFamily="2" charset="0"/>
              </a:defRPr>
            </a:lvl1pPr>
          </a:lstStyle>
          <a:p>
            <a:fld id="{3924B2BE-709D-B240-96DA-A2CBA880B563}" type="slidenum">
              <a:rPr lang="en-US" altLang="ja-JP" smtClean="0"/>
              <a:pPr/>
              <a:t>‹#›</a:t>
            </a:fld>
            <a:endParaRPr lang="ja-JP" altLang="en-US"/>
          </a:p>
        </p:txBody>
      </p:sp>
      <p:sp>
        <p:nvSpPr>
          <p:cNvPr id="2" name="テキスト プレースホルダー 2">
            <a:extLst>
              <a:ext uri="{FF2B5EF4-FFF2-40B4-BE49-F238E27FC236}">
                <a16:creationId xmlns:a16="http://schemas.microsoft.com/office/drawing/2014/main" id="{F8B974F5-F4BA-5A7D-A0F6-29400298EB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en-US" altLang="ja-JP" dirty="0"/>
              <a:t>Master text Level 1</a:t>
            </a:r>
            <a:endParaRPr kumimoji="1" lang="ja-JP" altLang="en-US"/>
          </a:p>
          <a:p>
            <a:pPr lvl="1"/>
            <a:r>
              <a:rPr kumimoji="1" lang="en-US" altLang="ja-JP" dirty="0"/>
              <a:t>Level 2</a:t>
            </a:r>
            <a:endParaRPr kumimoji="1" lang="ja-JP" altLang="en-US"/>
          </a:p>
          <a:p>
            <a:pPr lvl="2"/>
            <a:r>
              <a:rPr kumimoji="1" lang="en-US" altLang="ja-JP" dirty="0"/>
              <a:t>Level 3</a:t>
            </a:r>
            <a:endParaRPr kumimoji="1" lang="ja-JP" altLang="en-US"/>
          </a:p>
          <a:p>
            <a:pPr lvl="3"/>
            <a:r>
              <a:rPr kumimoji="1" lang="en-US" altLang="ja-JP" dirty="0"/>
              <a:t>Level 4</a:t>
            </a:r>
            <a:endParaRPr kumimoji="1" lang="ja-JP" altLang="en-US"/>
          </a:p>
          <a:p>
            <a:pPr lvl="4"/>
            <a:r>
              <a:rPr kumimoji="1" lang="en-US" altLang="ja-JP" dirty="0"/>
              <a:t>Level 5</a:t>
            </a:r>
            <a:endParaRPr kumimoji="1" lang="ja-JP" altLang="en-US"/>
          </a:p>
        </p:txBody>
      </p:sp>
      <p:sp>
        <p:nvSpPr>
          <p:cNvPr id="7" name="タイトル プレースホルダー 6">
            <a:extLst>
              <a:ext uri="{FF2B5EF4-FFF2-40B4-BE49-F238E27FC236}">
                <a16:creationId xmlns:a16="http://schemas.microsoft.com/office/drawing/2014/main" id="{4F0C2C5F-7169-7B4D-F97B-85C589D87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en-US" altLang="ja-JP" dirty="0"/>
              <a:t>Master Title</a:t>
            </a:r>
            <a:endParaRPr kumimoji="1" lang="ja-JP" altLang="en-US"/>
          </a:p>
        </p:txBody>
      </p:sp>
    </p:spTree>
    <p:extLst>
      <p:ext uri="{BB962C8B-B14F-4D97-AF65-F5344CB8AC3E}">
        <p14:creationId xmlns:p14="http://schemas.microsoft.com/office/powerpoint/2010/main" val="894613336"/>
      </p:ext>
    </p:extLst>
  </p:cSld>
  <p:clrMap bg1="lt1" tx1="dk1" bg2="lt2" tx2="dk2" accent1="accent1" accent2="accent2" accent3="accent3" accent4="accent4" accent5="accent5" accent6="accent6" hlink="hlink" folHlink="folHlink"/>
  <p:sldLayoutIdLst>
    <p:sldLayoutId id="2147483693" r:id="rId1"/>
    <p:sldLayoutId id="2147483682" r:id="rId2"/>
    <p:sldLayoutId id="2147483683" r:id="rId3"/>
    <p:sldLayoutId id="2147483685" r:id="rId4"/>
    <p:sldLayoutId id="2147483690" r:id="rId5"/>
    <p:sldLayoutId id="2147483744" r:id="rId6"/>
  </p:sldLayoutIdLst>
  <p:txStyles>
    <p:titleStyle>
      <a:lvl1pPr algn="l" defTabSz="914400" rtl="0" eaLnBrk="1" latinLnBrk="0" hangingPunct="1">
        <a:lnSpc>
          <a:spcPct val="90000"/>
        </a:lnSpc>
        <a:spcBef>
          <a:spcPct val="0"/>
        </a:spcBef>
        <a:buNone/>
        <a:defRPr kumimoji="1" sz="4400" kern="1200">
          <a:solidFill>
            <a:schemeClr val="tx1"/>
          </a:solidFill>
          <a:latin typeface="Poppins" pitchFamily="2" charset="0"/>
          <a:ea typeface="M PLUS 1p" panose="020B0502020203020207" pitchFamily="34" charset="-128"/>
          <a:cs typeface="Poppins"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142FA4"/>
          </a:solidFill>
          <a:latin typeface="Poppins" pitchFamily="2" charset="0"/>
          <a:ea typeface="M PLUS 1p" panose="020B0502020203020207" pitchFamily="34" charset="-128"/>
          <a:cs typeface="Poppi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Poppins" pitchFamily="2" charset="0"/>
          <a:ea typeface="M PLUS 1p" panose="020B0502020203020207" pitchFamily="34" charset="-128"/>
          <a:cs typeface="Poppi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Poppins" pitchFamily="2" charset="0"/>
          <a:ea typeface="M PLUS 1p" panose="020B0502020203020207" pitchFamily="34" charset="-128"/>
          <a:cs typeface="Poppi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Poppins" pitchFamily="2" charset="0"/>
          <a:ea typeface="M PLUS 1p" panose="020B0502020203020207" pitchFamily="34" charset="-128"/>
          <a:cs typeface="Poppi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Poppins" pitchFamily="2" charset="0"/>
          <a:ea typeface="M PLUS 1p" panose="020B0502020203020207" pitchFamily="34" charset="-128"/>
          <a:cs typeface="Poppi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771F21B-0260-ACDC-7F0E-B1061A20E0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en-US" altLang="ja-JP" dirty="0"/>
              <a:t>Master text Level 1</a:t>
            </a:r>
            <a:endParaRPr kumimoji="1" lang="ja-JP" altLang="en-US"/>
          </a:p>
          <a:p>
            <a:pPr lvl="1"/>
            <a:r>
              <a:rPr kumimoji="1" lang="en-US" altLang="ja-JP" dirty="0"/>
              <a:t>Level 2</a:t>
            </a:r>
            <a:endParaRPr kumimoji="1" lang="ja-JP" altLang="en-US"/>
          </a:p>
          <a:p>
            <a:pPr lvl="2"/>
            <a:r>
              <a:rPr kumimoji="1" lang="en-US" altLang="ja-JP" dirty="0"/>
              <a:t>Level 3</a:t>
            </a:r>
            <a:endParaRPr kumimoji="1" lang="ja-JP" altLang="en-US"/>
          </a:p>
          <a:p>
            <a:pPr lvl="3"/>
            <a:r>
              <a:rPr kumimoji="1" lang="en-US" altLang="ja-JP" dirty="0"/>
              <a:t>Level 4</a:t>
            </a:r>
            <a:endParaRPr kumimoji="1" lang="ja-JP" altLang="en-US"/>
          </a:p>
          <a:p>
            <a:pPr lvl="4"/>
            <a:r>
              <a:rPr kumimoji="1" lang="en-US" altLang="ja-JP" dirty="0"/>
              <a:t>Level 5</a:t>
            </a:r>
            <a:endParaRPr kumimoji="1" lang="ja-JP" altLang="en-US"/>
          </a:p>
        </p:txBody>
      </p:sp>
      <p:sp>
        <p:nvSpPr>
          <p:cNvPr id="7" name="タイトル プレースホルダー 6">
            <a:extLst>
              <a:ext uri="{FF2B5EF4-FFF2-40B4-BE49-F238E27FC236}">
                <a16:creationId xmlns:a16="http://schemas.microsoft.com/office/drawing/2014/main" id="{B3CE574D-FEE0-7644-277A-595CA58549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en-US" altLang="ja-JP" dirty="0"/>
              <a:t>Master Title</a:t>
            </a:r>
            <a:endParaRPr kumimoji="1" lang="ja-JP" altLang="en-US"/>
          </a:p>
        </p:txBody>
      </p:sp>
    </p:spTree>
    <p:extLst>
      <p:ext uri="{BB962C8B-B14F-4D97-AF65-F5344CB8AC3E}">
        <p14:creationId xmlns:p14="http://schemas.microsoft.com/office/powerpoint/2010/main" val="93886763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1" r:id="rId5"/>
    <p:sldLayoutId id="2147483703" r:id="rId6"/>
    <p:sldLayoutId id="2147483704" r:id="rId7"/>
    <p:sldLayoutId id="2147483705" r:id="rId8"/>
    <p:sldLayoutId id="2147483706" r:id="rId9"/>
    <p:sldLayoutId id="2147483707" r:id="rId10"/>
  </p:sldLayoutIdLst>
  <p:txStyles>
    <p:titleStyle>
      <a:lvl1pPr algn="l" defTabSz="914400" rtl="0" eaLnBrk="1" latinLnBrk="0" hangingPunct="1">
        <a:lnSpc>
          <a:spcPct val="90000"/>
        </a:lnSpc>
        <a:spcBef>
          <a:spcPct val="0"/>
        </a:spcBef>
        <a:buNone/>
        <a:defRPr kumimoji="1" sz="4400" b="0" i="0" kern="1200">
          <a:solidFill>
            <a:schemeClr val="tx1"/>
          </a:solidFill>
          <a:latin typeface="Poppins Medium" pitchFamily="2" charset="0"/>
          <a:ea typeface="M PLUS 1p" panose="020B0502020203020207" pitchFamily="34" charset="-128"/>
          <a:cs typeface="Poppins Medium"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a:solidFill>
            <a:srgbClr val="142FA4"/>
          </a:solidFill>
          <a:latin typeface="Poppins" pitchFamily="2" charset="0"/>
          <a:ea typeface="M PLUS 1p" panose="020B0502020203020207" pitchFamily="34" charset="-128"/>
          <a:cs typeface="Poppi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a:solidFill>
            <a:srgbClr val="142FA4"/>
          </a:solidFill>
          <a:latin typeface="Poppins" pitchFamily="2" charset="0"/>
          <a:ea typeface="M PLUS 1p" panose="020B0502020203020207" pitchFamily="34" charset="-128"/>
          <a:cs typeface="Poppi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a:solidFill>
            <a:srgbClr val="142FA4"/>
          </a:solidFill>
          <a:latin typeface="Poppins" pitchFamily="2" charset="0"/>
          <a:ea typeface="M PLUS 1p" panose="020B0502020203020207" pitchFamily="34" charset="-128"/>
          <a:cs typeface="Poppi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a:solidFill>
            <a:srgbClr val="142FA4"/>
          </a:solidFill>
          <a:latin typeface="Poppins" pitchFamily="2" charset="0"/>
          <a:ea typeface="M PLUS 1p" panose="020B0502020203020207" pitchFamily="34" charset="-128"/>
          <a:cs typeface="Poppi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a:solidFill>
            <a:srgbClr val="142FA4"/>
          </a:solidFill>
          <a:latin typeface="Poppins" pitchFamily="2" charset="0"/>
          <a:ea typeface="M PLUS 1p" panose="020B0502020203020207" pitchFamily="34" charset="-128"/>
          <a:cs typeface="Poppi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xml"/><Relationship Id="rId1" Type="http://schemas.openxmlformats.org/officeDocument/2006/relationships/customXml" Target="../../customXml/item1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customXml" Target="../../customXml/item5.xml"/><Relationship Id="rId7" Type="http://schemas.openxmlformats.org/officeDocument/2006/relationships/chart" Target="../charts/chart3.xml"/><Relationship Id="rId2" Type="http://schemas.openxmlformats.org/officeDocument/2006/relationships/customXml" Target="../../customXml/item3.xml"/><Relationship Id="rId1" Type="http://schemas.openxmlformats.org/officeDocument/2006/relationships/customXml" Target="../../customXml/item6.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customXml" Target="../../customXml/item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6.xml"/><Relationship Id="rId1" Type="http://schemas.openxmlformats.org/officeDocument/2006/relationships/customXml" Target="../../customXml/item9.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customXml" Target="../../customXml/item2.xml"/><Relationship Id="rId7" Type="http://schemas.openxmlformats.org/officeDocument/2006/relationships/chart" Target="../charts/chart8.xml"/><Relationship Id="rId2" Type="http://schemas.openxmlformats.org/officeDocument/2006/relationships/customXml" Target="../../customXml/item15.xml"/><Relationship Id="rId1" Type="http://schemas.openxmlformats.org/officeDocument/2006/relationships/customXml" Target="../../customXml/item4.xml"/><Relationship Id="rId6" Type="http://schemas.openxmlformats.org/officeDocument/2006/relationships/chart" Target="../charts/chart7.xml"/><Relationship Id="rId5" Type="http://schemas.openxmlformats.org/officeDocument/2006/relationships/notesSlide" Target="../notesSlides/notesSlide5.xml"/><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chart" Target="../charts/chart13.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5.emf"/><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notesSlide" Target="../notesSlides/notesSlide10.xml"/><Relationship Id="rId7" Type="http://schemas.openxmlformats.org/officeDocument/2006/relationships/image" Target="../media/image17.emf"/><Relationship Id="rId2" Type="http://schemas.openxmlformats.org/officeDocument/2006/relationships/slideLayout" Target="../slideLayouts/slideLayout7.xml"/><Relationship Id="rId1" Type="http://schemas.openxmlformats.org/officeDocument/2006/relationships/customXml" Target="../../customXml/item14.xml"/><Relationship Id="rId6" Type="http://schemas.openxmlformats.org/officeDocument/2006/relationships/image" Target="../media/image16.emf"/><Relationship Id="rId5" Type="http://schemas.openxmlformats.org/officeDocument/2006/relationships/chart" Target="../charts/chart15.xml"/><Relationship Id="rId10" Type="http://schemas.openxmlformats.org/officeDocument/2006/relationships/chart" Target="../charts/chart16.xml"/><Relationship Id="rId4" Type="http://schemas.openxmlformats.org/officeDocument/2006/relationships/chart" Target="../charts/chart14.xml"/><Relationship Id="rId9"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6.emf"/><Relationship Id="rId5" Type="http://schemas.openxmlformats.org/officeDocument/2006/relationships/image" Target="../media/image25.png"/><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30.emf"/><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jpe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emf"/></Relationships>
</file>

<file path=ppt/slides/_rels/slide18.xml.rels><?xml version="1.0" encoding="UTF-8" standalone="yes"?>
<Relationships xmlns="http://schemas.openxmlformats.org/package/2006/relationships"><Relationship Id="rId3" Type="http://schemas.openxmlformats.org/officeDocument/2006/relationships/hyperlink" Target="http://youtube.com/watch?reload=9&amp;v=VfxVj5nT6EU&amp;feature=youtu.be" TargetMode="External"/><Relationship Id="rId7" Type="http://schemas.openxmlformats.org/officeDocument/2006/relationships/image" Target="../media/image39.jpeg"/><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8" Type="http://schemas.openxmlformats.org/officeDocument/2006/relationships/chart" Target="../charts/chart20.xml"/><Relationship Id="rId13" Type="http://schemas.openxmlformats.org/officeDocument/2006/relationships/image" Target="../media/image47.emf"/><Relationship Id="rId18" Type="http://schemas.openxmlformats.org/officeDocument/2006/relationships/image" Target="../media/image52.emf"/><Relationship Id="rId3" Type="http://schemas.openxmlformats.org/officeDocument/2006/relationships/image" Target="../media/image40.emf"/><Relationship Id="rId7" Type="http://schemas.openxmlformats.org/officeDocument/2006/relationships/image" Target="../media/image42.png"/><Relationship Id="rId12" Type="http://schemas.openxmlformats.org/officeDocument/2006/relationships/image" Target="../media/image46.emf"/><Relationship Id="rId17" Type="http://schemas.openxmlformats.org/officeDocument/2006/relationships/image" Target="../media/image51.emf"/><Relationship Id="rId2" Type="http://schemas.openxmlformats.org/officeDocument/2006/relationships/notesSlide" Target="../notesSlides/notesSlide16.xml"/><Relationship Id="rId16" Type="http://schemas.openxmlformats.org/officeDocument/2006/relationships/image" Target="../media/image50.emf"/><Relationship Id="rId1" Type="http://schemas.openxmlformats.org/officeDocument/2006/relationships/slideLayout" Target="../slideLayouts/slideLayout11.xml"/><Relationship Id="rId6" Type="http://schemas.openxmlformats.org/officeDocument/2006/relationships/chart" Target="../charts/chart19.xml"/><Relationship Id="rId11" Type="http://schemas.openxmlformats.org/officeDocument/2006/relationships/image" Target="../media/image45.emf"/><Relationship Id="rId5" Type="http://schemas.openxmlformats.org/officeDocument/2006/relationships/chart" Target="../charts/chart18.xml"/><Relationship Id="rId15" Type="http://schemas.openxmlformats.org/officeDocument/2006/relationships/image" Target="../media/image49.svg"/><Relationship Id="rId10" Type="http://schemas.openxmlformats.org/officeDocument/2006/relationships/image" Target="../media/image44.emf"/><Relationship Id="rId19" Type="http://schemas.openxmlformats.org/officeDocument/2006/relationships/image" Target="../media/image53.emf"/><Relationship Id="rId4" Type="http://schemas.openxmlformats.org/officeDocument/2006/relationships/image" Target="../media/image41.emf"/><Relationship Id="rId9" Type="http://schemas.openxmlformats.org/officeDocument/2006/relationships/image" Target="../media/image43.emf"/><Relationship Id="rId14" Type="http://schemas.openxmlformats.org/officeDocument/2006/relationships/image" Target="../media/image48.emf"/></Relationships>
</file>

<file path=ppt/slides/_rels/slide2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42.png"/><Relationship Id="rId5" Type="http://schemas.openxmlformats.org/officeDocument/2006/relationships/image" Target="../media/image55.emf"/><Relationship Id="rId4" Type="http://schemas.openxmlformats.org/officeDocument/2006/relationships/image" Target="../media/image54.emf"/></Relationships>
</file>

<file path=ppt/slides/_rels/slide21.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image" Target="../media/image64.emf"/><Relationship Id="rId18" Type="http://schemas.openxmlformats.org/officeDocument/2006/relationships/image" Target="../media/image69.emf"/><Relationship Id="rId3" Type="http://schemas.openxmlformats.org/officeDocument/2006/relationships/image" Target="../media/image56.jpeg"/><Relationship Id="rId7" Type="http://schemas.openxmlformats.org/officeDocument/2006/relationships/image" Target="../media/image58.png"/><Relationship Id="rId12" Type="http://schemas.openxmlformats.org/officeDocument/2006/relationships/image" Target="../media/image63.emf"/><Relationship Id="rId17" Type="http://schemas.openxmlformats.org/officeDocument/2006/relationships/image" Target="../media/image68.emf"/><Relationship Id="rId2" Type="http://schemas.openxmlformats.org/officeDocument/2006/relationships/notesSlide" Target="../notesSlides/notesSlide18.xml"/><Relationship Id="rId16" Type="http://schemas.openxmlformats.org/officeDocument/2006/relationships/image" Target="../media/image67.emf"/><Relationship Id="rId1" Type="http://schemas.openxmlformats.org/officeDocument/2006/relationships/slideLayout" Target="../slideLayouts/slideLayout7.xml"/><Relationship Id="rId6" Type="http://schemas.openxmlformats.org/officeDocument/2006/relationships/chart" Target="../charts/chart23.xml"/><Relationship Id="rId11" Type="http://schemas.openxmlformats.org/officeDocument/2006/relationships/image" Target="../media/image62.emf"/><Relationship Id="rId5" Type="http://schemas.openxmlformats.org/officeDocument/2006/relationships/chart" Target="../charts/chart22.xml"/><Relationship Id="rId15" Type="http://schemas.openxmlformats.org/officeDocument/2006/relationships/image" Target="../media/image66.emf"/><Relationship Id="rId10" Type="http://schemas.openxmlformats.org/officeDocument/2006/relationships/image" Target="../media/image61.emf"/><Relationship Id="rId19" Type="http://schemas.openxmlformats.org/officeDocument/2006/relationships/image" Target="../media/image70.emf"/><Relationship Id="rId4" Type="http://schemas.openxmlformats.org/officeDocument/2006/relationships/image" Target="../media/image57.jpeg"/><Relationship Id="rId9" Type="http://schemas.openxmlformats.org/officeDocument/2006/relationships/image" Target="../media/image60.emf"/><Relationship Id="rId14" Type="http://schemas.openxmlformats.org/officeDocument/2006/relationships/image" Target="../media/image65.emf"/></Relationships>
</file>

<file path=ppt/slides/_rels/slide22.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72.png"/><Relationship Id="rId4" Type="http://schemas.openxmlformats.org/officeDocument/2006/relationships/image" Target="../media/image71.emf"/></Relationships>
</file>

<file path=ppt/slides/_rels/slide23.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5.emf"/><Relationship Id="rId4" Type="http://schemas.openxmlformats.org/officeDocument/2006/relationships/image" Target="../media/image74.emf"/></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10.xml"/><Relationship Id="rId6" Type="http://schemas.openxmlformats.org/officeDocument/2006/relationships/image" Target="../media/image78.jpeg"/><Relationship Id="rId5" Type="http://schemas.openxmlformats.org/officeDocument/2006/relationships/image" Target="../media/image77.jpeg"/><Relationship Id="rId4" Type="http://schemas.openxmlformats.org/officeDocument/2006/relationships/chart" Target="../charts/chart26.xml"/></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80.emf"/><Relationship Id="rId4" Type="http://schemas.openxmlformats.org/officeDocument/2006/relationships/image" Target="../media/image79.emf"/></Relationships>
</file>

<file path=ppt/slides/_rels/slide26.xml.rels><?xml version="1.0" encoding="UTF-8" standalone="yes"?>
<Relationships xmlns="http://schemas.openxmlformats.org/package/2006/relationships"><Relationship Id="rId3" Type="http://schemas.openxmlformats.org/officeDocument/2006/relationships/image" Target="../media/image81.emf"/><Relationship Id="rId7" Type="http://schemas.openxmlformats.org/officeDocument/2006/relationships/image" Target="../media/image83.emf"/><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image" Target="../media/image72.png"/><Relationship Id="rId5" Type="http://schemas.openxmlformats.org/officeDocument/2006/relationships/image" Target="../media/image79.emf"/><Relationship Id="rId4" Type="http://schemas.openxmlformats.org/officeDocument/2006/relationships/image" Target="../media/image82.emf"/></Relationships>
</file>

<file path=ppt/slides/_rels/slide27.xml.rels><?xml version="1.0" encoding="UTF-8" standalone="yes"?>
<Relationships xmlns="http://schemas.openxmlformats.org/package/2006/relationships"><Relationship Id="rId8" Type="http://schemas.openxmlformats.org/officeDocument/2006/relationships/chart" Target="../charts/chart31.xml"/><Relationship Id="rId3" Type="http://schemas.openxmlformats.org/officeDocument/2006/relationships/chart" Target="../charts/chart27.xml"/><Relationship Id="rId7" Type="http://schemas.openxmlformats.org/officeDocument/2006/relationships/chart" Target="../charts/chart30.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chart" Target="../charts/chart29.xml"/><Relationship Id="rId4" Type="http://schemas.openxmlformats.org/officeDocument/2006/relationships/chart" Target="../charts/char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chart" Target="../charts/chart32.xml"/></Relationships>
</file>

<file path=ppt/slides/_rels/slide30.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88.emf"/><Relationship Id="rId4" Type="http://schemas.openxmlformats.org/officeDocument/2006/relationships/image" Target="../media/image87.emf"/></Relationships>
</file>

<file path=ppt/slides/_rels/slide31.xml.rels><?xml version="1.0" encoding="UTF-8" standalone="yes"?>
<Relationships xmlns="http://schemas.openxmlformats.org/package/2006/relationships"><Relationship Id="rId8" Type="http://schemas.openxmlformats.org/officeDocument/2006/relationships/hyperlink" Target="https://www.ibis.ne.jp/en/ir/" TargetMode="External"/><Relationship Id="rId3" Type="http://schemas.openxmlformats.org/officeDocument/2006/relationships/image" Target="../media/image89.png"/><Relationship Id="rId2" Type="http://schemas.openxmlformats.org/officeDocument/2006/relationships/notesSlide" Target="../notesSlides/notesSlide28.xml"/><Relationship Id="rId1" Type="http://schemas.openxmlformats.org/officeDocument/2006/relationships/slideLayout" Target="../slideLayouts/slideLayout16.xml"/><Relationship Id="rId6" Type="http://schemas.openxmlformats.org/officeDocument/2006/relationships/image" Target="../media/image90.png"/><Relationship Id="rId5" Type="http://schemas.openxmlformats.org/officeDocument/2006/relationships/hyperlink" Target="https://contents.xj-storage.jp/xcontents/AS05117/0ccf1ba9/00ac/4a98/9165/08da39747d79/140120260210553532.pdf" TargetMode="External"/><Relationship Id="rId10" Type="http://schemas.openxmlformats.org/officeDocument/2006/relationships/image" Target="../media/image92.png"/><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角丸四角形 47">
            <a:extLst>
              <a:ext uri="{FF2B5EF4-FFF2-40B4-BE49-F238E27FC236}">
                <a16:creationId xmlns:a16="http://schemas.microsoft.com/office/drawing/2014/main" id="{B6FEED60-2F21-7E30-FA79-4F53C3889498}"/>
              </a:ext>
            </a:extLst>
          </p:cNvPr>
          <p:cNvSpPr/>
          <p:nvPr/>
        </p:nvSpPr>
        <p:spPr>
          <a:xfrm>
            <a:off x="751940" y="5249861"/>
            <a:ext cx="2974852" cy="419700"/>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142FA4"/>
                </a:solidFill>
                <a:latin typeface="Poppins Medium" pitchFamily="2" charset="0"/>
                <a:ea typeface="M PLUS 1p" panose="020B0502020203020207" pitchFamily="34" charset="-128"/>
                <a:cs typeface="Poppins Medium" pitchFamily="2" charset="0"/>
              </a:rPr>
              <a:t>Second Quarter of Fiscal Year </a:t>
            </a:r>
          </a:p>
          <a:p>
            <a:pPr algn="ctr"/>
            <a:r>
              <a:rPr lang="en-US" altLang="ja-JP" sz="1200" dirty="0">
                <a:solidFill>
                  <a:srgbClr val="142FA4"/>
                </a:solidFill>
                <a:latin typeface="Poppins Medium" pitchFamily="2" charset="0"/>
                <a:ea typeface="M PLUS 1p" panose="020B0502020203020207" pitchFamily="34" charset="-128"/>
                <a:cs typeface="Poppins Medium" pitchFamily="2" charset="0"/>
              </a:rPr>
              <a:t>Ending December 31, 2026</a:t>
            </a:r>
            <a:endParaRPr lang="ja-JP" altLang="en-US" sz="1200" dirty="0">
              <a:solidFill>
                <a:srgbClr val="142FA4"/>
              </a:solidFill>
              <a:latin typeface="Poppins Medium" pitchFamily="2" charset="0"/>
              <a:ea typeface="M PLUS 1p" panose="020B0502020203020207" pitchFamily="34" charset="-128"/>
              <a:cs typeface="Poppins Medium" pitchFamily="2" charset="0"/>
            </a:endParaRPr>
          </a:p>
        </p:txBody>
      </p:sp>
      <p:sp>
        <p:nvSpPr>
          <p:cNvPr id="25" name="タイトル 1">
            <a:extLst>
              <a:ext uri="{FF2B5EF4-FFF2-40B4-BE49-F238E27FC236}">
                <a16:creationId xmlns:a16="http://schemas.microsoft.com/office/drawing/2014/main" id="{D837951E-58FC-EAF1-3964-A692A0620EFC}"/>
              </a:ext>
            </a:extLst>
          </p:cNvPr>
          <p:cNvSpPr txBox="1">
            <a:spLocks/>
          </p:cNvSpPr>
          <p:nvPr/>
        </p:nvSpPr>
        <p:spPr>
          <a:xfrm>
            <a:off x="668714" y="3688197"/>
            <a:ext cx="5660887" cy="823520"/>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 PLUS 1p" panose="020B0502020203020207" pitchFamily="34" charset="-128"/>
                <a:ea typeface="M PLUS 1p" panose="020B0502020203020207" pitchFamily="34" charset="-128"/>
                <a:cs typeface="M PLUS 1p" panose="020B0502020203020207" pitchFamily="34" charset="-128"/>
              </a:defRPr>
            </a:lvl1pPr>
          </a:lstStyle>
          <a:p>
            <a:r>
              <a:rPr lang="en-US" altLang="ja-JP" sz="2800" b="1" dirty="0">
                <a:latin typeface="Poppins SemiBold" pitchFamily="2" charset="0"/>
                <a:ea typeface="M PLUS 1p Medium" panose="020B0502020203020207" pitchFamily="34" charset="-128"/>
                <a:cs typeface="Poppins SemiBold" pitchFamily="2" charset="0"/>
              </a:rPr>
              <a:t>FY2026</a:t>
            </a:r>
            <a:r>
              <a:rPr lang="ja-JP" altLang="en-US" sz="2800" b="1" dirty="0">
                <a:latin typeface="Poppins SemiBold" pitchFamily="2" charset="0"/>
                <a:ea typeface="M PLUS 1p Medium" panose="020B0502020203020207" pitchFamily="34" charset="-128"/>
                <a:cs typeface="Poppins SemiBold" pitchFamily="2" charset="0"/>
              </a:rPr>
              <a:t> </a:t>
            </a:r>
            <a:r>
              <a:rPr lang="en-US" altLang="ja-JP" sz="2800" b="1" dirty="0">
                <a:latin typeface="Poppins SemiBold" pitchFamily="2" charset="0"/>
                <a:ea typeface="M PLUS 1p Medium" panose="020B0502020203020207" pitchFamily="34" charset="-128"/>
                <a:cs typeface="Poppins SemiBold" pitchFamily="2" charset="0"/>
              </a:rPr>
              <a:t>Q2</a:t>
            </a:r>
            <a:endParaRPr lang="ja-JP" altLang="en-US" sz="2800" b="1" dirty="0">
              <a:latin typeface="Poppins SemiBold" pitchFamily="2" charset="0"/>
              <a:ea typeface="M PLUS 1p Medium" panose="020B0502020203020207" pitchFamily="34" charset="-128"/>
              <a:cs typeface="Poppins SemiBold" pitchFamily="2" charset="0"/>
            </a:endParaRPr>
          </a:p>
        </p:txBody>
      </p:sp>
      <p:sp>
        <p:nvSpPr>
          <p:cNvPr id="26" name="テキスト ボックス 25">
            <a:extLst>
              <a:ext uri="{FF2B5EF4-FFF2-40B4-BE49-F238E27FC236}">
                <a16:creationId xmlns:a16="http://schemas.microsoft.com/office/drawing/2014/main" id="{FDF715F1-3914-67C4-DD77-204FDD42BE71}"/>
              </a:ext>
            </a:extLst>
          </p:cNvPr>
          <p:cNvSpPr txBox="1"/>
          <p:nvPr/>
        </p:nvSpPr>
        <p:spPr>
          <a:xfrm>
            <a:off x="668714" y="1608140"/>
            <a:ext cx="11310199" cy="2080057"/>
          </a:xfrm>
          <a:prstGeom prst="rect">
            <a:avLst/>
          </a:prstGeom>
          <a:noFill/>
        </p:spPr>
        <p:txBody>
          <a:bodyPr wrap="square" rtlCol="0">
            <a:spAutoFit/>
          </a:bodyPr>
          <a:lstStyle/>
          <a:p>
            <a:pPr>
              <a:lnSpc>
                <a:spcPts val="7700"/>
              </a:lnSpc>
            </a:pPr>
            <a:r>
              <a:rPr kumimoji="1" lang="en-US" altLang="ja-JP" sz="6750" b="1" dirty="0">
                <a:latin typeface="Poppins" pitchFamily="2" charset="0"/>
                <a:cs typeface="Poppins" pitchFamily="2" charset="0"/>
              </a:rPr>
              <a:t>Earnings </a:t>
            </a:r>
          </a:p>
          <a:p>
            <a:pPr>
              <a:lnSpc>
                <a:spcPts val="7700"/>
              </a:lnSpc>
            </a:pPr>
            <a:r>
              <a:rPr kumimoji="1" lang="en-US" altLang="ja-JP" sz="6750" b="1" dirty="0">
                <a:latin typeface="Poppins" pitchFamily="2" charset="0"/>
                <a:cs typeface="Poppins" pitchFamily="2" charset="0"/>
              </a:rPr>
              <a:t>Presentation</a:t>
            </a:r>
            <a:endParaRPr kumimoji="1" lang="ja-JP" altLang="en-US" sz="6750" b="1" dirty="0">
              <a:latin typeface="Poppins" pitchFamily="2" charset="0"/>
              <a:cs typeface="Poppins" pitchFamily="2" charset="0"/>
            </a:endParaRPr>
          </a:p>
        </p:txBody>
      </p:sp>
      <p:pic>
        <p:nvPicPr>
          <p:cNvPr id="39" name="図 38" descr="ロゴ&#10;&#10;AI 生成コンテンツは誤りを含む可能性があります。">
            <a:extLst>
              <a:ext uri="{FF2B5EF4-FFF2-40B4-BE49-F238E27FC236}">
                <a16:creationId xmlns:a16="http://schemas.microsoft.com/office/drawing/2014/main" id="{424C506C-F902-FDFC-5229-7427B496B9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3352" y="647040"/>
            <a:ext cx="1486301" cy="670563"/>
          </a:xfrm>
          <a:prstGeom prst="rect">
            <a:avLst/>
          </a:prstGeom>
        </p:spPr>
      </p:pic>
      <p:sp>
        <p:nvSpPr>
          <p:cNvPr id="49" name="タイトル 1">
            <a:extLst>
              <a:ext uri="{FF2B5EF4-FFF2-40B4-BE49-F238E27FC236}">
                <a16:creationId xmlns:a16="http://schemas.microsoft.com/office/drawing/2014/main" id="{414BF061-7A99-D366-D0B3-1B9EF50EDE8E}"/>
              </a:ext>
            </a:extLst>
          </p:cNvPr>
          <p:cNvSpPr txBox="1">
            <a:spLocks/>
          </p:cNvSpPr>
          <p:nvPr/>
        </p:nvSpPr>
        <p:spPr>
          <a:xfrm>
            <a:off x="690662" y="5779246"/>
            <a:ext cx="5660887" cy="304071"/>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 PLUS 1p" panose="020B0502020203020207" pitchFamily="34" charset="-128"/>
                <a:ea typeface="M PLUS 1p" panose="020B0502020203020207" pitchFamily="34" charset="-128"/>
                <a:cs typeface="M PLUS 1p" panose="020B0502020203020207" pitchFamily="34" charset="-128"/>
              </a:defRPr>
            </a:lvl1pPr>
          </a:lstStyle>
          <a:p>
            <a:r>
              <a:rPr lang="en-US" altLang="ja-JP" sz="1300" dirty="0"/>
              <a:t>ibis inc. (TSE Growth: 9343)</a:t>
            </a:r>
            <a:endParaRPr lang="ja-JP" altLang="en-US" sz="1300" dirty="0"/>
          </a:p>
        </p:txBody>
      </p:sp>
      <p:sp>
        <p:nvSpPr>
          <p:cNvPr id="50" name="タイトル 1">
            <a:extLst>
              <a:ext uri="{FF2B5EF4-FFF2-40B4-BE49-F238E27FC236}">
                <a16:creationId xmlns:a16="http://schemas.microsoft.com/office/drawing/2014/main" id="{582CF353-4E36-4A50-F1EE-48FF64EB99E1}"/>
              </a:ext>
            </a:extLst>
          </p:cNvPr>
          <p:cNvSpPr txBox="1">
            <a:spLocks/>
          </p:cNvSpPr>
          <p:nvPr/>
        </p:nvSpPr>
        <p:spPr>
          <a:xfrm>
            <a:off x="690663" y="6097172"/>
            <a:ext cx="5660887" cy="304071"/>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 PLUS 1p" panose="020B0502020203020207" pitchFamily="34" charset="-128"/>
                <a:ea typeface="M PLUS 1p" panose="020B0502020203020207" pitchFamily="34" charset="-128"/>
                <a:cs typeface="M PLUS 1p" panose="020B0502020203020207" pitchFamily="34" charset="-128"/>
              </a:defRPr>
            </a:lvl1pPr>
          </a:lstStyle>
          <a:p>
            <a:r>
              <a:rPr lang="en-US" altLang="ja-JP" sz="1300" dirty="0">
                <a:latin typeface="Poppins" pitchFamily="2" charset="0"/>
                <a:cs typeface="Poppins" pitchFamily="2" charset="0"/>
              </a:rPr>
              <a:t>August 10, 2026</a:t>
            </a:r>
            <a:endParaRPr lang="ja-JP" altLang="en-US" sz="1300" dirty="0">
              <a:latin typeface="Poppins" pitchFamily="2" charset="0"/>
              <a:cs typeface="Poppins" pitchFamily="2" charset="0"/>
            </a:endParaRPr>
          </a:p>
        </p:txBody>
      </p:sp>
    </p:spTree>
    <p:extLst>
      <p:ext uri="{BB962C8B-B14F-4D97-AF65-F5344CB8AC3E}">
        <p14:creationId xmlns:p14="http://schemas.microsoft.com/office/powerpoint/2010/main" val="553221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 name="テキスト ボックス 1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
        <p:nvSpPr>
          <p:cNvPr id="3" name="タイトル 2">
            <a:extLst>
              <a:ext uri="{FF2B5EF4-FFF2-40B4-BE49-F238E27FC236}">
                <a16:creationId xmlns:a16="http://schemas.microsoft.com/office/drawing/2014/main" id="{0B181414-9BFF-ED6D-B421-62F7C77DCDF4}"/>
              </a:ext>
            </a:extLst>
          </p:cNvPr>
          <p:cNvSpPr>
            <a:spLocks noGrp="1"/>
          </p:cNvSpPr>
          <p:nvPr>
            <p:ph type="title"/>
          </p:nvPr>
        </p:nvSpPr>
        <p:spPr/>
        <p:txBody>
          <a:bodyPr>
            <a:normAutofit fontScale="90000"/>
          </a:bodyPr>
          <a:lstStyle/>
          <a:p>
            <a:r>
              <a:rPr lang="en-US" altLang="ja-JP" dirty="0"/>
              <a:t>Q2 Subscription Billing Sales Up 66.4% YoY to a Record High,</a:t>
            </a:r>
            <a:br>
              <a:rPr lang="en-US" altLang="ja-JP" dirty="0"/>
            </a:br>
            <a:r>
              <a:rPr lang="en-US" altLang="ja-JP" dirty="0"/>
              <a:t>Recurring Revenue Driving Growth as We Enter the Harvest Phase</a:t>
            </a:r>
            <a:endParaRPr lang="ja-JP" altLang="en-US" dirty="0"/>
          </a:p>
        </p:txBody>
      </p:sp>
      <p:sp>
        <p:nvSpPr>
          <p:cNvPr id="13" name="テキスト プレースホルダー 12">
            <a:extLst>
              <a:ext uri="{FF2B5EF4-FFF2-40B4-BE49-F238E27FC236}">
                <a16:creationId xmlns:a16="http://schemas.microsoft.com/office/drawing/2014/main" id="{C6009FBB-9AAC-9A67-21A0-FC35E04C5A79}"/>
              </a:ext>
            </a:extLst>
          </p:cNvPr>
          <p:cNvSpPr>
            <a:spLocks noGrp="1"/>
          </p:cNvSpPr>
          <p:nvPr>
            <p:ph type="body" sz="quarter" idx="21"/>
          </p:nvPr>
        </p:nvSpPr>
        <p:spPr>
          <a:xfrm>
            <a:off x="5023196" y="6109200"/>
            <a:ext cx="6769188" cy="519492"/>
          </a:xfrm>
        </p:spPr>
        <p:txBody>
          <a:bodyPr>
            <a:noAutofit/>
          </a:bodyPr>
          <a:lstStyle/>
          <a:p>
            <a:pPr marL="61913" indent="-61913"/>
            <a:r>
              <a:rPr lang="en" altLang="ja-JP" dirty="0"/>
              <a:t>* YoY stands for “Year over Year”</a:t>
            </a:r>
          </a:p>
          <a:p>
            <a:pPr marL="61913" indent="-61913"/>
            <a:r>
              <a:rPr lang="en" altLang="ja-JP" dirty="0"/>
              <a:t>* Consolidated financial statements have been applied since FY2025. The profit and loss of Techno-Speech, Inc. has been consolidated from April 1, 2025, and the profit and loss of Zeroichi Start Inc. has been consolidated from January 1, 2026 </a:t>
            </a:r>
          </a:p>
          <a:p>
            <a:r>
              <a:rPr lang="en-US" altLang="ja-JP" dirty="0"/>
              <a:t>* </a:t>
            </a:r>
            <a:r>
              <a:rPr lang="en" altLang="ja-JP" dirty="0"/>
              <a:t>Pages 3-5 present cumulative results, while pages 2 and 6-8 show results for the accounting period</a:t>
            </a:r>
          </a:p>
          <a:p>
            <a:pPr marL="53975" indent="-53975"/>
            <a:r>
              <a:rPr lang="en-US" altLang="ja-JP" dirty="0"/>
              <a:t>* Regarding the purchase price allocation (PPA) for the acquisition of Techno-Speech, Inc., figures as of FY2025 Q2 were disclosed based on provisional accounting treatment; following the finalization of the PPA, the figures have been retroactively restated to reflect the finalized accounting treatment</a:t>
            </a:r>
          </a:p>
        </p:txBody>
      </p:sp>
      <p:sp>
        <p:nvSpPr>
          <p:cNvPr id="1123" name="テキスト プレースホルダー 9"/>
          <p:cNvSpPr txBox="1">
            <a:spLocks noGrp="1"/>
          </p:cNvSpPr>
          <p:nvPr>
            <p:ph type="body" sz="quarter" idx="12"/>
          </p:nvPr>
        </p:nvSpPr>
        <p:spPr>
          <a:prstGeom prst="rect">
            <a:avLst/>
          </a:prstGeom>
        </p:spPr>
        <p:txBody>
          <a:bodyPr>
            <a:normAutofit/>
          </a:bodyPr>
          <a:lstStyle/>
          <a:p>
            <a:r>
              <a:rPr dirty="0"/>
              <a:t>FY202</a:t>
            </a:r>
            <a:r>
              <a:rPr lang="en-US" dirty="0"/>
              <a:t>6</a:t>
            </a:r>
            <a:r>
              <a:rPr dirty="0"/>
              <a:t> Q</a:t>
            </a:r>
            <a:r>
              <a:rPr lang="en-US" dirty="0"/>
              <a:t>2</a:t>
            </a:r>
            <a:r>
              <a:rPr dirty="0"/>
              <a:t> Consolidated Results Highlights</a:t>
            </a:r>
          </a:p>
        </p:txBody>
      </p:sp>
      <p:graphicFrame>
        <p:nvGraphicFramePr>
          <p:cNvPr id="1125" name="表 3"/>
          <p:cNvGraphicFramePr/>
          <p:nvPr>
            <p:extLst>
              <p:ext uri="{D42A27DB-BD31-4B8C-83A1-F6EECF244321}">
                <p14:modId xmlns:p14="http://schemas.microsoft.com/office/powerpoint/2010/main" val="534170070"/>
              </p:ext>
            </p:extLst>
          </p:nvPr>
        </p:nvGraphicFramePr>
        <p:xfrm>
          <a:off x="563498" y="1764620"/>
          <a:ext cx="7281607" cy="4178978"/>
        </p:xfrm>
        <a:graphic>
          <a:graphicData uri="http://schemas.openxmlformats.org/drawingml/2006/table">
            <a:tbl>
              <a:tblPr firstRow="1" bandRow="1"/>
              <a:tblGrid>
                <a:gridCol w="1512675">
                  <a:extLst>
                    <a:ext uri="{9D8B030D-6E8A-4147-A177-3AD203B41FA5}">
                      <a16:colId xmlns:a16="http://schemas.microsoft.com/office/drawing/2014/main" val="20000"/>
                    </a:ext>
                  </a:extLst>
                </a:gridCol>
                <a:gridCol w="1442233">
                  <a:extLst>
                    <a:ext uri="{9D8B030D-6E8A-4147-A177-3AD203B41FA5}">
                      <a16:colId xmlns:a16="http://schemas.microsoft.com/office/drawing/2014/main" val="20001"/>
                    </a:ext>
                  </a:extLst>
                </a:gridCol>
                <a:gridCol w="1442233">
                  <a:extLst>
                    <a:ext uri="{9D8B030D-6E8A-4147-A177-3AD203B41FA5}">
                      <a16:colId xmlns:a16="http://schemas.microsoft.com/office/drawing/2014/main" val="3850205215"/>
                    </a:ext>
                  </a:extLst>
                </a:gridCol>
                <a:gridCol w="1442233">
                  <a:extLst>
                    <a:ext uri="{9D8B030D-6E8A-4147-A177-3AD203B41FA5}">
                      <a16:colId xmlns:a16="http://schemas.microsoft.com/office/drawing/2014/main" val="20002"/>
                    </a:ext>
                  </a:extLst>
                </a:gridCol>
                <a:gridCol w="1442233">
                  <a:extLst>
                    <a:ext uri="{9D8B030D-6E8A-4147-A177-3AD203B41FA5}">
                      <a16:colId xmlns:a16="http://schemas.microsoft.com/office/drawing/2014/main" val="20003"/>
                    </a:ext>
                  </a:extLst>
                </a:gridCol>
              </a:tblGrid>
              <a:tr h="702133">
                <a:tc>
                  <a:txBody>
                    <a:bodyPr/>
                    <a:lstStyle/>
                    <a:p>
                      <a:pPr>
                        <a:defRPr sz="1100" b="0">
                          <a:latin typeface="Poppins Regular"/>
                          <a:ea typeface="Poppins Regular"/>
                          <a:cs typeface="Poppins Regular"/>
                        </a:defRPr>
                      </a:pPr>
                      <a:r>
                        <a:rPr dirty="0">
                          <a:latin typeface="M PLUS 1p Regular"/>
                          <a:ea typeface="M PLUS 1p Regular"/>
                          <a:cs typeface="M PLUS 1p Regular"/>
                          <a:sym typeface="M PLUS 1p Regular"/>
                        </a:rPr>
                        <a:t>　</a:t>
                      </a:r>
                    </a:p>
                  </a:txBody>
                  <a:tcPr marL="9375" marR="9375" marT="9375" marB="9375" anchor="ctr" horzOverflow="overflow">
                    <a:lnL w="12700">
                      <a:miter lim="400000"/>
                    </a:lnL>
                    <a:lnR>
                      <a:solidFill>
                        <a:srgbClr val="FFFFFF"/>
                      </a:solidFill>
                    </a:lnR>
                    <a:lnT w="12700">
                      <a:miter lim="400000"/>
                    </a:lnT>
                    <a:lnB w="12700">
                      <a:solidFill>
                        <a:srgbClr val="142FA4"/>
                      </a:solidFill>
                    </a:lnB>
                    <a:solidFill>
                      <a:srgbClr val="142FA3"/>
                    </a:solidFill>
                  </a:tcPr>
                </a:tc>
                <a:tc>
                  <a:txBody>
                    <a:bodyPr/>
                    <a:lstStyle/>
                    <a:p>
                      <a:pPr algn="ctr">
                        <a:defRPr sz="1000" b="0">
                          <a:latin typeface="Poppins Medium"/>
                          <a:ea typeface="Poppins Medium"/>
                          <a:cs typeface="Poppins Medium"/>
                          <a:sym typeface="Poppins Medium"/>
                        </a:defRPr>
                      </a:pPr>
                      <a:r>
                        <a:rPr lang="en" dirty="0">
                          <a:solidFill>
                            <a:schemeClr val="bg1"/>
                          </a:solidFill>
                        </a:rPr>
                        <a:t>FY2025 Q2</a:t>
                      </a:r>
                    </a:p>
                    <a:p>
                      <a:pPr algn="ctr">
                        <a:defRPr sz="1000" b="0">
                          <a:latin typeface="Poppins Medium"/>
                          <a:ea typeface="Poppins Medium"/>
                          <a:cs typeface="Poppins Medium"/>
                          <a:sym typeface="Poppins Medium"/>
                        </a:defRPr>
                      </a:pPr>
                      <a:r>
                        <a:rPr lang="en" dirty="0">
                          <a:solidFill>
                            <a:schemeClr val="bg1"/>
                          </a:solidFill>
                        </a:rPr>
                        <a:t>Consolidated</a:t>
                      </a:r>
                    </a:p>
                    <a:p>
                      <a:pPr algn="ctr">
                        <a:defRPr sz="1000" b="0">
                          <a:latin typeface="Poppins Medium"/>
                          <a:ea typeface="Poppins Medium"/>
                          <a:cs typeface="Poppins Medium"/>
                          <a:sym typeface="Poppins Medium"/>
                        </a:defRPr>
                      </a:pPr>
                      <a:r>
                        <a:rPr lang="en" dirty="0">
                          <a:solidFill>
                            <a:schemeClr val="bg1"/>
                          </a:solidFill>
                        </a:rPr>
                        <a:t>Results</a:t>
                      </a:r>
                    </a:p>
                  </a:txBody>
                  <a:tcPr marL="9375" marR="9375" marT="9375" marB="9375" anchor="ctr" horzOverflow="overflow">
                    <a:lnL>
                      <a:solidFill>
                        <a:srgbClr val="FFFFFF"/>
                      </a:solidFill>
                    </a:lnL>
                    <a:lnR w="9525" cap="flat" cmpd="sng" algn="ctr">
                      <a:solidFill>
                        <a:srgbClr val="FFFFFF"/>
                      </a:solidFill>
                      <a:prstDash val="solid"/>
                      <a:round/>
                      <a:headEnd type="none" w="med" len="med"/>
                      <a:tailEnd type="none" w="med" len="med"/>
                    </a:lnR>
                    <a:lnT>
                      <a:solidFill>
                        <a:srgbClr val="FFFFFF"/>
                      </a:solidFill>
                    </a:lnT>
                    <a:lnB w="12700">
                      <a:solidFill>
                        <a:srgbClr val="142FA4"/>
                      </a:solidFill>
                    </a:lnB>
                    <a:solidFill>
                      <a:srgbClr val="142FA3"/>
                    </a:solidFill>
                  </a:tcPr>
                </a:tc>
                <a:tc>
                  <a:txBody>
                    <a:bodyPr/>
                    <a:lstStyle/>
                    <a:p>
                      <a:pPr algn="ctr">
                        <a:defRPr sz="1800" b="0">
                          <a:solidFill>
                            <a:srgbClr val="000000"/>
                          </a:solidFill>
                        </a:defRPr>
                      </a:pPr>
                      <a:r>
                        <a:rPr sz="1000" dirty="0">
                          <a:solidFill>
                            <a:srgbClr val="FFFFFF"/>
                          </a:solidFill>
                          <a:latin typeface="Poppins Medium"/>
                          <a:ea typeface="Poppins Medium"/>
                          <a:cs typeface="Poppins Medium"/>
                          <a:sym typeface="Poppins Medium"/>
                        </a:rPr>
                        <a:t>FY202</a:t>
                      </a:r>
                      <a:r>
                        <a:rPr lang="en-US" sz="1000" dirty="0">
                          <a:solidFill>
                            <a:srgbClr val="FFFFFF"/>
                          </a:solidFill>
                          <a:latin typeface="Poppins Medium"/>
                          <a:ea typeface="Poppins Medium"/>
                          <a:cs typeface="Poppins Medium"/>
                          <a:sym typeface="Poppins Medium"/>
                        </a:rPr>
                        <a:t>6 </a:t>
                      </a:r>
                      <a:r>
                        <a:rPr sz="1000" dirty="0">
                          <a:solidFill>
                            <a:srgbClr val="FFFFFF"/>
                          </a:solidFill>
                          <a:latin typeface="Poppins Medium"/>
                          <a:ea typeface="Poppins Medium"/>
                          <a:cs typeface="Poppins Medium"/>
                          <a:sym typeface="Poppins Medium"/>
                        </a:rPr>
                        <a:t>Q</a:t>
                      </a:r>
                      <a:r>
                        <a:rPr lang="en-US" sz="1000" dirty="0">
                          <a:solidFill>
                            <a:srgbClr val="FFFFFF"/>
                          </a:solidFill>
                          <a:latin typeface="Poppins Medium"/>
                          <a:ea typeface="Poppins Medium"/>
                          <a:cs typeface="Poppins Medium"/>
                          <a:sym typeface="Poppins Medium"/>
                        </a:rPr>
                        <a:t>1</a:t>
                      </a:r>
                    </a:p>
                    <a:p>
                      <a:pPr algn="ctr">
                        <a:defRPr sz="1800" b="0">
                          <a:solidFill>
                            <a:srgbClr val="000000"/>
                          </a:solidFill>
                        </a:defRPr>
                      </a:pPr>
                      <a:r>
                        <a:rPr sz="1000" dirty="0">
                          <a:solidFill>
                            <a:srgbClr val="FFFFFF"/>
                          </a:solidFill>
                          <a:latin typeface="Poppins Medium"/>
                          <a:ea typeface="Poppins Medium"/>
                          <a:cs typeface="Poppins Medium"/>
                          <a:sym typeface="Poppins Medium"/>
                        </a:rPr>
                        <a:t>Consolidated </a:t>
                      </a:r>
                      <a:endParaRPr lang="en-US" sz="1000" dirty="0">
                        <a:solidFill>
                          <a:srgbClr val="FFFFFF"/>
                        </a:solidFill>
                        <a:latin typeface="Poppins Medium"/>
                        <a:ea typeface="Poppins Medium"/>
                        <a:cs typeface="Poppins Medium"/>
                        <a:sym typeface="Poppins Medium"/>
                      </a:endParaRPr>
                    </a:p>
                    <a:p>
                      <a:pPr algn="ctr">
                        <a:defRPr sz="1800" b="0">
                          <a:solidFill>
                            <a:srgbClr val="000000"/>
                          </a:solidFill>
                        </a:defRPr>
                      </a:pPr>
                      <a:r>
                        <a:rPr sz="1000" dirty="0">
                          <a:solidFill>
                            <a:srgbClr val="FFFFFF"/>
                          </a:solidFill>
                          <a:latin typeface="Poppins Medium"/>
                          <a:ea typeface="Poppins Medium"/>
                          <a:cs typeface="Poppins Medium"/>
                          <a:sym typeface="Poppins Medium"/>
                        </a:rPr>
                        <a:t>Results</a:t>
                      </a:r>
                    </a:p>
                  </a:txBody>
                  <a:tcPr marL="9375" marR="9375" marT="9375" marB="9375" anchor="ctr" horzOverflow="overflow">
                    <a:lnL>
                      <a:solidFill>
                        <a:srgbClr val="FFFFFF"/>
                      </a:solidFill>
                    </a:lnL>
                    <a:lnR w="9525" cap="flat" cmpd="sng" algn="ctr">
                      <a:solidFill>
                        <a:srgbClr val="FFFFFF"/>
                      </a:solidFill>
                      <a:prstDash val="solid"/>
                      <a:round/>
                      <a:headEnd type="none" w="med" len="med"/>
                      <a:tailEnd type="none" w="med" len="med"/>
                    </a:lnR>
                    <a:lnT>
                      <a:solidFill>
                        <a:srgbClr val="FFFFFF"/>
                      </a:solidFill>
                    </a:lnT>
                    <a:lnB w="12700" cap="flat" cmpd="sng" algn="ctr">
                      <a:solidFill>
                        <a:srgbClr val="142FA4"/>
                      </a:solidFill>
                      <a:prstDash val="solid"/>
                      <a:round/>
                      <a:headEnd type="none" w="med" len="med"/>
                      <a:tailEnd type="none" w="med" len="med"/>
                    </a:lnB>
                    <a:solidFill>
                      <a:srgbClr val="142FA3"/>
                    </a:solidFill>
                  </a:tcPr>
                </a:tc>
                <a:tc>
                  <a:txBody>
                    <a:bodyPr/>
                    <a:lstStyle/>
                    <a:p>
                      <a:pPr algn="ctr">
                        <a:defRPr sz="1800" b="0">
                          <a:solidFill>
                            <a:srgbClr val="000000"/>
                          </a:solidFill>
                        </a:defRPr>
                      </a:pPr>
                      <a:r>
                        <a:rPr sz="1000" dirty="0">
                          <a:solidFill>
                            <a:srgbClr val="FFFFFF"/>
                          </a:solidFill>
                          <a:latin typeface="Poppins Medium"/>
                          <a:ea typeface="Poppins Medium"/>
                          <a:cs typeface="Poppins Medium"/>
                          <a:sym typeface="Poppins Medium"/>
                        </a:rPr>
                        <a:t>FY202</a:t>
                      </a:r>
                      <a:r>
                        <a:rPr lang="en-US" sz="1000" dirty="0">
                          <a:solidFill>
                            <a:srgbClr val="FFFFFF"/>
                          </a:solidFill>
                          <a:latin typeface="Poppins Medium"/>
                          <a:ea typeface="Poppins Medium"/>
                          <a:cs typeface="Poppins Medium"/>
                          <a:sym typeface="Poppins Medium"/>
                        </a:rPr>
                        <a:t>6 </a:t>
                      </a:r>
                      <a:r>
                        <a:rPr sz="1000" dirty="0">
                          <a:solidFill>
                            <a:srgbClr val="FFFFFF"/>
                          </a:solidFill>
                          <a:latin typeface="Poppins Medium"/>
                          <a:ea typeface="Poppins Medium"/>
                          <a:cs typeface="Poppins Medium"/>
                          <a:sym typeface="Poppins Medium"/>
                        </a:rPr>
                        <a:t>Q</a:t>
                      </a:r>
                      <a:r>
                        <a:rPr lang="en-US" sz="1000" dirty="0">
                          <a:solidFill>
                            <a:srgbClr val="FFFFFF"/>
                          </a:solidFill>
                          <a:latin typeface="Poppins Medium"/>
                          <a:ea typeface="Poppins Medium"/>
                          <a:cs typeface="Poppins Medium"/>
                          <a:sym typeface="Poppins Medium"/>
                        </a:rPr>
                        <a:t>2</a:t>
                      </a:r>
                    </a:p>
                    <a:p>
                      <a:pPr algn="ctr">
                        <a:defRPr sz="1800" b="0">
                          <a:solidFill>
                            <a:srgbClr val="000000"/>
                          </a:solidFill>
                        </a:defRPr>
                      </a:pPr>
                      <a:r>
                        <a:rPr sz="1000" dirty="0">
                          <a:solidFill>
                            <a:srgbClr val="FFFFFF"/>
                          </a:solidFill>
                          <a:latin typeface="Poppins Medium"/>
                          <a:ea typeface="Poppins Medium"/>
                          <a:cs typeface="Poppins Medium"/>
                          <a:sym typeface="Poppins Medium"/>
                        </a:rPr>
                        <a:t>Consolidated </a:t>
                      </a:r>
                      <a:endParaRPr lang="en-US" sz="1000" dirty="0">
                        <a:solidFill>
                          <a:srgbClr val="FFFFFF"/>
                        </a:solidFill>
                        <a:latin typeface="Poppins Medium"/>
                        <a:ea typeface="Poppins Medium"/>
                        <a:cs typeface="Poppins Medium"/>
                        <a:sym typeface="Poppins Medium"/>
                      </a:endParaRPr>
                    </a:p>
                    <a:p>
                      <a:pPr algn="ctr">
                        <a:defRPr sz="1800" b="0">
                          <a:solidFill>
                            <a:srgbClr val="000000"/>
                          </a:solidFill>
                        </a:defRPr>
                      </a:pPr>
                      <a:r>
                        <a:rPr sz="1000" dirty="0">
                          <a:solidFill>
                            <a:srgbClr val="FFFFFF"/>
                          </a:solidFill>
                          <a:latin typeface="Poppins Medium"/>
                          <a:ea typeface="Poppins Medium"/>
                          <a:cs typeface="Poppins Medium"/>
                          <a:sym typeface="Poppins Medium"/>
                        </a:rPr>
                        <a:t>Results</a:t>
                      </a:r>
                    </a:p>
                  </a:txBody>
                  <a:tcPr marL="9375" marR="9375" marT="9375" marB="9375" anchor="ctr" horzOverflow="overflow">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solidFill>
                        <a:srgbClr val="FFFFFF"/>
                      </a:solidFill>
                    </a:lnT>
                    <a:lnB w="12700">
                      <a:solidFill>
                        <a:srgbClr val="142FA4"/>
                      </a:solidFill>
                    </a:lnB>
                    <a:solidFill>
                      <a:srgbClr val="142FA3"/>
                    </a:solidFill>
                  </a:tcPr>
                </a:tc>
                <a:tc>
                  <a:txBody>
                    <a:bodyPr/>
                    <a:lstStyle/>
                    <a:p>
                      <a:pPr algn="ctr">
                        <a:defRPr sz="1000" b="0">
                          <a:latin typeface="Poppins Medium"/>
                          <a:ea typeface="Poppins Medium"/>
                          <a:cs typeface="Poppins Medium"/>
                          <a:sym typeface="Poppins Medium"/>
                        </a:defRPr>
                      </a:pPr>
                      <a:r>
                        <a:rPr sz="1400" dirty="0">
                          <a:solidFill>
                            <a:schemeClr val="bg1"/>
                          </a:solidFill>
                        </a:rPr>
                        <a:t>YoY</a:t>
                      </a:r>
                      <a:endParaRPr dirty="0">
                        <a:solidFill>
                          <a:schemeClr val="bg1"/>
                        </a:solidFill>
                      </a:endParaRPr>
                    </a:p>
                    <a:p>
                      <a:pPr algn="ctr">
                        <a:defRPr sz="1000" b="0">
                          <a:latin typeface="Poppins Regular"/>
                          <a:ea typeface="Poppins Regular"/>
                          <a:cs typeface="Poppins Regular"/>
                        </a:defRPr>
                      </a:pPr>
                      <a:r>
                        <a:rPr dirty="0">
                          <a:solidFill>
                            <a:schemeClr val="bg1"/>
                          </a:solidFill>
                        </a:rPr>
                        <a:t>(</a:t>
                      </a:r>
                      <a:r>
                        <a:rPr lang="en-US" dirty="0">
                          <a:solidFill>
                            <a:schemeClr val="bg1"/>
                          </a:solidFill>
                        </a:rPr>
                        <a:t>QoQ</a:t>
                      </a:r>
                      <a:r>
                        <a:rPr dirty="0">
                          <a:solidFill>
                            <a:schemeClr val="bg1"/>
                          </a:solidFill>
                        </a:rPr>
                        <a:t>)</a:t>
                      </a:r>
                    </a:p>
                  </a:txBody>
                  <a:tcPr marL="9375" marR="9375" marT="9375" marB="9375" anchor="ctr" horzOverflow="overflow">
                    <a:lnL>
                      <a:solidFill>
                        <a:srgbClr val="FFFFFF"/>
                      </a:solidFill>
                    </a:lnL>
                    <a:lnR w="12700">
                      <a:miter lim="400000"/>
                    </a:lnR>
                    <a:lnT>
                      <a:solidFill>
                        <a:srgbClr val="FFFFFF"/>
                      </a:solidFill>
                    </a:lnT>
                    <a:lnB w="12700" cap="flat" cmpd="sng" algn="ctr">
                      <a:solidFill>
                        <a:srgbClr val="142FA4"/>
                      </a:solidFill>
                      <a:prstDash val="solid"/>
                      <a:round/>
                      <a:headEnd type="none" w="med" len="med"/>
                      <a:tailEnd type="none" w="med" len="med"/>
                    </a:lnB>
                    <a:solidFill>
                      <a:srgbClr val="142FA3"/>
                    </a:solidFill>
                  </a:tcPr>
                </a:tc>
                <a:extLst>
                  <a:ext uri="{0D108BD9-81ED-4DB2-BD59-A6C34878D82A}">
                    <a16:rowId xmlns:a16="http://schemas.microsoft.com/office/drawing/2014/main" val="10000"/>
                  </a:ext>
                </a:extLst>
              </a:tr>
              <a:tr h="695369">
                <a:tc>
                  <a:txBody>
                    <a:bodyPr/>
                    <a:lstStyle/>
                    <a:p>
                      <a:pPr algn="ctr">
                        <a:tabLst>
                          <a:tab pos="1181100" algn="l"/>
                        </a:tabLst>
                        <a:defRPr sz="1800">
                          <a:solidFill>
                            <a:srgbClr val="000000"/>
                          </a:solidFill>
                        </a:defRPr>
                      </a:pPr>
                      <a:r>
                        <a:rPr sz="1000" dirty="0">
                          <a:solidFill>
                            <a:srgbClr val="142FA4"/>
                          </a:solidFill>
                          <a:latin typeface="Poppins Medium"/>
                          <a:ea typeface="Poppins Medium"/>
                          <a:cs typeface="Poppins Medium"/>
                          <a:sym typeface="Poppins Medium"/>
                        </a:rPr>
                        <a:t>Subscription Billing Sales</a:t>
                      </a:r>
                    </a:p>
                  </a:txBody>
                  <a:tcPr marL="9375" marR="9375" marT="9375" marB="9375" anchor="ctr" horzOverflow="overflow">
                    <a:lnL w="12700">
                      <a:miter lim="400000"/>
                    </a:lnL>
                    <a:lnR w="3175">
                      <a:solidFill>
                        <a:srgbClr val="142FA3"/>
                      </a:solidFill>
                    </a:lnR>
                    <a:lnT w="12700">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dirty="0"/>
                        <a:t>2</a:t>
                      </a:r>
                      <a:r>
                        <a:rPr lang="en-US" dirty="0"/>
                        <a:t>7</a:t>
                      </a:r>
                      <a:r>
                        <a:rPr lang="en-US" altLang="ja-JP" dirty="0"/>
                        <a:t>0</a:t>
                      </a:r>
                      <a:r>
                        <a:rPr sz="1050" b="0" baseline="0" dirty="0">
                          <a:latin typeface="Poppins Medium"/>
                          <a:ea typeface="Poppins Medium"/>
                          <a:cs typeface="Poppins Medium"/>
                          <a:sym typeface="Poppins Medium"/>
                        </a:rPr>
                        <a:t>million yen</a:t>
                      </a:r>
                      <a:endParaRPr sz="16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12700">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dirty="0"/>
                        <a:t>410</a:t>
                      </a:r>
                      <a:r>
                        <a:rPr sz="1050" b="0" baseline="0" dirty="0">
                          <a:latin typeface="Poppins Medium"/>
                          <a:ea typeface="Poppins Medium"/>
                          <a:cs typeface="Poppins Medium"/>
                          <a:sym typeface="Poppins Medium"/>
                        </a:rPr>
                        <a:t>million yen</a:t>
                      </a:r>
                      <a:endParaRPr sz="16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a:defRPr sz="2000" b="1">
                          <a:solidFill>
                            <a:srgbClr val="142FA4"/>
                          </a:solidFill>
                          <a:latin typeface="Poppins SemiBold"/>
                          <a:ea typeface="Poppins SemiBold"/>
                          <a:cs typeface="Poppins SemiBold"/>
                          <a:sym typeface="Poppins SemiBold"/>
                        </a:defRPr>
                      </a:pPr>
                      <a:r>
                        <a:rPr lang="en-US" dirty="0"/>
                        <a:t>450</a:t>
                      </a:r>
                      <a:r>
                        <a:rPr sz="1050" b="0" baseline="0" dirty="0">
                          <a:latin typeface="Poppins Medium"/>
                          <a:ea typeface="Poppins Medium"/>
                          <a:cs typeface="Poppins Medium"/>
                          <a:sym typeface="Poppins Medium"/>
                        </a:rPr>
                        <a:t>million yen</a:t>
                      </a:r>
                      <a:endParaRPr sz="1600" b="0" baseline="0" dirty="0">
                        <a:latin typeface="Poppins Medium"/>
                        <a:ea typeface="Poppins Medium"/>
                        <a:cs typeface="Poppins Medium"/>
                        <a:sym typeface="Poppins Medium"/>
                      </a:endParaRPr>
                    </a:p>
                  </a:txBody>
                  <a:tcPr marL="9375" marR="9375" marT="9375" marB="9375" anchor="ctr" horzOverflow="overflow">
                    <a:lnL w="3175" cap="flat" cmpd="sng" algn="ctr">
                      <a:solidFill>
                        <a:srgbClr val="142FA3"/>
                      </a:solidFill>
                      <a:prstDash val="solid"/>
                      <a:round/>
                      <a:headEnd type="none" w="med" len="med"/>
                      <a:tailEnd type="none" w="med" len="med"/>
                    </a:lnL>
                    <a:lnR w="3175" cap="flat" cmpd="sng" algn="ctr">
                      <a:solidFill>
                        <a:srgbClr val="142FA3"/>
                      </a:solidFill>
                      <a:prstDash val="solid"/>
                      <a:round/>
                      <a:headEnd type="none" w="med" len="med"/>
                      <a:tailEnd type="none" w="med" len="med"/>
                    </a:lnR>
                    <a:lnT w="12700">
                      <a:solidFill>
                        <a:srgbClr val="142FA4"/>
                      </a:solidFill>
                    </a:lnT>
                    <a:lnB w="3175">
                      <a:solidFill>
                        <a:srgbClr val="142FA4"/>
                      </a:solid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ja-JP" sz="2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+66.4</a:t>
                      </a:r>
                      <a:r>
                        <a:rPr kumimoji="0" lang="en-US" altLang="ja-JP" sz="16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endParaRPr kumimoji="0" lang="en-US" altLang="ja-JP" sz="20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+10.3%</a:t>
                      </a: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txBody>
                  <a:tcPr marL="9375" marR="9375" marT="9375" marB="0" anchor="ctr">
                    <a:lnL w="3175">
                      <a:solidFill>
                        <a:srgbClr val="142FA3"/>
                      </a:solidFill>
                    </a:lnL>
                    <a:lnR w="12700">
                      <a:miter lim="400000"/>
                    </a:lnR>
                    <a:lnT w="12700">
                      <a:solidFill>
                        <a:srgbClr val="142FA4"/>
                      </a:solidFill>
                    </a:lnT>
                    <a:lnB w="3175">
                      <a:solidFill>
                        <a:srgbClr val="142FA4"/>
                      </a:solidFill>
                    </a:lnB>
                    <a:solidFill>
                      <a:srgbClr val="E5FF99"/>
                    </a:solidFill>
                  </a:tcPr>
                </a:tc>
                <a:extLst>
                  <a:ext uri="{0D108BD9-81ED-4DB2-BD59-A6C34878D82A}">
                    <a16:rowId xmlns:a16="http://schemas.microsoft.com/office/drawing/2014/main" val="10001"/>
                  </a:ext>
                </a:extLst>
              </a:tr>
              <a:tr h="695369">
                <a:tc>
                  <a:txBody>
                    <a:bodyPr/>
                    <a:lstStyle/>
                    <a:p>
                      <a:pPr algn="ctr">
                        <a:tabLst>
                          <a:tab pos="1181100" algn="l"/>
                        </a:tabLst>
                        <a:defRPr sz="1000">
                          <a:solidFill>
                            <a:srgbClr val="142FA4"/>
                          </a:solidFill>
                          <a:latin typeface="Poppins Medium"/>
                          <a:ea typeface="Poppins Medium"/>
                          <a:cs typeface="Poppins Medium"/>
                          <a:sym typeface="Poppins Medium"/>
                        </a:defRPr>
                      </a:pPr>
                      <a:r>
                        <a:rPr dirty="0"/>
                        <a:t>Number of </a:t>
                      </a:r>
                    </a:p>
                    <a:p>
                      <a:pPr algn="ctr">
                        <a:tabLst>
                          <a:tab pos="1181100" algn="l"/>
                        </a:tabLst>
                        <a:defRPr sz="1000">
                          <a:solidFill>
                            <a:srgbClr val="142FA4"/>
                          </a:solidFill>
                          <a:latin typeface="Poppins Medium"/>
                          <a:ea typeface="Poppins Medium"/>
                          <a:cs typeface="Poppins Medium"/>
                          <a:sym typeface="Poppins Medium"/>
                        </a:defRPr>
                      </a:pPr>
                      <a:r>
                        <a:rPr dirty="0" err="1"/>
                        <a:t>ibisPaint</a:t>
                      </a:r>
                      <a:r>
                        <a:rPr dirty="0"/>
                        <a:t> Subscriptions</a:t>
                      </a:r>
                    </a:p>
                  </a:txBody>
                  <a:tcPr marL="9375" marR="9375" marT="9375" marB="9375" anchor="ctr" horzOverflow="overflow">
                    <a:lnL w="12700">
                      <a:miter lim="400000"/>
                    </a:lnL>
                    <a:lnR w="3175">
                      <a:solidFill>
                        <a:srgbClr val="142FA3"/>
                      </a:solidFill>
                    </a:lnR>
                    <a:lnT w="3175">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altLang="ja-JP" dirty="0"/>
                        <a:t>303.7</a:t>
                      </a:r>
                      <a:r>
                        <a:rPr sz="1050" b="0" baseline="0" dirty="0">
                          <a:latin typeface="Poppins Medium"/>
                          <a:ea typeface="Poppins Medium"/>
                          <a:cs typeface="Poppins Medium"/>
                          <a:sym typeface="Poppins Medium"/>
                        </a:rPr>
                        <a:t>thousand</a:t>
                      </a:r>
                      <a:endParaRPr sz="12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altLang="ja-JP" dirty="0"/>
                        <a:t>448.0</a:t>
                      </a:r>
                      <a:r>
                        <a:rPr sz="1050" b="0" baseline="0" dirty="0">
                          <a:latin typeface="Poppins Medium"/>
                          <a:ea typeface="Poppins Medium"/>
                          <a:cs typeface="Poppins Medium"/>
                          <a:sym typeface="Poppins Medium"/>
                        </a:rPr>
                        <a:t>thousand</a:t>
                      </a:r>
                      <a:endParaRPr sz="16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a:defRPr sz="2000" b="1">
                          <a:solidFill>
                            <a:srgbClr val="142FA4"/>
                          </a:solidFill>
                          <a:latin typeface="Poppins SemiBold"/>
                          <a:ea typeface="Poppins SemiBold"/>
                          <a:cs typeface="Poppins SemiBold"/>
                          <a:sym typeface="Poppins SemiBold"/>
                        </a:defRPr>
                      </a:pPr>
                      <a:r>
                        <a:rPr lang="en-US" altLang="ja-JP" dirty="0"/>
                        <a:t>484.5</a:t>
                      </a:r>
                      <a:r>
                        <a:rPr sz="1050" b="0" baseline="0" dirty="0">
                          <a:latin typeface="Poppins Medium"/>
                          <a:ea typeface="Poppins Medium"/>
                          <a:cs typeface="Poppins Medium"/>
                          <a:sym typeface="Poppins Medium"/>
                        </a:rPr>
                        <a:t>thousand</a:t>
                      </a:r>
                      <a:endParaRPr sz="1600" b="0" baseline="0" dirty="0">
                        <a:latin typeface="Poppins Medium"/>
                        <a:ea typeface="Poppins Medium"/>
                        <a:cs typeface="Poppins Medium"/>
                        <a:sym typeface="Poppins Medium"/>
                      </a:endParaRPr>
                    </a:p>
                  </a:txBody>
                  <a:tcPr marL="9375" marR="9375" marT="9375" marB="9375" anchor="ctr" horzOverflow="overflow">
                    <a:lnL w="3175" cap="flat" cmpd="sng" algn="ctr">
                      <a:solidFill>
                        <a:srgbClr val="142FA3"/>
                      </a:solidFill>
                      <a:prstDash val="solid"/>
                      <a:round/>
                      <a:headEnd type="none" w="med" len="med"/>
                      <a:tailEnd type="none" w="med" len="med"/>
                    </a:lnL>
                    <a:lnR w="3175" cap="flat" cmpd="sng" algn="ctr">
                      <a:solidFill>
                        <a:srgbClr val="142FA3"/>
                      </a:solidFill>
                      <a:prstDash val="solid"/>
                      <a:round/>
                      <a:headEnd type="none" w="med" len="med"/>
                      <a:tailEnd type="none" w="med" len="med"/>
                    </a:lnR>
                    <a:lnT w="3175">
                      <a:solidFill>
                        <a:srgbClr val="142FA4"/>
                      </a:solidFill>
                    </a:lnT>
                    <a:lnB w="3175">
                      <a:solidFill>
                        <a:srgbClr val="142FA4"/>
                      </a:solid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ja-JP" sz="2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+59.5</a:t>
                      </a:r>
                      <a:r>
                        <a:rPr kumimoji="0" lang="en-US" altLang="ja-JP" sz="16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+8.2%</a:t>
                      </a: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txBody>
                  <a:tcPr marL="9375" marR="9375" marT="9375" marB="0" anchor="ctr">
                    <a:lnL w="3175">
                      <a:solidFill>
                        <a:srgbClr val="142FA3"/>
                      </a:solidFill>
                    </a:lnL>
                    <a:lnR w="12700">
                      <a:miter lim="400000"/>
                    </a:lnR>
                    <a:lnT w="3175">
                      <a:solidFill>
                        <a:srgbClr val="142FA4"/>
                      </a:solidFill>
                    </a:lnT>
                    <a:lnB w="3175">
                      <a:solidFill>
                        <a:srgbClr val="142FA4"/>
                      </a:solidFill>
                    </a:lnB>
                    <a:solidFill>
                      <a:srgbClr val="E5FF99"/>
                    </a:solidFill>
                  </a:tcPr>
                </a:tc>
                <a:extLst>
                  <a:ext uri="{0D108BD9-81ED-4DB2-BD59-A6C34878D82A}">
                    <a16:rowId xmlns:a16="http://schemas.microsoft.com/office/drawing/2014/main" val="10002"/>
                  </a:ext>
                </a:extLst>
              </a:tr>
              <a:tr h="695369">
                <a:tc>
                  <a:txBody>
                    <a:bodyPr/>
                    <a:lstStyle/>
                    <a:p>
                      <a:pPr algn="ctr">
                        <a:tabLst>
                          <a:tab pos="1181100" algn="l"/>
                        </a:tabLst>
                        <a:defRPr sz="1800">
                          <a:solidFill>
                            <a:srgbClr val="000000"/>
                          </a:solidFill>
                        </a:defRPr>
                      </a:pPr>
                      <a:r>
                        <a:rPr sz="1000">
                          <a:solidFill>
                            <a:srgbClr val="142FA4"/>
                          </a:solidFill>
                          <a:latin typeface="Poppins Medium"/>
                          <a:ea typeface="Poppins Medium"/>
                          <a:cs typeface="Poppins Medium"/>
                          <a:sym typeface="Poppins Medium"/>
                        </a:rPr>
                        <a:t>Net Sales</a:t>
                      </a:r>
                    </a:p>
                  </a:txBody>
                  <a:tcPr marL="9375" marR="9375" marT="9375" marB="9375" anchor="ctr" horzOverflow="overflow">
                    <a:lnL w="12700">
                      <a:miter lim="400000"/>
                    </a:lnL>
                    <a:lnR w="3175">
                      <a:solidFill>
                        <a:srgbClr val="142FA3"/>
                      </a:solidFill>
                    </a:lnR>
                    <a:lnT w="3175">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dirty="0"/>
                        <a:t>1.21</a:t>
                      </a:r>
                      <a:r>
                        <a:rPr sz="1050" b="0" baseline="0" dirty="0">
                          <a:latin typeface="Poppins Medium"/>
                          <a:ea typeface="Poppins Medium"/>
                          <a:cs typeface="Poppins Medium"/>
                          <a:sym typeface="Poppins Medium"/>
                        </a:rPr>
                        <a:t>billion yen</a:t>
                      </a:r>
                      <a:endParaRPr sz="12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altLang="ja-JP" dirty="0"/>
                        <a:t>1.46</a:t>
                      </a:r>
                      <a:r>
                        <a:rPr sz="1050" b="0" baseline="0" dirty="0">
                          <a:latin typeface="Poppins Medium"/>
                          <a:ea typeface="Poppins Medium"/>
                          <a:cs typeface="Poppins Medium"/>
                          <a:sym typeface="Poppins Medium"/>
                        </a:rPr>
                        <a:t>billion yen</a:t>
                      </a: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a:defRPr sz="2000" b="1">
                          <a:solidFill>
                            <a:srgbClr val="142FA4"/>
                          </a:solidFill>
                          <a:latin typeface="Poppins SemiBold"/>
                          <a:ea typeface="Poppins SemiBold"/>
                          <a:cs typeface="Poppins SemiBold"/>
                          <a:sym typeface="Poppins SemiBold"/>
                        </a:defRPr>
                      </a:pPr>
                      <a:r>
                        <a:rPr lang="en-US" altLang="ja-JP" dirty="0"/>
                        <a:t>1.54</a:t>
                      </a:r>
                      <a:r>
                        <a:rPr sz="1050" b="0" baseline="0" dirty="0">
                          <a:latin typeface="Poppins Medium"/>
                          <a:ea typeface="Poppins Medium"/>
                          <a:cs typeface="Poppins Medium"/>
                          <a:sym typeface="Poppins Medium"/>
                        </a:rPr>
                        <a:t>billion yen</a:t>
                      </a:r>
                    </a:p>
                  </a:txBody>
                  <a:tcPr marL="9375" marR="9375" marT="9375" marB="9375" anchor="ctr" horzOverflow="overflow">
                    <a:lnL w="3175" cap="flat" cmpd="sng" algn="ctr">
                      <a:solidFill>
                        <a:srgbClr val="142FA3"/>
                      </a:solidFill>
                      <a:prstDash val="solid"/>
                      <a:round/>
                      <a:headEnd type="none" w="med" len="med"/>
                      <a:tailEnd type="none" w="med" len="med"/>
                    </a:lnL>
                    <a:lnR w="3175" cap="flat" cmpd="sng" algn="ctr">
                      <a:solidFill>
                        <a:srgbClr val="142FA3"/>
                      </a:solidFill>
                      <a:prstDash val="solid"/>
                      <a:round/>
                      <a:headEnd type="none" w="med" len="med"/>
                      <a:tailEnd type="none" w="med" len="med"/>
                    </a:lnR>
                    <a:lnT w="3175">
                      <a:solidFill>
                        <a:srgbClr val="142FA4"/>
                      </a:solidFill>
                    </a:lnT>
                    <a:lnB w="3175">
                      <a:solidFill>
                        <a:srgbClr val="142FA4"/>
                      </a:solid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ja-JP" sz="2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+27.2</a:t>
                      </a:r>
                      <a:r>
                        <a:rPr kumimoji="0" lang="en-US" altLang="ja-JP" sz="16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+6.1%</a:t>
                      </a: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txBody>
                  <a:tcPr marL="9375" marR="9375" marT="9375" marB="0" anchor="ctr">
                    <a:lnL w="3175">
                      <a:solidFill>
                        <a:srgbClr val="142FA3"/>
                      </a:solidFill>
                    </a:lnL>
                    <a:lnR w="12700">
                      <a:miter lim="400000"/>
                    </a:lnR>
                    <a:lnT w="3175">
                      <a:solidFill>
                        <a:srgbClr val="142FA4"/>
                      </a:solidFill>
                    </a:lnT>
                    <a:lnB w="3175">
                      <a:solidFill>
                        <a:srgbClr val="142FA4"/>
                      </a:solidFill>
                    </a:lnB>
                    <a:solidFill>
                      <a:srgbClr val="E5FF99"/>
                    </a:solidFill>
                  </a:tcPr>
                </a:tc>
                <a:extLst>
                  <a:ext uri="{0D108BD9-81ED-4DB2-BD59-A6C34878D82A}">
                    <a16:rowId xmlns:a16="http://schemas.microsoft.com/office/drawing/2014/main" val="10003"/>
                  </a:ext>
                </a:extLst>
              </a:tr>
              <a:tr h="695369">
                <a:tc>
                  <a:txBody>
                    <a:bodyPr/>
                    <a:lstStyle/>
                    <a:p>
                      <a:pPr algn="ctr">
                        <a:tabLst>
                          <a:tab pos="1181100" algn="l"/>
                        </a:tabLst>
                        <a:defRPr sz="1800">
                          <a:solidFill>
                            <a:srgbClr val="000000"/>
                          </a:solidFill>
                        </a:defRPr>
                      </a:pPr>
                      <a:r>
                        <a:rPr sz="1000">
                          <a:solidFill>
                            <a:srgbClr val="142FA4"/>
                          </a:solidFill>
                          <a:latin typeface="Poppins Medium"/>
                          <a:ea typeface="Poppins Medium"/>
                          <a:cs typeface="Poppins Medium"/>
                          <a:sym typeface="Poppins Medium"/>
                        </a:rPr>
                        <a:t>Operating Profit</a:t>
                      </a:r>
                    </a:p>
                  </a:txBody>
                  <a:tcPr marL="9375" marR="9375" marT="9375" marB="9375" anchor="ctr" horzOverflow="overflow">
                    <a:lnL w="12700">
                      <a:miter lim="400000"/>
                    </a:lnL>
                    <a:lnR w="3175">
                      <a:solidFill>
                        <a:srgbClr val="142FA3"/>
                      </a:solidFill>
                    </a:lnR>
                    <a:lnT w="3175">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dirty="0"/>
                        <a:t>260</a:t>
                      </a:r>
                      <a:r>
                        <a:rPr sz="1050" b="0" baseline="0" dirty="0">
                          <a:latin typeface="Poppins Medium"/>
                          <a:ea typeface="Poppins Medium"/>
                          <a:cs typeface="Poppins Medium"/>
                          <a:sym typeface="Poppins Medium"/>
                        </a:rPr>
                        <a:t>million yen</a:t>
                      </a:r>
                      <a:endParaRPr sz="16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a:solidFill>
                        <a:srgbClr val="142FA4"/>
                      </a:solidFill>
                    </a:lnT>
                    <a:lnB w="3175">
                      <a:solidFill>
                        <a:srgbClr val="142FA4"/>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dirty="0"/>
                        <a:t>3</a:t>
                      </a:r>
                      <a:r>
                        <a:rPr lang="en-US" dirty="0"/>
                        <a:t>70</a:t>
                      </a:r>
                      <a:r>
                        <a:rPr sz="1050" b="0" baseline="0" dirty="0">
                          <a:latin typeface="Poppins Medium"/>
                          <a:ea typeface="Poppins Medium"/>
                          <a:cs typeface="Poppins Medium"/>
                          <a:sym typeface="Poppins Medium"/>
                        </a:rPr>
                        <a:t>million yen</a:t>
                      </a: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a:defRPr sz="2000" b="1">
                          <a:solidFill>
                            <a:srgbClr val="142FA4"/>
                          </a:solidFill>
                          <a:latin typeface="Poppins SemiBold"/>
                          <a:ea typeface="Poppins SemiBold"/>
                          <a:cs typeface="Poppins SemiBold"/>
                          <a:sym typeface="Poppins SemiBold"/>
                        </a:defRPr>
                      </a:pPr>
                      <a:r>
                        <a:rPr lang="en-US" dirty="0"/>
                        <a:t>260</a:t>
                      </a:r>
                      <a:r>
                        <a:rPr sz="1050" b="0" baseline="0" dirty="0">
                          <a:latin typeface="Poppins Medium"/>
                          <a:ea typeface="Poppins Medium"/>
                          <a:cs typeface="Poppins Medium"/>
                          <a:sym typeface="Poppins Medium"/>
                        </a:rPr>
                        <a:t>million yen</a:t>
                      </a:r>
                    </a:p>
                  </a:txBody>
                  <a:tcPr marL="9375" marR="9375" marT="9375" marB="9375" anchor="ctr" horzOverflow="overflow">
                    <a:lnL w="3175" cap="flat" cmpd="sng" algn="ctr">
                      <a:solidFill>
                        <a:srgbClr val="142FA3"/>
                      </a:solidFill>
                      <a:prstDash val="solid"/>
                      <a:round/>
                      <a:headEnd type="none" w="med" len="med"/>
                      <a:tailEnd type="none" w="med" len="med"/>
                    </a:lnL>
                    <a:lnR w="3175" cap="flat" cmpd="sng" algn="ctr">
                      <a:solidFill>
                        <a:srgbClr val="142FA3"/>
                      </a:solidFill>
                      <a:prstDash val="solid"/>
                      <a:round/>
                      <a:headEnd type="none" w="med" len="med"/>
                      <a:tailEnd type="none" w="med" len="med"/>
                    </a:lnR>
                    <a:lnT w="3175">
                      <a:solidFill>
                        <a:srgbClr val="142FA4"/>
                      </a:solidFill>
                    </a:lnT>
                    <a:lnB w="3175">
                      <a:solidFill>
                        <a:srgbClr val="142FA4"/>
                      </a:solid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ja-JP" sz="2000" b="1" i="0" u="none" strike="noStrike" kern="1200" cap="none" spc="0" normalizeH="0" baseline="0" noProof="0" dirty="0">
                          <a:ln>
                            <a:noFill/>
                          </a:ln>
                          <a:solidFill>
                            <a:srgbClr val="142FA4"/>
                          </a:solidFill>
                          <a:effectLst/>
                          <a:uLnTx/>
                          <a:uFillTx/>
                          <a:latin typeface="Poppins SemiBold" pitchFamily="2" charset="0"/>
                          <a:ea typeface="+mn-ea"/>
                          <a:cs typeface="Poppins SemiBold" pitchFamily="2" charset="0"/>
                        </a:rPr>
                        <a:t>-1.5</a:t>
                      </a:r>
                      <a:r>
                        <a:rPr kumimoji="0" lang="en-US" altLang="ja-JP" sz="16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-29.6%</a:t>
                      </a: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txBody>
                  <a:tcPr marL="9375" marR="9375" marT="9375" marB="0" anchor="ctr">
                    <a:lnL w="3175">
                      <a:solidFill>
                        <a:srgbClr val="142FA3"/>
                      </a:solidFill>
                    </a:lnL>
                    <a:lnR w="12700">
                      <a:miter lim="400000"/>
                    </a:lnR>
                    <a:lnT w="3175">
                      <a:solidFill>
                        <a:srgbClr val="142FA4"/>
                      </a:solidFill>
                    </a:lnT>
                    <a:lnB w="3175">
                      <a:solidFill>
                        <a:srgbClr val="142FA4"/>
                      </a:solidFill>
                    </a:lnB>
                    <a:solidFill>
                      <a:srgbClr val="E5FF99"/>
                    </a:solidFill>
                  </a:tcPr>
                </a:tc>
                <a:extLst>
                  <a:ext uri="{0D108BD9-81ED-4DB2-BD59-A6C34878D82A}">
                    <a16:rowId xmlns:a16="http://schemas.microsoft.com/office/drawing/2014/main" val="10004"/>
                  </a:ext>
                </a:extLst>
              </a:tr>
              <a:tr h="695369">
                <a:tc>
                  <a:txBody>
                    <a:bodyPr/>
                    <a:lstStyle/>
                    <a:p>
                      <a:pPr algn="ctr">
                        <a:tabLst>
                          <a:tab pos="1181100" algn="l"/>
                        </a:tabLst>
                        <a:defRPr sz="1000">
                          <a:solidFill>
                            <a:srgbClr val="142FA4"/>
                          </a:solidFill>
                          <a:latin typeface="Poppins Medium"/>
                          <a:ea typeface="Poppins Medium"/>
                          <a:cs typeface="Poppins Medium"/>
                          <a:sym typeface="Poppins Medium"/>
                        </a:defRPr>
                      </a:pPr>
                      <a:r>
                        <a:rPr>
                          <a:latin typeface="M PLUS 1p Regular"/>
                          <a:ea typeface="M PLUS 1p Regular"/>
                          <a:cs typeface="M PLUS 1p Regular"/>
                          <a:sym typeface="M PLUS 1p Regular"/>
                        </a:rPr>
                        <a:t>　</a:t>
                      </a:r>
                      <a:r>
                        <a:t>Operating Profit Margin</a:t>
                      </a:r>
                    </a:p>
                  </a:txBody>
                  <a:tcPr marL="9375" marR="9375" marT="9375" marB="9375" anchor="ctr" horzOverflow="overflow">
                    <a:lnL w="12700">
                      <a:miter lim="400000"/>
                    </a:lnL>
                    <a:lnR w="3175">
                      <a:solidFill>
                        <a:srgbClr val="142FA3"/>
                      </a:solidFill>
                    </a:lnR>
                    <a:lnT w="3175">
                      <a:solidFill>
                        <a:srgbClr val="142FA4"/>
                      </a:solidFill>
                    </a:lnT>
                    <a:lnB>
                      <a:solidFill>
                        <a:srgbClr val="142FA3"/>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dirty="0"/>
                        <a:t>2</a:t>
                      </a:r>
                      <a:r>
                        <a:rPr lang="en-US" dirty="0"/>
                        <a:t>1.9</a:t>
                      </a:r>
                      <a:r>
                        <a:rPr sz="1600" b="0" dirty="0">
                          <a:latin typeface="Poppins Medium"/>
                          <a:ea typeface="Poppins Medium"/>
                          <a:cs typeface="Poppins Medium"/>
                          <a:sym typeface="Poppins Medium"/>
                        </a:rPr>
                        <a:t>%</a:t>
                      </a: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a:solidFill>
                        <a:srgbClr val="142FA4"/>
                      </a:solidFill>
                    </a:lnT>
                    <a:lnB>
                      <a:solidFill>
                        <a:srgbClr val="142FA3"/>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dirty="0"/>
                        <a:t>25.</a:t>
                      </a:r>
                      <a:r>
                        <a:rPr lang="en-US" dirty="0"/>
                        <a:t>6</a:t>
                      </a:r>
                      <a:r>
                        <a:rPr sz="1600" b="0" dirty="0">
                          <a:latin typeface="Poppins Medium"/>
                          <a:ea typeface="Poppins Medium"/>
                          <a:cs typeface="Poppins Medium"/>
                          <a:sym typeface="Poppins Medium"/>
                        </a:rPr>
                        <a:t>%</a:t>
                      </a:r>
                    </a:p>
                  </a:txBody>
                  <a:tcPr marL="9375" marR="9375" marT="9375" marB="9375" anchor="ctr" horzOverflow="overflow">
                    <a:lnL w="3175">
                      <a:solidFill>
                        <a:srgbClr val="142FA3"/>
                      </a:solidFill>
                    </a:lnL>
                    <a:lnR w="3175" cap="flat" cmpd="sng" algn="ctr">
                      <a:solidFill>
                        <a:srgbClr val="142FA3"/>
                      </a:solidFill>
                      <a:prstDash val="solid"/>
                      <a:round/>
                      <a:headEnd type="none" w="med" len="med"/>
                      <a:tailEnd type="none" w="med" len="med"/>
                    </a:lnR>
                    <a:lnT w="3175" cap="flat" cmpd="sng" algn="ctr">
                      <a:solidFill>
                        <a:srgbClr val="142FA4"/>
                      </a:solidFill>
                      <a:prstDash val="solid"/>
                      <a:round/>
                      <a:headEnd type="none" w="med" len="med"/>
                      <a:tailEnd type="none" w="med" len="med"/>
                    </a:lnT>
                    <a:lnB>
                      <a:solidFill>
                        <a:srgbClr val="142FA3"/>
                      </a:solidFill>
                    </a:lnB>
                    <a:noFill/>
                  </a:tcPr>
                </a:tc>
                <a:tc>
                  <a:txBody>
                    <a:bodyPr/>
                    <a:lstStyle/>
                    <a:p>
                      <a:pPr algn="ctr">
                        <a:defRPr sz="2000" b="1">
                          <a:solidFill>
                            <a:srgbClr val="142FA4"/>
                          </a:solidFill>
                          <a:latin typeface="Poppins SemiBold"/>
                          <a:ea typeface="Poppins SemiBold"/>
                          <a:cs typeface="Poppins SemiBold"/>
                          <a:sym typeface="Poppins SemiBold"/>
                        </a:defRPr>
                      </a:pPr>
                      <a:r>
                        <a:rPr lang="en-US" dirty="0"/>
                        <a:t>17.0</a:t>
                      </a:r>
                      <a:r>
                        <a:rPr sz="1600" b="0" dirty="0">
                          <a:latin typeface="Poppins Medium"/>
                          <a:ea typeface="Poppins Medium"/>
                          <a:cs typeface="Poppins Medium"/>
                          <a:sym typeface="Poppins Medium"/>
                        </a:rPr>
                        <a:t>%</a:t>
                      </a:r>
                    </a:p>
                  </a:txBody>
                  <a:tcPr marL="9375" marR="9375" marT="9375" marB="9375" anchor="ctr" horzOverflow="overflow">
                    <a:lnL w="3175" cap="flat" cmpd="sng" algn="ctr">
                      <a:solidFill>
                        <a:srgbClr val="142FA3"/>
                      </a:solidFill>
                      <a:prstDash val="solid"/>
                      <a:round/>
                      <a:headEnd type="none" w="med" len="med"/>
                      <a:tailEnd type="none" w="med" len="med"/>
                    </a:lnL>
                    <a:lnR w="3175" cap="flat" cmpd="sng" algn="ctr">
                      <a:solidFill>
                        <a:srgbClr val="142FA3"/>
                      </a:solidFill>
                      <a:prstDash val="solid"/>
                      <a:round/>
                      <a:headEnd type="none" w="med" len="med"/>
                      <a:tailEnd type="none" w="med" len="med"/>
                    </a:lnR>
                    <a:lnT w="3175">
                      <a:solidFill>
                        <a:srgbClr val="142FA4"/>
                      </a:solidFill>
                    </a:lnT>
                    <a:lnB>
                      <a:solidFill>
                        <a:srgbClr val="142FA3"/>
                      </a:solid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ja-JP" sz="2000" b="1" i="0" u="none" strike="noStrike" kern="1200" cap="none" spc="0" normalizeH="0" baseline="0" noProof="0" dirty="0">
                          <a:ln>
                            <a:noFill/>
                          </a:ln>
                          <a:solidFill>
                            <a:srgbClr val="142FA4"/>
                          </a:solidFill>
                          <a:effectLst/>
                          <a:uLnTx/>
                          <a:uFillTx/>
                          <a:latin typeface="Poppins SemiBold" panose="00000700000000000000" pitchFamily="2" charset="0"/>
                          <a:cs typeface="Poppins SemiBold" panose="00000700000000000000" pitchFamily="2" charset="0"/>
                        </a:rPr>
                        <a:t>-</a:t>
                      </a:r>
                      <a:r>
                        <a:rPr kumimoji="0" lang="en-US" altLang="ja-JP" sz="2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4.9</a:t>
                      </a:r>
                      <a:r>
                        <a:rPr kumimoji="0" lang="en-US" altLang="ja-JP" sz="16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pt</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-8.6pt</a:t>
                      </a:r>
                      <a:r>
                        <a:rPr kumimoji="0" lang="ja-JP" altLang="en-US"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0" lang="en-US" altLang="ja-JP" sz="10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txBody>
                  <a:tcPr marL="9375" marR="9375" marT="9375" marB="0" anchor="ctr">
                    <a:lnL w="3175">
                      <a:solidFill>
                        <a:srgbClr val="142FA3"/>
                      </a:solidFill>
                    </a:lnL>
                    <a:lnR w="12700">
                      <a:miter lim="400000"/>
                    </a:lnR>
                    <a:lnT w="3175">
                      <a:solidFill>
                        <a:srgbClr val="142FA4"/>
                      </a:solidFill>
                    </a:lnT>
                    <a:lnB>
                      <a:solidFill>
                        <a:srgbClr val="142FA3"/>
                      </a:solidFill>
                    </a:lnB>
                    <a:solidFill>
                      <a:srgbClr val="E5FF99"/>
                    </a:solidFill>
                  </a:tcPr>
                </a:tc>
                <a:extLst>
                  <a:ext uri="{0D108BD9-81ED-4DB2-BD59-A6C34878D82A}">
                    <a16:rowId xmlns:a16="http://schemas.microsoft.com/office/drawing/2014/main" val="10005"/>
                  </a:ext>
                </a:extLst>
              </a:tr>
            </a:tbl>
          </a:graphicData>
        </a:graphic>
      </p:graphicFrame>
      <p:sp>
        <p:nvSpPr>
          <p:cNvPr id="1128" name="テキスト ボックス 58"/>
          <p:cNvSpPr txBox="1"/>
          <p:nvPr/>
        </p:nvSpPr>
        <p:spPr>
          <a:xfrm>
            <a:off x="7938086" y="4910842"/>
            <a:ext cx="3850232" cy="10926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179387" indent="-179387">
              <a:lnSpc>
                <a:spcPct val="120000"/>
              </a:lnSpc>
              <a:buSzPct val="90000"/>
              <a:buChar char="●"/>
              <a:defRPr sz="1300">
                <a:solidFill>
                  <a:srgbClr val="142FA4"/>
                </a:solidFill>
                <a:latin typeface="Poppins Medium"/>
                <a:ea typeface="Poppins Medium"/>
                <a:cs typeface="Poppins Medium"/>
                <a:sym typeface="Poppins Medium"/>
              </a:defRPr>
            </a:lvl1pPr>
          </a:lstStyle>
          <a:p>
            <a:pPr>
              <a:lnSpc>
                <a:spcPct val="100000"/>
              </a:lnSpc>
            </a:pPr>
            <a:r>
              <a:rPr lang="en-US" altLang="ja-JP" dirty="0"/>
              <a:t>O</a:t>
            </a:r>
            <a:r>
              <a:rPr lang="ja-JP" altLang="ja-JP" dirty="0"/>
              <a:t>perating profit </a:t>
            </a:r>
            <a:r>
              <a:rPr lang="en-US" altLang="ja-JP" dirty="0"/>
              <a:t>would have been </a:t>
            </a:r>
            <a:r>
              <a:rPr lang="ja-JP" altLang="ja-JP" dirty="0"/>
              <a:t>390 million yen (YoY +48.9%)</a:t>
            </a:r>
            <a:r>
              <a:rPr lang="en-US" altLang="ja-JP" dirty="0"/>
              <a:t>, but an additional advertising </a:t>
            </a:r>
            <a:r>
              <a:rPr lang="ja-JP" altLang="ja-JP" dirty="0"/>
              <a:t>invest</a:t>
            </a:r>
            <a:r>
              <a:rPr lang="en-US" altLang="ja-JP" dirty="0" err="1"/>
              <a:t>ment</a:t>
            </a:r>
            <a:r>
              <a:rPr lang="en-US" altLang="ja-JP" dirty="0"/>
              <a:t> of </a:t>
            </a:r>
            <a:r>
              <a:rPr lang="ja-JP" altLang="ja-JP" dirty="0"/>
              <a:t>134 million yen</a:t>
            </a:r>
            <a:r>
              <a:rPr lang="en-US" altLang="ja-JP" dirty="0"/>
              <a:t> was made</a:t>
            </a:r>
            <a:r>
              <a:rPr lang="ja-JP" altLang="ja-JP" dirty="0"/>
              <a:t> </a:t>
            </a:r>
            <a:r>
              <a:rPr lang="en-US" altLang="ja-JP" dirty="0"/>
              <a:t>above the company’s plan to expand </a:t>
            </a:r>
            <a:r>
              <a:rPr lang="ja-JP" altLang="ja-JP" dirty="0"/>
              <a:t>recurring revenue </a:t>
            </a:r>
            <a:r>
              <a:rPr lang="en-US" altLang="ja-JP" dirty="0"/>
              <a:t>from </a:t>
            </a:r>
            <a:r>
              <a:rPr lang="ja-JP" altLang="ja-JP" dirty="0"/>
              <a:t>Q3 onward</a:t>
            </a:r>
            <a:endParaRPr lang="en-US" dirty="0"/>
          </a:p>
        </p:txBody>
      </p:sp>
      <p:sp>
        <p:nvSpPr>
          <p:cNvPr id="1126" name="テキスト ボックス 55"/>
          <p:cNvSpPr txBox="1"/>
          <p:nvPr/>
        </p:nvSpPr>
        <p:spPr>
          <a:xfrm>
            <a:off x="7938086" y="1904832"/>
            <a:ext cx="3850232" cy="16927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179387" indent="-179387">
              <a:lnSpc>
                <a:spcPct val="120000"/>
              </a:lnSpc>
              <a:buSzPct val="90000"/>
              <a:buChar char="●"/>
              <a:defRPr sz="1300">
                <a:solidFill>
                  <a:srgbClr val="142FA4"/>
                </a:solidFill>
                <a:latin typeface="Poppins Medium"/>
                <a:ea typeface="Poppins Medium"/>
                <a:cs typeface="Poppins Medium"/>
                <a:sym typeface="Poppins Medium"/>
              </a:defRPr>
            </a:lvl1pPr>
          </a:lstStyle>
          <a:p>
            <a:pPr>
              <a:lnSpc>
                <a:spcPct val="100000"/>
              </a:lnSpc>
            </a:pPr>
            <a:r>
              <a:rPr lang="en-US" dirty="0"/>
              <a:t>The net increase in </a:t>
            </a:r>
            <a:r>
              <a:rPr lang="en-US" dirty="0" err="1"/>
              <a:t>ibisPaint</a:t>
            </a:r>
            <a:r>
              <a:rPr lang="en-US" dirty="0"/>
              <a:t> subscriptions (new subscriptions, net of cancellations) reached 36,527, a Q2 record. Although the net increase declined 27.5% QoQ due to seasonality and a higher cancellation rate following strong subscription additions in Q1, new subscriptions increased 4.5% QoQ, continuing to serve as a key growth driver</a:t>
            </a:r>
          </a:p>
        </p:txBody>
      </p:sp>
      <p:sp>
        <p:nvSpPr>
          <p:cNvPr id="1127" name="テキスト ボックス 56"/>
          <p:cNvSpPr txBox="1"/>
          <p:nvPr/>
        </p:nvSpPr>
        <p:spPr>
          <a:xfrm>
            <a:off x="7938086" y="3612920"/>
            <a:ext cx="3850232" cy="1292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179387" indent="-179387">
              <a:lnSpc>
                <a:spcPct val="120000"/>
              </a:lnSpc>
              <a:buSzPct val="90000"/>
              <a:buChar char="●"/>
              <a:defRPr sz="1300">
                <a:solidFill>
                  <a:srgbClr val="142FA4"/>
                </a:solidFill>
                <a:latin typeface="Poppins Medium"/>
                <a:ea typeface="Poppins Medium"/>
                <a:cs typeface="Poppins Medium"/>
                <a:sym typeface="Poppins Medium"/>
              </a:defRPr>
            </a:lvl1pPr>
          </a:lstStyle>
          <a:p>
            <a:pPr>
              <a:lnSpc>
                <a:spcPct val="100000"/>
              </a:lnSpc>
            </a:pPr>
            <a:r>
              <a:rPr lang="en-US" dirty="0"/>
              <a:t>Net sales also reached a record high, as both subscription billing in the mobile segment and contract development in the solutions segment exceeded the company’s plan, driving 27.2% YoY and 6.1% QoQ growth in net sales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 name="テキスト プレースホルダー 5"/>
          <p:cNvSpPr txBox="1">
            <a:spLocks noGrp="1"/>
          </p:cNvSpPr>
          <p:nvPr>
            <p:ph type="body" sz="quarter" idx="12"/>
          </p:nvPr>
        </p:nvSpPr>
        <p:spPr>
          <a:prstGeom prst="rect">
            <a:avLst/>
          </a:prstGeom>
        </p:spPr>
        <p:txBody>
          <a:bodyPr>
            <a:normAutofit/>
          </a:bodyPr>
          <a:lstStyle/>
          <a:p>
            <a:r>
              <a:rPr dirty="0"/>
              <a:t>FY202</a:t>
            </a:r>
            <a:r>
              <a:rPr lang="en-US" dirty="0"/>
              <a:t>6 Q2</a:t>
            </a:r>
            <a:r>
              <a:rPr dirty="0"/>
              <a:t> Cumulative Consolidated Results and Full-Year Progress</a:t>
            </a:r>
          </a:p>
        </p:txBody>
      </p:sp>
      <p:sp>
        <p:nvSpPr>
          <p:cNvPr id="7" name="テキスト プレースホルダー 6">
            <a:extLst>
              <a:ext uri="{FF2B5EF4-FFF2-40B4-BE49-F238E27FC236}">
                <a16:creationId xmlns:a16="http://schemas.microsoft.com/office/drawing/2014/main" id="{33C4AB77-D238-221A-7DE6-E4D602555BCA}"/>
              </a:ext>
            </a:extLst>
          </p:cNvPr>
          <p:cNvSpPr>
            <a:spLocks noGrp="1"/>
          </p:cNvSpPr>
          <p:nvPr>
            <p:ph type="body" sz="quarter" idx="21"/>
          </p:nvPr>
        </p:nvSpPr>
        <p:spPr/>
        <p:txBody>
          <a:bodyPr>
            <a:normAutofit/>
          </a:bodyPr>
          <a:lstStyle/>
          <a:p>
            <a:r>
              <a:rPr lang="en-US" altLang="ja-JP" dirty="0"/>
              <a:t>* Consolidated cumulative results (FY2025 Q2 and FY2026 Q2) represent year-to-date “interim net profit attributable to owners of the parent”</a:t>
            </a:r>
          </a:p>
          <a:p>
            <a:r>
              <a:rPr lang="en-US" altLang="ja-JP" dirty="0"/>
              <a:t>* The FY2026 full-year consolidated forecast represents “net profit attributable to owners of the parent” for the full fiscal year</a:t>
            </a:r>
          </a:p>
          <a:p>
            <a:pPr marL="53975" indent="-53975"/>
            <a:r>
              <a:rPr lang="en-US" altLang="ja-JP" dirty="0"/>
              <a:t>* Regarding the purchase price allocation (PPA) for the acquisition of Techno-Speech, Inc., figures as of FY2025 Q2 were disclosed based on provisional accounting treatment; following the finalization of the PPA, the figures have been retroactively restated to reflect the finalized accounting treatment</a:t>
            </a:r>
          </a:p>
        </p:txBody>
      </p:sp>
      <p:graphicFrame>
        <p:nvGraphicFramePr>
          <p:cNvPr id="1134" name="表 3"/>
          <p:cNvGraphicFramePr/>
          <p:nvPr>
            <p:extLst>
              <p:ext uri="{D42A27DB-BD31-4B8C-83A1-F6EECF244321}">
                <p14:modId xmlns:p14="http://schemas.microsoft.com/office/powerpoint/2010/main" val="4155239376"/>
              </p:ext>
            </p:extLst>
          </p:nvPr>
        </p:nvGraphicFramePr>
        <p:xfrm>
          <a:off x="554480" y="1761022"/>
          <a:ext cx="7290627" cy="4228240"/>
        </p:xfrm>
        <a:graphic>
          <a:graphicData uri="http://schemas.openxmlformats.org/drawingml/2006/table">
            <a:tbl>
              <a:tblPr firstRow="1" bandRow="1"/>
              <a:tblGrid>
                <a:gridCol w="1898207">
                  <a:extLst>
                    <a:ext uri="{9D8B030D-6E8A-4147-A177-3AD203B41FA5}">
                      <a16:colId xmlns:a16="http://schemas.microsoft.com/office/drawing/2014/main" val="20000"/>
                    </a:ext>
                  </a:extLst>
                </a:gridCol>
                <a:gridCol w="1348105">
                  <a:extLst>
                    <a:ext uri="{9D8B030D-6E8A-4147-A177-3AD203B41FA5}">
                      <a16:colId xmlns:a16="http://schemas.microsoft.com/office/drawing/2014/main" val="20001"/>
                    </a:ext>
                  </a:extLst>
                </a:gridCol>
                <a:gridCol w="1348105">
                  <a:extLst>
                    <a:ext uri="{9D8B030D-6E8A-4147-A177-3AD203B41FA5}">
                      <a16:colId xmlns:a16="http://schemas.microsoft.com/office/drawing/2014/main" val="20002"/>
                    </a:ext>
                  </a:extLst>
                </a:gridCol>
                <a:gridCol w="1348105">
                  <a:extLst>
                    <a:ext uri="{9D8B030D-6E8A-4147-A177-3AD203B41FA5}">
                      <a16:colId xmlns:a16="http://schemas.microsoft.com/office/drawing/2014/main" val="20003"/>
                    </a:ext>
                  </a:extLst>
                </a:gridCol>
                <a:gridCol w="1348105">
                  <a:extLst>
                    <a:ext uri="{9D8B030D-6E8A-4147-A177-3AD203B41FA5}">
                      <a16:colId xmlns:a16="http://schemas.microsoft.com/office/drawing/2014/main" val="20004"/>
                    </a:ext>
                  </a:extLst>
                </a:gridCol>
              </a:tblGrid>
              <a:tr h="695098">
                <a:tc>
                  <a:txBody>
                    <a:bodyPr/>
                    <a:lstStyle/>
                    <a:p>
                      <a:pPr>
                        <a:defRPr sz="1000" b="0">
                          <a:latin typeface="Poppins Regular"/>
                          <a:ea typeface="Poppins Regular"/>
                          <a:cs typeface="Poppins Regular"/>
                        </a:defRPr>
                      </a:pPr>
                      <a:r>
                        <a:rPr dirty="0">
                          <a:latin typeface="M PLUS 1p Regular"/>
                          <a:ea typeface="M PLUS 1p Regular"/>
                          <a:cs typeface="M PLUS 1p Regular"/>
                          <a:sym typeface="M PLUS 1p Regular"/>
                        </a:rPr>
                        <a:t>　</a:t>
                      </a:r>
                    </a:p>
                  </a:txBody>
                  <a:tcPr marL="9375" marR="9375" marT="9375" marB="9375" anchor="ctr" horzOverflow="overflow">
                    <a:lnL w="12700">
                      <a:miter lim="400000"/>
                    </a:lnL>
                    <a:lnR>
                      <a:solidFill>
                        <a:srgbClr val="FFFFFF"/>
                      </a:solidFill>
                    </a:lnR>
                    <a:lnT w="12700">
                      <a:miter lim="400000"/>
                    </a:lnT>
                    <a:lnB w="12700">
                      <a:solidFill>
                        <a:srgbClr val="142FA4"/>
                      </a:solidFill>
                    </a:lnB>
                    <a:solidFill>
                      <a:srgbClr val="142FA3"/>
                    </a:solidFill>
                  </a:tcPr>
                </a:tc>
                <a:tc>
                  <a:txBody>
                    <a:bodyPr/>
                    <a:lstStyle/>
                    <a:p>
                      <a:pPr algn="ctr">
                        <a:defRPr sz="1800" b="0">
                          <a:solidFill>
                            <a:srgbClr val="000000"/>
                          </a:solidFill>
                        </a:defRPr>
                      </a:pPr>
                      <a:r>
                        <a:rPr sz="1000" dirty="0">
                          <a:solidFill>
                            <a:srgbClr val="FFFFFF"/>
                          </a:solidFill>
                          <a:latin typeface="Poppins Medium"/>
                          <a:ea typeface="Poppins Medium"/>
                          <a:cs typeface="Poppins Medium"/>
                          <a:sym typeface="Poppins Medium"/>
                        </a:rPr>
                        <a:t>FY202</a:t>
                      </a:r>
                      <a:r>
                        <a:rPr lang="en-US" sz="1000" dirty="0">
                          <a:solidFill>
                            <a:srgbClr val="FFFFFF"/>
                          </a:solidFill>
                          <a:latin typeface="Poppins Medium"/>
                          <a:ea typeface="Poppins Medium"/>
                          <a:cs typeface="Poppins Medium"/>
                          <a:sym typeface="Poppins Medium"/>
                        </a:rPr>
                        <a:t>5 Q2</a:t>
                      </a:r>
                      <a:r>
                        <a:rPr sz="1000" dirty="0">
                          <a:solidFill>
                            <a:srgbClr val="FFFFFF"/>
                          </a:solidFill>
                          <a:latin typeface="Poppins Medium"/>
                          <a:ea typeface="Poppins Medium"/>
                          <a:cs typeface="Poppins Medium"/>
                          <a:sym typeface="Poppins Medium"/>
                        </a:rPr>
                        <a:t>
Consolidated Cumulative Results</a:t>
                      </a:r>
                    </a:p>
                  </a:txBody>
                  <a:tcPr marL="9375" marR="9375" marT="9375" marB="9375" anchor="ctr" horzOverflow="overflow">
                    <a:lnL>
                      <a:solidFill>
                        <a:srgbClr val="FFFFFF"/>
                      </a:solidFill>
                    </a:lnL>
                    <a:lnR>
                      <a:solidFill>
                        <a:srgbClr val="FFFFFF"/>
                      </a:solidFill>
                    </a:lnR>
                    <a:lnT>
                      <a:solidFill>
                        <a:srgbClr val="FFFFFF"/>
                      </a:solidFill>
                    </a:lnT>
                    <a:lnB w="12700">
                      <a:solidFill>
                        <a:srgbClr val="142FA4"/>
                      </a:solidFill>
                    </a:lnB>
                    <a:solidFill>
                      <a:srgbClr val="142FA3"/>
                    </a:solidFill>
                  </a:tcPr>
                </a:tc>
                <a:tc>
                  <a:txBody>
                    <a:bodyPr/>
                    <a:lstStyle/>
                    <a:p>
                      <a:pPr algn="ctr">
                        <a:defRPr sz="1800" b="0">
                          <a:solidFill>
                            <a:srgbClr val="000000"/>
                          </a:solidFill>
                        </a:defRPr>
                      </a:pPr>
                      <a:r>
                        <a:rPr sz="1000" dirty="0">
                          <a:solidFill>
                            <a:srgbClr val="FFFFFF"/>
                          </a:solidFill>
                          <a:latin typeface="Poppins Medium"/>
                          <a:ea typeface="Poppins Medium"/>
                          <a:cs typeface="Poppins Medium"/>
                          <a:sym typeface="Poppins Medium"/>
                        </a:rPr>
                        <a:t>FY20</a:t>
                      </a:r>
                      <a:r>
                        <a:rPr lang="en-US" sz="1000" dirty="0">
                          <a:solidFill>
                            <a:srgbClr val="FFFFFF"/>
                          </a:solidFill>
                          <a:latin typeface="Poppins Medium"/>
                          <a:ea typeface="Poppins Medium"/>
                          <a:cs typeface="Poppins Medium"/>
                          <a:sym typeface="Poppins Medium"/>
                        </a:rPr>
                        <a:t>26 Q2</a:t>
                      </a:r>
                      <a:r>
                        <a:rPr sz="1000" dirty="0">
                          <a:solidFill>
                            <a:srgbClr val="FFFFFF"/>
                          </a:solidFill>
                          <a:latin typeface="Poppins Medium"/>
                          <a:ea typeface="Poppins Medium"/>
                          <a:cs typeface="Poppins Medium"/>
                          <a:sym typeface="Poppins Medium"/>
                        </a:rPr>
                        <a:t>
Consolidated Cumulative Results</a:t>
                      </a:r>
                    </a:p>
                  </a:txBody>
                  <a:tcPr marL="9375" marR="9375" marT="9375" marB="9375" anchor="ctr" horzOverflow="overflow">
                    <a:lnL>
                      <a:solidFill>
                        <a:srgbClr val="FFFFFF"/>
                      </a:solidFill>
                    </a:lnL>
                    <a:lnR>
                      <a:solidFill>
                        <a:srgbClr val="FFFFFF"/>
                      </a:solidFill>
                    </a:lnR>
                    <a:lnT>
                      <a:solidFill>
                        <a:srgbClr val="FFFFFF"/>
                      </a:solidFill>
                    </a:lnT>
                    <a:lnB w="12700">
                      <a:solidFill>
                        <a:srgbClr val="142FA4"/>
                      </a:solidFill>
                    </a:lnB>
                    <a:solidFill>
                      <a:srgbClr val="142FA3"/>
                    </a:solidFill>
                  </a:tcPr>
                </a:tc>
                <a:tc>
                  <a:txBody>
                    <a:bodyPr/>
                    <a:lstStyle/>
                    <a:p>
                      <a:pPr algn="ctr">
                        <a:defRPr sz="1800" b="0">
                          <a:solidFill>
                            <a:srgbClr val="000000"/>
                          </a:solidFill>
                        </a:defRPr>
                      </a:pPr>
                      <a:r>
                        <a:rPr sz="1000" dirty="0">
                          <a:solidFill>
                            <a:srgbClr val="FFFFFF"/>
                          </a:solidFill>
                          <a:latin typeface="Poppins Medium"/>
                          <a:ea typeface="Poppins Medium"/>
                          <a:cs typeface="Poppins Medium"/>
                          <a:sym typeface="Poppins Medium"/>
                        </a:rPr>
                        <a:t>FY202</a:t>
                      </a:r>
                      <a:r>
                        <a:rPr lang="en-US" sz="1000" dirty="0">
                          <a:solidFill>
                            <a:srgbClr val="FFFFFF"/>
                          </a:solidFill>
                          <a:latin typeface="Poppins Medium"/>
                          <a:ea typeface="Poppins Medium"/>
                          <a:cs typeface="Poppins Medium"/>
                          <a:sym typeface="Poppins Medium"/>
                        </a:rPr>
                        <a:t>6</a:t>
                      </a:r>
                      <a:r>
                        <a:rPr sz="1000" dirty="0">
                          <a:solidFill>
                            <a:srgbClr val="FFFFFF"/>
                          </a:solidFill>
                          <a:latin typeface="Poppins Medium"/>
                          <a:ea typeface="Poppins Medium"/>
                          <a:cs typeface="Poppins Medium"/>
                          <a:sym typeface="Poppins Medium"/>
                        </a:rPr>
                        <a:t>
Consolidated Cumulative Plan</a:t>
                      </a:r>
                    </a:p>
                  </a:txBody>
                  <a:tcPr marL="9375" marR="9375" marT="9375" marB="9375" anchor="ctr" horzOverflow="overflow">
                    <a:lnL>
                      <a:solidFill>
                        <a:srgbClr val="FFFFFF"/>
                      </a:solidFill>
                    </a:lnL>
                    <a:lnR>
                      <a:solidFill>
                        <a:srgbClr val="FFFFFF"/>
                      </a:solidFill>
                    </a:lnR>
                    <a:lnT>
                      <a:solidFill>
                        <a:srgbClr val="FFFFFF"/>
                      </a:solidFill>
                    </a:lnT>
                    <a:lnB w="12700">
                      <a:solidFill>
                        <a:srgbClr val="142FA4"/>
                      </a:solidFill>
                    </a:lnB>
                    <a:solidFill>
                      <a:srgbClr val="142FA3"/>
                    </a:solidFill>
                  </a:tcPr>
                </a:tc>
                <a:tc>
                  <a:txBody>
                    <a:bodyPr/>
                    <a:lstStyle/>
                    <a:p>
                      <a:pPr algn="ctr">
                        <a:defRPr sz="1000" b="0">
                          <a:latin typeface="Poppins Medium"/>
                          <a:ea typeface="Poppins Medium"/>
                          <a:cs typeface="Poppins Medium"/>
                          <a:sym typeface="Poppins Medium"/>
                        </a:defRPr>
                      </a:pPr>
                      <a:r>
                        <a:rPr sz="1400" dirty="0">
                          <a:solidFill>
                            <a:schemeClr val="bg1"/>
                          </a:solidFill>
                        </a:rPr>
                        <a:t>YoY</a:t>
                      </a:r>
                      <a:endParaRPr dirty="0">
                        <a:solidFill>
                          <a:schemeClr val="bg1"/>
                        </a:solidFill>
                      </a:endParaRPr>
                    </a:p>
                    <a:p>
                      <a:pPr algn="ctr">
                        <a:defRPr sz="1000" b="0">
                          <a:latin typeface="Poppins Regular"/>
                          <a:ea typeface="Poppins Regular"/>
                          <a:cs typeface="Poppins Regular"/>
                        </a:defRPr>
                      </a:pPr>
                      <a:r>
                        <a:rPr dirty="0">
                          <a:solidFill>
                            <a:schemeClr val="bg1"/>
                          </a:solidFill>
                        </a:rPr>
                        <a:t>(</a:t>
                      </a:r>
                      <a:r>
                        <a:rPr lang="en-US" dirty="0">
                          <a:solidFill>
                            <a:schemeClr val="bg1"/>
                          </a:solidFill>
                        </a:rPr>
                        <a:t>% of Plan</a:t>
                      </a:r>
                      <a:r>
                        <a:rPr dirty="0">
                          <a:solidFill>
                            <a:schemeClr val="bg1"/>
                          </a:solidFill>
                        </a:rPr>
                        <a:t>)</a:t>
                      </a:r>
                    </a:p>
                  </a:txBody>
                  <a:tcPr marL="9375" marR="9375" marT="9375" marB="9375" anchor="ctr" horzOverflow="overflow">
                    <a:lnL>
                      <a:solidFill>
                        <a:srgbClr val="FFFFFF"/>
                      </a:solidFill>
                    </a:lnL>
                    <a:lnR w="12700">
                      <a:miter lim="400000"/>
                    </a:lnR>
                    <a:lnT>
                      <a:solidFill>
                        <a:srgbClr val="FFFFFF"/>
                      </a:solidFill>
                    </a:lnT>
                    <a:lnB w="12700">
                      <a:solidFill>
                        <a:srgbClr val="142FA4"/>
                      </a:solidFill>
                    </a:lnB>
                    <a:solidFill>
                      <a:srgbClr val="142FA3"/>
                    </a:solidFill>
                  </a:tcPr>
                </a:tc>
                <a:extLst>
                  <a:ext uri="{0D108BD9-81ED-4DB2-BD59-A6C34878D82A}">
                    <a16:rowId xmlns:a16="http://schemas.microsoft.com/office/drawing/2014/main" val="10000"/>
                  </a:ext>
                </a:extLst>
              </a:tr>
              <a:tr h="695718">
                <a:tc>
                  <a:txBody>
                    <a:bodyPr/>
                    <a:lstStyle/>
                    <a:p>
                      <a:pPr algn="ctr">
                        <a:tabLst>
                          <a:tab pos="1181100" algn="l"/>
                        </a:tabLst>
                        <a:defRPr sz="1800">
                          <a:solidFill>
                            <a:srgbClr val="000000"/>
                          </a:solidFill>
                        </a:defRPr>
                      </a:pPr>
                      <a:r>
                        <a:rPr sz="1000" dirty="0">
                          <a:solidFill>
                            <a:srgbClr val="142FA4"/>
                          </a:solidFill>
                          <a:latin typeface="Poppins Medium"/>
                          <a:ea typeface="Poppins Medium"/>
                          <a:cs typeface="Poppins Medium"/>
                          <a:sym typeface="Poppins Medium"/>
                        </a:rPr>
                        <a:t>Subscription Billing Sales</a:t>
                      </a:r>
                    </a:p>
                  </a:txBody>
                  <a:tcPr marL="9375" marR="9375" marT="9375" marB="9375" anchor="ctr" horzOverflow="overflow">
                    <a:lnL w="12700">
                      <a:miter lim="400000"/>
                    </a:lnL>
                    <a:lnR w="3175">
                      <a:solidFill>
                        <a:srgbClr val="142FA3"/>
                      </a:solidFill>
                    </a:lnR>
                    <a:lnT w="12700">
                      <a:solidFill>
                        <a:srgbClr val="142FA4"/>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52</a:t>
                      </a:r>
                      <a:r>
                        <a:rPr dirty="0"/>
                        <a:t>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12700">
                      <a:solidFill>
                        <a:srgbClr val="142FA4"/>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870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12700">
                      <a:solidFill>
                        <a:srgbClr val="142FA4"/>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1,730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12700">
                      <a:solidFill>
                        <a:srgbClr val="142FA4"/>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dirty="0"/>
                        <a:t>+</a:t>
                      </a:r>
                      <a:r>
                        <a:rPr lang="en-US" dirty="0"/>
                        <a:t>67.8</a:t>
                      </a:r>
                      <a:r>
                        <a:rPr sz="1600" b="0" dirty="0">
                          <a:latin typeface="Poppins Medium"/>
                          <a:ea typeface="Poppins Medium"/>
                          <a:cs typeface="Poppins Medium"/>
                          <a:sym typeface="Poppins Medium"/>
                        </a:rPr>
                        <a:t>%</a:t>
                      </a:r>
                    </a:p>
                    <a:p>
                      <a:pPr algn="ctr">
                        <a:defRPr sz="1000">
                          <a:solidFill>
                            <a:srgbClr val="142FA4"/>
                          </a:solidFill>
                          <a:latin typeface="M PLUS 1p Regular"/>
                          <a:ea typeface="M PLUS 1p Regular"/>
                          <a:cs typeface="M PLUS 1p Regular"/>
                          <a:sym typeface="M PLUS 1p Regular"/>
                        </a:defRPr>
                      </a:pPr>
                      <a:r>
                        <a:rPr dirty="0"/>
                        <a:t>（</a:t>
                      </a:r>
                      <a:r>
                        <a:rPr lang="en-US" dirty="0"/>
                        <a:t>50.5</a:t>
                      </a:r>
                      <a:r>
                        <a:rPr dirty="0"/>
                        <a:t>%）</a:t>
                      </a:r>
                    </a:p>
                  </a:txBody>
                  <a:tcPr marL="9375" marR="9375" marT="9375" marB="9375" anchor="ctr" horzOverflow="overflow">
                    <a:lnL w="3175">
                      <a:solidFill>
                        <a:srgbClr val="142FA3"/>
                      </a:solidFill>
                    </a:lnL>
                    <a:lnR w="12700">
                      <a:miter lim="400000"/>
                    </a:lnR>
                    <a:lnT w="12700">
                      <a:solidFill>
                        <a:srgbClr val="142FA4"/>
                      </a:solidFill>
                    </a:lnT>
                    <a:lnB w="3175">
                      <a:solidFill>
                        <a:srgbClr val="142FA3"/>
                      </a:solidFill>
                    </a:lnB>
                    <a:solidFill>
                      <a:srgbClr val="E5FF99"/>
                    </a:solidFill>
                  </a:tcPr>
                </a:tc>
                <a:extLst>
                  <a:ext uri="{0D108BD9-81ED-4DB2-BD59-A6C34878D82A}">
                    <a16:rowId xmlns:a16="http://schemas.microsoft.com/office/drawing/2014/main" val="10001"/>
                  </a:ext>
                </a:extLst>
              </a:tr>
              <a:tr h="695718">
                <a:tc>
                  <a:txBody>
                    <a:bodyPr/>
                    <a:lstStyle/>
                    <a:p>
                      <a:pPr algn="ctr" defTabSz="985837">
                        <a:defRPr sz="1800">
                          <a:solidFill>
                            <a:srgbClr val="000000"/>
                          </a:solidFill>
                        </a:defRPr>
                      </a:pPr>
                      <a:r>
                        <a:rPr sz="1000" dirty="0">
                          <a:solidFill>
                            <a:srgbClr val="142FA4"/>
                          </a:solidFill>
                          <a:latin typeface="Poppins Medium"/>
                          <a:ea typeface="Poppins Medium"/>
                          <a:cs typeface="Poppins Medium"/>
                          <a:sym typeface="Poppins Medium"/>
                        </a:rPr>
                        <a:t>Number of </a:t>
                      </a:r>
                      <a:r>
                        <a:rPr sz="1000" dirty="0" err="1">
                          <a:solidFill>
                            <a:srgbClr val="142FA4"/>
                          </a:solidFill>
                          <a:latin typeface="Poppins Medium"/>
                          <a:ea typeface="Poppins Medium"/>
                          <a:cs typeface="Poppins Medium"/>
                          <a:sym typeface="Poppins Medium"/>
                        </a:rPr>
                        <a:t>ibisPaint</a:t>
                      </a:r>
                      <a:r>
                        <a:rPr sz="1000" dirty="0">
                          <a:solidFill>
                            <a:srgbClr val="142FA4"/>
                          </a:solidFill>
                          <a:latin typeface="Poppins Medium"/>
                          <a:ea typeface="Poppins Medium"/>
                          <a:cs typeface="Poppins Medium"/>
                          <a:sym typeface="Poppins Medium"/>
                        </a:rPr>
                        <a:t> Subscriptions</a:t>
                      </a:r>
                    </a:p>
                  </a:txBody>
                  <a:tcPr marL="9375" marR="9375" marT="9375" marB="9375" anchor="ctr" horzOverflow="overflow">
                    <a:lnL w="12700">
                      <a:miter lim="400000"/>
                    </a:lnL>
                    <a:lnR w="3175">
                      <a:solidFill>
                        <a:srgbClr val="142FA3"/>
                      </a:solidFill>
                    </a:lnR>
                    <a:lnT w="3175">
                      <a:solidFill>
                        <a:srgbClr val="142FA3"/>
                      </a:solidFill>
                    </a:lnT>
                    <a:lnB w="3175">
                      <a:solidFill>
                        <a:srgbClr val="142FA3"/>
                      </a:solidFill>
                    </a:lnB>
                    <a:noFill/>
                  </a:tcPr>
                </a:tc>
                <a:tc>
                  <a:txBody>
                    <a:bodyPr/>
                    <a:lstStyle/>
                    <a:p>
                      <a:pPr algn="ctr">
                        <a:lnSpc>
                          <a:spcPts val="1200"/>
                        </a:lnSpc>
                        <a:spcBef>
                          <a:spcPts val="0"/>
                        </a:spcBef>
                        <a:defRPr sz="1800" b="1">
                          <a:solidFill>
                            <a:srgbClr val="142FA4"/>
                          </a:solidFill>
                          <a:latin typeface="Poppins SemiBold"/>
                          <a:ea typeface="Poppins SemiBold"/>
                          <a:cs typeface="Poppins SemiBold"/>
                          <a:sym typeface="Poppins SemiBold"/>
                        </a:defRPr>
                      </a:pPr>
                      <a:r>
                        <a:rPr lang="en-US" altLang="ja-JP" sz="1800" b="1" dirty="0">
                          <a:solidFill>
                            <a:srgbClr val="142FA4"/>
                          </a:solidFill>
                          <a:latin typeface="Poppins SemiBold"/>
                          <a:ea typeface="Poppins SemiBold"/>
                          <a:cs typeface="Poppins SemiBold"/>
                          <a:sym typeface="Poppins SemiBold"/>
                        </a:rPr>
                        <a:t>303.7</a:t>
                      </a:r>
                      <a:r>
                        <a:rPr sz="1050" b="0" baseline="0" dirty="0">
                          <a:latin typeface="Poppins Medium"/>
                          <a:ea typeface="Poppins Medium"/>
                          <a:cs typeface="Poppins Medium"/>
                          <a:sym typeface="Poppins Medium"/>
                        </a:rPr>
                        <a:t>thousand</a:t>
                      </a:r>
                      <a:endParaRPr sz="1400" b="0" baseline="0" dirty="0">
                        <a:latin typeface="Poppins Medium"/>
                        <a:ea typeface="Poppins Medium"/>
                        <a:cs typeface="Poppins Medium"/>
                        <a:sym typeface="Poppins Medium"/>
                      </a:endParaRPr>
                    </a:p>
                  </a:txBody>
                  <a:tcPr marL="9375" marR="9375" marT="72000" marB="0"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lnSpc>
                          <a:spcPts val="1200"/>
                        </a:lnSpc>
                        <a:spcBef>
                          <a:spcPts val="0"/>
                        </a:spcBef>
                        <a:defRPr sz="1800" b="1">
                          <a:solidFill>
                            <a:srgbClr val="142FA4"/>
                          </a:solidFill>
                          <a:latin typeface="Poppins SemiBold"/>
                          <a:ea typeface="Poppins SemiBold"/>
                          <a:cs typeface="Poppins SemiBold"/>
                          <a:sym typeface="Poppins SemiBold"/>
                        </a:defRPr>
                      </a:pPr>
                      <a:r>
                        <a:rPr lang="en-US" sz="1800" b="1" dirty="0">
                          <a:solidFill>
                            <a:srgbClr val="142FA4"/>
                          </a:solidFill>
                          <a:latin typeface="Poppins SemiBold"/>
                          <a:ea typeface="Poppins SemiBold"/>
                          <a:cs typeface="Poppins SemiBold"/>
                          <a:sym typeface="Poppins SemiBold"/>
                        </a:rPr>
                        <a:t>484.5</a:t>
                      </a:r>
                      <a:r>
                        <a:rPr sz="1050" b="0" baseline="0" dirty="0">
                          <a:latin typeface="Poppins Medium"/>
                          <a:ea typeface="Poppins Medium"/>
                          <a:cs typeface="Poppins Medium"/>
                          <a:sym typeface="Poppins Medium"/>
                        </a:rPr>
                        <a:t>thousand</a:t>
                      </a:r>
                      <a:endParaRPr sz="1400" b="0" baseline="0" dirty="0">
                        <a:latin typeface="Poppins Medium"/>
                        <a:ea typeface="Poppins Medium"/>
                        <a:cs typeface="Poppins Medium"/>
                        <a:sym typeface="Poppins Medium"/>
                      </a:endParaRPr>
                    </a:p>
                  </a:txBody>
                  <a:tcPr marL="9375" marR="9375" marT="72000" marB="0"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lnSpc>
                          <a:spcPts val="1200"/>
                        </a:lnSpc>
                        <a:spcBef>
                          <a:spcPts val="0"/>
                        </a:spcBef>
                        <a:defRPr sz="1800" b="1">
                          <a:solidFill>
                            <a:srgbClr val="142FA4"/>
                          </a:solidFill>
                          <a:latin typeface="Poppins SemiBold"/>
                          <a:ea typeface="Poppins SemiBold"/>
                          <a:cs typeface="Poppins SemiBold"/>
                          <a:sym typeface="Poppins SemiBold"/>
                        </a:defRPr>
                      </a:pPr>
                      <a:r>
                        <a:rPr lang="en-US" sz="1800" b="1" dirty="0">
                          <a:solidFill>
                            <a:srgbClr val="142FA4"/>
                          </a:solidFill>
                          <a:latin typeface="Poppins SemiBold"/>
                          <a:ea typeface="Poppins SemiBold"/>
                          <a:cs typeface="Poppins SemiBold"/>
                          <a:sym typeface="Poppins SemiBold"/>
                        </a:rPr>
                        <a:t>547.4</a:t>
                      </a:r>
                      <a:r>
                        <a:rPr sz="1050" b="0" baseline="0" dirty="0">
                          <a:latin typeface="Poppins Medium"/>
                          <a:ea typeface="Poppins Medium"/>
                          <a:cs typeface="Poppins Medium"/>
                          <a:sym typeface="Poppins Medium"/>
                        </a:rPr>
                        <a:t>thousand</a:t>
                      </a:r>
                      <a:endParaRPr sz="1400" b="0" baseline="0" dirty="0">
                        <a:latin typeface="Poppins Medium"/>
                        <a:ea typeface="Poppins Medium"/>
                        <a:cs typeface="Poppins Medium"/>
                        <a:sym typeface="Poppins Medium"/>
                      </a:endParaRPr>
                    </a:p>
                  </a:txBody>
                  <a:tcPr marL="9375" marR="9375" marT="72000" marB="0"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altLang="ja-JP" dirty="0"/>
                        <a:t>+59.</a:t>
                      </a:r>
                      <a:r>
                        <a:rPr lang="en-US" dirty="0"/>
                        <a:t>5</a:t>
                      </a:r>
                      <a:r>
                        <a:rPr sz="1600" b="0" dirty="0">
                          <a:latin typeface="Poppins Medium"/>
                          <a:ea typeface="Poppins Medium"/>
                          <a:cs typeface="Poppins Medium"/>
                          <a:sym typeface="Poppins Medium"/>
                        </a:rPr>
                        <a:t>%</a:t>
                      </a:r>
                    </a:p>
                    <a:p>
                      <a:pPr algn="ctr">
                        <a:defRPr sz="1000">
                          <a:solidFill>
                            <a:srgbClr val="142FA4"/>
                          </a:solidFill>
                          <a:latin typeface="M PLUS 1p Regular"/>
                          <a:ea typeface="M PLUS 1p Regular"/>
                          <a:cs typeface="M PLUS 1p Regular"/>
                          <a:sym typeface="M PLUS 1p Regular"/>
                        </a:defRPr>
                      </a:pPr>
                      <a:r>
                        <a:rPr dirty="0"/>
                        <a:t>（</a:t>
                      </a:r>
                      <a:r>
                        <a:rPr lang="en-US" dirty="0"/>
                        <a:t>Net Additions: 58.0</a:t>
                      </a:r>
                      <a:r>
                        <a:rPr dirty="0"/>
                        <a:t>%</a:t>
                      </a:r>
                      <a:r>
                        <a:rPr lang="en-US" dirty="0"/>
                        <a:t> of full-year plan</a:t>
                      </a:r>
                      <a:r>
                        <a:rPr lang="ja-JP" altLang="en-US" dirty="0"/>
                        <a:t>）</a:t>
                      </a:r>
                      <a:endParaRPr dirty="0"/>
                    </a:p>
                  </a:txBody>
                  <a:tcPr marL="9375" marR="9375" marT="9375" marB="9375" anchor="ctr" horzOverflow="overflow">
                    <a:lnL w="3175">
                      <a:solidFill>
                        <a:srgbClr val="142FA3"/>
                      </a:solidFill>
                    </a:lnL>
                    <a:lnR w="12700">
                      <a:miter lim="400000"/>
                    </a:lnR>
                    <a:lnT w="3175">
                      <a:solidFill>
                        <a:srgbClr val="142FA3"/>
                      </a:solidFill>
                    </a:lnT>
                    <a:lnB w="3175">
                      <a:solidFill>
                        <a:srgbClr val="142FA3"/>
                      </a:solidFill>
                    </a:lnB>
                    <a:solidFill>
                      <a:srgbClr val="E5FF99"/>
                    </a:solidFill>
                  </a:tcPr>
                </a:tc>
                <a:extLst>
                  <a:ext uri="{0D108BD9-81ED-4DB2-BD59-A6C34878D82A}">
                    <a16:rowId xmlns:a16="http://schemas.microsoft.com/office/drawing/2014/main" val="10002"/>
                  </a:ext>
                </a:extLst>
              </a:tr>
              <a:tr h="695718">
                <a:tc>
                  <a:txBody>
                    <a:bodyPr/>
                    <a:lstStyle/>
                    <a:p>
                      <a:pPr algn="ctr">
                        <a:tabLst>
                          <a:tab pos="1181100" algn="l"/>
                        </a:tabLst>
                        <a:defRPr sz="1800">
                          <a:solidFill>
                            <a:srgbClr val="000000"/>
                          </a:solidFill>
                        </a:defRPr>
                      </a:pPr>
                      <a:r>
                        <a:rPr sz="1000">
                          <a:solidFill>
                            <a:srgbClr val="142FA4"/>
                          </a:solidFill>
                          <a:latin typeface="Poppins Medium"/>
                          <a:ea typeface="Poppins Medium"/>
                          <a:cs typeface="Poppins Medium"/>
                          <a:sym typeface="Poppins Medium"/>
                        </a:rPr>
                        <a:t>Net Sales</a:t>
                      </a:r>
                    </a:p>
                  </a:txBody>
                  <a:tcPr marL="9375" marR="9375" marT="9375" marB="9375" anchor="ctr" horzOverflow="overflow">
                    <a:lnL w="12700">
                      <a:miter lim="400000"/>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2.37</a:t>
                      </a:r>
                      <a:r>
                        <a:rPr sz="1050" b="0" baseline="0" dirty="0">
                          <a:latin typeface="Poppins Medium"/>
                          <a:ea typeface="Poppins Medium"/>
                          <a:cs typeface="Poppins Medium"/>
                          <a:sym typeface="Poppins Medium"/>
                        </a:rPr>
                        <a:t>billion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3.00</a:t>
                      </a:r>
                      <a:r>
                        <a:rPr sz="1050" b="0" baseline="0" dirty="0">
                          <a:latin typeface="Poppins Medium"/>
                          <a:ea typeface="Poppins Medium"/>
                          <a:cs typeface="Poppins Medium"/>
                          <a:sym typeface="Poppins Medium"/>
                        </a:rPr>
                        <a:t>billion yen</a:t>
                      </a:r>
                    </a:p>
                  </a:txBody>
                  <a:tcPr marL="9375" marR="9375" marT="9375" marB="9375"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5.45</a:t>
                      </a:r>
                      <a:r>
                        <a:rPr sz="1050" b="0" baseline="0" dirty="0">
                          <a:latin typeface="Poppins Medium"/>
                          <a:ea typeface="Poppins Medium"/>
                          <a:cs typeface="Poppins Medium"/>
                          <a:sym typeface="Poppins Medium"/>
                        </a:rPr>
                        <a:t>billion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dirty="0"/>
                        <a:t>+</a:t>
                      </a:r>
                      <a:r>
                        <a:rPr lang="en-US" dirty="0"/>
                        <a:t>26.5</a:t>
                      </a:r>
                      <a:r>
                        <a:rPr sz="1600" dirty="0"/>
                        <a:t>%</a:t>
                      </a:r>
                      <a:endParaRPr sz="2000" dirty="0"/>
                    </a:p>
                    <a:p>
                      <a:pPr algn="ctr">
                        <a:defRPr sz="1000">
                          <a:solidFill>
                            <a:srgbClr val="142FA4"/>
                          </a:solidFill>
                          <a:latin typeface="M PLUS 1p Regular"/>
                          <a:ea typeface="M PLUS 1p Regular"/>
                          <a:cs typeface="M PLUS 1p Regular"/>
                          <a:sym typeface="M PLUS 1p Regular"/>
                        </a:defRPr>
                      </a:pPr>
                      <a:r>
                        <a:rPr dirty="0"/>
                        <a:t>（</a:t>
                      </a:r>
                      <a:r>
                        <a:rPr lang="en-US" dirty="0"/>
                        <a:t>55.2</a:t>
                      </a:r>
                      <a:r>
                        <a:rPr dirty="0"/>
                        <a:t>%）</a:t>
                      </a:r>
                    </a:p>
                  </a:txBody>
                  <a:tcPr marL="9375" marR="9375" marT="9375" marB="9375" anchor="ctr" horzOverflow="overflow">
                    <a:lnL w="3175">
                      <a:solidFill>
                        <a:srgbClr val="142FA3"/>
                      </a:solidFill>
                    </a:lnL>
                    <a:lnR w="12700">
                      <a:miter lim="400000"/>
                    </a:lnR>
                    <a:lnT w="3175">
                      <a:solidFill>
                        <a:srgbClr val="142FA3"/>
                      </a:solidFill>
                    </a:lnT>
                    <a:lnB w="3175">
                      <a:solidFill>
                        <a:srgbClr val="142FA3"/>
                      </a:solidFill>
                    </a:lnB>
                    <a:solidFill>
                      <a:srgbClr val="E5FF99"/>
                    </a:solidFill>
                  </a:tcPr>
                </a:tc>
                <a:extLst>
                  <a:ext uri="{0D108BD9-81ED-4DB2-BD59-A6C34878D82A}">
                    <a16:rowId xmlns:a16="http://schemas.microsoft.com/office/drawing/2014/main" val="10003"/>
                  </a:ext>
                </a:extLst>
              </a:tr>
              <a:tr h="695718">
                <a:tc>
                  <a:txBody>
                    <a:bodyPr/>
                    <a:lstStyle/>
                    <a:p>
                      <a:pPr algn="ctr">
                        <a:tabLst>
                          <a:tab pos="1181100" algn="l"/>
                        </a:tabLst>
                        <a:defRPr sz="1800">
                          <a:solidFill>
                            <a:srgbClr val="000000"/>
                          </a:solidFill>
                        </a:defRPr>
                      </a:pPr>
                      <a:r>
                        <a:rPr sz="1000">
                          <a:solidFill>
                            <a:srgbClr val="142FA4"/>
                          </a:solidFill>
                          <a:latin typeface="Poppins Medium"/>
                          <a:ea typeface="Poppins Medium"/>
                          <a:cs typeface="Poppins Medium"/>
                          <a:sym typeface="Poppins Medium"/>
                        </a:rPr>
                        <a:t>Operating Profit</a:t>
                      </a:r>
                    </a:p>
                  </a:txBody>
                  <a:tcPr marL="9375" marR="9375" marT="9375" marB="9375" anchor="ctr" horzOverflow="overflow">
                    <a:lnL w="12700">
                      <a:miter lim="400000"/>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570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630</a:t>
                      </a:r>
                      <a:r>
                        <a:rPr lang="en-US" sz="1050" b="0" baseline="0" dirty="0">
                          <a:latin typeface="Poppins Medium"/>
                          <a:ea typeface="Poppins Medium"/>
                          <a:cs typeface="Poppins Medium"/>
                          <a:sym typeface="Poppins Medium"/>
                        </a:rPr>
                        <a:t>m</a:t>
                      </a:r>
                      <a:r>
                        <a:rPr sz="1050" b="0" baseline="0" dirty="0">
                          <a:latin typeface="Poppins Medium"/>
                          <a:ea typeface="Poppins Medium"/>
                          <a:cs typeface="Poppins Medium"/>
                          <a:sym typeface="Poppins Medium"/>
                        </a:rPr>
                        <a:t>illion yen</a:t>
                      </a:r>
                    </a:p>
                  </a:txBody>
                  <a:tcPr marL="9375" marR="9375" marT="9375" marB="9375"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dirty="0"/>
                        <a:t>1,</a:t>
                      </a:r>
                      <a:r>
                        <a:rPr lang="en-US" dirty="0"/>
                        <a:t>350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3175">
                      <a:solidFill>
                        <a:srgbClr val="142FA3"/>
                      </a:solidFill>
                    </a:lnT>
                    <a:lnB w="3175">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dirty="0"/>
                        <a:t>+</a:t>
                      </a:r>
                      <a:r>
                        <a:rPr lang="en-US" dirty="0"/>
                        <a:t>11.1</a:t>
                      </a:r>
                      <a:r>
                        <a:rPr sz="1600" dirty="0"/>
                        <a:t>%</a:t>
                      </a:r>
                      <a:endParaRPr sz="2000" dirty="0"/>
                    </a:p>
                    <a:p>
                      <a:pPr algn="ctr">
                        <a:defRPr sz="1000">
                          <a:solidFill>
                            <a:srgbClr val="142FA4"/>
                          </a:solidFill>
                          <a:latin typeface="M PLUS 1p Regular"/>
                          <a:ea typeface="M PLUS 1p Regular"/>
                          <a:cs typeface="M PLUS 1p Regular"/>
                          <a:sym typeface="M PLUS 1p Regular"/>
                        </a:defRPr>
                      </a:pPr>
                      <a:r>
                        <a:rPr lang="ja-JP" altLang="en-US" dirty="0"/>
                        <a:t>（</a:t>
                      </a:r>
                      <a:r>
                        <a:rPr lang="en-US" altLang="ja-JP" dirty="0"/>
                        <a:t>47.0</a:t>
                      </a:r>
                      <a:r>
                        <a:rPr dirty="0"/>
                        <a:t>%）</a:t>
                      </a:r>
                    </a:p>
                  </a:txBody>
                  <a:tcPr marL="9375" marR="9375" marT="9375" marB="9375" anchor="ctr" horzOverflow="overflow">
                    <a:lnL w="3175">
                      <a:solidFill>
                        <a:srgbClr val="142FA3"/>
                      </a:solidFill>
                    </a:lnL>
                    <a:lnR w="12700">
                      <a:miter lim="400000"/>
                    </a:lnR>
                    <a:lnT w="3175">
                      <a:solidFill>
                        <a:srgbClr val="142FA3"/>
                      </a:solidFill>
                    </a:lnT>
                    <a:lnB w="3175">
                      <a:solidFill>
                        <a:srgbClr val="142FA3"/>
                      </a:solidFill>
                    </a:lnB>
                    <a:solidFill>
                      <a:srgbClr val="E5FF99"/>
                    </a:solidFill>
                  </a:tcPr>
                </a:tc>
                <a:extLst>
                  <a:ext uri="{0D108BD9-81ED-4DB2-BD59-A6C34878D82A}">
                    <a16:rowId xmlns:a16="http://schemas.microsoft.com/office/drawing/2014/main" val="10004"/>
                  </a:ext>
                </a:extLst>
              </a:tr>
              <a:tr h="695718">
                <a:tc>
                  <a:txBody>
                    <a:bodyPr/>
                    <a:lstStyle/>
                    <a:p>
                      <a:pPr algn="ctr">
                        <a:tabLst>
                          <a:tab pos="1181100" algn="l"/>
                        </a:tabLst>
                        <a:defRPr sz="1000">
                          <a:solidFill>
                            <a:srgbClr val="142FA4"/>
                          </a:solidFill>
                          <a:latin typeface="Poppins Medium"/>
                          <a:ea typeface="Poppins Medium"/>
                          <a:cs typeface="Poppins Medium"/>
                          <a:sym typeface="Poppins Medium"/>
                        </a:defRPr>
                      </a:pPr>
                      <a:r>
                        <a:rPr dirty="0">
                          <a:latin typeface="M PLUS 1p Regular"/>
                          <a:ea typeface="M PLUS 1p Regular"/>
                          <a:cs typeface="M PLUS 1p Regular"/>
                          <a:sym typeface="M PLUS 1p Regular"/>
                        </a:rPr>
                        <a:t>　</a:t>
                      </a:r>
                      <a:r>
                        <a:rPr dirty="0"/>
                        <a:t>Net Profit Attributable to Owners of the Parent</a:t>
                      </a:r>
                    </a:p>
                  </a:txBody>
                  <a:tcPr marL="9375" marR="9375" marT="9375" marB="9375" anchor="ctr" horzOverflow="overflow">
                    <a:lnL w="12700">
                      <a:miter lim="400000"/>
                    </a:lnL>
                    <a:lnR w="3175">
                      <a:solidFill>
                        <a:srgbClr val="142FA3"/>
                      </a:solidFill>
                    </a:lnR>
                    <a:lnT w="3175">
                      <a:solidFill>
                        <a:srgbClr val="142FA3"/>
                      </a:solidFill>
                    </a:lnT>
                    <a:lnB>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altLang="ja-JP" dirty="0"/>
                        <a:t>380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3175">
                      <a:solidFill>
                        <a:srgbClr val="142FA3"/>
                      </a:solidFill>
                    </a:lnT>
                    <a:lnB>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450</a:t>
                      </a:r>
                      <a:r>
                        <a:rPr sz="1050" b="0" baseline="0" dirty="0">
                          <a:latin typeface="Poppins Medium"/>
                          <a:ea typeface="Poppins Medium"/>
                          <a:cs typeface="Poppins Medium"/>
                          <a:sym typeface="Poppins Medium"/>
                        </a:rPr>
                        <a:t>million yen</a:t>
                      </a:r>
                    </a:p>
                  </a:txBody>
                  <a:tcPr marL="9375" marR="9375" marT="9375" marB="9375" anchor="ctr" horzOverflow="overflow">
                    <a:lnL w="3175">
                      <a:solidFill>
                        <a:srgbClr val="142FA3"/>
                      </a:solidFill>
                    </a:lnL>
                    <a:lnR w="3175">
                      <a:solidFill>
                        <a:srgbClr val="142FA3"/>
                      </a:solidFill>
                    </a:lnR>
                    <a:lnT w="3175">
                      <a:solidFill>
                        <a:srgbClr val="142FA3"/>
                      </a:solidFill>
                    </a:lnT>
                    <a:lnB>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lang="en-US" dirty="0"/>
                        <a:t>94</a:t>
                      </a:r>
                      <a:r>
                        <a:rPr dirty="0"/>
                        <a:t>0</a:t>
                      </a:r>
                      <a:r>
                        <a:rPr sz="1050" b="0" baseline="0" dirty="0">
                          <a:latin typeface="Poppins Medium"/>
                          <a:ea typeface="Poppins Medium"/>
                          <a:cs typeface="Poppins Medium"/>
                          <a:sym typeface="Poppins Medium"/>
                        </a:rPr>
                        <a:t>million yen</a:t>
                      </a:r>
                      <a:endParaRPr sz="1400" b="0" baseline="0" dirty="0">
                        <a:latin typeface="Poppins Medium"/>
                        <a:ea typeface="Poppins Medium"/>
                        <a:cs typeface="Poppins Medium"/>
                        <a:sym typeface="Poppins Medium"/>
                      </a:endParaRPr>
                    </a:p>
                  </a:txBody>
                  <a:tcPr marL="9375" marR="9375" marT="9375" marB="9375" anchor="ctr" horzOverflow="overflow">
                    <a:lnL w="3175">
                      <a:solidFill>
                        <a:srgbClr val="142FA3"/>
                      </a:solidFill>
                    </a:lnL>
                    <a:lnR w="3175">
                      <a:solidFill>
                        <a:srgbClr val="142FA3"/>
                      </a:solidFill>
                    </a:lnR>
                    <a:lnT w="3175">
                      <a:solidFill>
                        <a:srgbClr val="142FA3"/>
                      </a:solidFill>
                    </a:lnT>
                    <a:lnB>
                      <a:solidFill>
                        <a:srgbClr val="142FA3"/>
                      </a:solidFill>
                    </a:lnB>
                    <a:noFill/>
                  </a:tcPr>
                </a:tc>
                <a:tc>
                  <a:txBody>
                    <a:bodyPr/>
                    <a:lstStyle/>
                    <a:p>
                      <a:pPr algn="ctr">
                        <a:defRPr sz="1800" b="1">
                          <a:solidFill>
                            <a:srgbClr val="142FA4"/>
                          </a:solidFill>
                          <a:latin typeface="Poppins SemiBold"/>
                          <a:ea typeface="Poppins SemiBold"/>
                          <a:cs typeface="Poppins SemiBold"/>
                          <a:sym typeface="Poppins SemiBold"/>
                        </a:defRPr>
                      </a:pPr>
                      <a:r>
                        <a:rPr dirty="0"/>
                        <a:t>+</a:t>
                      </a:r>
                      <a:r>
                        <a:rPr lang="en-US" dirty="0"/>
                        <a:t>19.6</a:t>
                      </a:r>
                      <a:r>
                        <a:rPr sz="1600" dirty="0"/>
                        <a:t>%</a:t>
                      </a:r>
                      <a:endParaRPr sz="1600" b="0" dirty="0">
                        <a:latin typeface="Poppins Bold"/>
                        <a:ea typeface="Poppins Bold"/>
                        <a:cs typeface="Poppins Bold"/>
                        <a:sym typeface="Poppins Bold"/>
                      </a:endParaRPr>
                    </a:p>
                    <a:p>
                      <a:pPr algn="ctr">
                        <a:defRPr sz="1000">
                          <a:solidFill>
                            <a:srgbClr val="142FA4"/>
                          </a:solidFill>
                          <a:latin typeface="M PLUS 1p Regular"/>
                          <a:ea typeface="M PLUS 1p Regular"/>
                          <a:cs typeface="M PLUS 1p Regular"/>
                          <a:sym typeface="M PLUS 1p Regular"/>
                        </a:defRPr>
                      </a:pPr>
                      <a:r>
                        <a:rPr dirty="0"/>
                        <a:t>（</a:t>
                      </a:r>
                      <a:r>
                        <a:rPr lang="en-US" dirty="0"/>
                        <a:t>48.5</a:t>
                      </a:r>
                      <a:r>
                        <a:rPr dirty="0"/>
                        <a:t>%）</a:t>
                      </a:r>
                    </a:p>
                  </a:txBody>
                  <a:tcPr marL="9375" marR="9375" marT="9375" marB="9375" anchor="ctr" horzOverflow="overflow">
                    <a:lnL w="3175">
                      <a:solidFill>
                        <a:srgbClr val="142FA3"/>
                      </a:solidFill>
                    </a:lnL>
                    <a:lnR w="12700">
                      <a:miter lim="400000"/>
                    </a:lnR>
                    <a:lnT w="3175">
                      <a:solidFill>
                        <a:srgbClr val="142FA3"/>
                      </a:solidFill>
                    </a:lnT>
                    <a:lnB>
                      <a:solidFill>
                        <a:srgbClr val="142FA3"/>
                      </a:solidFill>
                    </a:lnB>
                    <a:solidFill>
                      <a:srgbClr val="E5FF99"/>
                    </a:solidFill>
                  </a:tcPr>
                </a:tc>
                <a:extLst>
                  <a:ext uri="{0D108BD9-81ED-4DB2-BD59-A6C34878D82A}">
                    <a16:rowId xmlns:a16="http://schemas.microsoft.com/office/drawing/2014/main" val="10005"/>
                  </a:ext>
                </a:extLst>
              </a:tr>
            </a:tbl>
          </a:graphicData>
        </a:graphic>
      </p:graphicFrame>
      <p:sp>
        <p:nvSpPr>
          <p:cNvPr id="1135" name="テキスト ボックス 16"/>
          <p:cNvSpPr txBox="1"/>
          <p:nvPr/>
        </p:nvSpPr>
        <p:spPr>
          <a:xfrm>
            <a:off x="7938086" y="2078901"/>
            <a:ext cx="3850232" cy="1292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179387" indent="-179387">
              <a:buSzPct val="90000"/>
              <a:buChar char="●"/>
              <a:defRPr sz="1300">
                <a:solidFill>
                  <a:srgbClr val="142FA4"/>
                </a:solidFill>
                <a:latin typeface="Poppins Medium"/>
                <a:ea typeface="Poppins Medium"/>
                <a:cs typeface="Poppins Medium"/>
                <a:sym typeface="Poppins Medium"/>
              </a:defRPr>
            </a:lvl1pPr>
          </a:lstStyle>
          <a:p>
            <a:r>
              <a:rPr lang="en-US"/>
              <a:t>First-half progress </a:t>
            </a:r>
            <a:r>
              <a:rPr lang="en-US" dirty="0"/>
              <a:t>toward the full-year plan reached 50.5% for subscription billing sales (+9.1% vs. plan) and 58.0% for the net increase in </a:t>
            </a:r>
            <a:r>
              <a:rPr lang="en-US" dirty="0" err="1"/>
              <a:t>ibisPaint</a:t>
            </a:r>
            <a:r>
              <a:rPr lang="en-US" dirty="0"/>
              <a:t> subscriptions (+18.7% vs. plan), both showing steady progress ahead of the plan</a:t>
            </a:r>
          </a:p>
        </p:txBody>
      </p:sp>
      <p:sp>
        <p:nvSpPr>
          <p:cNvPr id="1136" name="テキスト ボックス 18"/>
          <p:cNvSpPr txBox="1"/>
          <p:nvPr/>
        </p:nvSpPr>
        <p:spPr>
          <a:xfrm>
            <a:off x="7938086" y="3467098"/>
            <a:ext cx="3850232" cy="14927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179387" indent="-179387">
              <a:buSzPct val="90000"/>
              <a:buChar char="●"/>
              <a:defRPr sz="1300">
                <a:solidFill>
                  <a:srgbClr val="142FA4"/>
                </a:solidFill>
                <a:latin typeface="Poppins Medium"/>
                <a:ea typeface="Poppins Medium"/>
                <a:cs typeface="Poppins Medium"/>
                <a:sym typeface="Poppins Medium"/>
              </a:defRPr>
            </a:lvl1pPr>
          </a:lstStyle>
          <a:p>
            <a:r>
              <a:rPr lang="en-US" dirty="0"/>
              <a:t>As acquisition efficiency exceeded the plan, we reallocated an additional 150 million yen to advertising in the first half to build up recurring revenue. We will optimize the pace of investment in the second half, while still targeting full-year operating profit above the plan</a:t>
            </a:r>
            <a:endParaRPr dirty="0"/>
          </a:p>
        </p:txBody>
      </p:sp>
      <p:sp>
        <p:nvSpPr>
          <p:cNvPr id="1137" name="テキスト ボックス 19"/>
          <p:cNvSpPr txBox="1"/>
          <p:nvPr/>
        </p:nvSpPr>
        <p:spPr>
          <a:xfrm>
            <a:off x="7938086" y="5017250"/>
            <a:ext cx="3850232" cy="8925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179387" indent="-179387">
              <a:buSzPct val="90000"/>
              <a:buChar char="●"/>
              <a:defRPr sz="1300">
                <a:solidFill>
                  <a:srgbClr val="142FA4"/>
                </a:solidFill>
                <a:latin typeface="Poppins Medium"/>
                <a:ea typeface="Poppins Medium"/>
                <a:cs typeface="Poppins Medium"/>
                <a:sym typeface="Poppins Medium"/>
              </a:defRPr>
            </a:lvl1pPr>
          </a:lstStyle>
          <a:p>
            <a:r>
              <a:rPr lang="en-US" dirty="0"/>
              <a:t>Progress is tracking ahead of the plan, but from a conservative standpoint, we maintain our initial full-year guidance, including our net sales forecast</a:t>
            </a:r>
          </a:p>
        </p:txBody>
      </p:sp>
      <p:sp>
        <p:nvSpPr>
          <p:cNvPr id="9" name="タイトル 8">
            <a:extLst>
              <a:ext uri="{FF2B5EF4-FFF2-40B4-BE49-F238E27FC236}">
                <a16:creationId xmlns:a16="http://schemas.microsoft.com/office/drawing/2014/main" id="{E1261826-8C23-3A20-9DEA-A32C10318D04}"/>
              </a:ext>
            </a:extLst>
          </p:cNvPr>
          <p:cNvSpPr>
            <a:spLocks noGrp="1"/>
          </p:cNvSpPr>
          <p:nvPr>
            <p:ph type="ctrTitle"/>
          </p:nvPr>
        </p:nvSpPr>
        <p:spPr>
          <a:xfrm>
            <a:off x="487680" y="625008"/>
            <a:ext cx="11300638" cy="622579"/>
          </a:xfrm>
        </p:spPr>
        <p:txBody>
          <a:bodyPr/>
          <a:lstStyle/>
          <a:p>
            <a:r>
              <a:rPr lang="en-US" altLang="ja-JP" dirty="0"/>
              <a:t>All Metrics Progressing Ahead of the Full-Year Plan, Targeting </a:t>
            </a:r>
            <a:br>
              <a:rPr lang="en-US" altLang="ja-JP" dirty="0"/>
            </a:br>
            <a:r>
              <a:rPr lang="en-US" altLang="ja-JP" dirty="0"/>
              <a:t>Full-Year Operating Profit Above the Plan Despite Upfront Investments</a:t>
            </a:r>
            <a:endParaRPr lang="ja-JP" altLang="en-US" dirty="0"/>
          </a:p>
        </p:txBody>
      </p:sp>
    </p:spTree>
    <p:extLst>
      <p:ext uri="{BB962C8B-B14F-4D97-AF65-F5344CB8AC3E}">
        <p14:creationId xmlns:p14="http://schemas.microsoft.com/office/powerpoint/2010/main" val="2116475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BCDAE21-8AC5-C70E-5770-6EFBE0364ADF}"/>
              </a:ext>
            </a:extLst>
          </p:cNvPr>
          <p:cNvSpPr>
            <a:spLocks noGrp="1"/>
          </p:cNvSpPr>
          <p:nvPr>
            <p:ph type="body" sz="quarter" idx="12"/>
          </p:nvPr>
        </p:nvSpPr>
        <p:spPr/>
        <p:txBody>
          <a:bodyPr>
            <a:normAutofit/>
          </a:bodyPr>
          <a:lstStyle/>
          <a:p>
            <a:r>
              <a:rPr lang="en-US" altLang="ja-JP" dirty="0"/>
              <a:t>FY2026 Q2 Consolidated Financial Results Overview</a:t>
            </a:r>
          </a:p>
        </p:txBody>
      </p:sp>
      <p:sp>
        <p:nvSpPr>
          <p:cNvPr id="9" name="タイトル 8">
            <a:extLst>
              <a:ext uri="{FF2B5EF4-FFF2-40B4-BE49-F238E27FC236}">
                <a16:creationId xmlns:a16="http://schemas.microsoft.com/office/drawing/2014/main" id="{39D2F81F-4159-A8AA-FF29-23AE966270B3}"/>
              </a:ext>
            </a:extLst>
          </p:cNvPr>
          <p:cNvSpPr>
            <a:spLocks noGrp="1"/>
          </p:cNvSpPr>
          <p:nvPr>
            <p:ph type="ctrTitle"/>
          </p:nvPr>
        </p:nvSpPr>
        <p:spPr/>
        <p:txBody>
          <a:bodyPr/>
          <a:lstStyle/>
          <a:p>
            <a:r>
              <a:rPr lang="en-US" altLang="ja-JP" dirty="0">
                <a:solidFill>
                  <a:schemeClr val="tx1"/>
                </a:solidFill>
              </a:rPr>
              <a:t>Growth in Net Sales and Profit Despite Goodwill Amortization; </a:t>
            </a:r>
            <a:br>
              <a:rPr lang="en-US" altLang="ja-JP" dirty="0">
                <a:solidFill>
                  <a:schemeClr val="tx1"/>
                </a:solidFill>
              </a:rPr>
            </a:br>
            <a:r>
              <a:rPr lang="en-US" altLang="ja-JP" dirty="0">
                <a:solidFill>
                  <a:schemeClr val="tx1"/>
                </a:solidFill>
              </a:rPr>
              <a:t>Strengthening the Earnings Base</a:t>
            </a:r>
          </a:p>
        </p:txBody>
      </p:sp>
      <p:sp>
        <p:nvSpPr>
          <p:cNvPr id="17" name="テキスト プレースホルダー 16">
            <a:extLst>
              <a:ext uri="{FF2B5EF4-FFF2-40B4-BE49-F238E27FC236}">
                <a16:creationId xmlns:a16="http://schemas.microsoft.com/office/drawing/2014/main" id="{9012F447-F585-F299-116C-BE884CCB229A}"/>
              </a:ext>
            </a:extLst>
          </p:cNvPr>
          <p:cNvSpPr>
            <a:spLocks noGrp="1"/>
          </p:cNvSpPr>
          <p:nvPr>
            <p:ph type="body" sz="quarter" idx="21"/>
          </p:nvPr>
        </p:nvSpPr>
        <p:spPr>
          <a:xfrm>
            <a:off x="5438693" y="6109200"/>
            <a:ext cx="6226009" cy="519492"/>
          </a:xfrm>
        </p:spPr>
        <p:txBody>
          <a:bodyPr>
            <a:noAutofit/>
          </a:bodyPr>
          <a:lstStyle/>
          <a:p>
            <a:r>
              <a:rPr lang="en" altLang="ja-JP" dirty="0"/>
              <a:t>* The mobile segment includes the mobile business, BCS (Business Cloud Service), and other businesses</a:t>
            </a:r>
          </a:p>
          <a:p>
            <a:r>
              <a:rPr lang="en" altLang="ja-JP" dirty="0"/>
              <a:t>* Consolidated financial statements have been applied since FY2025. The profit and loss of Techno-Speech, Inc. has been consolidated </a:t>
            </a:r>
          </a:p>
          <a:p>
            <a:r>
              <a:rPr lang="en" altLang="ja-JP" dirty="0"/>
              <a:t>   from April 1, 2025, and the profit and loss of Zeroichi Start Inc. has been consolidated from January 1, 2026</a:t>
            </a:r>
          </a:p>
          <a:p>
            <a:pPr marL="53975" indent="-53975"/>
            <a:r>
              <a:rPr lang="en-US" altLang="ja-JP" dirty="0"/>
              <a:t>* Regarding the purchase price allocation (PPA) for the acquisition of Techno-Speech, Inc., figures as of FY2025 Q2 were disclosed based on provisional accounting treatment; following the finalization of the PPA, the figures have been retroactively restated to reflect the finalized accounting treatment</a:t>
            </a:r>
          </a:p>
        </p:txBody>
      </p:sp>
      <p:graphicFrame>
        <p:nvGraphicFramePr>
          <p:cNvPr id="10" name="グラフ 9">
            <a:extLst>
              <a:ext uri="{FF2B5EF4-FFF2-40B4-BE49-F238E27FC236}">
                <a16:creationId xmlns:a16="http://schemas.microsoft.com/office/drawing/2014/main" id="{2526A62E-E7A6-FC24-3F91-D155539CD9DB}"/>
              </a:ext>
            </a:extLst>
          </p:cNvPr>
          <p:cNvGraphicFramePr/>
          <p:nvPr>
            <p:extLst>
              <p:ext uri="{D42A27DB-BD31-4B8C-83A1-F6EECF244321}">
                <p14:modId xmlns:p14="http://schemas.microsoft.com/office/powerpoint/2010/main" val="3847835091"/>
              </p:ext>
            </p:extLst>
          </p:nvPr>
        </p:nvGraphicFramePr>
        <p:xfrm>
          <a:off x="5982654" y="1996834"/>
          <a:ext cx="6090283" cy="425986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グラフ 5">
            <a:extLst>
              <a:ext uri="{FF2B5EF4-FFF2-40B4-BE49-F238E27FC236}">
                <a16:creationId xmlns:a16="http://schemas.microsoft.com/office/drawing/2014/main" id="{1784E617-C54F-F20C-0EFB-D48CD53CA8A2}"/>
              </a:ext>
            </a:extLst>
          </p:cNvPr>
          <p:cNvGraphicFramePr/>
          <p:nvPr>
            <p:extLst>
              <p:ext uri="{D42A27DB-BD31-4B8C-83A1-F6EECF244321}">
                <p14:modId xmlns:p14="http://schemas.microsoft.com/office/powerpoint/2010/main" val="2625502157"/>
              </p:ext>
            </p:extLst>
          </p:nvPr>
        </p:nvGraphicFramePr>
        <p:xfrm>
          <a:off x="-39773" y="1988561"/>
          <a:ext cx="6301153" cy="4270279"/>
        </p:xfrm>
        <a:graphic>
          <a:graphicData uri="http://schemas.openxmlformats.org/drawingml/2006/chart">
            <c:chart xmlns:c="http://schemas.openxmlformats.org/drawingml/2006/chart" xmlns:r="http://schemas.openxmlformats.org/officeDocument/2006/relationships" r:id="rId6"/>
          </a:graphicData>
        </a:graphic>
      </p:graphicFrame>
      <p:sp>
        <p:nvSpPr>
          <p:cNvPr id="8" name="テキスト ボックス 7">
            <a:extLst>
              <a:ext uri="{FF2B5EF4-FFF2-40B4-BE49-F238E27FC236}">
                <a16:creationId xmlns:a16="http://schemas.microsoft.com/office/drawing/2014/main" id="{A959A995-27F8-D58A-BC0F-811DCFA89B2B}"/>
              </a:ext>
            </a:extLst>
          </p:cNvPr>
          <p:cNvSpPr txBox="1"/>
          <p:nvPr/>
        </p:nvSpPr>
        <p:spPr>
          <a:xfrm>
            <a:off x="603206" y="1755165"/>
            <a:ext cx="1124026" cy="215444"/>
          </a:xfrm>
          <a:prstGeom prst="rect">
            <a:avLst/>
          </a:prstGeom>
          <a:noFill/>
        </p:spPr>
        <p:txBody>
          <a:bodyPr wrap="non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kumimoji="1" lang="en-US" altLang="ja-JP" sz="800" dirty="0">
                <a:solidFill>
                  <a:srgbClr val="142FA4"/>
                </a:solidFill>
                <a:latin typeface="Poppins" pitchFamily="2" charset="0"/>
                <a:ea typeface="M PLUS 1p" panose="020B0502020203020207" pitchFamily="34" charset="-128"/>
                <a:cs typeface="Poppins" pitchFamily="2" charset="0"/>
              </a:rPr>
              <a:t>millions of yen</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cxnSp>
        <p:nvCxnSpPr>
          <p:cNvPr id="38" name="直線コネクタ 37">
            <a:extLst>
              <a:ext uri="{FF2B5EF4-FFF2-40B4-BE49-F238E27FC236}">
                <a16:creationId xmlns:a16="http://schemas.microsoft.com/office/drawing/2014/main" id="{9D10573B-2DA2-E8C1-416A-157E62CA0A1B}"/>
              </a:ext>
            </a:extLst>
          </p:cNvPr>
          <p:cNvCxnSpPr>
            <a:cxnSpLocks/>
          </p:cNvCxnSpPr>
          <p:nvPr/>
        </p:nvCxnSpPr>
        <p:spPr>
          <a:xfrm>
            <a:off x="6096000" y="1751272"/>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44" name="テキスト ボックス 43">
            <a:extLst>
              <a:ext uri="{FF2B5EF4-FFF2-40B4-BE49-F238E27FC236}">
                <a16:creationId xmlns:a16="http://schemas.microsoft.com/office/drawing/2014/main" id="{3FCE19D8-21DF-473A-13E8-7CE5BE135AB1}"/>
              </a:ext>
            </a:extLst>
          </p:cNvPr>
          <p:cNvSpPr txBox="1"/>
          <p:nvPr/>
        </p:nvSpPr>
        <p:spPr>
          <a:xfrm>
            <a:off x="6209347" y="1755165"/>
            <a:ext cx="1124026" cy="215444"/>
          </a:xfrm>
          <a:prstGeom prst="rect">
            <a:avLst/>
          </a:prstGeom>
          <a:noFill/>
        </p:spPr>
        <p:txBody>
          <a:bodyPr wrap="none" rtlCol="0">
            <a:spAutoFit/>
          </a:bodyPr>
          <a:lstStyle/>
          <a:p>
            <a:pPr defTabSz="457178">
              <a:defRPr/>
            </a:pPr>
            <a:r>
              <a:rPr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 of yen</a:t>
            </a:r>
            <a:r>
              <a:rPr lang="ja-JP" altLang="en-US" sz="800" dirty="0">
                <a:solidFill>
                  <a:srgbClr val="142FA4"/>
                </a:solidFill>
                <a:latin typeface="Poppins" pitchFamily="2" charset="0"/>
                <a:ea typeface="M PLUS 1p" panose="020B0502020203020207" pitchFamily="34" charset="-128"/>
                <a:cs typeface="Poppins" pitchFamily="2" charset="0"/>
              </a:rPr>
              <a:t>）</a:t>
            </a:r>
          </a:p>
        </p:txBody>
      </p:sp>
      <p:grpSp>
        <p:nvGrpSpPr>
          <p:cNvPr id="14" name="グループ化 13">
            <a:extLst>
              <a:ext uri="{FF2B5EF4-FFF2-40B4-BE49-F238E27FC236}">
                <a16:creationId xmlns:a16="http://schemas.microsoft.com/office/drawing/2014/main" id="{ED8470C2-D2A9-43B3-D1F6-C62496A4F8A6}"/>
              </a:ext>
            </a:extLst>
          </p:cNvPr>
          <p:cNvGrpSpPr/>
          <p:nvPr>
            <p:custDataLst>
              <p:custData r:id="rId1"/>
            </p:custDataLst>
          </p:nvPr>
        </p:nvGrpSpPr>
        <p:grpSpPr>
          <a:xfrm>
            <a:off x="9422548" y="1902843"/>
            <a:ext cx="2427752" cy="935474"/>
            <a:chOff x="9356288" y="2032243"/>
            <a:chExt cx="2427752" cy="935474"/>
          </a:xfrm>
        </p:grpSpPr>
        <p:grpSp>
          <p:nvGrpSpPr>
            <p:cNvPr id="13" name="グループ化 12">
              <a:extLst>
                <a:ext uri="{FF2B5EF4-FFF2-40B4-BE49-F238E27FC236}">
                  <a16:creationId xmlns:a16="http://schemas.microsoft.com/office/drawing/2014/main" id="{0393BB82-B6BF-BE65-0A66-98AB01EFB9E1}"/>
                </a:ext>
              </a:extLst>
            </p:cNvPr>
            <p:cNvGrpSpPr/>
            <p:nvPr/>
          </p:nvGrpSpPr>
          <p:grpSpPr>
            <a:xfrm>
              <a:off x="10477364" y="2032243"/>
              <a:ext cx="1306676" cy="935474"/>
              <a:chOff x="10258879" y="3154886"/>
              <a:chExt cx="1306676" cy="935474"/>
            </a:xfrm>
          </p:grpSpPr>
          <p:sp>
            <p:nvSpPr>
              <p:cNvPr id="20" name="楕円 19">
                <a:extLst>
                  <a:ext uri="{FF2B5EF4-FFF2-40B4-BE49-F238E27FC236}">
                    <a16:creationId xmlns:a16="http://schemas.microsoft.com/office/drawing/2014/main" id="{F4138C5D-C541-B68F-0C81-6A4E9F1FD20D}"/>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21" name="テキスト ボックス 20">
                <a:extLst>
                  <a:ext uri="{FF2B5EF4-FFF2-40B4-BE49-F238E27FC236}">
                    <a16:creationId xmlns:a16="http://schemas.microsoft.com/office/drawing/2014/main" id="{7CB4A57C-AE55-9D11-9E61-03EF02270E9D}"/>
                  </a:ext>
                </a:extLst>
              </p:cNvPr>
              <p:cNvSpPr txBox="1"/>
              <p:nvPr/>
            </p:nvSpPr>
            <p:spPr>
              <a:xfrm>
                <a:off x="10258879" y="3261616"/>
                <a:ext cx="1306676"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Net Profit</a:t>
                </a:r>
                <a:endParaRPr kumimoji="0" lang="en-US" altLang="ja-JP"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a:t>
                </a:r>
                <a:r>
                  <a:rPr kumimoji="0" lang="en-US" altLang="ja-JP" sz="2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19.6</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5" name="グループ化 4">
              <a:extLst>
                <a:ext uri="{FF2B5EF4-FFF2-40B4-BE49-F238E27FC236}">
                  <a16:creationId xmlns:a16="http://schemas.microsoft.com/office/drawing/2014/main" id="{1817E921-3C33-8FF9-BFE0-FE0D4062E09A}"/>
                </a:ext>
              </a:extLst>
            </p:cNvPr>
            <p:cNvGrpSpPr/>
            <p:nvPr/>
          </p:nvGrpSpPr>
          <p:grpSpPr>
            <a:xfrm>
              <a:off x="9356288" y="2032243"/>
              <a:ext cx="1306676" cy="935474"/>
              <a:chOff x="10258879" y="2122498"/>
              <a:chExt cx="1306676" cy="935474"/>
            </a:xfrm>
          </p:grpSpPr>
          <p:sp>
            <p:nvSpPr>
              <p:cNvPr id="45" name="楕円 19">
                <a:extLst>
                  <a:ext uri="{FF2B5EF4-FFF2-40B4-BE49-F238E27FC236}">
                    <a16:creationId xmlns:a16="http://schemas.microsoft.com/office/drawing/2014/main" id="{0A04CFA4-D5F7-1525-DE6A-D785B20C7638}"/>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46" name="テキスト ボックス 45">
                <a:extLst>
                  <a:ext uri="{FF2B5EF4-FFF2-40B4-BE49-F238E27FC236}">
                    <a16:creationId xmlns:a16="http://schemas.microsoft.com/office/drawing/2014/main" id="{2B4E869F-AF9A-D123-E003-D5ECCDF54068}"/>
                  </a:ext>
                </a:extLst>
              </p:cNvPr>
              <p:cNvSpPr txBox="1"/>
              <p:nvPr/>
            </p:nvSpPr>
            <p:spPr>
              <a:xfrm>
                <a:off x="10258879" y="2229228"/>
                <a:ext cx="1306676"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Operating Profit</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a:t>
                </a:r>
                <a:r>
                  <a:rPr kumimoji="0" lang="en-US" altLang="ja-JP" sz="2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11.1</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grpSp>
        <p:nvGrpSpPr>
          <p:cNvPr id="11" name="グループ化 10">
            <a:extLst>
              <a:ext uri="{FF2B5EF4-FFF2-40B4-BE49-F238E27FC236}">
                <a16:creationId xmlns:a16="http://schemas.microsoft.com/office/drawing/2014/main" id="{71D95486-2A47-EFB5-DB8F-0D7252B423F1}"/>
              </a:ext>
            </a:extLst>
          </p:cNvPr>
          <p:cNvGrpSpPr/>
          <p:nvPr>
            <p:custDataLst>
              <p:custData r:id="rId2"/>
            </p:custDataLst>
          </p:nvPr>
        </p:nvGrpSpPr>
        <p:grpSpPr>
          <a:xfrm>
            <a:off x="4731684" y="1902843"/>
            <a:ext cx="1306676" cy="935474"/>
            <a:chOff x="10258879" y="2122498"/>
            <a:chExt cx="1306676" cy="935474"/>
          </a:xfrm>
        </p:grpSpPr>
        <p:sp>
          <p:nvSpPr>
            <p:cNvPr id="12" name="楕円 19">
              <a:extLst>
                <a:ext uri="{FF2B5EF4-FFF2-40B4-BE49-F238E27FC236}">
                  <a16:creationId xmlns:a16="http://schemas.microsoft.com/office/drawing/2014/main" id="{4A8601F0-2A37-6398-5C1E-386E0671D1E3}"/>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5" name="テキスト ボックス 14">
              <a:extLst>
                <a:ext uri="{FF2B5EF4-FFF2-40B4-BE49-F238E27FC236}">
                  <a16:creationId xmlns:a16="http://schemas.microsoft.com/office/drawing/2014/main" id="{E820FE49-9381-E62B-242F-FDEFED9A2902}"/>
                </a:ext>
              </a:extLst>
            </p:cNvPr>
            <p:cNvSpPr txBox="1"/>
            <p:nvPr/>
          </p:nvSpPr>
          <p:spPr>
            <a:xfrm>
              <a:off x="10258879" y="2229228"/>
              <a:ext cx="1306676"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Net Sales</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a:t>
              </a:r>
              <a:r>
                <a:rPr kumimoji="0" lang="en-US" altLang="ja-JP" sz="2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26.5</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sp>
        <p:nvSpPr>
          <p:cNvPr id="67" name="テキスト ボックス 66">
            <a:extLst>
              <a:ext uri="{FF2B5EF4-FFF2-40B4-BE49-F238E27FC236}">
                <a16:creationId xmlns:a16="http://schemas.microsoft.com/office/drawing/2014/main" id="{E336CF19-3953-378E-D82E-9390076F0595}"/>
              </a:ext>
            </a:extLst>
          </p:cNvPr>
          <p:cNvSpPr txBox="1"/>
          <p:nvPr/>
        </p:nvSpPr>
        <p:spPr>
          <a:xfrm>
            <a:off x="2465739" y="1674000"/>
            <a:ext cx="1282402"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Net Sales Trends</a:t>
            </a:r>
            <a:endParaRPr lang="ja-JP" altLang="en-US" sz="1200" dirty="0">
              <a:solidFill>
                <a:srgbClr val="142FA4"/>
              </a:solidFill>
              <a:latin typeface="Poppins Medium" pitchFamily="2" charset="0"/>
              <a:ea typeface="M PLUS 1p Medium" panose="020B0502020203020207" pitchFamily="34" charset="-128"/>
              <a:cs typeface="Poppins Medium" pitchFamily="2" charset="0"/>
            </a:endParaRPr>
          </a:p>
        </p:txBody>
      </p:sp>
      <p:sp>
        <p:nvSpPr>
          <p:cNvPr id="71" name="テキスト ボックス 70">
            <a:extLst>
              <a:ext uri="{FF2B5EF4-FFF2-40B4-BE49-F238E27FC236}">
                <a16:creationId xmlns:a16="http://schemas.microsoft.com/office/drawing/2014/main" id="{CBB92A0A-3C9C-FF84-1B68-F549BCBE2E9C}"/>
              </a:ext>
            </a:extLst>
          </p:cNvPr>
          <p:cNvSpPr txBox="1"/>
          <p:nvPr/>
        </p:nvSpPr>
        <p:spPr>
          <a:xfrm>
            <a:off x="8071880" y="1674000"/>
            <a:ext cx="1593385"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Various Profit Trends</a:t>
            </a:r>
            <a:endParaRPr lang="ja-JP" altLang="en-US" sz="1200" dirty="0">
              <a:solidFill>
                <a:srgbClr val="142FA4"/>
              </a:solidFill>
              <a:latin typeface="Poppins Medium" pitchFamily="2" charset="0"/>
              <a:ea typeface="M PLUS 1p Medium" panose="020B0502020203020207" pitchFamily="34" charset="-128"/>
              <a:cs typeface="Poppins Medium" pitchFamily="2" charset="0"/>
            </a:endParaRPr>
          </a:p>
        </p:txBody>
      </p:sp>
    </p:spTree>
    <p:extLst>
      <p:ext uri="{BB962C8B-B14F-4D97-AF65-F5344CB8AC3E}">
        <p14:creationId xmlns:p14="http://schemas.microsoft.com/office/powerpoint/2010/main" val="4121352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グラフ 7">
            <a:extLst>
              <a:ext uri="{FF2B5EF4-FFF2-40B4-BE49-F238E27FC236}">
                <a16:creationId xmlns:a16="http://schemas.microsoft.com/office/drawing/2014/main" id="{FF0D3220-9F25-8C17-79BC-B7BAD4703852}"/>
              </a:ext>
            </a:extLst>
          </p:cNvPr>
          <p:cNvGraphicFramePr/>
          <p:nvPr>
            <p:extLst>
              <p:ext uri="{D42A27DB-BD31-4B8C-83A1-F6EECF244321}">
                <p14:modId xmlns:p14="http://schemas.microsoft.com/office/powerpoint/2010/main" val="3190153214"/>
              </p:ext>
            </p:extLst>
          </p:nvPr>
        </p:nvGraphicFramePr>
        <p:xfrm>
          <a:off x="5957057" y="1701308"/>
          <a:ext cx="6179380" cy="482912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 name="グラフ 15">
            <a:extLst>
              <a:ext uri="{FF2B5EF4-FFF2-40B4-BE49-F238E27FC236}">
                <a16:creationId xmlns:a16="http://schemas.microsoft.com/office/drawing/2014/main" id="{BC4E821D-5789-B22C-2ACA-527DC0C2F0C9}"/>
              </a:ext>
            </a:extLst>
          </p:cNvPr>
          <p:cNvGraphicFramePr/>
          <p:nvPr>
            <p:extLst>
              <p:ext uri="{D42A27DB-BD31-4B8C-83A1-F6EECF244321}">
                <p14:modId xmlns:p14="http://schemas.microsoft.com/office/powerpoint/2010/main" val="285509896"/>
              </p:ext>
            </p:extLst>
          </p:nvPr>
        </p:nvGraphicFramePr>
        <p:xfrm>
          <a:off x="208703" y="1986097"/>
          <a:ext cx="5686176" cy="4230107"/>
        </p:xfrm>
        <a:graphic>
          <a:graphicData uri="http://schemas.openxmlformats.org/drawingml/2006/chart">
            <c:chart xmlns:c="http://schemas.openxmlformats.org/drawingml/2006/chart" xmlns:r="http://schemas.openxmlformats.org/officeDocument/2006/relationships" r:id="rId8"/>
          </a:graphicData>
        </a:graphic>
      </p:graphicFrame>
      <p:sp>
        <p:nvSpPr>
          <p:cNvPr id="3" name="テキスト プレースホルダー 2">
            <a:extLst>
              <a:ext uri="{FF2B5EF4-FFF2-40B4-BE49-F238E27FC236}">
                <a16:creationId xmlns:a16="http://schemas.microsoft.com/office/drawing/2014/main" id="{5BCDAE21-8AC5-C70E-5770-6EFBE0364ADF}"/>
              </a:ext>
            </a:extLst>
          </p:cNvPr>
          <p:cNvSpPr>
            <a:spLocks noGrp="1"/>
          </p:cNvSpPr>
          <p:nvPr>
            <p:ph type="body" sz="quarter" idx="12"/>
          </p:nvPr>
        </p:nvSpPr>
        <p:spPr/>
        <p:txBody>
          <a:bodyPr>
            <a:normAutofit/>
          </a:bodyPr>
          <a:lstStyle/>
          <a:p>
            <a:r>
              <a:rPr lang="en-US" altLang="ja-JP" sz="1300" dirty="0"/>
              <a:t>FY2026 Q2 Consolidated Financial Results by Segment</a:t>
            </a:r>
          </a:p>
        </p:txBody>
      </p:sp>
      <p:sp>
        <p:nvSpPr>
          <p:cNvPr id="9" name="タイトル 8">
            <a:extLst>
              <a:ext uri="{FF2B5EF4-FFF2-40B4-BE49-F238E27FC236}">
                <a16:creationId xmlns:a16="http://schemas.microsoft.com/office/drawing/2014/main" id="{39D2F81F-4159-A8AA-FF29-23AE966270B3}"/>
              </a:ext>
            </a:extLst>
          </p:cNvPr>
          <p:cNvSpPr>
            <a:spLocks noGrp="1"/>
          </p:cNvSpPr>
          <p:nvPr>
            <p:ph type="ctrTitle"/>
          </p:nvPr>
        </p:nvSpPr>
        <p:spPr/>
        <p:txBody>
          <a:bodyPr/>
          <a:lstStyle/>
          <a:p>
            <a:r>
              <a:rPr lang="en-US" altLang="ja-JP" dirty="0"/>
              <a:t>Over 20% Sales Growth Maintained </a:t>
            </a:r>
            <a:br>
              <a:rPr lang="en-US" altLang="ja-JP" dirty="0"/>
            </a:br>
            <a:r>
              <a:rPr lang="en-US" altLang="ja-JP" dirty="0"/>
              <a:t>in Both Mobile and Solutions Segments</a:t>
            </a:r>
            <a:endParaRPr lang="ja-JP" altLang="en-US" sz="2400" dirty="0"/>
          </a:p>
        </p:txBody>
      </p:sp>
      <p:sp>
        <p:nvSpPr>
          <p:cNvPr id="5" name="テキスト ボックス 4">
            <a:extLst>
              <a:ext uri="{FF2B5EF4-FFF2-40B4-BE49-F238E27FC236}">
                <a16:creationId xmlns:a16="http://schemas.microsoft.com/office/drawing/2014/main" id="{A0692DEC-F5F8-C1E7-50CC-7F5EE2B07E0A}"/>
              </a:ext>
            </a:extLst>
          </p:cNvPr>
          <p:cNvSpPr txBox="1"/>
          <p:nvPr/>
        </p:nvSpPr>
        <p:spPr>
          <a:xfrm>
            <a:off x="8014974" y="1674000"/>
            <a:ext cx="1707198"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Segment Profit Trends</a:t>
            </a:r>
            <a:endParaRPr lang="ja-JP" altLang="en-US" sz="1200" dirty="0">
              <a:solidFill>
                <a:srgbClr val="142FA4"/>
              </a:solidFill>
              <a:latin typeface="Poppins Medium" pitchFamily="2" charset="0"/>
              <a:ea typeface="M PLUS 1p Medium" panose="020B0502020203020207" pitchFamily="34" charset="-128"/>
              <a:cs typeface="Poppins Medium" pitchFamily="2" charset="0"/>
            </a:endParaRPr>
          </a:p>
        </p:txBody>
      </p:sp>
      <p:sp>
        <p:nvSpPr>
          <p:cNvPr id="15" name="テキスト ボックス 14">
            <a:extLst>
              <a:ext uri="{FF2B5EF4-FFF2-40B4-BE49-F238E27FC236}">
                <a16:creationId xmlns:a16="http://schemas.microsoft.com/office/drawing/2014/main" id="{CBC50D0C-CD4B-DADA-9524-45E2E45E2D58}"/>
              </a:ext>
            </a:extLst>
          </p:cNvPr>
          <p:cNvSpPr txBox="1"/>
          <p:nvPr/>
        </p:nvSpPr>
        <p:spPr>
          <a:xfrm>
            <a:off x="2682232" y="1674000"/>
            <a:ext cx="1282402"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Net Sales Trends</a:t>
            </a:r>
            <a:endParaRPr lang="ja-JP" altLang="en-US" sz="1200" dirty="0">
              <a:solidFill>
                <a:srgbClr val="142FA4"/>
              </a:solidFill>
              <a:latin typeface="Poppins Medium" pitchFamily="2" charset="0"/>
              <a:ea typeface="M PLUS 1p Medium" panose="020B0502020203020207" pitchFamily="34" charset="-128"/>
              <a:cs typeface="Poppins Medium" pitchFamily="2" charset="0"/>
            </a:endParaRPr>
          </a:p>
        </p:txBody>
      </p:sp>
      <p:grpSp>
        <p:nvGrpSpPr>
          <p:cNvPr id="22" name="グループ化 21">
            <a:extLst>
              <a:ext uri="{FF2B5EF4-FFF2-40B4-BE49-F238E27FC236}">
                <a16:creationId xmlns:a16="http://schemas.microsoft.com/office/drawing/2014/main" id="{B1525D9D-7A52-7645-1485-D3A861C7DF97}"/>
              </a:ext>
            </a:extLst>
          </p:cNvPr>
          <p:cNvGrpSpPr/>
          <p:nvPr>
            <p:custDataLst>
              <p:custData r:id="rId1"/>
            </p:custDataLst>
          </p:nvPr>
        </p:nvGrpSpPr>
        <p:grpSpPr>
          <a:xfrm>
            <a:off x="4663278" y="2002859"/>
            <a:ext cx="1424367" cy="935474"/>
            <a:chOff x="10194648" y="3154886"/>
            <a:chExt cx="1424367" cy="935474"/>
          </a:xfrm>
        </p:grpSpPr>
        <p:sp>
          <p:nvSpPr>
            <p:cNvPr id="23" name="楕円 19">
              <a:extLst>
                <a:ext uri="{FF2B5EF4-FFF2-40B4-BE49-F238E27FC236}">
                  <a16:creationId xmlns:a16="http://schemas.microsoft.com/office/drawing/2014/main" id="{7E272FBF-A54D-8473-06B4-20E78739B279}"/>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24" name="テキスト ボックス 23">
              <a:extLst>
                <a:ext uri="{FF2B5EF4-FFF2-40B4-BE49-F238E27FC236}">
                  <a16:creationId xmlns:a16="http://schemas.microsoft.com/office/drawing/2014/main" id="{9C58D8F8-F68E-5AEA-E50F-68C7A7B70A12}"/>
                </a:ext>
              </a:extLst>
            </p:cNvPr>
            <p:cNvSpPr txBox="1"/>
            <p:nvPr/>
          </p:nvSpPr>
          <p:spPr>
            <a:xfrm>
              <a:off x="10194648" y="3261616"/>
              <a:ext cx="1424367" cy="738664"/>
            </a:xfrm>
            <a:prstGeom prst="rect">
              <a:avLst/>
            </a:prstGeom>
            <a:noFill/>
          </p:spPr>
          <p:txBody>
            <a:bodyPr wrap="square" rtlCol="0">
              <a:spAutoFit/>
            </a:bodyPr>
            <a:lstStyle/>
            <a:p>
              <a:pPr lvl="0" algn="ctr" defTabSz="457178">
                <a:defRPr/>
              </a:pPr>
              <a:r>
                <a:rPr kumimoji="0"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Solutions</a:t>
              </a:r>
              <a:r>
                <a:rPr kumimoji="0"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 </a:t>
              </a:r>
              <a:r>
                <a:rPr kumimoji="0"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Segment</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400" b="1"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a:t>
              </a:r>
              <a:r>
                <a:rPr kumimoji="0" lang="en-US" altLang="ja-JP" sz="2400" b="1" dirty="0">
                  <a:solidFill>
                    <a:srgbClr val="142FA4"/>
                  </a:solidFill>
                  <a:latin typeface="Poppins SemiBold" pitchFamily="2" charset="0"/>
                  <a:cs typeface="Poppins SemiBold" pitchFamily="2" charset="0"/>
                </a:rPr>
                <a:t>29.9</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26" name="グループ化 25">
            <a:extLst>
              <a:ext uri="{FF2B5EF4-FFF2-40B4-BE49-F238E27FC236}">
                <a16:creationId xmlns:a16="http://schemas.microsoft.com/office/drawing/2014/main" id="{2EDABDFF-6848-7B41-D2A4-F6DFE566062F}"/>
              </a:ext>
            </a:extLst>
          </p:cNvPr>
          <p:cNvGrpSpPr/>
          <p:nvPr>
            <p:custDataLst>
              <p:custData r:id="rId2"/>
            </p:custDataLst>
          </p:nvPr>
        </p:nvGrpSpPr>
        <p:grpSpPr>
          <a:xfrm>
            <a:off x="3547587" y="2002859"/>
            <a:ext cx="1306676" cy="935474"/>
            <a:chOff x="10258879" y="2122498"/>
            <a:chExt cx="1306676" cy="935474"/>
          </a:xfrm>
        </p:grpSpPr>
        <p:sp>
          <p:nvSpPr>
            <p:cNvPr id="27" name="楕円 19">
              <a:extLst>
                <a:ext uri="{FF2B5EF4-FFF2-40B4-BE49-F238E27FC236}">
                  <a16:creationId xmlns:a16="http://schemas.microsoft.com/office/drawing/2014/main" id="{D6570A2F-03EF-63EE-E55C-08A3E4BED8FB}"/>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32" name="テキスト ボックス 31">
              <a:extLst>
                <a:ext uri="{FF2B5EF4-FFF2-40B4-BE49-F238E27FC236}">
                  <a16:creationId xmlns:a16="http://schemas.microsoft.com/office/drawing/2014/main" id="{34AEE570-33FA-ACD0-869D-A6C130931F59}"/>
                </a:ext>
              </a:extLst>
            </p:cNvPr>
            <p:cNvSpPr txBox="1"/>
            <p:nvPr/>
          </p:nvSpPr>
          <p:spPr>
            <a:xfrm>
              <a:off x="10258879" y="2229228"/>
              <a:ext cx="1306676" cy="738664"/>
            </a:xfrm>
            <a:prstGeom prst="rect">
              <a:avLst/>
            </a:prstGeom>
            <a:noFill/>
          </p:spPr>
          <p:txBody>
            <a:bodyPr wrap="square" rtlCol="0">
              <a:spAutoFit/>
            </a:bodyPr>
            <a:lstStyle/>
            <a:p>
              <a:pPr lvl="0" algn="ctr" defTabSz="457178">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Mobile Segment</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+21.9</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18" name="グループ化 17">
            <a:extLst>
              <a:ext uri="{FF2B5EF4-FFF2-40B4-BE49-F238E27FC236}">
                <a16:creationId xmlns:a16="http://schemas.microsoft.com/office/drawing/2014/main" id="{0E9E20B5-9304-FFE9-8A07-FC1520DA6A12}"/>
              </a:ext>
            </a:extLst>
          </p:cNvPr>
          <p:cNvGrpSpPr/>
          <p:nvPr>
            <p:custDataLst>
              <p:custData r:id="rId3"/>
            </p:custDataLst>
          </p:nvPr>
        </p:nvGrpSpPr>
        <p:grpSpPr>
          <a:xfrm>
            <a:off x="9356288" y="1989779"/>
            <a:ext cx="1306676" cy="935474"/>
            <a:chOff x="10258879" y="2122498"/>
            <a:chExt cx="1306676" cy="935474"/>
          </a:xfrm>
        </p:grpSpPr>
        <p:sp>
          <p:nvSpPr>
            <p:cNvPr id="45" name="楕円 19">
              <a:extLst>
                <a:ext uri="{FF2B5EF4-FFF2-40B4-BE49-F238E27FC236}">
                  <a16:creationId xmlns:a16="http://schemas.microsoft.com/office/drawing/2014/main" id="{0A04CFA4-D5F7-1525-DE6A-D785B20C7638}"/>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46" name="テキスト ボックス 45">
              <a:extLst>
                <a:ext uri="{FF2B5EF4-FFF2-40B4-BE49-F238E27FC236}">
                  <a16:creationId xmlns:a16="http://schemas.microsoft.com/office/drawing/2014/main" id="{2B4E869F-AF9A-D123-E003-D5ECCDF54068}"/>
                </a:ext>
              </a:extLst>
            </p:cNvPr>
            <p:cNvSpPr txBox="1"/>
            <p:nvPr/>
          </p:nvSpPr>
          <p:spPr>
            <a:xfrm>
              <a:off x="10258879" y="2229228"/>
              <a:ext cx="1306676"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Mobile</a:t>
              </a:r>
              <a:r>
                <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 </a:t>
              </a: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Segment</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+13.1</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19" name="グループ化 18">
            <a:extLst>
              <a:ext uri="{FF2B5EF4-FFF2-40B4-BE49-F238E27FC236}">
                <a16:creationId xmlns:a16="http://schemas.microsoft.com/office/drawing/2014/main" id="{CA17574C-C102-2842-8A43-4877A6D67FB3}"/>
              </a:ext>
            </a:extLst>
          </p:cNvPr>
          <p:cNvGrpSpPr/>
          <p:nvPr>
            <p:custDataLst>
              <p:custData r:id="rId4"/>
            </p:custDataLst>
          </p:nvPr>
        </p:nvGrpSpPr>
        <p:grpSpPr>
          <a:xfrm>
            <a:off x="10480132" y="2002859"/>
            <a:ext cx="1416214" cy="935474"/>
            <a:chOff x="10199469" y="3154886"/>
            <a:chExt cx="1416214" cy="935474"/>
          </a:xfrm>
        </p:grpSpPr>
        <p:sp>
          <p:nvSpPr>
            <p:cNvPr id="20" name="楕円 19">
              <a:extLst>
                <a:ext uri="{FF2B5EF4-FFF2-40B4-BE49-F238E27FC236}">
                  <a16:creationId xmlns:a16="http://schemas.microsoft.com/office/drawing/2014/main" id="{F4138C5D-C541-B68F-0C81-6A4E9F1FD20D}"/>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21" name="テキスト ボックス 20">
              <a:extLst>
                <a:ext uri="{FF2B5EF4-FFF2-40B4-BE49-F238E27FC236}">
                  <a16:creationId xmlns:a16="http://schemas.microsoft.com/office/drawing/2014/main" id="{7CB4A57C-AE55-9D11-9E61-03EF02270E9D}"/>
                </a:ext>
              </a:extLst>
            </p:cNvPr>
            <p:cNvSpPr txBox="1"/>
            <p:nvPr/>
          </p:nvSpPr>
          <p:spPr>
            <a:xfrm>
              <a:off x="10199469" y="3261616"/>
              <a:ext cx="1416214"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Solutions</a:t>
              </a:r>
              <a:r>
                <a:rPr kumimoji="0"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 </a:t>
              </a:r>
              <a:r>
                <a:rPr kumimoji="0"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Segment</a:t>
              </a:r>
              <a:endParaRPr kumimoji="0" lang="en-US" altLang="ja-JP"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a:t>
              </a:r>
              <a:r>
                <a:rPr kumimoji="0" lang="en-US" altLang="ja-JP" sz="2400" b="1" dirty="0">
                  <a:solidFill>
                    <a:srgbClr val="142FA4"/>
                  </a:solidFill>
                  <a:latin typeface="Poppins SemiBold" pitchFamily="2" charset="0"/>
                  <a:cs typeface="Poppins SemiBold" pitchFamily="2" charset="0"/>
                </a:rPr>
                <a:t>20.3</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sp>
        <p:nvSpPr>
          <p:cNvPr id="28" name="テキスト ボックス 27">
            <a:extLst>
              <a:ext uri="{FF2B5EF4-FFF2-40B4-BE49-F238E27FC236}">
                <a16:creationId xmlns:a16="http://schemas.microsoft.com/office/drawing/2014/main" id="{0B11F8F8-8B6F-A0B5-6DD0-FD27105DB441}"/>
              </a:ext>
            </a:extLst>
          </p:cNvPr>
          <p:cNvSpPr txBox="1"/>
          <p:nvPr/>
        </p:nvSpPr>
        <p:spPr>
          <a:xfrm>
            <a:off x="536552" y="1755165"/>
            <a:ext cx="1124026" cy="215444"/>
          </a:xfrm>
          <a:prstGeom prst="rect">
            <a:avLst/>
          </a:prstGeom>
          <a:noFill/>
        </p:spPr>
        <p:txBody>
          <a:bodyPr wrap="non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kumimoji="1" lang="en-US" altLang="ja-JP" sz="800" dirty="0">
                <a:solidFill>
                  <a:srgbClr val="142FA4"/>
                </a:solidFill>
                <a:latin typeface="Poppins" pitchFamily="2" charset="0"/>
                <a:ea typeface="M PLUS 1p" panose="020B0502020203020207" pitchFamily="34" charset="-128"/>
                <a:cs typeface="Poppins" pitchFamily="2" charset="0"/>
              </a:rPr>
              <a:t>m</a:t>
            </a:r>
            <a:r>
              <a:rPr lang="en-US" altLang="ja-JP" sz="800" dirty="0">
                <a:solidFill>
                  <a:srgbClr val="142FA4"/>
                </a:solidFill>
                <a:latin typeface="Poppins" pitchFamily="2" charset="0"/>
                <a:ea typeface="M PLUS 1p" panose="020B0502020203020207" pitchFamily="34" charset="-128"/>
                <a:cs typeface="Poppins" pitchFamily="2" charset="0"/>
              </a:rPr>
              <a:t>illions</a:t>
            </a:r>
            <a:r>
              <a:rPr lang="ja-JP" altLang="en-US" sz="800" dirty="0">
                <a:solidFill>
                  <a:srgbClr val="142FA4"/>
                </a:solidFill>
                <a:latin typeface="Poppins" pitchFamily="2" charset="0"/>
                <a:ea typeface="M PLUS 1p" panose="020B0502020203020207" pitchFamily="34" charset="-128"/>
                <a:cs typeface="Poppins" pitchFamily="2" charset="0"/>
              </a:rPr>
              <a:t> </a:t>
            </a:r>
            <a:r>
              <a:rPr lang="en-US" altLang="ja-JP" sz="800" dirty="0">
                <a:solidFill>
                  <a:srgbClr val="142FA4"/>
                </a:solidFill>
                <a:latin typeface="Poppins" pitchFamily="2" charset="0"/>
                <a:ea typeface="M PLUS 1p" panose="020B0502020203020207" pitchFamily="34" charset="-128"/>
                <a:cs typeface="Poppins" pitchFamily="2" charset="0"/>
              </a:rPr>
              <a:t>of</a:t>
            </a:r>
            <a:r>
              <a:rPr lang="ja-JP" altLang="en-US" sz="800" dirty="0">
                <a:solidFill>
                  <a:srgbClr val="142FA4"/>
                </a:solidFill>
                <a:latin typeface="Poppins" pitchFamily="2" charset="0"/>
                <a:ea typeface="M PLUS 1p" panose="020B0502020203020207" pitchFamily="34" charset="-128"/>
                <a:cs typeface="Poppins" pitchFamily="2" charset="0"/>
              </a:rPr>
              <a:t> </a:t>
            </a:r>
            <a:r>
              <a:rPr lang="en-US" altLang="ja-JP" sz="800" dirty="0">
                <a:solidFill>
                  <a:srgbClr val="142FA4"/>
                </a:solidFill>
                <a:latin typeface="Poppins" pitchFamily="2" charset="0"/>
                <a:ea typeface="M PLUS 1p" panose="020B0502020203020207" pitchFamily="34" charset="-128"/>
                <a:cs typeface="Poppins" pitchFamily="2" charset="0"/>
              </a:rPr>
              <a:t>yen</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29" name="テキスト ボックス 28">
            <a:extLst>
              <a:ext uri="{FF2B5EF4-FFF2-40B4-BE49-F238E27FC236}">
                <a16:creationId xmlns:a16="http://schemas.microsoft.com/office/drawing/2014/main" id="{28ACFE00-333C-5DB5-1186-D02575744484}"/>
              </a:ext>
            </a:extLst>
          </p:cNvPr>
          <p:cNvSpPr txBox="1"/>
          <p:nvPr/>
        </p:nvSpPr>
        <p:spPr>
          <a:xfrm>
            <a:off x="6209347" y="1755165"/>
            <a:ext cx="1124026" cy="215444"/>
          </a:xfrm>
          <a:prstGeom prst="rect">
            <a:avLst/>
          </a:prstGeom>
          <a:noFill/>
        </p:spPr>
        <p:txBody>
          <a:bodyPr wrap="none" rtlCol="0">
            <a:spAutoFit/>
          </a:bodyPr>
          <a:lstStyle/>
          <a:p>
            <a:pPr defTabSz="457178">
              <a:defRPr/>
            </a:pPr>
            <a:r>
              <a:rPr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a:t>
            </a:r>
            <a:r>
              <a:rPr lang="ja-JP" altLang="en-US" sz="800" dirty="0">
                <a:solidFill>
                  <a:srgbClr val="142FA4"/>
                </a:solidFill>
                <a:latin typeface="Poppins" pitchFamily="2" charset="0"/>
                <a:ea typeface="M PLUS 1p" panose="020B0502020203020207" pitchFamily="34" charset="-128"/>
                <a:cs typeface="Poppins" pitchFamily="2" charset="0"/>
              </a:rPr>
              <a:t> </a:t>
            </a:r>
            <a:r>
              <a:rPr lang="en-US" altLang="ja-JP" sz="800" dirty="0">
                <a:solidFill>
                  <a:srgbClr val="142FA4"/>
                </a:solidFill>
                <a:latin typeface="Poppins" pitchFamily="2" charset="0"/>
                <a:ea typeface="M PLUS 1p" panose="020B0502020203020207" pitchFamily="34" charset="-128"/>
                <a:cs typeface="Poppins" pitchFamily="2" charset="0"/>
              </a:rPr>
              <a:t>of</a:t>
            </a:r>
            <a:r>
              <a:rPr lang="ja-JP" altLang="en-US" sz="800" dirty="0">
                <a:solidFill>
                  <a:srgbClr val="142FA4"/>
                </a:solidFill>
                <a:latin typeface="Poppins" pitchFamily="2" charset="0"/>
                <a:ea typeface="M PLUS 1p" panose="020B0502020203020207" pitchFamily="34" charset="-128"/>
                <a:cs typeface="Poppins" pitchFamily="2" charset="0"/>
              </a:rPr>
              <a:t> </a:t>
            </a:r>
            <a:r>
              <a:rPr lang="en-US" altLang="ja-JP" sz="800" dirty="0">
                <a:solidFill>
                  <a:srgbClr val="142FA4"/>
                </a:solidFill>
                <a:latin typeface="Poppins" pitchFamily="2" charset="0"/>
                <a:ea typeface="M PLUS 1p" panose="020B0502020203020207" pitchFamily="34" charset="-128"/>
                <a:cs typeface="Poppins" pitchFamily="2" charset="0"/>
              </a:rPr>
              <a:t>yen</a:t>
            </a:r>
            <a:r>
              <a:rPr lang="ja-JP" altLang="en-US" sz="800" dirty="0">
                <a:solidFill>
                  <a:srgbClr val="142FA4"/>
                </a:solidFill>
                <a:latin typeface="Poppins" pitchFamily="2" charset="0"/>
                <a:ea typeface="M PLUS 1p" panose="020B0502020203020207" pitchFamily="34" charset="-128"/>
                <a:cs typeface="Poppins" pitchFamily="2" charset="0"/>
              </a:rPr>
              <a:t>）</a:t>
            </a:r>
          </a:p>
        </p:txBody>
      </p:sp>
      <p:cxnSp>
        <p:nvCxnSpPr>
          <p:cNvPr id="38" name="直線コネクタ 37">
            <a:extLst>
              <a:ext uri="{FF2B5EF4-FFF2-40B4-BE49-F238E27FC236}">
                <a16:creationId xmlns:a16="http://schemas.microsoft.com/office/drawing/2014/main" id="{9D10573B-2DA2-E8C1-416A-157E62CA0A1B}"/>
              </a:ext>
            </a:extLst>
          </p:cNvPr>
          <p:cNvCxnSpPr>
            <a:cxnSpLocks/>
          </p:cNvCxnSpPr>
          <p:nvPr/>
        </p:nvCxnSpPr>
        <p:spPr>
          <a:xfrm>
            <a:off x="6096000" y="1751272"/>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93" name="直線コネクタ 192">
            <a:extLst>
              <a:ext uri="{FF2B5EF4-FFF2-40B4-BE49-F238E27FC236}">
                <a16:creationId xmlns:a16="http://schemas.microsoft.com/office/drawing/2014/main" id="{B66C5AC8-C04F-41D0-2E88-5BBAE94487AC}"/>
              </a:ext>
            </a:extLst>
          </p:cNvPr>
          <p:cNvCxnSpPr>
            <a:cxnSpLocks/>
          </p:cNvCxnSpPr>
          <p:nvPr/>
        </p:nvCxnSpPr>
        <p:spPr>
          <a:xfrm flipH="1">
            <a:off x="563596" y="5749676"/>
            <a:ext cx="5279992"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7" name="テキスト プレースホルダー 6">
            <a:extLst>
              <a:ext uri="{FF2B5EF4-FFF2-40B4-BE49-F238E27FC236}">
                <a16:creationId xmlns:a16="http://schemas.microsoft.com/office/drawing/2014/main" id="{29BAA015-B83D-AEC9-6D91-39806FC28443}"/>
              </a:ext>
            </a:extLst>
          </p:cNvPr>
          <p:cNvSpPr>
            <a:spLocks noGrp="1"/>
          </p:cNvSpPr>
          <p:nvPr>
            <p:ph type="body" sz="quarter" idx="21"/>
          </p:nvPr>
        </p:nvSpPr>
        <p:spPr>
          <a:xfrm>
            <a:off x="5554111" y="6216204"/>
            <a:ext cx="6179380" cy="519492"/>
          </a:xfrm>
        </p:spPr>
        <p:txBody>
          <a:bodyPr>
            <a:noAutofit/>
          </a:bodyPr>
          <a:lstStyle/>
          <a:p>
            <a:r>
              <a:rPr lang="en" altLang="ja-JP" dirty="0"/>
              <a:t>* Consolidated financial statements have been applied since FY2025. The profit and loss of Techno-Speech, Inc. has been consolidated </a:t>
            </a:r>
          </a:p>
          <a:p>
            <a:r>
              <a:rPr lang="en" altLang="ja-JP" dirty="0"/>
              <a:t>   from April 1, 2025, and the profit and loss of Zeroichi Start Inc. has been consolidated from January 1, 2026</a:t>
            </a:r>
          </a:p>
          <a:p>
            <a:r>
              <a:rPr lang="en" altLang="ja-JP" dirty="0"/>
              <a:t>* For convenience, VoiSona sales include sales for CeVIO in the same B2C area, as well as from the production of voice libraries for VoiSona and CeVIO</a:t>
            </a:r>
          </a:p>
          <a:p>
            <a:pPr marL="53975" indent="-53975"/>
            <a:r>
              <a:rPr lang="en-US" altLang="ja-JP" dirty="0"/>
              <a:t>* Regarding the purchase price allocation (PPA) for the acquisition of Techno-Speech, Inc., figures as of FY2025 Q2 were disclosed based on provisional accounting treatment; following the finalization of the PPA, the figures have been retroactively restated to reflect the finalized accounting treatment</a:t>
            </a:r>
          </a:p>
        </p:txBody>
      </p:sp>
    </p:spTree>
    <p:extLst>
      <p:ext uri="{BB962C8B-B14F-4D97-AF65-F5344CB8AC3E}">
        <p14:creationId xmlns:p14="http://schemas.microsoft.com/office/powerpoint/2010/main" val="39764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グラフ 1">
            <a:extLst>
              <a:ext uri="{FF2B5EF4-FFF2-40B4-BE49-F238E27FC236}">
                <a16:creationId xmlns:a16="http://schemas.microsoft.com/office/drawing/2014/main" id="{7E750186-E019-FC63-4A5A-93FC8F90DC8C}"/>
              </a:ext>
            </a:extLst>
          </p:cNvPr>
          <p:cNvGraphicFramePr/>
          <p:nvPr>
            <p:extLst>
              <p:ext uri="{D42A27DB-BD31-4B8C-83A1-F6EECF244321}">
                <p14:modId xmlns:p14="http://schemas.microsoft.com/office/powerpoint/2010/main" val="2990482225"/>
              </p:ext>
            </p:extLst>
          </p:nvPr>
        </p:nvGraphicFramePr>
        <p:xfrm>
          <a:off x="-1" y="1707759"/>
          <a:ext cx="6520540" cy="3736077"/>
        </p:xfrm>
        <a:graphic>
          <a:graphicData uri="http://schemas.openxmlformats.org/drawingml/2006/chart">
            <c:chart xmlns:c="http://schemas.openxmlformats.org/drawingml/2006/chart" xmlns:r="http://schemas.openxmlformats.org/officeDocument/2006/relationships" r:id="rId5"/>
          </a:graphicData>
        </a:graphic>
      </p:graphicFrame>
      <p:grpSp>
        <p:nvGrpSpPr>
          <p:cNvPr id="20" name="グループ化 19">
            <a:extLst>
              <a:ext uri="{FF2B5EF4-FFF2-40B4-BE49-F238E27FC236}">
                <a16:creationId xmlns:a16="http://schemas.microsoft.com/office/drawing/2014/main" id="{907FBDB7-4019-3069-3615-0C451881775C}"/>
              </a:ext>
            </a:extLst>
          </p:cNvPr>
          <p:cNvGrpSpPr/>
          <p:nvPr>
            <p:custDataLst>
              <p:custData r:id="rId1"/>
            </p:custDataLst>
          </p:nvPr>
        </p:nvGrpSpPr>
        <p:grpSpPr>
          <a:xfrm>
            <a:off x="3547587" y="1974283"/>
            <a:ext cx="2481742" cy="968504"/>
            <a:chOff x="3547587" y="3673623"/>
            <a:chExt cx="2481742" cy="968504"/>
          </a:xfrm>
        </p:grpSpPr>
        <p:grpSp>
          <p:nvGrpSpPr>
            <p:cNvPr id="11" name="グループ化 10">
              <a:extLst>
                <a:ext uri="{FF2B5EF4-FFF2-40B4-BE49-F238E27FC236}">
                  <a16:creationId xmlns:a16="http://schemas.microsoft.com/office/drawing/2014/main" id="{4831514F-2CC8-9468-7292-7DE060195C74}"/>
                </a:ext>
              </a:extLst>
            </p:cNvPr>
            <p:cNvGrpSpPr/>
            <p:nvPr/>
          </p:nvGrpSpPr>
          <p:grpSpPr>
            <a:xfrm>
              <a:off x="3547587" y="3673623"/>
              <a:ext cx="1306676" cy="968504"/>
              <a:chOff x="10258879" y="3154886"/>
              <a:chExt cx="1306676" cy="968504"/>
            </a:xfrm>
          </p:grpSpPr>
          <p:sp>
            <p:nvSpPr>
              <p:cNvPr id="12" name="楕円 19">
                <a:extLst>
                  <a:ext uri="{FF2B5EF4-FFF2-40B4-BE49-F238E27FC236}">
                    <a16:creationId xmlns:a16="http://schemas.microsoft.com/office/drawing/2014/main" id="{5C88E3B1-7059-FFDD-2D6D-55DA3B56BDD8}"/>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3" name="テキスト ボックス 12">
                <a:extLst>
                  <a:ext uri="{FF2B5EF4-FFF2-40B4-BE49-F238E27FC236}">
                    <a16:creationId xmlns:a16="http://schemas.microsoft.com/office/drawing/2014/main" id="{60A86905-4918-4B18-231B-401FF8213DCE}"/>
                  </a:ext>
                </a:extLst>
              </p:cNvPr>
              <p:cNvSpPr txBox="1"/>
              <p:nvPr/>
            </p:nvSpPr>
            <p:spPr>
              <a:xfrm>
                <a:off x="10258879" y="3261616"/>
                <a:ext cx="1306676" cy="86177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Subscription Billing Sales</a:t>
                </a:r>
                <a:endParaRPr kumimoji="0" lang="en-US" altLang="ja-JP"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+66.4</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14" name="グループ化 13">
              <a:extLst>
                <a:ext uri="{FF2B5EF4-FFF2-40B4-BE49-F238E27FC236}">
                  <a16:creationId xmlns:a16="http://schemas.microsoft.com/office/drawing/2014/main" id="{A094CF6B-1BCF-99C1-1591-36017E69E5BB}"/>
                </a:ext>
              </a:extLst>
            </p:cNvPr>
            <p:cNvGrpSpPr/>
            <p:nvPr/>
          </p:nvGrpSpPr>
          <p:grpSpPr>
            <a:xfrm>
              <a:off x="4722653" y="3673623"/>
              <a:ext cx="1306676" cy="968504"/>
              <a:chOff x="10258879" y="2122498"/>
              <a:chExt cx="1306676" cy="968504"/>
            </a:xfrm>
          </p:grpSpPr>
          <p:sp>
            <p:nvSpPr>
              <p:cNvPr id="16" name="楕円 19">
                <a:extLst>
                  <a:ext uri="{FF2B5EF4-FFF2-40B4-BE49-F238E27FC236}">
                    <a16:creationId xmlns:a16="http://schemas.microsoft.com/office/drawing/2014/main" id="{74B19310-078A-86A0-65D2-56C4A1EF8166}"/>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9" name="テキスト ボックス 18">
                <a:extLst>
                  <a:ext uri="{FF2B5EF4-FFF2-40B4-BE49-F238E27FC236}">
                    <a16:creationId xmlns:a16="http://schemas.microsoft.com/office/drawing/2014/main" id="{5BF13941-91F6-094D-EDD6-F9823E5D3CBF}"/>
                  </a:ext>
                </a:extLst>
              </p:cNvPr>
              <p:cNvSpPr txBox="1"/>
              <p:nvPr/>
            </p:nvSpPr>
            <p:spPr>
              <a:xfrm>
                <a:off x="10258879" y="2229228"/>
                <a:ext cx="1306676" cy="861774"/>
              </a:xfrm>
              <a:prstGeom prst="rect">
                <a:avLst/>
              </a:prstGeom>
              <a:noFill/>
            </p:spPr>
            <p:txBody>
              <a:bodyPr wrap="square" rtlCol="0">
                <a:spAutoFit/>
              </a:bodyPr>
              <a:lstStyle/>
              <a:p>
                <a:pPr lvl="0" algn="ctr" defTabSz="457178">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In-App</a:t>
                </a:r>
                <a:r>
                  <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 </a:t>
                </a: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Advertising Sales</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000" b="1" dirty="0">
                    <a:solidFill>
                      <a:srgbClr val="142FA4"/>
                    </a:solidFill>
                    <a:latin typeface="Poppins SemiBold" pitchFamily="2" charset="0"/>
                    <a:cs typeface="Poppins SemiBold" pitchFamily="2" charset="0"/>
                  </a:rPr>
                  <a:t>-</a:t>
                </a:r>
                <a:r>
                  <a:rPr kumimoji="0" lang="en-US" altLang="ja-JP" sz="2400" b="1" dirty="0">
                    <a:solidFill>
                      <a:srgbClr val="142FA4"/>
                    </a:solidFill>
                    <a:latin typeface="Poppins SemiBold" pitchFamily="2" charset="0"/>
                    <a:cs typeface="Poppins SemiBold" pitchFamily="2" charset="0"/>
                  </a:rPr>
                  <a:t>11.6</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sp>
        <p:nvSpPr>
          <p:cNvPr id="3" name="テキスト プレースホルダー 2">
            <a:extLst>
              <a:ext uri="{FF2B5EF4-FFF2-40B4-BE49-F238E27FC236}">
                <a16:creationId xmlns:a16="http://schemas.microsoft.com/office/drawing/2014/main" id="{5BCDAE21-8AC5-C70E-5770-6EFBE0364ADF}"/>
              </a:ext>
            </a:extLst>
          </p:cNvPr>
          <p:cNvSpPr>
            <a:spLocks noGrp="1"/>
          </p:cNvSpPr>
          <p:nvPr>
            <p:ph type="body" sz="quarter" idx="12"/>
          </p:nvPr>
        </p:nvSpPr>
        <p:spPr/>
        <p:txBody>
          <a:bodyPr>
            <a:normAutofit/>
          </a:bodyPr>
          <a:lstStyle/>
          <a:p>
            <a:r>
              <a:rPr lang="en-US" altLang="ja-JP" dirty="0"/>
              <a:t>Mobile Segment FY2026 Q2 Consolidated Financial Results</a:t>
            </a:r>
          </a:p>
        </p:txBody>
      </p:sp>
      <p:sp>
        <p:nvSpPr>
          <p:cNvPr id="9" name="タイトル 8">
            <a:extLst>
              <a:ext uri="{FF2B5EF4-FFF2-40B4-BE49-F238E27FC236}">
                <a16:creationId xmlns:a16="http://schemas.microsoft.com/office/drawing/2014/main" id="{39D2F81F-4159-A8AA-FF29-23AE966270B3}"/>
              </a:ext>
            </a:extLst>
          </p:cNvPr>
          <p:cNvSpPr>
            <a:spLocks noGrp="1"/>
          </p:cNvSpPr>
          <p:nvPr>
            <p:ph type="ctrTitle"/>
          </p:nvPr>
        </p:nvSpPr>
        <p:spPr/>
        <p:txBody>
          <a:bodyPr/>
          <a:lstStyle/>
          <a:p>
            <a:r>
              <a:rPr lang="en-US" altLang="ja-JP" dirty="0"/>
              <a:t>Subscription Billing Drove Quarterly Sales to a Record High</a:t>
            </a:r>
            <a:endParaRPr lang="ja-JP" altLang="en-US" sz="2400" dirty="0"/>
          </a:p>
        </p:txBody>
      </p:sp>
      <p:sp>
        <p:nvSpPr>
          <p:cNvPr id="21" name="テキスト プレースホルダー 20">
            <a:extLst>
              <a:ext uri="{FF2B5EF4-FFF2-40B4-BE49-F238E27FC236}">
                <a16:creationId xmlns:a16="http://schemas.microsoft.com/office/drawing/2014/main" id="{BA300EA3-2BD3-9565-F79D-331037F9DFE8}"/>
              </a:ext>
            </a:extLst>
          </p:cNvPr>
          <p:cNvSpPr>
            <a:spLocks noGrp="1"/>
          </p:cNvSpPr>
          <p:nvPr>
            <p:ph type="body" sz="quarter" idx="21"/>
          </p:nvPr>
        </p:nvSpPr>
        <p:spPr>
          <a:xfrm>
            <a:off x="6361873" y="6109200"/>
            <a:ext cx="6985273" cy="519492"/>
          </a:xfrm>
        </p:spPr>
        <p:txBody>
          <a:bodyPr/>
          <a:lstStyle/>
          <a:p>
            <a:r>
              <a:rPr lang="en" altLang="ja-JP" dirty="0"/>
              <a:t>* Consolidated financial statements have been applied since FY2025. The profit and loss of Techno-Speech, Inc. has been consolidated </a:t>
            </a:r>
          </a:p>
          <a:p>
            <a:r>
              <a:rPr lang="en" altLang="ja-JP" dirty="0"/>
              <a:t>   from April 1, 2025, and the profit and loss of Zeroichi Start Inc. has been consolidated from January 1, 2026</a:t>
            </a:r>
          </a:p>
          <a:p>
            <a:r>
              <a:rPr lang="en" altLang="ja-JP" dirty="0"/>
              <a:t>* Subscriptions on the left chart represent the total subscription billing sales of ibisPaint and BCS</a:t>
            </a:r>
            <a:endParaRPr lang="ja-JP" altLang="en-US" dirty="0"/>
          </a:p>
        </p:txBody>
      </p:sp>
      <p:sp>
        <p:nvSpPr>
          <p:cNvPr id="42" name="テキスト ボックス 41">
            <a:extLst>
              <a:ext uri="{FF2B5EF4-FFF2-40B4-BE49-F238E27FC236}">
                <a16:creationId xmlns:a16="http://schemas.microsoft.com/office/drawing/2014/main" id="{07E7A2D2-7C67-B5DA-DA69-D41CF3B9937B}"/>
              </a:ext>
            </a:extLst>
          </p:cNvPr>
          <p:cNvSpPr txBox="1"/>
          <p:nvPr/>
        </p:nvSpPr>
        <p:spPr>
          <a:xfrm>
            <a:off x="6262851" y="5397849"/>
            <a:ext cx="5240443" cy="851900"/>
          </a:xfrm>
          <a:prstGeom prst="rect">
            <a:avLst/>
          </a:prstGeom>
          <a:noFill/>
        </p:spPr>
        <p:txBody>
          <a:bodyPr wrap="square">
            <a:spAutoFit/>
          </a:bodyPr>
          <a:lstStyle/>
          <a:p>
            <a:pPr marL="119063" indent="-119063">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Additional advertising investment of 134 million</a:t>
            </a:r>
            <a:r>
              <a:rPr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yen above the company’s plan was made to expand recurring revenue from Q3 onward, resulting in segment profit declining 21.2% QoQ</a:t>
            </a:r>
          </a:p>
          <a:p>
            <a:pPr marL="119063" indent="-119063">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The new advertising investment model introduced in late December 2025 successfully drove growth in </a:t>
            </a:r>
            <a:r>
              <a:rPr lang="en-US" altLang="ja-JP" sz="800" dirty="0" err="1">
                <a:solidFill>
                  <a:srgbClr val="142FA4"/>
                </a:solidFill>
                <a:latin typeface="Poppins" panose="00000500000000000000" pitchFamily="2" charset="0"/>
                <a:ea typeface="M PLUS 1p" panose="020B0502020203020207" pitchFamily="34" charset="-128"/>
                <a:cs typeface="Poppins" panose="00000500000000000000" pitchFamily="2" charset="0"/>
              </a:rPr>
              <a:t>ibisPaint</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subscription billing users</a:t>
            </a:r>
          </a:p>
          <a:p>
            <a:pPr marL="119063" indent="-119063">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Gross profit margin improved by 1.2pts YoY</a:t>
            </a:r>
            <a:r>
              <a:rPr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to 85.9%, maintaining a high level</a:t>
            </a:r>
            <a:endPar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endParaRPr>
          </a:p>
        </p:txBody>
      </p:sp>
      <p:graphicFrame>
        <p:nvGraphicFramePr>
          <p:cNvPr id="4" name="グラフ 3">
            <a:extLst>
              <a:ext uri="{FF2B5EF4-FFF2-40B4-BE49-F238E27FC236}">
                <a16:creationId xmlns:a16="http://schemas.microsoft.com/office/drawing/2014/main" id="{B118A649-2CD1-EDE4-EFF9-318108B36440}"/>
              </a:ext>
            </a:extLst>
          </p:cNvPr>
          <p:cNvGraphicFramePr/>
          <p:nvPr>
            <p:extLst>
              <p:ext uri="{D42A27DB-BD31-4B8C-83A1-F6EECF244321}">
                <p14:modId xmlns:p14="http://schemas.microsoft.com/office/powerpoint/2010/main" val="2589453968"/>
              </p:ext>
            </p:extLst>
          </p:nvPr>
        </p:nvGraphicFramePr>
        <p:xfrm>
          <a:off x="5897720" y="1693012"/>
          <a:ext cx="6211154" cy="3736076"/>
        </p:xfrm>
        <a:graphic>
          <a:graphicData uri="http://schemas.openxmlformats.org/drawingml/2006/chart">
            <c:chart xmlns:c="http://schemas.openxmlformats.org/drawingml/2006/chart" xmlns:r="http://schemas.openxmlformats.org/officeDocument/2006/relationships" r:id="rId6"/>
          </a:graphicData>
        </a:graphic>
      </p:graphicFrame>
      <p:sp>
        <p:nvSpPr>
          <p:cNvPr id="43" name="テキスト ボックス 42">
            <a:extLst>
              <a:ext uri="{FF2B5EF4-FFF2-40B4-BE49-F238E27FC236}">
                <a16:creationId xmlns:a16="http://schemas.microsoft.com/office/drawing/2014/main" id="{BF62B1C2-0D19-106F-0A65-C8FFBCF799DC}"/>
              </a:ext>
            </a:extLst>
          </p:cNvPr>
          <p:cNvSpPr txBox="1"/>
          <p:nvPr/>
        </p:nvSpPr>
        <p:spPr>
          <a:xfrm>
            <a:off x="418973" y="5397849"/>
            <a:ext cx="5520137" cy="852028"/>
          </a:xfrm>
          <a:prstGeom prst="rect">
            <a:avLst/>
          </a:prstGeom>
          <a:noFill/>
        </p:spPr>
        <p:txBody>
          <a:bodyPr wrap="square">
            <a:spAutoFit/>
          </a:bodyPr>
          <a:lstStyle/>
          <a:p>
            <a:pPr marL="180975" indent="-180975">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Mobile segment sales totaled 850</a:t>
            </a:r>
            <a:r>
              <a:rPr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million yen </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(YoY +23.2%), expanding strongly</a:t>
            </a:r>
          </a:p>
          <a:p>
            <a:pPr marL="127000" indent="-127000">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Although in-app advertising sales decreased quarter on quarter, the weaker yen supported results, which came in above expectations. A solid trend is expected to continue from Q3 onward</a:t>
            </a:r>
          </a:p>
          <a:p>
            <a:pPr marL="127000" indent="-127000">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Subscription billing sales have surpassed in-app advertising sales since Q3 of the previous fiscal year and have become a stable sales pillar</a:t>
            </a:r>
            <a:endPar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endParaRPr>
          </a:p>
        </p:txBody>
      </p:sp>
      <p:sp>
        <p:nvSpPr>
          <p:cNvPr id="5" name="テキスト ボックス 4">
            <a:extLst>
              <a:ext uri="{FF2B5EF4-FFF2-40B4-BE49-F238E27FC236}">
                <a16:creationId xmlns:a16="http://schemas.microsoft.com/office/drawing/2014/main" id="{A0692DEC-F5F8-C1E7-50CC-7F5EE2B07E0A}"/>
              </a:ext>
            </a:extLst>
          </p:cNvPr>
          <p:cNvSpPr txBox="1"/>
          <p:nvPr/>
        </p:nvSpPr>
        <p:spPr>
          <a:xfrm>
            <a:off x="7090839" y="1674000"/>
            <a:ext cx="3555460"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Segment Profit and Gross Profit Margin Trends</a:t>
            </a:r>
          </a:p>
        </p:txBody>
      </p:sp>
      <p:sp>
        <p:nvSpPr>
          <p:cNvPr id="15" name="テキスト ボックス 14">
            <a:extLst>
              <a:ext uri="{FF2B5EF4-FFF2-40B4-BE49-F238E27FC236}">
                <a16:creationId xmlns:a16="http://schemas.microsoft.com/office/drawing/2014/main" id="{CBC50D0C-CD4B-DADA-9524-45E2E45E2D58}"/>
              </a:ext>
            </a:extLst>
          </p:cNvPr>
          <p:cNvSpPr txBox="1"/>
          <p:nvPr/>
        </p:nvSpPr>
        <p:spPr>
          <a:xfrm>
            <a:off x="1331699" y="1674000"/>
            <a:ext cx="3983463"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Sales by Category and Overseas Sales Ratio Trends</a:t>
            </a:r>
          </a:p>
        </p:txBody>
      </p:sp>
      <p:sp>
        <p:nvSpPr>
          <p:cNvPr id="17" name="テキスト ボックス 16">
            <a:extLst>
              <a:ext uri="{FF2B5EF4-FFF2-40B4-BE49-F238E27FC236}">
                <a16:creationId xmlns:a16="http://schemas.microsoft.com/office/drawing/2014/main" id="{75F4B8C6-BF65-E791-F04A-B9A26D938115}"/>
              </a:ext>
            </a:extLst>
          </p:cNvPr>
          <p:cNvSpPr txBox="1"/>
          <p:nvPr/>
        </p:nvSpPr>
        <p:spPr>
          <a:xfrm>
            <a:off x="518050" y="1956367"/>
            <a:ext cx="1124026" cy="215444"/>
          </a:xfrm>
          <a:prstGeom prst="rect">
            <a:avLst/>
          </a:prstGeom>
          <a:noFill/>
        </p:spPr>
        <p:txBody>
          <a:bodyPr wrap="non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kumimoji="1" lang="en-US" altLang="ja-JP" sz="800" dirty="0">
                <a:solidFill>
                  <a:srgbClr val="142FA4"/>
                </a:solidFill>
                <a:latin typeface="Poppins" pitchFamily="2" charset="0"/>
                <a:ea typeface="M PLUS 1p" panose="020B0502020203020207" pitchFamily="34" charset="-128"/>
                <a:cs typeface="Poppins" pitchFamily="2" charset="0"/>
              </a:rPr>
              <a:t>m</a:t>
            </a:r>
            <a:r>
              <a:rPr lang="en-US" altLang="ja-JP" sz="800" dirty="0">
                <a:solidFill>
                  <a:srgbClr val="142FA4"/>
                </a:solidFill>
                <a:latin typeface="Poppins" pitchFamily="2" charset="0"/>
                <a:ea typeface="M PLUS 1p" panose="020B0502020203020207" pitchFamily="34" charset="-128"/>
                <a:cs typeface="Poppins" pitchFamily="2" charset="0"/>
              </a:rPr>
              <a:t>illions of yen</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18" name="テキスト ボックス 17">
            <a:extLst>
              <a:ext uri="{FF2B5EF4-FFF2-40B4-BE49-F238E27FC236}">
                <a16:creationId xmlns:a16="http://schemas.microsoft.com/office/drawing/2014/main" id="{613D15DD-976D-BDBA-4B26-E62CB9D5C0E8}"/>
              </a:ext>
            </a:extLst>
          </p:cNvPr>
          <p:cNvSpPr txBox="1"/>
          <p:nvPr/>
        </p:nvSpPr>
        <p:spPr>
          <a:xfrm>
            <a:off x="6227609" y="1956367"/>
            <a:ext cx="1124026" cy="215444"/>
          </a:xfrm>
          <a:prstGeom prst="rect">
            <a:avLst/>
          </a:prstGeom>
          <a:noFill/>
        </p:spPr>
        <p:txBody>
          <a:bodyPr wrap="none" rtlCol="0">
            <a:spAutoFit/>
          </a:bodyPr>
          <a:lstStyle/>
          <a:p>
            <a:pPr defTabSz="457178">
              <a:defRPr/>
            </a:pPr>
            <a:r>
              <a:rPr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 of yen</a:t>
            </a:r>
            <a:r>
              <a:rPr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44" name="テキスト ボックス 43">
            <a:extLst>
              <a:ext uri="{FF2B5EF4-FFF2-40B4-BE49-F238E27FC236}">
                <a16:creationId xmlns:a16="http://schemas.microsoft.com/office/drawing/2014/main" id="{07D7B3CC-5B42-1C99-F3B1-D20B1443DC5A}"/>
              </a:ext>
            </a:extLst>
          </p:cNvPr>
          <p:cNvSpPr txBox="1"/>
          <p:nvPr/>
        </p:nvSpPr>
        <p:spPr>
          <a:xfrm>
            <a:off x="463605" y="5207419"/>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FY23</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45" name="テキスト ボックス 44">
            <a:extLst>
              <a:ext uri="{FF2B5EF4-FFF2-40B4-BE49-F238E27FC236}">
                <a16:creationId xmlns:a16="http://schemas.microsoft.com/office/drawing/2014/main" id="{BD48D269-631B-97A1-2CDF-545EFE31FD4E}"/>
              </a:ext>
            </a:extLst>
          </p:cNvPr>
          <p:cNvSpPr txBox="1"/>
          <p:nvPr/>
        </p:nvSpPr>
        <p:spPr>
          <a:xfrm>
            <a:off x="1803416" y="5207419"/>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FY24</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52" name="テキスト ボックス 51">
            <a:extLst>
              <a:ext uri="{FF2B5EF4-FFF2-40B4-BE49-F238E27FC236}">
                <a16:creationId xmlns:a16="http://schemas.microsoft.com/office/drawing/2014/main" id="{3D8FFD68-7D87-8B48-35B5-326434C724DA}"/>
              </a:ext>
            </a:extLst>
          </p:cNvPr>
          <p:cNvSpPr txBox="1"/>
          <p:nvPr/>
        </p:nvSpPr>
        <p:spPr>
          <a:xfrm>
            <a:off x="3578264" y="5207419"/>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FY25</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cxnSp>
        <p:nvCxnSpPr>
          <p:cNvPr id="59" name="直線コネクタ 58">
            <a:extLst>
              <a:ext uri="{FF2B5EF4-FFF2-40B4-BE49-F238E27FC236}">
                <a16:creationId xmlns:a16="http://schemas.microsoft.com/office/drawing/2014/main" id="{324C230E-845D-238E-0860-3701600FC926}"/>
              </a:ext>
            </a:extLst>
          </p:cNvPr>
          <p:cNvCxnSpPr>
            <a:cxnSpLocks/>
          </p:cNvCxnSpPr>
          <p:nvPr/>
        </p:nvCxnSpPr>
        <p:spPr>
          <a:xfrm>
            <a:off x="1444958" y="5097517"/>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60" name="直線コネクタ 59">
            <a:extLst>
              <a:ext uri="{FF2B5EF4-FFF2-40B4-BE49-F238E27FC236}">
                <a16:creationId xmlns:a16="http://schemas.microsoft.com/office/drawing/2014/main" id="{5E26D52A-2E33-5DDE-F6FF-FEBD58E8F40F}"/>
              </a:ext>
            </a:extLst>
          </p:cNvPr>
          <p:cNvCxnSpPr>
            <a:cxnSpLocks/>
          </p:cNvCxnSpPr>
          <p:nvPr/>
        </p:nvCxnSpPr>
        <p:spPr>
          <a:xfrm>
            <a:off x="3212490" y="5097517"/>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BD1FD6AD-44F2-84E5-55D4-104889848DCB}"/>
              </a:ext>
            </a:extLst>
          </p:cNvPr>
          <p:cNvCxnSpPr>
            <a:cxnSpLocks/>
          </p:cNvCxnSpPr>
          <p:nvPr/>
        </p:nvCxnSpPr>
        <p:spPr>
          <a:xfrm>
            <a:off x="4991189" y="5097517"/>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9D10573B-2DA2-E8C1-416A-157E62CA0A1B}"/>
              </a:ext>
            </a:extLst>
          </p:cNvPr>
          <p:cNvCxnSpPr>
            <a:cxnSpLocks/>
          </p:cNvCxnSpPr>
          <p:nvPr/>
        </p:nvCxnSpPr>
        <p:spPr>
          <a:xfrm>
            <a:off x="6096000" y="1751272"/>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62" name="テキスト ボックス 61">
            <a:extLst>
              <a:ext uri="{FF2B5EF4-FFF2-40B4-BE49-F238E27FC236}">
                <a16:creationId xmlns:a16="http://schemas.microsoft.com/office/drawing/2014/main" id="{CF6015D4-CF2A-AE48-305B-BA1FB946E44A}"/>
              </a:ext>
            </a:extLst>
          </p:cNvPr>
          <p:cNvSpPr txBox="1"/>
          <p:nvPr/>
        </p:nvSpPr>
        <p:spPr>
          <a:xfrm>
            <a:off x="6227663" y="51926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FY23</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63" name="テキスト ボックス 62">
            <a:extLst>
              <a:ext uri="{FF2B5EF4-FFF2-40B4-BE49-F238E27FC236}">
                <a16:creationId xmlns:a16="http://schemas.microsoft.com/office/drawing/2014/main" id="{E8F79D93-A4AE-76EE-E2BB-C4DD5D03F8A2}"/>
              </a:ext>
            </a:extLst>
          </p:cNvPr>
          <p:cNvSpPr txBox="1"/>
          <p:nvPr/>
        </p:nvSpPr>
        <p:spPr>
          <a:xfrm>
            <a:off x="7563127" y="51926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FY24</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64" name="テキスト ボックス 63">
            <a:extLst>
              <a:ext uri="{FF2B5EF4-FFF2-40B4-BE49-F238E27FC236}">
                <a16:creationId xmlns:a16="http://schemas.microsoft.com/office/drawing/2014/main" id="{6D14216F-6CA6-F31A-4759-3EC6DB8C7CC0}"/>
              </a:ext>
            </a:extLst>
          </p:cNvPr>
          <p:cNvSpPr txBox="1"/>
          <p:nvPr/>
        </p:nvSpPr>
        <p:spPr>
          <a:xfrm>
            <a:off x="9340834" y="51926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FY25</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grpSp>
        <p:nvGrpSpPr>
          <p:cNvPr id="7" name="グループ化 6">
            <a:extLst>
              <a:ext uri="{FF2B5EF4-FFF2-40B4-BE49-F238E27FC236}">
                <a16:creationId xmlns:a16="http://schemas.microsoft.com/office/drawing/2014/main" id="{5782FE16-2775-91FF-4284-0A8FE5B737B3}"/>
              </a:ext>
            </a:extLst>
          </p:cNvPr>
          <p:cNvGrpSpPr/>
          <p:nvPr>
            <p:custDataLst>
              <p:custData r:id="rId2"/>
            </p:custDataLst>
          </p:nvPr>
        </p:nvGrpSpPr>
        <p:grpSpPr>
          <a:xfrm>
            <a:off x="10480132" y="1974283"/>
            <a:ext cx="1416214" cy="935474"/>
            <a:chOff x="10199469" y="3154886"/>
            <a:chExt cx="1416214" cy="935474"/>
          </a:xfrm>
        </p:grpSpPr>
        <p:sp>
          <p:nvSpPr>
            <p:cNvPr id="8" name="楕円 19">
              <a:extLst>
                <a:ext uri="{FF2B5EF4-FFF2-40B4-BE49-F238E27FC236}">
                  <a16:creationId xmlns:a16="http://schemas.microsoft.com/office/drawing/2014/main" id="{6038E439-4EE8-8C40-4D77-DCD530A08D74}"/>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0" name="テキスト ボックス 9">
              <a:extLst>
                <a:ext uri="{FF2B5EF4-FFF2-40B4-BE49-F238E27FC236}">
                  <a16:creationId xmlns:a16="http://schemas.microsoft.com/office/drawing/2014/main" id="{2DA173BB-DA02-81BF-8B50-D162280641B0}"/>
                </a:ext>
              </a:extLst>
            </p:cNvPr>
            <p:cNvSpPr txBox="1"/>
            <p:nvPr/>
          </p:nvSpPr>
          <p:spPr>
            <a:xfrm>
              <a:off x="10199469" y="3261616"/>
              <a:ext cx="1416214"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Mobile Segment</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-0.2</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cxnSp>
        <p:nvCxnSpPr>
          <p:cNvPr id="110" name="直線コネクタ 109">
            <a:extLst>
              <a:ext uri="{FF2B5EF4-FFF2-40B4-BE49-F238E27FC236}">
                <a16:creationId xmlns:a16="http://schemas.microsoft.com/office/drawing/2014/main" id="{F830E3E2-4C62-7E98-7113-4E39F9163703}"/>
              </a:ext>
            </a:extLst>
          </p:cNvPr>
          <p:cNvCxnSpPr>
            <a:cxnSpLocks/>
          </p:cNvCxnSpPr>
          <p:nvPr/>
        </p:nvCxnSpPr>
        <p:spPr>
          <a:xfrm>
            <a:off x="7224392" y="5097517"/>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11" name="直線コネクタ 110">
            <a:extLst>
              <a:ext uri="{FF2B5EF4-FFF2-40B4-BE49-F238E27FC236}">
                <a16:creationId xmlns:a16="http://schemas.microsoft.com/office/drawing/2014/main" id="{4565DD5A-495A-B927-B180-B69AC782DB5B}"/>
              </a:ext>
            </a:extLst>
          </p:cNvPr>
          <p:cNvCxnSpPr>
            <a:cxnSpLocks/>
          </p:cNvCxnSpPr>
          <p:nvPr/>
        </p:nvCxnSpPr>
        <p:spPr>
          <a:xfrm>
            <a:off x="9002100" y="5097517"/>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12" name="直線コネクタ 111">
            <a:extLst>
              <a:ext uri="{FF2B5EF4-FFF2-40B4-BE49-F238E27FC236}">
                <a16:creationId xmlns:a16="http://schemas.microsoft.com/office/drawing/2014/main" id="{573B551F-1505-10F8-D618-DC782198D0ED}"/>
              </a:ext>
            </a:extLst>
          </p:cNvPr>
          <p:cNvCxnSpPr>
            <a:cxnSpLocks/>
          </p:cNvCxnSpPr>
          <p:nvPr/>
        </p:nvCxnSpPr>
        <p:spPr>
          <a:xfrm>
            <a:off x="10767749" y="5097517"/>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A7BB4C8F-8CA8-14A4-87AE-41A5BA842B1B}"/>
              </a:ext>
            </a:extLst>
          </p:cNvPr>
          <p:cNvSpPr txBox="1"/>
          <p:nvPr/>
        </p:nvSpPr>
        <p:spPr>
          <a:xfrm>
            <a:off x="4904212" y="5207419"/>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FY26</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26" name="テキスト ボックス 25">
            <a:extLst>
              <a:ext uri="{FF2B5EF4-FFF2-40B4-BE49-F238E27FC236}">
                <a16:creationId xmlns:a16="http://schemas.microsoft.com/office/drawing/2014/main" id="{C54D5E09-8F4A-6EF6-2971-3302B174DFC7}"/>
              </a:ext>
            </a:extLst>
          </p:cNvPr>
          <p:cNvSpPr txBox="1"/>
          <p:nvPr/>
        </p:nvSpPr>
        <p:spPr>
          <a:xfrm>
            <a:off x="10663983" y="5187538"/>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FY26</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Tree>
    <p:extLst>
      <p:ext uri="{BB962C8B-B14F-4D97-AF65-F5344CB8AC3E}">
        <p14:creationId xmlns:p14="http://schemas.microsoft.com/office/powerpoint/2010/main" val="1126657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グラフ 9">
            <a:extLst>
              <a:ext uri="{FF2B5EF4-FFF2-40B4-BE49-F238E27FC236}">
                <a16:creationId xmlns:a16="http://schemas.microsoft.com/office/drawing/2014/main" id="{500B49D9-762D-0AB7-FFE1-3F21378F7C73}"/>
              </a:ext>
            </a:extLst>
          </p:cNvPr>
          <p:cNvGraphicFramePr/>
          <p:nvPr>
            <p:extLst>
              <p:ext uri="{D42A27DB-BD31-4B8C-83A1-F6EECF244321}">
                <p14:modId xmlns:p14="http://schemas.microsoft.com/office/powerpoint/2010/main" val="4273182280"/>
              </p:ext>
            </p:extLst>
          </p:nvPr>
        </p:nvGraphicFramePr>
        <p:xfrm>
          <a:off x="-41132" y="1746793"/>
          <a:ext cx="5942929" cy="373607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 name="グラフ 5">
            <a:extLst>
              <a:ext uri="{FF2B5EF4-FFF2-40B4-BE49-F238E27FC236}">
                <a16:creationId xmlns:a16="http://schemas.microsoft.com/office/drawing/2014/main" id="{D36D7AD4-7CAF-5C6C-5D07-84739FAED4CB}"/>
              </a:ext>
            </a:extLst>
          </p:cNvPr>
          <p:cNvGraphicFramePr/>
          <p:nvPr>
            <p:extLst>
              <p:ext uri="{D42A27DB-BD31-4B8C-83A1-F6EECF244321}">
                <p14:modId xmlns:p14="http://schemas.microsoft.com/office/powerpoint/2010/main" val="118622816"/>
              </p:ext>
            </p:extLst>
          </p:nvPr>
        </p:nvGraphicFramePr>
        <p:xfrm>
          <a:off x="5918131" y="1775567"/>
          <a:ext cx="5865908" cy="3736800"/>
        </p:xfrm>
        <a:graphic>
          <a:graphicData uri="http://schemas.openxmlformats.org/drawingml/2006/chart">
            <c:chart xmlns:c="http://schemas.openxmlformats.org/drawingml/2006/chart" xmlns:r="http://schemas.openxmlformats.org/officeDocument/2006/relationships" r:id="rId7"/>
          </a:graphicData>
        </a:graphic>
      </p:graphicFrame>
      <p:sp>
        <p:nvSpPr>
          <p:cNvPr id="3" name="テキスト プレースホルダー 2">
            <a:extLst>
              <a:ext uri="{FF2B5EF4-FFF2-40B4-BE49-F238E27FC236}">
                <a16:creationId xmlns:a16="http://schemas.microsoft.com/office/drawing/2014/main" id="{5BCDAE21-8AC5-C70E-5770-6EFBE0364ADF}"/>
              </a:ext>
            </a:extLst>
          </p:cNvPr>
          <p:cNvSpPr>
            <a:spLocks noGrp="1"/>
          </p:cNvSpPr>
          <p:nvPr>
            <p:ph type="body" sz="quarter" idx="12"/>
          </p:nvPr>
        </p:nvSpPr>
        <p:spPr/>
        <p:txBody>
          <a:bodyPr>
            <a:normAutofit/>
          </a:bodyPr>
          <a:lstStyle/>
          <a:p>
            <a:r>
              <a:rPr lang="en-US" altLang="ja-JP" dirty="0"/>
              <a:t>Solutions Segment FY2026 Q2 Consolidated Financial Results</a:t>
            </a:r>
          </a:p>
        </p:txBody>
      </p:sp>
      <p:sp>
        <p:nvSpPr>
          <p:cNvPr id="9" name="タイトル 8">
            <a:extLst>
              <a:ext uri="{FF2B5EF4-FFF2-40B4-BE49-F238E27FC236}">
                <a16:creationId xmlns:a16="http://schemas.microsoft.com/office/drawing/2014/main" id="{39D2F81F-4159-A8AA-FF29-23AE966270B3}"/>
              </a:ext>
            </a:extLst>
          </p:cNvPr>
          <p:cNvSpPr>
            <a:spLocks noGrp="1"/>
          </p:cNvSpPr>
          <p:nvPr>
            <p:ph type="ctrTitle"/>
          </p:nvPr>
        </p:nvSpPr>
        <p:spPr/>
        <p:txBody>
          <a:bodyPr/>
          <a:lstStyle/>
          <a:p>
            <a:r>
              <a:rPr lang="en-US" altLang="ja-JP" dirty="0"/>
              <a:t>Sales Reached a Record High for 4 Consecutive Quarters;</a:t>
            </a:r>
            <a:br>
              <a:rPr lang="en-US" altLang="ja-JP" dirty="0"/>
            </a:br>
            <a:r>
              <a:rPr lang="en-US" altLang="ja-JP" dirty="0"/>
              <a:t>Gross Profit Margin Remained at a High Level</a:t>
            </a:r>
            <a:endParaRPr lang="ja-JP" altLang="en-US" sz="2400" dirty="0"/>
          </a:p>
        </p:txBody>
      </p:sp>
      <p:sp>
        <p:nvSpPr>
          <p:cNvPr id="16" name="テキスト プレースホルダー 15">
            <a:extLst>
              <a:ext uri="{FF2B5EF4-FFF2-40B4-BE49-F238E27FC236}">
                <a16:creationId xmlns:a16="http://schemas.microsoft.com/office/drawing/2014/main" id="{51F53154-4938-BA26-637E-0C26B6F8EEE7}"/>
              </a:ext>
            </a:extLst>
          </p:cNvPr>
          <p:cNvSpPr>
            <a:spLocks noGrp="1"/>
          </p:cNvSpPr>
          <p:nvPr>
            <p:ph type="body" sz="quarter" idx="21"/>
          </p:nvPr>
        </p:nvSpPr>
        <p:spPr>
          <a:xfrm>
            <a:off x="6365448" y="6109200"/>
            <a:ext cx="6985273" cy="519492"/>
          </a:xfrm>
        </p:spPr>
        <p:txBody>
          <a:bodyPr/>
          <a:lstStyle/>
          <a:p>
            <a:r>
              <a:rPr lang="en" altLang="ja-JP" dirty="0"/>
              <a:t>* Consolidated financial statements have been applied since FY2025. The profit and loss of Techno-Speech, Inc. has been consolidated </a:t>
            </a:r>
          </a:p>
          <a:p>
            <a:r>
              <a:rPr lang="en" altLang="ja-JP" dirty="0"/>
              <a:t>   from April 1, 2025, and the profit and loss of Zeroichi Start Inc. has been consolidated from January 1, 2026</a:t>
            </a:r>
          </a:p>
        </p:txBody>
      </p:sp>
      <p:cxnSp>
        <p:nvCxnSpPr>
          <p:cNvPr id="38" name="直線コネクタ 37">
            <a:extLst>
              <a:ext uri="{FF2B5EF4-FFF2-40B4-BE49-F238E27FC236}">
                <a16:creationId xmlns:a16="http://schemas.microsoft.com/office/drawing/2014/main" id="{9D10573B-2DA2-E8C1-416A-157E62CA0A1B}"/>
              </a:ext>
            </a:extLst>
          </p:cNvPr>
          <p:cNvCxnSpPr>
            <a:cxnSpLocks/>
          </p:cNvCxnSpPr>
          <p:nvPr/>
        </p:nvCxnSpPr>
        <p:spPr>
          <a:xfrm>
            <a:off x="6096000" y="1751272"/>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07E7A2D2-7C67-B5DA-DA69-D41CF3B9937B}"/>
              </a:ext>
            </a:extLst>
          </p:cNvPr>
          <p:cNvSpPr txBox="1"/>
          <p:nvPr/>
        </p:nvSpPr>
        <p:spPr>
          <a:xfrm>
            <a:off x="6249789" y="5484877"/>
            <a:ext cx="5259460" cy="698140"/>
          </a:xfrm>
          <a:prstGeom prst="rect">
            <a:avLst/>
          </a:prstGeom>
          <a:noFill/>
        </p:spPr>
        <p:txBody>
          <a:bodyPr wrap="square">
            <a:spAutoFit/>
          </a:bodyPr>
          <a:lstStyle/>
          <a:p>
            <a:pPr marL="134938" indent="-1349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Segment profit continued to grow YoY, driven by growth in contract development</a:t>
            </a:r>
          </a:p>
          <a:p>
            <a:pPr marL="134938" indent="-1349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Gross profit margin remained at the same level as the record high in Q1, staying above 30%</a:t>
            </a:r>
          </a:p>
          <a:p>
            <a:pPr marL="134938" indent="-1349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The establishment of an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AI-driven development structure is a</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dvancing development efficiency, aiming to transition to a next-generation SIer business model</a:t>
            </a:r>
          </a:p>
        </p:txBody>
      </p:sp>
      <p:sp>
        <p:nvSpPr>
          <p:cNvPr id="43" name="テキスト ボックス 42">
            <a:extLst>
              <a:ext uri="{FF2B5EF4-FFF2-40B4-BE49-F238E27FC236}">
                <a16:creationId xmlns:a16="http://schemas.microsoft.com/office/drawing/2014/main" id="{BF62B1C2-0D19-106F-0A65-C8FFBCF799DC}"/>
              </a:ext>
            </a:extLst>
          </p:cNvPr>
          <p:cNvSpPr txBox="1"/>
          <p:nvPr/>
        </p:nvSpPr>
        <p:spPr>
          <a:xfrm>
            <a:off x="455028" y="5484877"/>
            <a:ext cx="5640970" cy="852028"/>
          </a:xfrm>
          <a:prstGeom prst="rect">
            <a:avLst/>
          </a:prstGeom>
          <a:noFill/>
        </p:spPr>
        <p:txBody>
          <a:bodyPr wrap="square">
            <a:spAutoFit/>
          </a:bodyPr>
          <a:lstStyle/>
          <a:p>
            <a:pPr marL="122238" indent="-1222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Sales totaled 660 million yen (YoY +33.3%), marking a record high for four consecutive quarters</a:t>
            </a:r>
          </a:p>
          <a:p>
            <a:pPr marL="122238" indent="-1222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Contract development sales grew significantly. Although the timing of orders resulted in some revenue being concentrated in Q2, progress toward the full-year plan remains on track</a:t>
            </a:r>
          </a:p>
          <a:p>
            <a:pPr marL="122238" indent="-1222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The consolidation effect of the absorption-type merger with </a:t>
            </a:r>
            <a:r>
              <a:rPr kumimoji="1" lang="en-US" altLang="ja-JP" sz="800" dirty="0" err="1">
                <a:solidFill>
                  <a:srgbClr val="142FA4"/>
                </a:solidFill>
                <a:latin typeface="Poppins" panose="00000500000000000000" pitchFamily="2" charset="0"/>
                <a:ea typeface="M PLUS 1p" panose="020B0502020203020207" pitchFamily="34" charset="-128"/>
                <a:cs typeface="Poppins" panose="00000500000000000000" pitchFamily="2" charset="0"/>
              </a:rPr>
              <a:t>Zeroichi</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Start Inc. (effective April 1, 2026) supported growth</a:t>
            </a:r>
          </a:p>
        </p:txBody>
      </p:sp>
      <p:sp>
        <p:nvSpPr>
          <p:cNvPr id="5" name="テキスト ボックス 4">
            <a:extLst>
              <a:ext uri="{FF2B5EF4-FFF2-40B4-BE49-F238E27FC236}">
                <a16:creationId xmlns:a16="http://schemas.microsoft.com/office/drawing/2014/main" id="{A0692DEC-F5F8-C1E7-50CC-7F5EE2B07E0A}"/>
              </a:ext>
            </a:extLst>
          </p:cNvPr>
          <p:cNvSpPr txBox="1"/>
          <p:nvPr/>
        </p:nvSpPr>
        <p:spPr>
          <a:xfrm>
            <a:off x="7112831" y="1674000"/>
            <a:ext cx="3734997"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Trends in Segment Profit and Gross Profit Margin</a:t>
            </a:r>
          </a:p>
        </p:txBody>
      </p:sp>
      <p:sp>
        <p:nvSpPr>
          <p:cNvPr id="15" name="テキスト ボックス 14">
            <a:extLst>
              <a:ext uri="{FF2B5EF4-FFF2-40B4-BE49-F238E27FC236}">
                <a16:creationId xmlns:a16="http://schemas.microsoft.com/office/drawing/2014/main" id="{CBC50D0C-CD4B-DADA-9524-45E2E45E2D58}"/>
              </a:ext>
            </a:extLst>
          </p:cNvPr>
          <p:cNvSpPr txBox="1"/>
          <p:nvPr/>
        </p:nvSpPr>
        <p:spPr>
          <a:xfrm>
            <a:off x="2255029" y="1674000"/>
            <a:ext cx="2136803"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Trends in Sales by Segment</a:t>
            </a:r>
          </a:p>
        </p:txBody>
      </p:sp>
      <p:grpSp>
        <p:nvGrpSpPr>
          <p:cNvPr id="22" name="グループ化 21">
            <a:extLst>
              <a:ext uri="{FF2B5EF4-FFF2-40B4-BE49-F238E27FC236}">
                <a16:creationId xmlns:a16="http://schemas.microsoft.com/office/drawing/2014/main" id="{B1525D9D-7A52-7645-1485-D3A861C7DF97}"/>
              </a:ext>
            </a:extLst>
          </p:cNvPr>
          <p:cNvGrpSpPr/>
          <p:nvPr>
            <p:custDataLst>
              <p:custData r:id="rId1"/>
            </p:custDataLst>
          </p:nvPr>
        </p:nvGrpSpPr>
        <p:grpSpPr>
          <a:xfrm>
            <a:off x="3547587" y="2031435"/>
            <a:ext cx="1306676" cy="935474"/>
            <a:chOff x="10258879" y="3154886"/>
            <a:chExt cx="1306676" cy="935474"/>
          </a:xfrm>
        </p:grpSpPr>
        <p:sp>
          <p:nvSpPr>
            <p:cNvPr id="23" name="楕円 19">
              <a:extLst>
                <a:ext uri="{FF2B5EF4-FFF2-40B4-BE49-F238E27FC236}">
                  <a16:creationId xmlns:a16="http://schemas.microsoft.com/office/drawing/2014/main" id="{7E272FBF-A54D-8473-06B4-20E78739B279}"/>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24" name="テキスト ボックス 23">
              <a:extLst>
                <a:ext uri="{FF2B5EF4-FFF2-40B4-BE49-F238E27FC236}">
                  <a16:creationId xmlns:a16="http://schemas.microsoft.com/office/drawing/2014/main" id="{9C58D8F8-F68E-5AEA-E50F-68C7A7B70A12}"/>
                </a:ext>
              </a:extLst>
            </p:cNvPr>
            <p:cNvSpPr txBox="1"/>
            <p:nvPr/>
          </p:nvSpPr>
          <p:spPr>
            <a:xfrm>
              <a:off x="10258879" y="3193036"/>
              <a:ext cx="1306676" cy="86177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Contract Development</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r>
                <a:rPr kumimoji="0" lang="en-US" altLang="ja-JP" sz="2400" b="1" dirty="0">
                  <a:solidFill>
                    <a:srgbClr val="142FA4"/>
                  </a:solidFill>
                  <a:latin typeface="Poppins SemiBold" pitchFamily="2" charset="0"/>
                  <a:cs typeface="Poppins SemiBold" pitchFamily="2" charset="0"/>
                </a:rPr>
                <a:t>156.7</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sp>
        <p:nvSpPr>
          <p:cNvPr id="7" name="テキスト ボックス 6">
            <a:extLst>
              <a:ext uri="{FF2B5EF4-FFF2-40B4-BE49-F238E27FC236}">
                <a16:creationId xmlns:a16="http://schemas.microsoft.com/office/drawing/2014/main" id="{FDFFFEF0-E324-90E2-B169-AED0899FD030}"/>
              </a:ext>
            </a:extLst>
          </p:cNvPr>
          <p:cNvSpPr txBox="1"/>
          <p:nvPr/>
        </p:nvSpPr>
        <p:spPr>
          <a:xfrm>
            <a:off x="407960" y="1755165"/>
            <a:ext cx="1124026" cy="215444"/>
          </a:xfrm>
          <a:prstGeom prst="rect">
            <a:avLst/>
          </a:prstGeom>
          <a:noFill/>
        </p:spPr>
        <p:txBody>
          <a:bodyPr wrap="none" rtlCol="0">
            <a:spAutoFit/>
          </a:bodyPr>
          <a:lstStyle/>
          <a:p>
            <a:pPr defTabSz="457178">
              <a:defRPr/>
            </a:pPr>
            <a:r>
              <a:rPr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 of yen</a:t>
            </a:r>
            <a:r>
              <a:rPr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11" name="テキスト ボックス 10">
            <a:extLst>
              <a:ext uri="{FF2B5EF4-FFF2-40B4-BE49-F238E27FC236}">
                <a16:creationId xmlns:a16="http://schemas.microsoft.com/office/drawing/2014/main" id="{BCB3C4DA-2321-E7FD-6AAC-1BE79A55FB68}"/>
              </a:ext>
            </a:extLst>
          </p:cNvPr>
          <p:cNvSpPr txBox="1"/>
          <p:nvPr/>
        </p:nvSpPr>
        <p:spPr>
          <a:xfrm>
            <a:off x="5972161" y="1754730"/>
            <a:ext cx="1124026" cy="215444"/>
          </a:xfrm>
          <a:prstGeom prst="rect">
            <a:avLst/>
          </a:prstGeom>
          <a:noFill/>
        </p:spPr>
        <p:txBody>
          <a:bodyPr wrap="none" rtlCol="0">
            <a:spAutoFit/>
          </a:bodyPr>
          <a:lstStyle/>
          <a:p>
            <a:pPr defTabSz="457178">
              <a:defRPr/>
            </a:pPr>
            <a:r>
              <a:rPr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 of yen</a:t>
            </a:r>
            <a:r>
              <a:rPr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79" name="テキスト ボックス 78">
            <a:extLst>
              <a:ext uri="{FF2B5EF4-FFF2-40B4-BE49-F238E27FC236}">
                <a16:creationId xmlns:a16="http://schemas.microsoft.com/office/drawing/2014/main" id="{0A5A862E-FAD5-BC5C-3280-042082161E3E}"/>
              </a:ext>
            </a:extLst>
          </p:cNvPr>
          <p:cNvSpPr txBox="1"/>
          <p:nvPr/>
        </p:nvSpPr>
        <p:spPr>
          <a:xfrm>
            <a:off x="478902" y="52645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FY23</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80" name="テキスト ボックス 79">
            <a:extLst>
              <a:ext uri="{FF2B5EF4-FFF2-40B4-BE49-F238E27FC236}">
                <a16:creationId xmlns:a16="http://schemas.microsoft.com/office/drawing/2014/main" id="{B201A41A-A9D8-2B9C-40F5-2AF91290CA55}"/>
              </a:ext>
            </a:extLst>
          </p:cNvPr>
          <p:cNvSpPr txBox="1"/>
          <p:nvPr/>
        </p:nvSpPr>
        <p:spPr>
          <a:xfrm>
            <a:off x="1786608" y="52645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FY24</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81" name="テキスト ボックス 80">
            <a:extLst>
              <a:ext uri="{FF2B5EF4-FFF2-40B4-BE49-F238E27FC236}">
                <a16:creationId xmlns:a16="http://schemas.microsoft.com/office/drawing/2014/main" id="{32E286D2-9114-F6D8-D039-CB65A2C22438}"/>
              </a:ext>
            </a:extLst>
          </p:cNvPr>
          <p:cNvSpPr txBox="1"/>
          <p:nvPr/>
        </p:nvSpPr>
        <p:spPr>
          <a:xfrm>
            <a:off x="3571755" y="52645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FY25</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cxnSp>
        <p:nvCxnSpPr>
          <p:cNvPr id="83" name="直線コネクタ 82">
            <a:extLst>
              <a:ext uri="{FF2B5EF4-FFF2-40B4-BE49-F238E27FC236}">
                <a16:creationId xmlns:a16="http://schemas.microsoft.com/office/drawing/2014/main" id="{D4FFD569-3DC2-4E45-7812-393F24BEC84E}"/>
              </a:ext>
            </a:extLst>
          </p:cNvPr>
          <p:cNvCxnSpPr>
            <a:cxnSpLocks/>
          </p:cNvCxnSpPr>
          <p:nvPr/>
        </p:nvCxnSpPr>
        <p:spPr>
          <a:xfrm>
            <a:off x="1454847" y="5154669"/>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84" name="直線コネクタ 83">
            <a:extLst>
              <a:ext uri="{FF2B5EF4-FFF2-40B4-BE49-F238E27FC236}">
                <a16:creationId xmlns:a16="http://schemas.microsoft.com/office/drawing/2014/main" id="{5C402B83-EB41-2B21-096E-5544657F7811}"/>
              </a:ext>
            </a:extLst>
          </p:cNvPr>
          <p:cNvCxnSpPr>
            <a:cxnSpLocks/>
          </p:cNvCxnSpPr>
          <p:nvPr/>
        </p:nvCxnSpPr>
        <p:spPr>
          <a:xfrm>
            <a:off x="3222733" y="5154669"/>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85" name="直線コネクタ 84">
            <a:extLst>
              <a:ext uri="{FF2B5EF4-FFF2-40B4-BE49-F238E27FC236}">
                <a16:creationId xmlns:a16="http://schemas.microsoft.com/office/drawing/2014/main" id="{F945D9BC-7560-126C-317D-4D41D7A7A794}"/>
              </a:ext>
            </a:extLst>
          </p:cNvPr>
          <p:cNvCxnSpPr>
            <a:cxnSpLocks/>
          </p:cNvCxnSpPr>
          <p:nvPr/>
        </p:nvCxnSpPr>
        <p:spPr>
          <a:xfrm>
            <a:off x="4993704" y="5154669"/>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86" name="テキスト ボックス 85">
            <a:extLst>
              <a:ext uri="{FF2B5EF4-FFF2-40B4-BE49-F238E27FC236}">
                <a16:creationId xmlns:a16="http://schemas.microsoft.com/office/drawing/2014/main" id="{0169F550-2421-E738-B63E-C57B93F286D7}"/>
              </a:ext>
            </a:extLst>
          </p:cNvPr>
          <p:cNvSpPr txBox="1"/>
          <p:nvPr/>
        </p:nvSpPr>
        <p:spPr>
          <a:xfrm>
            <a:off x="6242693" y="52645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FY23</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87" name="テキスト ボックス 86">
            <a:extLst>
              <a:ext uri="{FF2B5EF4-FFF2-40B4-BE49-F238E27FC236}">
                <a16:creationId xmlns:a16="http://schemas.microsoft.com/office/drawing/2014/main" id="{141DF1D3-D9EB-4467-0BF8-2CAC78EEC401}"/>
              </a:ext>
            </a:extLst>
          </p:cNvPr>
          <p:cNvSpPr txBox="1"/>
          <p:nvPr/>
        </p:nvSpPr>
        <p:spPr>
          <a:xfrm>
            <a:off x="7596490" y="52645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FY24</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88" name="テキスト ボックス 87">
            <a:extLst>
              <a:ext uri="{FF2B5EF4-FFF2-40B4-BE49-F238E27FC236}">
                <a16:creationId xmlns:a16="http://schemas.microsoft.com/office/drawing/2014/main" id="{026642A3-A2A9-427C-4594-FE6DEE36C697}"/>
              </a:ext>
            </a:extLst>
          </p:cNvPr>
          <p:cNvSpPr txBox="1"/>
          <p:nvPr/>
        </p:nvSpPr>
        <p:spPr>
          <a:xfrm>
            <a:off x="9347384" y="5264571"/>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FY25</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cxnSp>
        <p:nvCxnSpPr>
          <p:cNvPr id="90" name="直線コネクタ 89">
            <a:extLst>
              <a:ext uri="{FF2B5EF4-FFF2-40B4-BE49-F238E27FC236}">
                <a16:creationId xmlns:a16="http://schemas.microsoft.com/office/drawing/2014/main" id="{F5BC5EE7-7BEB-BEE0-A3A6-EEB7389143C1}"/>
              </a:ext>
            </a:extLst>
          </p:cNvPr>
          <p:cNvCxnSpPr>
            <a:cxnSpLocks/>
          </p:cNvCxnSpPr>
          <p:nvPr/>
        </p:nvCxnSpPr>
        <p:spPr>
          <a:xfrm>
            <a:off x="7213916" y="5154669"/>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91" name="直線コネクタ 90">
            <a:extLst>
              <a:ext uri="{FF2B5EF4-FFF2-40B4-BE49-F238E27FC236}">
                <a16:creationId xmlns:a16="http://schemas.microsoft.com/office/drawing/2014/main" id="{D3D7CAD3-67D7-46DA-A432-8CD2ECED0C44}"/>
              </a:ext>
            </a:extLst>
          </p:cNvPr>
          <p:cNvCxnSpPr>
            <a:cxnSpLocks/>
          </p:cNvCxnSpPr>
          <p:nvPr/>
        </p:nvCxnSpPr>
        <p:spPr>
          <a:xfrm>
            <a:off x="8985871" y="5154669"/>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92" name="直線コネクタ 91">
            <a:extLst>
              <a:ext uri="{FF2B5EF4-FFF2-40B4-BE49-F238E27FC236}">
                <a16:creationId xmlns:a16="http://schemas.microsoft.com/office/drawing/2014/main" id="{DEC39A4E-4137-0585-692F-F165AC4A0CB6}"/>
              </a:ext>
            </a:extLst>
          </p:cNvPr>
          <p:cNvCxnSpPr>
            <a:cxnSpLocks/>
          </p:cNvCxnSpPr>
          <p:nvPr/>
        </p:nvCxnSpPr>
        <p:spPr>
          <a:xfrm>
            <a:off x="10778454" y="5154669"/>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grpSp>
        <p:nvGrpSpPr>
          <p:cNvPr id="2" name="グループ化 1">
            <a:extLst>
              <a:ext uri="{FF2B5EF4-FFF2-40B4-BE49-F238E27FC236}">
                <a16:creationId xmlns:a16="http://schemas.microsoft.com/office/drawing/2014/main" id="{2D5E60E5-B100-8E3F-F2CF-F724C51F5031}"/>
              </a:ext>
            </a:extLst>
          </p:cNvPr>
          <p:cNvGrpSpPr/>
          <p:nvPr>
            <p:custDataLst>
              <p:custData r:id="rId2"/>
            </p:custDataLst>
          </p:nvPr>
        </p:nvGrpSpPr>
        <p:grpSpPr>
          <a:xfrm>
            <a:off x="4722653" y="2031435"/>
            <a:ext cx="1306676" cy="938024"/>
            <a:chOff x="10258879" y="2122498"/>
            <a:chExt cx="1306676" cy="938024"/>
          </a:xfrm>
        </p:grpSpPr>
        <p:sp>
          <p:nvSpPr>
            <p:cNvPr id="4" name="楕円 19">
              <a:extLst>
                <a:ext uri="{FF2B5EF4-FFF2-40B4-BE49-F238E27FC236}">
                  <a16:creationId xmlns:a16="http://schemas.microsoft.com/office/drawing/2014/main" id="{40FDD619-2B75-DDCE-BED2-12CD8507FD22}"/>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8" name="テキスト ボックス 7">
              <a:extLst>
                <a:ext uri="{FF2B5EF4-FFF2-40B4-BE49-F238E27FC236}">
                  <a16:creationId xmlns:a16="http://schemas.microsoft.com/office/drawing/2014/main" id="{6F47DEA9-BD8A-CA7A-5BD6-6D8CCB14C7D7}"/>
                </a:ext>
              </a:extLst>
            </p:cNvPr>
            <p:cNvSpPr txBox="1"/>
            <p:nvPr/>
          </p:nvSpPr>
          <p:spPr>
            <a:xfrm>
              <a:off x="10258879" y="2198748"/>
              <a:ext cx="1306676" cy="86177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IT Engineers </a:t>
              </a:r>
            </a:p>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rPr>
                <a:t>Dispatch</a:t>
              </a:r>
              <a:endParaRPr lang="ja-JP" altLang="en-US" sz="800" b="1" dirty="0">
                <a:solidFill>
                  <a:srgbClr val="142FA4"/>
                </a:solidFill>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000" b="1" dirty="0">
                  <a:solidFill>
                    <a:srgbClr val="142FA4"/>
                  </a:solidFill>
                  <a:latin typeface="Poppins SemiBold" panose="00000700000000000000" pitchFamily="2" charset="0"/>
                  <a:cs typeface="Poppins SemiBold" pitchFamily="2" charset="0"/>
                </a:rPr>
                <a:t>-</a:t>
              </a:r>
              <a:r>
                <a:rPr kumimoji="0" lang="en-US" altLang="ja-JP" sz="2400" b="1" dirty="0">
                  <a:solidFill>
                    <a:srgbClr val="142FA4"/>
                  </a:solidFill>
                  <a:latin typeface="Poppins SemiBold" pitchFamily="2" charset="0"/>
                  <a:cs typeface="Poppins SemiBold" pitchFamily="2" charset="0"/>
                </a:rPr>
                <a:t>5.4</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12" name="グループ化 11">
            <a:extLst>
              <a:ext uri="{FF2B5EF4-FFF2-40B4-BE49-F238E27FC236}">
                <a16:creationId xmlns:a16="http://schemas.microsoft.com/office/drawing/2014/main" id="{9ABE51BA-FF2C-11E3-C7D1-B08948EAD0D4}"/>
              </a:ext>
            </a:extLst>
          </p:cNvPr>
          <p:cNvGrpSpPr/>
          <p:nvPr>
            <p:custDataLst>
              <p:custData r:id="rId3"/>
            </p:custDataLst>
          </p:nvPr>
        </p:nvGrpSpPr>
        <p:grpSpPr>
          <a:xfrm>
            <a:off x="10480132" y="2031435"/>
            <a:ext cx="1416214" cy="935474"/>
            <a:chOff x="10199469" y="3154886"/>
            <a:chExt cx="1416214" cy="935474"/>
          </a:xfrm>
        </p:grpSpPr>
        <p:sp>
          <p:nvSpPr>
            <p:cNvPr id="13" name="楕円 19">
              <a:extLst>
                <a:ext uri="{FF2B5EF4-FFF2-40B4-BE49-F238E27FC236}">
                  <a16:creationId xmlns:a16="http://schemas.microsoft.com/office/drawing/2014/main" id="{FFDA2B3D-407F-795B-4007-3B8AFD115544}"/>
                </a:ext>
              </a:extLst>
            </p:cNvPr>
            <p:cNvSpPr/>
            <p:nvPr/>
          </p:nvSpPr>
          <p:spPr>
            <a:xfrm>
              <a:off x="10444479" y="3154886"/>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4" name="テキスト ボックス 13">
              <a:extLst>
                <a:ext uri="{FF2B5EF4-FFF2-40B4-BE49-F238E27FC236}">
                  <a16:creationId xmlns:a16="http://schemas.microsoft.com/office/drawing/2014/main" id="{17C6BE1A-8E11-4573-77E9-1F9B2FDA3CB1}"/>
                </a:ext>
              </a:extLst>
            </p:cNvPr>
            <p:cNvSpPr txBox="1"/>
            <p:nvPr/>
          </p:nvSpPr>
          <p:spPr>
            <a:xfrm>
              <a:off x="10199469" y="3261616"/>
              <a:ext cx="1416214" cy="738664"/>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Solutions</a:t>
              </a:r>
              <a:r>
                <a:rPr kumimoji="0" lang="ja-JP" altLang="en-US"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 </a:t>
              </a:r>
              <a:r>
                <a:rPr kumimoji="0" lang="en-US" altLang="ja-JP" sz="800" b="1"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Segment</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lvl="0" algn="ctr" defTabSz="457178">
                <a:defRPr/>
              </a:pPr>
              <a:r>
                <a:rPr kumimoji="0" lang="en-US" altLang="ja-JP" sz="2400" b="1" dirty="0">
                  <a:solidFill>
                    <a:srgbClr val="142FA4"/>
                  </a:solidFill>
                  <a:latin typeface="Poppins SemiBold" pitchFamily="2" charset="0"/>
                  <a:cs typeface="Poppins SemiBold" pitchFamily="2" charset="0"/>
                </a:rPr>
                <a:t>+15.3</a:t>
              </a:r>
              <a:r>
                <a:rPr kumimoji="0" lang="en-US" altLang="ja-JP" sz="14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sp>
        <p:nvSpPr>
          <p:cNvPr id="17" name="テキスト ボックス 16">
            <a:extLst>
              <a:ext uri="{FF2B5EF4-FFF2-40B4-BE49-F238E27FC236}">
                <a16:creationId xmlns:a16="http://schemas.microsoft.com/office/drawing/2014/main" id="{605918AD-3159-45DE-0EB5-4567205DAB19}"/>
              </a:ext>
            </a:extLst>
          </p:cNvPr>
          <p:cNvSpPr txBox="1"/>
          <p:nvPr/>
        </p:nvSpPr>
        <p:spPr>
          <a:xfrm>
            <a:off x="4930740" y="526225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FY26</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18" name="テキスト ボックス 17">
            <a:extLst>
              <a:ext uri="{FF2B5EF4-FFF2-40B4-BE49-F238E27FC236}">
                <a16:creationId xmlns:a16="http://schemas.microsoft.com/office/drawing/2014/main" id="{92C69437-17AA-3FE6-ABFB-74D3AE36A562}"/>
              </a:ext>
            </a:extLst>
          </p:cNvPr>
          <p:cNvSpPr txBox="1"/>
          <p:nvPr/>
        </p:nvSpPr>
        <p:spPr>
          <a:xfrm>
            <a:off x="10707714" y="526225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FY26</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Tree>
    <p:extLst>
      <p:ext uri="{BB962C8B-B14F-4D97-AF65-F5344CB8AC3E}">
        <p14:creationId xmlns:p14="http://schemas.microsoft.com/office/powerpoint/2010/main" val="62919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グラフ 1">
            <a:extLst>
              <a:ext uri="{FF2B5EF4-FFF2-40B4-BE49-F238E27FC236}">
                <a16:creationId xmlns:a16="http://schemas.microsoft.com/office/drawing/2014/main" id="{A786BB0C-0687-1C8A-DFDD-083E09401150}"/>
              </a:ext>
            </a:extLst>
          </p:cNvPr>
          <p:cNvGraphicFramePr/>
          <p:nvPr>
            <p:extLst>
              <p:ext uri="{D42A27DB-BD31-4B8C-83A1-F6EECF244321}">
                <p14:modId xmlns:p14="http://schemas.microsoft.com/office/powerpoint/2010/main" val="3045068956"/>
              </p:ext>
            </p:extLst>
          </p:nvPr>
        </p:nvGraphicFramePr>
        <p:xfrm>
          <a:off x="5856289" y="978975"/>
          <a:ext cx="5979974" cy="453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グラフ 3">
            <a:extLst>
              <a:ext uri="{FF2B5EF4-FFF2-40B4-BE49-F238E27FC236}">
                <a16:creationId xmlns:a16="http://schemas.microsoft.com/office/drawing/2014/main" id="{D01ED378-1CE9-8EA7-726D-5742A2E10B8B}"/>
              </a:ext>
            </a:extLst>
          </p:cNvPr>
          <p:cNvGraphicFramePr/>
          <p:nvPr>
            <p:extLst>
              <p:ext uri="{D42A27DB-BD31-4B8C-83A1-F6EECF244321}">
                <p14:modId xmlns:p14="http://schemas.microsoft.com/office/powerpoint/2010/main" val="2866000539"/>
              </p:ext>
            </p:extLst>
          </p:nvPr>
        </p:nvGraphicFramePr>
        <p:xfrm>
          <a:off x="-117883" y="1387279"/>
          <a:ext cx="6201183" cy="4541058"/>
        </p:xfrm>
        <a:graphic>
          <a:graphicData uri="http://schemas.openxmlformats.org/drawingml/2006/chart">
            <c:chart xmlns:c="http://schemas.openxmlformats.org/drawingml/2006/chart" xmlns:r="http://schemas.openxmlformats.org/officeDocument/2006/relationships" r:id="rId4"/>
          </a:graphicData>
        </a:graphic>
      </p:graphicFrame>
      <p:sp>
        <p:nvSpPr>
          <p:cNvPr id="3" name="テキスト プレースホルダー 2">
            <a:extLst>
              <a:ext uri="{FF2B5EF4-FFF2-40B4-BE49-F238E27FC236}">
                <a16:creationId xmlns:a16="http://schemas.microsoft.com/office/drawing/2014/main" id="{5BCDAE21-8AC5-C70E-5770-6EFBE0364ADF}"/>
              </a:ext>
            </a:extLst>
          </p:cNvPr>
          <p:cNvSpPr>
            <a:spLocks noGrp="1"/>
          </p:cNvSpPr>
          <p:nvPr>
            <p:ph type="body" sz="quarter" idx="12"/>
          </p:nvPr>
        </p:nvSpPr>
        <p:spPr/>
        <p:txBody>
          <a:bodyPr>
            <a:normAutofit/>
          </a:bodyPr>
          <a:lstStyle/>
          <a:p>
            <a:r>
              <a:rPr lang="en-US" altLang="ja-JP" dirty="0"/>
              <a:t>FY2026 Q2 </a:t>
            </a:r>
            <a:r>
              <a:rPr lang="en-US" altLang="ja-JP" noProof="1"/>
              <a:t>Non-Consolidated </a:t>
            </a:r>
            <a:r>
              <a:rPr lang="en-US" altLang="ja-JP" dirty="0"/>
              <a:t>Major Expense Items</a:t>
            </a:r>
          </a:p>
        </p:txBody>
      </p:sp>
      <p:sp>
        <p:nvSpPr>
          <p:cNvPr id="9" name="タイトル 8">
            <a:extLst>
              <a:ext uri="{FF2B5EF4-FFF2-40B4-BE49-F238E27FC236}">
                <a16:creationId xmlns:a16="http://schemas.microsoft.com/office/drawing/2014/main" id="{39D2F81F-4159-A8AA-FF29-23AE966270B3}"/>
              </a:ext>
            </a:extLst>
          </p:cNvPr>
          <p:cNvSpPr>
            <a:spLocks noGrp="1"/>
          </p:cNvSpPr>
          <p:nvPr>
            <p:ph type="ctrTitle"/>
          </p:nvPr>
        </p:nvSpPr>
        <p:spPr>
          <a:xfrm>
            <a:off x="610272" y="625008"/>
            <a:ext cx="11225989" cy="622579"/>
          </a:xfrm>
        </p:spPr>
        <p:txBody>
          <a:bodyPr/>
          <a:lstStyle/>
          <a:p>
            <a:r>
              <a:rPr lang="en-US" altLang="ja-JP" dirty="0"/>
              <a:t>Promoting Ad Optimization to Drive Subscription Growth and Investment in Engineers to Strengthen the Growth Foundation</a:t>
            </a:r>
          </a:p>
        </p:txBody>
      </p:sp>
      <p:sp>
        <p:nvSpPr>
          <p:cNvPr id="7" name="テキスト プレースホルダー 6">
            <a:extLst>
              <a:ext uri="{FF2B5EF4-FFF2-40B4-BE49-F238E27FC236}">
                <a16:creationId xmlns:a16="http://schemas.microsoft.com/office/drawing/2014/main" id="{6EE3C011-1D00-53E7-D32F-322887F6CA1D}"/>
              </a:ext>
            </a:extLst>
          </p:cNvPr>
          <p:cNvSpPr>
            <a:spLocks noGrp="1"/>
          </p:cNvSpPr>
          <p:nvPr>
            <p:ph type="body" sz="quarter" idx="21"/>
          </p:nvPr>
        </p:nvSpPr>
        <p:spPr>
          <a:xfrm>
            <a:off x="7808559" y="6109200"/>
            <a:ext cx="3939363" cy="519492"/>
          </a:xfrm>
        </p:spPr>
        <p:txBody>
          <a:bodyPr/>
          <a:lstStyle/>
          <a:p>
            <a:pPr marL="44450" indent="-44450"/>
            <a:r>
              <a:rPr lang="en-US" altLang="ja-JP" noProof="1"/>
              <a:t>* Investment in engineers refers to the total labor and hiring costs of engineers in each segment</a:t>
            </a:r>
          </a:p>
        </p:txBody>
      </p:sp>
      <p:cxnSp>
        <p:nvCxnSpPr>
          <p:cNvPr id="38" name="直線コネクタ 37">
            <a:extLst>
              <a:ext uri="{FF2B5EF4-FFF2-40B4-BE49-F238E27FC236}">
                <a16:creationId xmlns:a16="http://schemas.microsoft.com/office/drawing/2014/main" id="{9D10573B-2DA2-E8C1-416A-157E62CA0A1B}"/>
              </a:ext>
            </a:extLst>
          </p:cNvPr>
          <p:cNvCxnSpPr>
            <a:cxnSpLocks/>
          </p:cNvCxnSpPr>
          <p:nvPr/>
        </p:nvCxnSpPr>
        <p:spPr>
          <a:xfrm>
            <a:off x="6096000" y="1751272"/>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A0692DEC-F5F8-C1E7-50CC-7F5EE2B07E0A}"/>
              </a:ext>
            </a:extLst>
          </p:cNvPr>
          <p:cNvSpPr txBox="1"/>
          <p:nvPr/>
        </p:nvSpPr>
        <p:spPr>
          <a:xfrm>
            <a:off x="7583762" y="1674150"/>
            <a:ext cx="2569614" cy="184666"/>
          </a:xfrm>
          <a:prstGeom prst="rect">
            <a:avLst/>
          </a:prstGeom>
          <a:solidFill>
            <a:srgbClr val="C0FF00"/>
          </a:solidFill>
          <a:scene3d>
            <a:camera prst="orthographicFront">
              <a:rot lat="4500000" lon="0" rev="0"/>
            </a:camera>
            <a:lightRig rig="flat" dir="t"/>
          </a:scene3d>
          <a:sp3d z="76200" prstMaterial="matte"/>
        </p:spPr>
        <p:txBody>
          <a:bodyPr wrap="squar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Trends in Investment in Engineers</a:t>
            </a:r>
          </a:p>
        </p:txBody>
      </p:sp>
      <p:sp>
        <p:nvSpPr>
          <p:cNvPr id="15" name="テキスト ボックス 14">
            <a:extLst>
              <a:ext uri="{FF2B5EF4-FFF2-40B4-BE49-F238E27FC236}">
                <a16:creationId xmlns:a16="http://schemas.microsoft.com/office/drawing/2014/main" id="{CBC50D0C-CD4B-DADA-9524-45E2E45E2D58}"/>
              </a:ext>
            </a:extLst>
          </p:cNvPr>
          <p:cNvSpPr txBox="1"/>
          <p:nvPr/>
        </p:nvSpPr>
        <p:spPr>
          <a:xfrm>
            <a:off x="2145223" y="1674150"/>
            <a:ext cx="2356415" cy="184666"/>
          </a:xfrm>
          <a:prstGeom prst="rect">
            <a:avLst/>
          </a:prstGeom>
          <a:solidFill>
            <a:srgbClr val="C0FF00"/>
          </a:solidFill>
          <a:scene3d>
            <a:camera prst="orthographicFront">
              <a:rot lat="4500000" lon="0" rev="0"/>
            </a:camera>
            <a:lightRig rig="flat" dir="t"/>
          </a:scene3d>
          <a:sp3d z="76200" prstMaterial="matte"/>
        </p:spPr>
        <p:txBody>
          <a:bodyPr wrap="squar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Advertising Investment Trends</a:t>
            </a:r>
          </a:p>
        </p:txBody>
      </p:sp>
      <p:sp>
        <p:nvSpPr>
          <p:cNvPr id="10" name="テキスト ボックス 9">
            <a:extLst>
              <a:ext uri="{FF2B5EF4-FFF2-40B4-BE49-F238E27FC236}">
                <a16:creationId xmlns:a16="http://schemas.microsoft.com/office/drawing/2014/main" id="{61341786-C5B8-A048-853D-BE6A2C98A599}"/>
              </a:ext>
            </a:extLst>
          </p:cNvPr>
          <p:cNvSpPr txBox="1"/>
          <p:nvPr/>
        </p:nvSpPr>
        <p:spPr>
          <a:xfrm>
            <a:off x="407960" y="1826605"/>
            <a:ext cx="1124026" cy="215444"/>
          </a:xfrm>
          <a:prstGeom prst="rect">
            <a:avLst/>
          </a:prstGeom>
          <a:noFill/>
        </p:spPr>
        <p:txBody>
          <a:bodyPr wrap="squar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a:t>
            </a:r>
            <a:r>
              <a:rPr lang="ja-JP" altLang="en-US" sz="800" dirty="0">
                <a:solidFill>
                  <a:srgbClr val="142FA4"/>
                </a:solidFill>
                <a:latin typeface="Poppins" pitchFamily="2" charset="0"/>
                <a:ea typeface="M PLUS 1p" panose="020B0502020203020207" pitchFamily="34" charset="-128"/>
                <a:cs typeface="Poppins" pitchFamily="2" charset="0"/>
              </a:rPr>
              <a:t> </a:t>
            </a:r>
            <a:r>
              <a:rPr lang="en-US" altLang="ja-JP" sz="800" dirty="0">
                <a:solidFill>
                  <a:srgbClr val="142FA4"/>
                </a:solidFill>
                <a:latin typeface="Poppins" pitchFamily="2" charset="0"/>
                <a:ea typeface="M PLUS 1p" panose="020B0502020203020207" pitchFamily="34" charset="-128"/>
                <a:cs typeface="Poppins" pitchFamily="2" charset="0"/>
              </a:rPr>
              <a:t>of yen</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11" name="テキスト ボックス 10">
            <a:extLst>
              <a:ext uri="{FF2B5EF4-FFF2-40B4-BE49-F238E27FC236}">
                <a16:creationId xmlns:a16="http://schemas.microsoft.com/office/drawing/2014/main" id="{1437229A-39CE-6915-EFDC-0401AF0B3400}"/>
              </a:ext>
            </a:extLst>
          </p:cNvPr>
          <p:cNvSpPr txBox="1"/>
          <p:nvPr/>
        </p:nvSpPr>
        <p:spPr>
          <a:xfrm>
            <a:off x="6209347" y="1826605"/>
            <a:ext cx="1124026" cy="215444"/>
          </a:xfrm>
          <a:prstGeom prst="rect">
            <a:avLst/>
          </a:prstGeom>
          <a:noFill/>
        </p:spPr>
        <p:txBody>
          <a:bodyPr wrap="square" rtlCol="0">
            <a:spAutoFit/>
          </a:bodyPr>
          <a:lstStyle/>
          <a:p>
            <a:pPr defTabSz="457178">
              <a:defRPr/>
            </a:pPr>
            <a:r>
              <a:rPr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a:t>
            </a:r>
            <a:r>
              <a:rPr lang="ja-JP" altLang="en-US" sz="800" dirty="0">
                <a:solidFill>
                  <a:srgbClr val="142FA4"/>
                </a:solidFill>
                <a:latin typeface="Poppins" pitchFamily="2" charset="0"/>
                <a:ea typeface="M PLUS 1p" panose="020B0502020203020207" pitchFamily="34" charset="-128"/>
                <a:cs typeface="Poppins" pitchFamily="2" charset="0"/>
              </a:rPr>
              <a:t> </a:t>
            </a:r>
            <a:r>
              <a:rPr lang="en-US" altLang="ja-JP" sz="800" dirty="0">
                <a:solidFill>
                  <a:srgbClr val="142FA4"/>
                </a:solidFill>
                <a:latin typeface="Poppins" pitchFamily="2" charset="0"/>
                <a:ea typeface="M PLUS 1p" panose="020B0502020203020207" pitchFamily="34" charset="-128"/>
                <a:cs typeface="Poppins" pitchFamily="2" charset="0"/>
              </a:rPr>
              <a:t>of yen</a:t>
            </a:r>
            <a:r>
              <a:rPr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8" name="テキスト ボックス 7">
            <a:extLst>
              <a:ext uri="{FF2B5EF4-FFF2-40B4-BE49-F238E27FC236}">
                <a16:creationId xmlns:a16="http://schemas.microsoft.com/office/drawing/2014/main" id="{6203ECAB-18AF-A234-2208-F59D37F33C04}"/>
              </a:ext>
            </a:extLst>
          </p:cNvPr>
          <p:cNvSpPr txBox="1"/>
          <p:nvPr/>
        </p:nvSpPr>
        <p:spPr>
          <a:xfrm>
            <a:off x="455028" y="5326412"/>
            <a:ext cx="5628271" cy="1005916"/>
          </a:xfrm>
          <a:prstGeom prst="rect">
            <a:avLst/>
          </a:prstGeom>
          <a:noFill/>
        </p:spPr>
        <p:txBody>
          <a:bodyPr wrap="square">
            <a:spAutoFit/>
          </a:bodyPr>
          <a:lstStyle/>
          <a:p>
            <a:pPr marL="130175" indent="-130175">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Advertising expenses increased 159.0% YoY as the first-half profit upside was allocated to advertising investment</a:t>
            </a:r>
          </a:p>
          <a:p>
            <a:pPr marL="130175" indent="-130175">
              <a:lnSpc>
                <a:spcPts val="1160"/>
              </a:lnSpc>
            </a:pPr>
            <a:r>
              <a:rPr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Although new </a:t>
            </a:r>
            <a:r>
              <a:rPr lang="en-US" altLang="ja-JP" sz="800" dirty="0" err="1">
                <a:solidFill>
                  <a:srgbClr val="142FA4"/>
                </a:solidFill>
                <a:latin typeface="Poppins" panose="00000500000000000000" pitchFamily="2" charset="0"/>
                <a:ea typeface="M PLUS 1p" panose="020B0502020203020207" pitchFamily="34" charset="-128"/>
                <a:cs typeface="Poppins" panose="00000500000000000000" pitchFamily="2" charset="0"/>
              </a:rPr>
              <a:t>ibisPaint</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downloads totaled 16,467 thousand (−7.2%), investment efficiency improved due to a higher subscription conversion rate</a:t>
            </a:r>
          </a:p>
          <a:p>
            <a:pPr marL="130175" indent="-130175">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From the second half onward, we plan to invest around 120 million yen per quarter while optimizing the pace of investment</a:t>
            </a:r>
          </a:p>
        </p:txBody>
      </p:sp>
      <p:sp>
        <p:nvSpPr>
          <p:cNvPr id="12" name="テキスト ボックス 11">
            <a:extLst>
              <a:ext uri="{FF2B5EF4-FFF2-40B4-BE49-F238E27FC236}">
                <a16:creationId xmlns:a16="http://schemas.microsoft.com/office/drawing/2014/main" id="{34E9BA41-A4B1-4444-C217-1E6D465EBAE4}"/>
              </a:ext>
            </a:extLst>
          </p:cNvPr>
          <p:cNvSpPr txBox="1"/>
          <p:nvPr/>
        </p:nvSpPr>
        <p:spPr>
          <a:xfrm>
            <a:off x="453952"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FY23</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13" name="テキスト ボックス 12">
            <a:extLst>
              <a:ext uri="{FF2B5EF4-FFF2-40B4-BE49-F238E27FC236}">
                <a16:creationId xmlns:a16="http://schemas.microsoft.com/office/drawing/2014/main" id="{2200C5C1-BB20-345C-07F5-DCFE68891E95}"/>
              </a:ext>
            </a:extLst>
          </p:cNvPr>
          <p:cNvSpPr txBox="1"/>
          <p:nvPr/>
        </p:nvSpPr>
        <p:spPr>
          <a:xfrm>
            <a:off x="1782721"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FY24</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14" name="テキスト ボックス 13">
            <a:extLst>
              <a:ext uri="{FF2B5EF4-FFF2-40B4-BE49-F238E27FC236}">
                <a16:creationId xmlns:a16="http://schemas.microsoft.com/office/drawing/2014/main" id="{9631E89C-F600-CA8A-F375-8B33A18E0189}"/>
              </a:ext>
            </a:extLst>
          </p:cNvPr>
          <p:cNvSpPr txBox="1"/>
          <p:nvPr/>
        </p:nvSpPr>
        <p:spPr>
          <a:xfrm>
            <a:off x="3544491"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FY25</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cxnSp>
        <p:nvCxnSpPr>
          <p:cNvPr id="17" name="直線コネクタ 16">
            <a:extLst>
              <a:ext uri="{FF2B5EF4-FFF2-40B4-BE49-F238E27FC236}">
                <a16:creationId xmlns:a16="http://schemas.microsoft.com/office/drawing/2014/main" id="{BE1B9548-486F-8747-33D0-3AA1F17DAB49}"/>
              </a:ext>
            </a:extLst>
          </p:cNvPr>
          <p:cNvCxnSpPr>
            <a:cxnSpLocks/>
          </p:cNvCxnSpPr>
          <p:nvPr/>
        </p:nvCxnSpPr>
        <p:spPr>
          <a:xfrm>
            <a:off x="1441069" y="5040373"/>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36C98745-0BBC-13CA-66BA-3F7BD52E749D}"/>
              </a:ext>
            </a:extLst>
          </p:cNvPr>
          <p:cNvCxnSpPr>
            <a:cxnSpLocks/>
          </p:cNvCxnSpPr>
          <p:nvPr/>
        </p:nvCxnSpPr>
        <p:spPr>
          <a:xfrm>
            <a:off x="3207515" y="5040373"/>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E2B66F80-BEFC-510C-52C4-2552E127C63F}"/>
              </a:ext>
            </a:extLst>
          </p:cNvPr>
          <p:cNvCxnSpPr>
            <a:cxnSpLocks/>
          </p:cNvCxnSpPr>
          <p:nvPr/>
        </p:nvCxnSpPr>
        <p:spPr>
          <a:xfrm>
            <a:off x="4967868" y="5040373"/>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0940CA18-CB12-F31F-B0E6-1EA276E962ED}"/>
              </a:ext>
            </a:extLst>
          </p:cNvPr>
          <p:cNvSpPr txBox="1"/>
          <p:nvPr/>
        </p:nvSpPr>
        <p:spPr>
          <a:xfrm>
            <a:off x="6258523" y="5326412"/>
            <a:ext cx="5781836" cy="852028"/>
          </a:xfrm>
          <a:prstGeom prst="rect">
            <a:avLst/>
          </a:prstGeom>
          <a:noFill/>
        </p:spPr>
        <p:txBody>
          <a:bodyPr wrap="square">
            <a:spAutoFit/>
          </a:bodyPr>
          <a:lstStyle/>
          <a:p>
            <a:pPr marL="128588" indent="-128588">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Investment in engineers in the mobile segment totaled 100 million yen (YoY +4.3</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reflecting organizational expansion aimed at strengthening the product</a:t>
            </a:r>
          </a:p>
          <a:p>
            <a:pPr marL="128588" indent="-128588">
              <a:lnSpc>
                <a:spcPts val="1160"/>
              </a:lnSpc>
            </a:pP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Investment in engineers in the solutions segment totaled 440 million yen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16.3</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 of which 10 million yen was attributable to the consolidation effect of the merger with </a:t>
            </a:r>
            <a:r>
              <a:rPr kumimoji="1" lang="en-US" altLang="ja-JP" sz="800" dirty="0" err="1">
                <a:solidFill>
                  <a:srgbClr val="142FA4"/>
                </a:solidFill>
                <a:latin typeface="Poppins" panose="00000500000000000000" pitchFamily="2" charset="0"/>
                <a:ea typeface="M PLUS 1p" panose="020B0502020203020207" pitchFamily="34" charset="-128"/>
                <a:cs typeface="Poppins" panose="00000500000000000000" pitchFamily="2" charset="0"/>
              </a:rPr>
              <a:t>Zeroichi</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Start Inc., reflecting substantial strengthening of the talent base supporting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order growth</a:t>
            </a:r>
            <a:endPar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endParaRPr>
          </a:p>
        </p:txBody>
      </p:sp>
      <p:sp>
        <p:nvSpPr>
          <p:cNvPr id="33" name="テキスト ボックス 32">
            <a:extLst>
              <a:ext uri="{FF2B5EF4-FFF2-40B4-BE49-F238E27FC236}">
                <a16:creationId xmlns:a16="http://schemas.microsoft.com/office/drawing/2014/main" id="{C02A15AF-4691-A0B8-5AD0-C033C550CE52}"/>
              </a:ext>
            </a:extLst>
          </p:cNvPr>
          <p:cNvSpPr txBox="1"/>
          <p:nvPr/>
        </p:nvSpPr>
        <p:spPr>
          <a:xfrm>
            <a:off x="6256378"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FY23</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35" name="テキスト ボックス 34">
            <a:extLst>
              <a:ext uri="{FF2B5EF4-FFF2-40B4-BE49-F238E27FC236}">
                <a16:creationId xmlns:a16="http://schemas.microsoft.com/office/drawing/2014/main" id="{B9EF34F9-664E-F38F-B0A0-FD9EA6FF604C}"/>
              </a:ext>
            </a:extLst>
          </p:cNvPr>
          <p:cNvSpPr txBox="1"/>
          <p:nvPr/>
        </p:nvSpPr>
        <p:spPr>
          <a:xfrm>
            <a:off x="7577425"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FY24</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36" name="テキスト ボックス 35">
            <a:extLst>
              <a:ext uri="{FF2B5EF4-FFF2-40B4-BE49-F238E27FC236}">
                <a16:creationId xmlns:a16="http://schemas.microsoft.com/office/drawing/2014/main" id="{A4916799-AE85-A429-9045-F9962DD7760C}"/>
              </a:ext>
            </a:extLst>
          </p:cNvPr>
          <p:cNvSpPr txBox="1"/>
          <p:nvPr/>
        </p:nvSpPr>
        <p:spPr>
          <a:xfrm>
            <a:off x="9331277"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FY25</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cxnSp>
        <p:nvCxnSpPr>
          <p:cNvPr id="40" name="直線コネクタ 39">
            <a:extLst>
              <a:ext uri="{FF2B5EF4-FFF2-40B4-BE49-F238E27FC236}">
                <a16:creationId xmlns:a16="http://schemas.microsoft.com/office/drawing/2014/main" id="{AEE19816-3671-4CF5-B3A8-085807C7CF34}"/>
              </a:ext>
            </a:extLst>
          </p:cNvPr>
          <p:cNvCxnSpPr>
            <a:cxnSpLocks/>
          </p:cNvCxnSpPr>
          <p:nvPr/>
        </p:nvCxnSpPr>
        <p:spPr>
          <a:xfrm>
            <a:off x="7247177" y="5040373"/>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54D2C4A9-7FBB-A61C-DA2F-9F7BF15444B8}"/>
              </a:ext>
            </a:extLst>
          </p:cNvPr>
          <p:cNvCxnSpPr>
            <a:cxnSpLocks/>
          </p:cNvCxnSpPr>
          <p:nvPr/>
        </p:nvCxnSpPr>
        <p:spPr>
          <a:xfrm>
            <a:off x="9008832" y="5040373"/>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42" name="直線コネクタ 41">
            <a:extLst>
              <a:ext uri="{FF2B5EF4-FFF2-40B4-BE49-F238E27FC236}">
                <a16:creationId xmlns:a16="http://schemas.microsoft.com/office/drawing/2014/main" id="{FBDC3936-7AAA-1369-36E0-6BB5A84B349D}"/>
              </a:ext>
            </a:extLst>
          </p:cNvPr>
          <p:cNvCxnSpPr>
            <a:cxnSpLocks/>
          </p:cNvCxnSpPr>
          <p:nvPr/>
        </p:nvCxnSpPr>
        <p:spPr>
          <a:xfrm>
            <a:off x="10769612" y="5040373"/>
            <a:ext cx="0" cy="27111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6" name="テキスト ボックス 15">
            <a:extLst>
              <a:ext uri="{FF2B5EF4-FFF2-40B4-BE49-F238E27FC236}">
                <a16:creationId xmlns:a16="http://schemas.microsoft.com/office/drawing/2014/main" id="{24D69896-71A4-240D-2D98-7B20813DA226}"/>
              </a:ext>
            </a:extLst>
          </p:cNvPr>
          <p:cNvSpPr txBox="1"/>
          <p:nvPr/>
        </p:nvSpPr>
        <p:spPr>
          <a:xfrm>
            <a:off x="4869171"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FY26</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
        <p:nvSpPr>
          <p:cNvPr id="20" name="テキスト ボックス 19">
            <a:extLst>
              <a:ext uri="{FF2B5EF4-FFF2-40B4-BE49-F238E27FC236}">
                <a16:creationId xmlns:a16="http://schemas.microsoft.com/office/drawing/2014/main" id="{10EAACF6-0437-3C31-F3E6-02E1A4AE85C7}"/>
              </a:ext>
            </a:extLst>
          </p:cNvPr>
          <p:cNvSpPr txBox="1"/>
          <p:nvPr/>
        </p:nvSpPr>
        <p:spPr>
          <a:xfrm>
            <a:off x="10671597" y="5150275"/>
            <a:ext cx="107632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800" u="none" strike="noStrike" kern="1200" cap="none" spc="0" normalizeH="0" baseline="0" noProof="0" dirty="0">
                <a:ln>
                  <a:noFill/>
                </a:ln>
                <a:effectLst/>
                <a:uLnTx/>
                <a:uFillTx/>
                <a:latin typeface="Poppins" pitchFamily="2" charset="0"/>
                <a:cs typeface="Poppins" pitchFamily="2" charset="0"/>
              </a:rPr>
              <a:t>FY26</a:t>
            </a:r>
            <a:endParaRPr kumimoji="1" lang="ja-JP" altLang="en-US" sz="800" u="none" strike="noStrike" kern="1200" cap="none" spc="0" normalizeH="0" baseline="0" noProof="0" dirty="0">
              <a:ln>
                <a:noFill/>
              </a:ln>
              <a:effectLst/>
              <a:uLnTx/>
              <a:uFillTx/>
              <a:latin typeface="Poppins" pitchFamily="2" charset="0"/>
              <a:cs typeface="Poppins" pitchFamily="2" charset="0"/>
            </a:endParaRPr>
          </a:p>
        </p:txBody>
      </p:sp>
    </p:spTree>
    <p:extLst>
      <p:ext uri="{BB962C8B-B14F-4D97-AF65-F5344CB8AC3E}">
        <p14:creationId xmlns:p14="http://schemas.microsoft.com/office/powerpoint/2010/main" val="1236303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グラフ 61">
            <a:extLst>
              <a:ext uri="{FF2B5EF4-FFF2-40B4-BE49-F238E27FC236}">
                <a16:creationId xmlns:a16="http://schemas.microsoft.com/office/drawing/2014/main" id="{21953E49-0E9F-7A04-D221-2A7F4142C8D4}"/>
              </a:ext>
            </a:extLst>
          </p:cNvPr>
          <p:cNvGraphicFramePr/>
          <p:nvPr>
            <p:extLst>
              <p:ext uri="{D42A27DB-BD31-4B8C-83A1-F6EECF244321}">
                <p14:modId xmlns:p14="http://schemas.microsoft.com/office/powerpoint/2010/main" val="599927433"/>
              </p:ext>
            </p:extLst>
          </p:nvPr>
        </p:nvGraphicFramePr>
        <p:xfrm>
          <a:off x="3936844" y="2324336"/>
          <a:ext cx="4024285" cy="3328437"/>
        </p:xfrm>
        <a:graphic>
          <a:graphicData uri="http://schemas.openxmlformats.org/drawingml/2006/chart">
            <c:chart xmlns:c="http://schemas.openxmlformats.org/drawingml/2006/chart" xmlns:r="http://schemas.openxmlformats.org/officeDocument/2006/relationships" r:id="rId3"/>
          </a:graphicData>
        </a:graphic>
      </p:graphicFrame>
      <p:sp>
        <p:nvSpPr>
          <p:cNvPr id="23" name="正方形/長方形 22">
            <a:extLst>
              <a:ext uri="{FF2B5EF4-FFF2-40B4-BE49-F238E27FC236}">
                <a16:creationId xmlns:a16="http://schemas.microsoft.com/office/drawing/2014/main" id="{96F4E82E-E3BC-6582-C3E2-4BC0AA9E80BD}"/>
              </a:ext>
            </a:extLst>
          </p:cNvPr>
          <p:cNvSpPr/>
          <p:nvPr/>
        </p:nvSpPr>
        <p:spPr>
          <a:xfrm>
            <a:off x="7933138" y="1582077"/>
            <a:ext cx="3708000" cy="274280"/>
          </a:xfrm>
          <a:prstGeom prst="rect">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3A6AD2F4-C43F-1140-EA92-A46FD7E077DF}"/>
              </a:ext>
            </a:extLst>
          </p:cNvPr>
          <p:cNvSpPr/>
          <p:nvPr/>
        </p:nvSpPr>
        <p:spPr>
          <a:xfrm>
            <a:off x="550861" y="1582077"/>
            <a:ext cx="7393513" cy="2742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59" name="グラフ 58">
            <a:extLst>
              <a:ext uri="{FF2B5EF4-FFF2-40B4-BE49-F238E27FC236}">
                <a16:creationId xmlns:a16="http://schemas.microsoft.com/office/drawing/2014/main" id="{FBBDBD02-D62A-71C4-8271-EE73C202046C}"/>
              </a:ext>
            </a:extLst>
          </p:cNvPr>
          <p:cNvGraphicFramePr/>
          <p:nvPr>
            <p:extLst>
              <p:ext uri="{D42A27DB-BD31-4B8C-83A1-F6EECF244321}">
                <p14:modId xmlns:p14="http://schemas.microsoft.com/office/powerpoint/2010/main" val="1094553435"/>
              </p:ext>
            </p:extLst>
          </p:nvPr>
        </p:nvGraphicFramePr>
        <p:xfrm>
          <a:off x="284545" y="2035174"/>
          <a:ext cx="4249391" cy="3699589"/>
        </p:xfrm>
        <a:graphic>
          <a:graphicData uri="http://schemas.openxmlformats.org/drawingml/2006/chart">
            <c:chart xmlns:c="http://schemas.openxmlformats.org/drawingml/2006/chart" xmlns:r="http://schemas.openxmlformats.org/officeDocument/2006/relationships" r:id="rId4"/>
          </a:graphicData>
        </a:graphic>
      </p:graphicFrame>
      <p:sp>
        <p:nvSpPr>
          <p:cNvPr id="3" name="テキスト プレースホルダー 2">
            <a:extLst>
              <a:ext uri="{FF2B5EF4-FFF2-40B4-BE49-F238E27FC236}">
                <a16:creationId xmlns:a16="http://schemas.microsoft.com/office/drawing/2014/main" id="{5BCDAE21-8AC5-C70E-5770-6EFBE0364ADF}"/>
              </a:ext>
            </a:extLst>
          </p:cNvPr>
          <p:cNvSpPr>
            <a:spLocks noGrp="1"/>
          </p:cNvSpPr>
          <p:nvPr>
            <p:ph type="body" sz="quarter" idx="12"/>
          </p:nvPr>
        </p:nvSpPr>
        <p:spPr/>
        <p:txBody>
          <a:bodyPr>
            <a:normAutofit/>
          </a:bodyPr>
          <a:lstStyle/>
          <a:p>
            <a:r>
              <a:rPr lang="en-US" altLang="ja-JP" dirty="0"/>
              <a:t>FY2026 Q2 </a:t>
            </a:r>
            <a:r>
              <a:rPr lang="en-US" altLang="ja-JP" noProof="1"/>
              <a:t>Non-Consolidated </a:t>
            </a:r>
            <a:r>
              <a:rPr lang="en-US" altLang="ja-JP" dirty="0"/>
              <a:t>Business KPIs</a:t>
            </a:r>
          </a:p>
        </p:txBody>
      </p:sp>
      <p:sp>
        <p:nvSpPr>
          <p:cNvPr id="9" name="タイトル 8">
            <a:extLst>
              <a:ext uri="{FF2B5EF4-FFF2-40B4-BE49-F238E27FC236}">
                <a16:creationId xmlns:a16="http://schemas.microsoft.com/office/drawing/2014/main" id="{39D2F81F-4159-A8AA-FF29-23AE966270B3}"/>
              </a:ext>
            </a:extLst>
          </p:cNvPr>
          <p:cNvSpPr>
            <a:spLocks noGrp="1"/>
          </p:cNvSpPr>
          <p:nvPr>
            <p:ph type="ctrTitle"/>
          </p:nvPr>
        </p:nvSpPr>
        <p:spPr/>
        <p:txBody>
          <a:bodyPr/>
          <a:lstStyle/>
          <a:p>
            <a:r>
              <a:rPr lang="en-US" altLang="ja-JP" sz="1800" dirty="0"/>
              <a:t>Net</a:t>
            </a:r>
            <a:r>
              <a:rPr lang="ja-JP" altLang="en-US" sz="1800" dirty="0"/>
              <a:t> </a:t>
            </a:r>
            <a:r>
              <a:rPr lang="en-US" altLang="ja-JP" sz="1800" dirty="0"/>
              <a:t>New</a:t>
            </a:r>
            <a:r>
              <a:rPr lang="ja-JP" altLang="en-US" sz="1800" dirty="0"/>
              <a:t> </a:t>
            </a:r>
            <a:r>
              <a:rPr lang="en-US" altLang="ja-JP" sz="1800" dirty="0"/>
              <a:t>Subscription Contracts Continued to Expand at 1.4x the Growth Rate</a:t>
            </a:r>
            <a:br>
              <a:rPr lang="en-US" altLang="ja-JP" sz="1800" dirty="0"/>
            </a:br>
            <a:r>
              <a:rPr lang="en-US" altLang="ja-JP" sz="1800" dirty="0"/>
              <a:t>The Number of IT Engineers Reached a Record High, Strengthening Organizational Capability</a:t>
            </a:r>
            <a:endParaRPr lang="ja-JP" altLang="en-US" sz="1800" dirty="0"/>
          </a:p>
        </p:txBody>
      </p:sp>
      <p:sp>
        <p:nvSpPr>
          <p:cNvPr id="8" name="テキスト プレースホルダー 7">
            <a:extLst>
              <a:ext uri="{FF2B5EF4-FFF2-40B4-BE49-F238E27FC236}">
                <a16:creationId xmlns:a16="http://schemas.microsoft.com/office/drawing/2014/main" id="{12792F85-C48A-D8B5-C09B-CD48A8D16338}"/>
              </a:ext>
            </a:extLst>
          </p:cNvPr>
          <p:cNvSpPr>
            <a:spLocks noGrp="1"/>
          </p:cNvSpPr>
          <p:nvPr>
            <p:ph type="body" sz="quarter" idx="21"/>
          </p:nvPr>
        </p:nvSpPr>
        <p:spPr>
          <a:xfrm>
            <a:off x="4587099" y="6239834"/>
            <a:ext cx="7235761" cy="519492"/>
          </a:xfrm>
        </p:spPr>
        <p:txBody>
          <a:bodyPr/>
          <a:lstStyle/>
          <a:p>
            <a:pPr>
              <a:lnSpc>
                <a:spcPts val="820"/>
              </a:lnSpc>
            </a:pPr>
            <a:r>
              <a:rPr lang="en-US" altLang="ja-JP" dirty="0"/>
              <a:t>* DAU represents the number of free active users per day, and MAU represents the number of monthly active users across all series, including paid app users but excluding the Edu series</a:t>
            </a:r>
          </a:p>
          <a:p>
            <a:pPr>
              <a:lnSpc>
                <a:spcPts val="820"/>
              </a:lnSpc>
            </a:pPr>
            <a:r>
              <a:rPr lang="en-US" altLang="ja-JP" dirty="0"/>
              <a:t>* The figures shown above the DAU bar chart represent DAU at the end of each quarter</a:t>
            </a:r>
          </a:p>
        </p:txBody>
      </p:sp>
      <p:graphicFrame>
        <p:nvGraphicFramePr>
          <p:cNvPr id="47" name="グラフ 46">
            <a:extLst>
              <a:ext uri="{FF2B5EF4-FFF2-40B4-BE49-F238E27FC236}">
                <a16:creationId xmlns:a16="http://schemas.microsoft.com/office/drawing/2014/main" id="{60B020AD-3325-3852-25B3-2B5B60A9A642}"/>
              </a:ext>
            </a:extLst>
          </p:cNvPr>
          <p:cNvGraphicFramePr/>
          <p:nvPr>
            <p:extLst>
              <p:ext uri="{D42A27DB-BD31-4B8C-83A1-F6EECF244321}">
                <p14:modId xmlns:p14="http://schemas.microsoft.com/office/powerpoint/2010/main" val="3573645071"/>
              </p:ext>
            </p:extLst>
          </p:nvPr>
        </p:nvGraphicFramePr>
        <p:xfrm>
          <a:off x="8038570" y="1999323"/>
          <a:ext cx="3819820" cy="3499687"/>
        </p:xfrm>
        <a:graphic>
          <a:graphicData uri="http://schemas.openxmlformats.org/drawingml/2006/chart">
            <c:chart xmlns:c="http://schemas.openxmlformats.org/drawingml/2006/chart" xmlns:r="http://schemas.openxmlformats.org/officeDocument/2006/relationships" r:id="rId5"/>
          </a:graphicData>
        </a:graphic>
      </p:graphicFrame>
      <p:sp>
        <p:nvSpPr>
          <p:cNvPr id="42" name="テキスト ボックス 41">
            <a:extLst>
              <a:ext uri="{FF2B5EF4-FFF2-40B4-BE49-F238E27FC236}">
                <a16:creationId xmlns:a16="http://schemas.microsoft.com/office/drawing/2014/main" id="{07E7A2D2-7C67-B5DA-DA69-D41CF3B9937B}"/>
              </a:ext>
            </a:extLst>
          </p:cNvPr>
          <p:cNvSpPr txBox="1"/>
          <p:nvPr/>
        </p:nvSpPr>
        <p:spPr>
          <a:xfrm>
            <a:off x="7961144" y="5499010"/>
            <a:ext cx="4047527" cy="1005916"/>
          </a:xfrm>
          <a:prstGeom prst="rect">
            <a:avLst/>
          </a:prstGeom>
          <a:noFill/>
        </p:spPr>
        <p:txBody>
          <a:bodyPr wrap="square">
            <a:spAutoFit/>
          </a:bodyPr>
          <a:lstStyle/>
          <a:p>
            <a:pPr marL="130175" indent="-130175">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The number of IT engineers increased by 29 YoY to 273 (including 9 from the merger with </a:t>
            </a:r>
            <a:r>
              <a:rPr kumimoji="1" lang="en-US" altLang="ja-JP" sz="800" dirty="0" err="1">
                <a:solidFill>
                  <a:srgbClr val="142FA4"/>
                </a:solidFill>
                <a:latin typeface="Poppins" panose="00000500000000000000" pitchFamily="2" charset="0"/>
                <a:ea typeface="M PLUS 1p" panose="020B0502020203020207" pitchFamily="34" charset="-128"/>
                <a:cs typeface="Poppins" panose="00000500000000000000" pitchFamily="2" charset="0"/>
              </a:rPr>
              <a:t>Zeroichi</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Start</a:t>
            </a:r>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I</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nc.). Following the redefinition of skill sets in Q1 to support the transition to a next-generation SIer model, voluntary departures among employees below the required standard increased and hiring standards were tightened, shifting the organization to prioritize profit margins and AI development capabilities over headcount</a:t>
            </a:r>
          </a:p>
        </p:txBody>
      </p:sp>
      <p:sp>
        <p:nvSpPr>
          <p:cNvPr id="5" name="テキスト ボックス 4">
            <a:extLst>
              <a:ext uri="{FF2B5EF4-FFF2-40B4-BE49-F238E27FC236}">
                <a16:creationId xmlns:a16="http://schemas.microsoft.com/office/drawing/2014/main" id="{A0692DEC-F5F8-C1E7-50CC-7F5EE2B07E0A}"/>
              </a:ext>
            </a:extLst>
          </p:cNvPr>
          <p:cNvSpPr txBox="1"/>
          <p:nvPr/>
        </p:nvSpPr>
        <p:spPr>
          <a:xfrm>
            <a:off x="8904333" y="1942171"/>
            <a:ext cx="1777731"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Number of IT Engineers</a:t>
            </a:r>
          </a:p>
        </p:txBody>
      </p:sp>
      <p:sp>
        <p:nvSpPr>
          <p:cNvPr id="46" name="テキスト ボックス 45">
            <a:extLst>
              <a:ext uri="{FF2B5EF4-FFF2-40B4-BE49-F238E27FC236}">
                <a16:creationId xmlns:a16="http://schemas.microsoft.com/office/drawing/2014/main" id="{840E954B-915A-CEE8-0A1D-79B6102C814C}"/>
              </a:ext>
            </a:extLst>
          </p:cNvPr>
          <p:cNvSpPr txBox="1"/>
          <p:nvPr/>
        </p:nvSpPr>
        <p:spPr>
          <a:xfrm>
            <a:off x="8325058" y="1590934"/>
            <a:ext cx="2979323" cy="276999"/>
          </a:xfrm>
          <a:prstGeom prst="rect">
            <a:avLst/>
          </a:prstGeom>
          <a:noFill/>
        </p:spPr>
        <p:txBody>
          <a:bodyPr wrap="square">
            <a:spAutoFit/>
          </a:bodyPr>
          <a:lstStyle/>
          <a:p>
            <a:pPr algn="ctr"/>
            <a:r>
              <a:rPr lang="en-US" altLang="ja-JP" sz="1200" dirty="0">
                <a:solidFill>
                  <a:schemeClr val="bg1"/>
                </a:solidFill>
                <a:latin typeface="Poppins Medium" pitchFamily="2" charset="0"/>
                <a:ea typeface="M PLUS 1p Medium" panose="020B0502020203020207" pitchFamily="34" charset="-128"/>
                <a:cs typeface="Poppins Medium" pitchFamily="2" charset="0"/>
              </a:rPr>
              <a:t>Solutions Segment</a:t>
            </a:r>
            <a:endParaRPr lang="ja-JP" altLang="en-US" sz="1200" dirty="0">
              <a:solidFill>
                <a:schemeClr val="bg1"/>
              </a:solidFill>
              <a:latin typeface="Poppins Medium" pitchFamily="2" charset="0"/>
              <a:ea typeface="M PLUS 1p Medium" panose="020B0502020203020207" pitchFamily="34" charset="-128"/>
              <a:cs typeface="Poppins Medium" pitchFamily="2" charset="0"/>
            </a:endParaRPr>
          </a:p>
        </p:txBody>
      </p:sp>
      <p:sp>
        <p:nvSpPr>
          <p:cNvPr id="52" name="テキスト ボックス 51">
            <a:extLst>
              <a:ext uri="{FF2B5EF4-FFF2-40B4-BE49-F238E27FC236}">
                <a16:creationId xmlns:a16="http://schemas.microsoft.com/office/drawing/2014/main" id="{6EBE489F-5150-A51E-6945-DAFDC915D51F}"/>
              </a:ext>
            </a:extLst>
          </p:cNvPr>
          <p:cNvSpPr txBox="1"/>
          <p:nvPr/>
        </p:nvSpPr>
        <p:spPr>
          <a:xfrm>
            <a:off x="2711391" y="1590934"/>
            <a:ext cx="2979323" cy="276999"/>
          </a:xfrm>
          <a:prstGeom prst="rect">
            <a:avLst/>
          </a:prstGeom>
          <a:noFill/>
        </p:spPr>
        <p:txBody>
          <a:bodyPr wrap="square">
            <a:spAutoFit/>
          </a:bodyPr>
          <a:lstStyle/>
          <a:p>
            <a:pPr algn="ctr"/>
            <a:r>
              <a:rPr lang="en-US" altLang="ja-JP" sz="1200" dirty="0">
                <a:solidFill>
                  <a:schemeClr val="bg1"/>
                </a:solidFill>
                <a:latin typeface="Poppins Medium" pitchFamily="2" charset="0"/>
                <a:ea typeface="M PLUS 1p Medium" panose="020B0502020203020207" pitchFamily="34" charset="-128"/>
                <a:cs typeface="Poppins Medium" pitchFamily="2" charset="0"/>
              </a:rPr>
              <a:t>Mobile Segment</a:t>
            </a:r>
            <a:endParaRPr lang="ja-JP" altLang="en-US" sz="1200" dirty="0">
              <a:solidFill>
                <a:schemeClr val="bg1"/>
              </a:solidFill>
              <a:latin typeface="Poppins Medium" pitchFamily="2" charset="0"/>
              <a:ea typeface="M PLUS 1p Medium" panose="020B0502020203020207" pitchFamily="34" charset="-128"/>
              <a:cs typeface="Poppins Medium" pitchFamily="2" charset="0"/>
            </a:endParaRPr>
          </a:p>
        </p:txBody>
      </p:sp>
      <p:sp>
        <p:nvSpPr>
          <p:cNvPr id="55" name="テキスト ボックス 54">
            <a:extLst>
              <a:ext uri="{FF2B5EF4-FFF2-40B4-BE49-F238E27FC236}">
                <a16:creationId xmlns:a16="http://schemas.microsoft.com/office/drawing/2014/main" id="{1691AADA-E6F8-2E8B-44D0-BBE3FDF12C5A}"/>
              </a:ext>
            </a:extLst>
          </p:cNvPr>
          <p:cNvSpPr txBox="1"/>
          <p:nvPr/>
        </p:nvSpPr>
        <p:spPr>
          <a:xfrm>
            <a:off x="599642" y="5497865"/>
            <a:ext cx="3572299" cy="390363"/>
          </a:xfrm>
          <a:prstGeom prst="rect">
            <a:avLst/>
          </a:prstGeom>
          <a:noFill/>
        </p:spPr>
        <p:txBody>
          <a:bodyPr wrap="square">
            <a:spAutoFit/>
          </a:bodyPr>
          <a:lstStyle/>
          <a:p>
            <a:pPr marL="122238" indent="-122238">
              <a:lnSpc>
                <a:spcPts val="1160"/>
              </a:lnSpc>
            </a:pP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DAU remained at a high level of over</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6.44 million, serving as </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a stable foundation for in-app advertising sales</a:t>
            </a:r>
          </a:p>
        </p:txBody>
      </p:sp>
      <p:sp>
        <p:nvSpPr>
          <p:cNvPr id="79" name="テキスト ボックス 78">
            <a:extLst>
              <a:ext uri="{FF2B5EF4-FFF2-40B4-BE49-F238E27FC236}">
                <a16:creationId xmlns:a16="http://schemas.microsoft.com/office/drawing/2014/main" id="{A6F815BF-5B75-CA57-00A3-B11BB6DF61B9}"/>
              </a:ext>
            </a:extLst>
          </p:cNvPr>
          <p:cNvSpPr txBox="1"/>
          <p:nvPr/>
        </p:nvSpPr>
        <p:spPr>
          <a:xfrm>
            <a:off x="4793282" y="1942171"/>
            <a:ext cx="2608086"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Number of </a:t>
            </a:r>
            <a:r>
              <a:rPr lang="en-US" altLang="ja-JP" sz="1200" dirty="0" err="1">
                <a:solidFill>
                  <a:srgbClr val="142FA4"/>
                </a:solidFill>
                <a:latin typeface="Poppins Medium" pitchFamily="2" charset="0"/>
                <a:ea typeface="M PLUS 1p Medium" panose="020B0502020203020207" pitchFamily="34" charset="-128"/>
                <a:cs typeface="Poppins Medium" pitchFamily="2" charset="0"/>
              </a:rPr>
              <a:t>ibisPaint</a:t>
            </a:r>
            <a:r>
              <a:rPr lang="en-US" altLang="ja-JP" sz="1200" dirty="0">
                <a:solidFill>
                  <a:srgbClr val="142FA4"/>
                </a:solidFill>
                <a:latin typeface="Poppins Medium" pitchFamily="2" charset="0"/>
                <a:ea typeface="M PLUS 1p Medium" panose="020B0502020203020207" pitchFamily="34" charset="-128"/>
                <a:cs typeface="Poppins Medium" pitchFamily="2" charset="0"/>
              </a:rPr>
              <a:t> Subscriptions</a:t>
            </a:r>
          </a:p>
        </p:txBody>
      </p:sp>
      <p:sp>
        <p:nvSpPr>
          <p:cNvPr id="80" name="テキスト ボックス 79">
            <a:extLst>
              <a:ext uri="{FF2B5EF4-FFF2-40B4-BE49-F238E27FC236}">
                <a16:creationId xmlns:a16="http://schemas.microsoft.com/office/drawing/2014/main" id="{4494C54B-3DC0-A92A-A053-AE3190124848}"/>
              </a:ext>
            </a:extLst>
          </p:cNvPr>
          <p:cNvSpPr txBox="1"/>
          <p:nvPr/>
        </p:nvSpPr>
        <p:spPr>
          <a:xfrm>
            <a:off x="1461281" y="1942171"/>
            <a:ext cx="1880323"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algn="ctr"/>
            <a:r>
              <a:rPr lang="en-US" altLang="ja-JP" sz="1200" dirty="0">
                <a:solidFill>
                  <a:srgbClr val="142FA4"/>
                </a:solidFill>
                <a:latin typeface="Poppins Medium" pitchFamily="2" charset="0"/>
                <a:ea typeface="M PLUS 1p Medium" panose="020B0502020203020207" pitchFamily="34" charset="-128"/>
                <a:cs typeface="Poppins Medium" pitchFamily="2" charset="0"/>
              </a:rPr>
              <a:t>DAU (Daily Active Users)</a:t>
            </a:r>
          </a:p>
        </p:txBody>
      </p:sp>
      <p:grpSp>
        <p:nvGrpSpPr>
          <p:cNvPr id="82" name="グループ化 81">
            <a:extLst>
              <a:ext uri="{FF2B5EF4-FFF2-40B4-BE49-F238E27FC236}">
                <a16:creationId xmlns:a16="http://schemas.microsoft.com/office/drawing/2014/main" id="{1D17CAB1-D519-B177-8EC7-2D6C40020F72}"/>
              </a:ext>
            </a:extLst>
          </p:cNvPr>
          <p:cNvGrpSpPr/>
          <p:nvPr/>
        </p:nvGrpSpPr>
        <p:grpSpPr>
          <a:xfrm>
            <a:off x="3000800" y="3879756"/>
            <a:ext cx="1306676" cy="935474"/>
            <a:chOff x="10258879" y="2122498"/>
            <a:chExt cx="1306676" cy="935474"/>
          </a:xfrm>
        </p:grpSpPr>
        <p:sp>
          <p:nvSpPr>
            <p:cNvPr id="83" name="楕円 19">
              <a:extLst>
                <a:ext uri="{FF2B5EF4-FFF2-40B4-BE49-F238E27FC236}">
                  <a16:creationId xmlns:a16="http://schemas.microsoft.com/office/drawing/2014/main" id="{AB43B899-F71F-7E98-8B8D-678629B02892}"/>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84" name="テキスト ボックス 83">
              <a:extLst>
                <a:ext uri="{FF2B5EF4-FFF2-40B4-BE49-F238E27FC236}">
                  <a16:creationId xmlns:a16="http://schemas.microsoft.com/office/drawing/2014/main" id="{F7E1B9F8-EA93-E16B-E910-FE43A2D184D7}"/>
                </a:ext>
              </a:extLst>
            </p:cNvPr>
            <p:cNvSpPr txBox="1"/>
            <p:nvPr/>
          </p:nvSpPr>
          <p:spPr>
            <a:xfrm>
              <a:off x="10258879" y="2262248"/>
              <a:ext cx="1306676" cy="677108"/>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dirty="0">
                  <a:solidFill>
                    <a:srgbClr val="142FA4"/>
                  </a:solidFill>
                  <a:latin typeface="Poppins Medium" pitchFamily="2" charset="0"/>
                  <a:cs typeface="Poppins Medium" pitchFamily="2" charset="0"/>
                </a:rPr>
                <a:t>Jun 2026, Q2</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000" b="1" dirty="0">
                  <a:solidFill>
                    <a:srgbClr val="142FA4"/>
                  </a:solidFill>
                  <a:latin typeface="Poppins SemiBold" pitchFamily="2" charset="0"/>
                  <a:ea typeface="游ゴシック" panose="020B0400000000000000" pitchFamily="50" charset="-128"/>
                  <a:cs typeface="Poppins SemiBold" pitchFamily="2" charset="0"/>
                </a:rPr>
                <a:t>+0.5</a:t>
              </a:r>
              <a:r>
                <a:rPr kumimoji="0" lang="en-US" altLang="ja-JP" sz="12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grpSp>
        <p:nvGrpSpPr>
          <p:cNvPr id="4" name="グループ化 3">
            <a:extLst>
              <a:ext uri="{FF2B5EF4-FFF2-40B4-BE49-F238E27FC236}">
                <a16:creationId xmlns:a16="http://schemas.microsoft.com/office/drawing/2014/main" id="{617044E0-03C6-3762-6ED6-AE02D360A9AB}"/>
              </a:ext>
            </a:extLst>
          </p:cNvPr>
          <p:cNvGrpSpPr/>
          <p:nvPr/>
        </p:nvGrpSpPr>
        <p:grpSpPr>
          <a:xfrm>
            <a:off x="6623448" y="3879756"/>
            <a:ext cx="1306676" cy="935474"/>
            <a:chOff x="10243955" y="2122498"/>
            <a:chExt cx="1306676" cy="935474"/>
          </a:xfrm>
        </p:grpSpPr>
        <p:sp>
          <p:nvSpPr>
            <p:cNvPr id="7" name="楕円 19">
              <a:extLst>
                <a:ext uri="{FF2B5EF4-FFF2-40B4-BE49-F238E27FC236}">
                  <a16:creationId xmlns:a16="http://schemas.microsoft.com/office/drawing/2014/main" id="{505A15E5-E4F1-25E2-F535-4E1D63DC51CF}"/>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0" name="テキスト ボックス 9">
              <a:extLst>
                <a:ext uri="{FF2B5EF4-FFF2-40B4-BE49-F238E27FC236}">
                  <a16:creationId xmlns:a16="http://schemas.microsoft.com/office/drawing/2014/main" id="{D9AF98BE-DDCA-993C-CE05-77592C6E8490}"/>
                </a:ext>
              </a:extLst>
            </p:cNvPr>
            <p:cNvSpPr txBox="1"/>
            <p:nvPr/>
          </p:nvSpPr>
          <p:spPr>
            <a:xfrm>
              <a:off x="10243955" y="2262248"/>
              <a:ext cx="1306676" cy="677108"/>
            </a:xfrm>
            <a:prstGeom prst="rect">
              <a:avLst/>
            </a:prstGeom>
            <a:noFill/>
          </p:spPr>
          <p:txBody>
            <a:bodyPr wrap="square" rtlCol="0">
              <a:spAutoFit/>
            </a:bodyPr>
            <a:lstStyle/>
            <a:p>
              <a:pPr lvl="0" algn="ctr" defTabSz="457178">
                <a:defRPr/>
              </a:pPr>
              <a:r>
                <a:rPr lang="en-US" altLang="ja-JP" sz="800" dirty="0">
                  <a:solidFill>
                    <a:srgbClr val="142FA4"/>
                  </a:solidFill>
                  <a:latin typeface="Poppins Medium" pitchFamily="2" charset="0"/>
                  <a:cs typeface="Poppins Medium" pitchFamily="2" charset="0"/>
                </a:rPr>
                <a:t>Jun 2026, Q2</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000" b="1" dirty="0">
                  <a:solidFill>
                    <a:srgbClr val="142FA4"/>
                  </a:solidFill>
                  <a:latin typeface="Poppins SemiBold" pitchFamily="2" charset="0"/>
                  <a:cs typeface="Poppins SemiBold" pitchFamily="2" charset="0"/>
                </a:rPr>
                <a:t>+59.5</a:t>
              </a:r>
              <a:r>
                <a:rPr kumimoji="0" lang="en-US" altLang="ja-JP" sz="12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sp>
        <p:nvSpPr>
          <p:cNvPr id="53" name="テキスト ボックス 52">
            <a:extLst>
              <a:ext uri="{FF2B5EF4-FFF2-40B4-BE49-F238E27FC236}">
                <a16:creationId xmlns:a16="http://schemas.microsoft.com/office/drawing/2014/main" id="{E13DF4F2-4E9C-9A96-8249-C16AA2FB9CE1}"/>
              </a:ext>
            </a:extLst>
          </p:cNvPr>
          <p:cNvSpPr txBox="1"/>
          <p:nvPr/>
        </p:nvSpPr>
        <p:spPr>
          <a:xfrm>
            <a:off x="4248688" y="5491705"/>
            <a:ext cx="3572300" cy="954107"/>
          </a:xfrm>
          <a:prstGeom prst="rect">
            <a:avLst/>
          </a:prstGeom>
          <a:noFill/>
        </p:spPr>
        <p:txBody>
          <a:bodyPr wrap="square">
            <a:spAutoFit/>
          </a:bodyPr>
          <a:lstStyle/>
          <a:p>
            <a:pPr marL="128588" indent="-128588"/>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The number of </a:t>
            </a:r>
            <a:r>
              <a:rPr kumimoji="1" lang="en-US" altLang="ja-JP" sz="800" dirty="0" err="1">
                <a:solidFill>
                  <a:srgbClr val="142FA4"/>
                </a:solidFill>
                <a:latin typeface="Poppins" panose="00000500000000000000" pitchFamily="2" charset="0"/>
                <a:ea typeface="M PLUS 1p" panose="020B0502020203020207" pitchFamily="34" charset="-128"/>
                <a:cs typeface="Poppins" panose="00000500000000000000" pitchFamily="2" charset="0"/>
              </a:rPr>
              <a:t>ibisPaint</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subscriptions </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reached 484 thousand</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 with Q2 net new subscriptions of 36,527, a Q2 record. Although net new subscriptions declined 27.5% QoQ due to temporary factors, the underlying growth trend remains unchanged, and subscription conversion continues to expand steadily</a:t>
            </a:r>
          </a:p>
          <a:p>
            <a:pPr marL="128588" indent="-128588"/>
            <a:r>
              <a:rPr kumimoji="1" lang="ja-JP" altLang="en-US" sz="800" dirty="0">
                <a:solidFill>
                  <a:srgbClr val="142FA4"/>
                </a:solidFill>
                <a:latin typeface="Poppins" panose="00000500000000000000" pitchFamily="2" charset="0"/>
                <a:ea typeface="M PLUS 1p" panose="020B0502020203020207" pitchFamily="34" charset="-128"/>
                <a:cs typeface="Poppins" panose="00000500000000000000" pitchFamily="2" charset="0"/>
              </a:rPr>
              <a:t>✓ </a:t>
            </a:r>
            <a:r>
              <a:rPr kumimoji="1"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Progress toward the full-year target for n</a:t>
            </a:r>
            <a:r>
              <a:rPr lang="en-US" altLang="ja-JP" sz="800" dirty="0">
                <a:solidFill>
                  <a:srgbClr val="142FA4"/>
                </a:solidFill>
                <a:latin typeface="Poppins" panose="00000500000000000000" pitchFamily="2" charset="0"/>
                <a:ea typeface="M PLUS 1p" panose="020B0502020203020207" pitchFamily="34" charset="-128"/>
                <a:cs typeface="Poppins" panose="00000500000000000000" pitchFamily="2" charset="0"/>
              </a:rPr>
              <a:t>et subscription additions reached 58.0%, significantly ahead of plan</a:t>
            </a:r>
          </a:p>
        </p:txBody>
      </p:sp>
      <p:grpSp>
        <p:nvGrpSpPr>
          <p:cNvPr id="11" name="グループ化 10">
            <a:extLst>
              <a:ext uri="{FF2B5EF4-FFF2-40B4-BE49-F238E27FC236}">
                <a16:creationId xmlns:a16="http://schemas.microsoft.com/office/drawing/2014/main" id="{139A4F8F-8074-104E-AAE4-8DE25CDE1835}"/>
              </a:ext>
            </a:extLst>
          </p:cNvPr>
          <p:cNvGrpSpPr/>
          <p:nvPr/>
        </p:nvGrpSpPr>
        <p:grpSpPr>
          <a:xfrm>
            <a:off x="10399885" y="3879756"/>
            <a:ext cx="1306676" cy="935474"/>
            <a:chOff x="10258879" y="2122498"/>
            <a:chExt cx="1306676" cy="935474"/>
          </a:xfrm>
        </p:grpSpPr>
        <p:sp>
          <p:nvSpPr>
            <p:cNvPr id="12" name="楕円 19">
              <a:extLst>
                <a:ext uri="{FF2B5EF4-FFF2-40B4-BE49-F238E27FC236}">
                  <a16:creationId xmlns:a16="http://schemas.microsoft.com/office/drawing/2014/main" id="{0C8C26C6-A49B-8CEC-587E-6686EFB2EB65}"/>
                </a:ext>
              </a:extLst>
            </p:cNvPr>
            <p:cNvSpPr/>
            <p:nvPr/>
          </p:nvSpPr>
          <p:spPr>
            <a:xfrm>
              <a:off x="10444479" y="2122498"/>
              <a:ext cx="935477" cy="935474"/>
            </a:xfrm>
            <a:prstGeom prst="ellipse">
              <a:avLst/>
            </a:prstGeom>
            <a:solidFill>
              <a:srgbClr val="C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13" name="テキスト ボックス 12">
              <a:extLst>
                <a:ext uri="{FF2B5EF4-FFF2-40B4-BE49-F238E27FC236}">
                  <a16:creationId xmlns:a16="http://schemas.microsoft.com/office/drawing/2014/main" id="{3A5DEDC5-299F-754B-2C86-EC9EBC9CBAD4}"/>
                </a:ext>
              </a:extLst>
            </p:cNvPr>
            <p:cNvSpPr txBox="1"/>
            <p:nvPr/>
          </p:nvSpPr>
          <p:spPr>
            <a:xfrm>
              <a:off x="10258879" y="2296798"/>
              <a:ext cx="1306676" cy="677108"/>
            </a:xfrm>
            <a:prstGeom prst="rect">
              <a:avLst/>
            </a:prstGeom>
            <a:noFill/>
          </p:spPr>
          <p:txBody>
            <a:bodyPr wrap="square" rtlCol="0">
              <a:spAutoFit/>
            </a:bodyPr>
            <a:lstStyle/>
            <a:p>
              <a:pPr lvl="0" algn="ctr" defTabSz="457178">
                <a:defRPr/>
              </a:pPr>
              <a:r>
                <a:rPr lang="en-US" altLang="ja-JP" sz="800" dirty="0">
                  <a:solidFill>
                    <a:srgbClr val="142FA4"/>
                  </a:solidFill>
                  <a:latin typeface="Poppins Medium" pitchFamily="2" charset="0"/>
                  <a:cs typeface="Poppins Medium" pitchFamily="2" charset="0"/>
                </a:rPr>
                <a:t>Jun 2026, Q2</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0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YoY</a:t>
              </a: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000" b="1" dirty="0">
                  <a:solidFill>
                    <a:srgbClr val="142FA4"/>
                  </a:solidFill>
                  <a:latin typeface="Poppins SemiBold" pitchFamily="2" charset="0"/>
                  <a:cs typeface="Poppins SemiBold" pitchFamily="2" charset="0"/>
                </a:rPr>
                <a:t>+11.9</a:t>
              </a:r>
              <a:r>
                <a:rPr kumimoji="0" lang="en-US" altLang="ja-JP" sz="1200" b="1" u="none" strike="noStrike" kern="1200" cap="none" spc="0" normalizeH="0" baseline="0" noProof="0" dirty="0">
                  <a:ln>
                    <a:noFill/>
                  </a:ln>
                  <a:solidFill>
                    <a:srgbClr val="142FA4"/>
                  </a:solidFill>
                  <a:effectLst/>
                  <a:uLnTx/>
                  <a:uFillTx/>
                  <a:latin typeface="Poppins SemiBold" pitchFamily="2" charset="0"/>
                  <a:cs typeface="Poppins SemiBold" pitchFamily="2" charset="0"/>
                </a:rPr>
                <a:t>%</a:t>
              </a:r>
            </a:p>
          </p:txBody>
        </p:sp>
      </p:grpSp>
      <p:sp>
        <p:nvSpPr>
          <p:cNvPr id="28" name="テキスト ボックス 27">
            <a:extLst>
              <a:ext uri="{FF2B5EF4-FFF2-40B4-BE49-F238E27FC236}">
                <a16:creationId xmlns:a16="http://schemas.microsoft.com/office/drawing/2014/main" id="{807A8E4C-937D-0711-6393-CACA20F07BE8}"/>
              </a:ext>
            </a:extLst>
          </p:cNvPr>
          <p:cNvSpPr txBox="1"/>
          <p:nvPr/>
        </p:nvSpPr>
        <p:spPr>
          <a:xfrm>
            <a:off x="546510" y="2158172"/>
            <a:ext cx="798617" cy="215444"/>
          </a:xfrm>
          <a:prstGeom prst="rect">
            <a:avLst/>
          </a:prstGeom>
          <a:noFill/>
        </p:spPr>
        <p:txBody>
          <a:bodyPr wrap="non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millions</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29" name="テキスト ボックス 28">
            <a:extLst>
              <a:ext uri="{FF2B5EF4-FFF2-40B4-BE49-F238E27FC236}">
                <a16:creationId xmlns:a16="http://schemas.microsoft.com/office/drawing/2014/main" id="{BFC294F7-8826-D002-A079-3A6D7CFB28EC}"/>
              </a:ext>
            </a:extLst>
          </p:cNvPr>
          <p:cNvSpPr txBox="1"/>
          <p:nvPr/>
        </p:nvSpPr>
        <p:spPr>
          <a:xfrm>
            <a:off x="4243889" y="2158172"/>
            <a:ext cx="1717137" cy="215444"/>
          </a:xfrm>
          <a:prstGeom prst="rect">
            <a:avLst/>
          </a:prstGeom>
          <a:noFill/>
        </p:spPr>
        <p:txBody>
          <a:bodyPr wrap="non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kumimoji="1" lang="en-US" altLang="ja-JP" sz="800" dirty="0">
                <a:solidFill>
                  <a:srgbClr val="142FA4"/>
                </a:solidFill>
                <a:latin typeface="Poppins" pitchFamily="2" charset="0"/>
                <a:ea typeface="M PLUS 1p" panose="020B0502020203020207" pitchFamily="34" charset="-128"/>
                <a:cs typeface="Poppins" pitchFamily="2" charset="0"/>
              </a:rPr>
              <a:t>thousands of subscription</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sp>
        <p:nvSpPr>
          <p:cNvPr id="30" name="テキスト ボックス 29">
            <a:extLst>
              <a:ext uri="{FF2B5EF4-FFF2-40B4-BE49-F238E27FC236}">
                <a16:creationId xmlns:a16="http://schemas.microsoft.com/office/drawing/2014/main" id="{4E52E596-0468-9A76-6131-56FD7268A3B4}"/>
              </a:ext>
            </a:extLst>
          </p:cNvPr>
          <p:cNvSpPr txBox="1"/>
          <p:nvPr/>
        </p:nvSpPr>
        <p:spPr>
          <a:xfrm>
            <a:off x="7944836" y="2158172"/>
            <a:ext cx="745717" cy="215444"/>
          </a:xfrm>
          <a:prstGeom prst="rect">
            <a:avLst/>
          </a:prstGeom>
          <a:noFill/>
        </p:spPr>
        <p:txBody>
          <a:bodyPr wrap="none" rtlCol="0">
            <a:spAutoFit/>
          </a:bodyPr>
          <a:lstStyle/>
          <a:p>
            <a:pPr defTabSz="457178">
              <a:defRPr/>
            </a:pPr>
            <a:r>
              <a:rPr kumimoji="1" lang="ja-JP" altLang="en-US" sz="800" dirty="0">
                <a:solidFill>
                  <a:srgbClr val="142FA4"/>
                </a:solidFill>
                <a:latin typeface="Poppins" pitchFamily="2" charset="0"/>
                <a:ea typeface="M PLUS 1p" panose="020B0502020203020207" pitchFamily="34" charset="-128"/>
                <a:cs typeface="Poppins" pitchFamily="2" charset="0"/>
              </a:rPr>
              <a:t>（</a:t>
            </a:r>
            <a:r>
              <a:rPr lang="en-US" altLang="ja-JP" sz="800" dirty="0">
                <a:solidFill>
                  <a:srgbClr val="142FA4"/>
                </a:solidFill>
                <a:latin typeface="Poppins" pitchFamily="2" charset="0"/>
                <a:ea typeface="M PLUS 1p" panose="020B0502020203020207" pitchFamily="34" charset="-128"/>
                <a:cs typeface="Poppins" pitchFamily="2" charset="0"/>
              </a:rPr>
              <a:t>p</a:t>
            </a:r>
            <a:r>
              <a:rPr kumimoji="1" lang="en-US" altLang="ja-JP" sz="800" dirty="0">
                <a:solidFill>
                  <a:srgbClr val="142FA4"/>
                </a:solidFill>
                <a:latin typeface="Poppins" pitchFamily="2" charset="0"/>
                <a:ea typeface="M PLUS 1p" panose="020B0502020203020207" pitchFamily="34" charset="-128"/>
                <a:cs typeface="Poppins" pitchFamily="2" charset="0"/>
              </a:rPr>
              <a:t>erson</a:t>
            </a:r>
            <a:r>
              <a:rPr kumimoji="1" lang="ja-JP" altLang="en-US" sz="800" dirty="0">
                <a:solidFill>
                  <a:srgbClr val="142FA4"/>
                </a:solidFill>
                <a:latin typeface="Poppins" pitchFamily="2" charset="0"/>
                <a:ea typeface="M PLUS 1p" panose="020B0502020203020207" pitchFamily="34" charset="-128"/>
                <a:cs typeface="Poppins" pitchFamily="2" charset="0"/>
              </a:rPr>
              <a:t>）</a:t>
            </a:r>
          </a:p>
        </p:txBody>
      </p:sp>
      <p:cxnSp>
        <p:nvCxnSpPr>
          <p:cNvPr id="43" name="直線コネクタ 42">
            <a:extLst>
              <a:ext uri="{FF2B5EF4-FFF2-40B4-BE49-F238E27FC236}">
                <a16:creationId xmlns:a16="http://schemas.microsoft.com/office/drawing/2014/main" id="{BB9C193C-581F-92BC-7B2F-022D38EA4281}"/>
              </a:ext>
            </a:extLst>
          </p:cNvPr>
          <p:cNvCxnSpPr>
            <a:cxnSpLocks/>
          </p:cNvCxnSpPr>
          <p:nvPr/>
        </p:nvCxnSpPr>
        <p:spPr>
          <a:xfrm>
            <a:off x="4249382" y="2035174"/>
            <a:ext cx="0" cy="3953871"/>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45" name="直線コネクタ 44">
            <a:extLst>
              <a:ext uri="{FF2B5EF4-FFF2-40B4-BE49-F238E27FC236}">
                <a16:creationId xmlns:a16="http://schemas.microsoft.com/office/drawing/2014/main" id="{2BE2C0EE-64EB-BAC9-9803-EF201D0BAC4E}"/>
              </a:ext>
            </a:extLst>
          </p:cNvPr>
          <p:cNvCxnSpPr>
            <a:cxnSpLocks/>
          </p:cNvCxnSpPr>
          <p:nvPr/>
        </p:nvCxnSpPr>
        <p:spPr>
          <a:xfrm>
            <a:off x="7945260" y="2035174"/>
            <a:ext cx="0" cy="3953871"/>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grpSp>
        <p:nvGrpSpPr>
          <p:cNvPr id="6" name="グループ化 5">
            <a:extLst>
              <a:ext uri="{FF2B5EF4-FFF2-40B4-BE49-F238E27FC236}">
                <a16:creationId xmlns:a16="http://schemas.microsoft.com/office/drawing/2014/main" id="{B53C9329-C9EA-65A3-C3F0-D8F2D5B7252F}"/>
              </a:ext>
            </a:extLst>
          </p:cNvPr>
          <p:cNvGrpSpPr/>
          <p:nvPr/>
        </p:nvGrpSpPr>
        <p:grpSpPr>
          <a:xfrm>
            <a:off x="5386065" y="2304185"/>
            <a:ext cx="2427518" cy="1650393"/>
            <a:chOff x="5077369" y="2531308"/>
            <a:chExt cx="2427518" cy="1650393"/>
          </a:xfrm>
        </p:grpSpPr>
        <p:sp>
          <p:nvSpPr>
            <p:cNvPr id="73" name="矢印: 上向き折線 12">
              <a:extLst>
                <a:ext uri="{FF2B5EF4-FFF2-40B4-BE49-F238E27FC236}">
                  <a16:creationId xmlns:a16="http://schemas.microsoft.com/office/drawing/2014/main" id="{BC040503-DAFD-EDD9-B517-1DB9B9AF5767}"/>
                </a:ext>
              </a:extLst>
            </p:cNvPr>
            <p:cNvSpPr>
              <a:spLocks/>
            </p:cNvSpPr>
            <p:nvPr/>
          </p:nvSpPr>
          <p:spPr>
            <a:xfrm rot="5400000" flipH="1">
              <a:off x="5413207" y="3396462"/>
              <a:ext cx="618572" cy="951906"/>
            </a:xfrm>
            <a:prstGeom prst="bentUpArrow">
              <a:avLst>
                <a:gd name="adj1" fmla="val 2995"/>
                <a:gd name="adj2" fmla="val 6449"/>
                <a:gd name="adj3" fmla="val 1080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ヒラギノ角ゴ Pro W3"/>
                <a:ea typeface="ヒラギノ角ゴ Pro W3"/>
                <a:cs typeface="+mn-cs"/>
              </a:endParaRPr>
            </a:p>
          </p:txBody>
        </p:sp>
        <p:sp>
          <p:nvSpPr>
            <p:cNvPr id="75" name="テキスト ボックス 74">
              <a:extLst>
                <a:ext uri="{FF2B5EF4-FFF2-40B4-BE49-F238E27FC236}">
                  <a16:creationId xmlns:a16="http://schemas.microsoft.com/office/drawing/2014/main" id="{97209040-22C4-2BEA-A031-B6A4100CC9D7}"/>
                </a:ext>
              </a:extLst>
            </p:cNvPr>
            <p:cNvSpPr txBox="1"/>
            <p:nvPr/>
          </p:nvSpPr>
          <p:spPr>
            <a:xfrm>
              <a:off x="5231278" y="3425291"/>
              <a:ext cx="1271086" cy="230832"/>
            </a:xfrm>
            <a:prstGeom prst="rect">
              <a:avLst/>
            </a:prstGeom>
            <a:noFill/>
          </p:spPr>
          <p:txBody>
            <a:bodyPr wrap="square">
              <a:spAutoFit/>
            </a:bodyPr>
            <a:lstStyle/>
            <a:p>
              <a:pPr lvl="0" defTabSz="457178">
                <a:defRPr/>
              </a:pPr>
              <a:r>
                <a:rPr kumimoji="0" lang="en-US" altLang="ja-JP" sz="900" b="1" dirty="0">
                  <a:solidFill>
                    <a:srgbClr val="142FA4"/>
                  </a:solidFill>
                  <a:latin typeface="Poppins SemiBold" pitchFamily="2" charset="0"/>
                  <a:cs typeface="Poppins SemiBold" pitchFamily="2" charset="0"/>
                </a:rPr>
                <a:t>+132,685</a:t>
              </a:r>
              <a:endParaRPr kumimoji="0" lang="en-US" altLang="ja-JP" sz="600" b="1"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sp>
          <p:nvSpPr>
            <p:cNvPr id="86" name="テキスト ボックス 85">
              <a:extLst>
                <a:ext uri="{FF2B5EF4-FFF2-40B4-BE49-F238E27FC236}">
                  <a16:creationId xmlns:a16="http://schemas.microsoft.com/office/drawing/2014/main" id="{727CBC02-C872-9218-5D59-07D4229F1EA5}"/>
                </a:ext>
              </a:extLst>
            </p:cNvPr>
            <p:cNvSpPr txBox="1"/>
            <p:nvPr/>
          </p:nvSpPr>
          <p:spPr>
            <a:xfrm>
              <a:off x="6368950" y="2531308"/>
              <a:ext cx="1135937" cy="246221"/>
            </a:xfrm>
            <a:prstGeom prst="rect">
              <a:avLst/>
            </a:prstGeom>
            <a:noFill/>
          </p:spPr>
          <p:txBody>
            <a:bodyPr wrap="square">
              <a:spAutoFit/>
            </a:bodyPr>
            <a:lstStyle/>
            <a:p>
              <a:pPr marL="0" marR="0" lvl="0" indent="0" defTabSz="457178" rtl="0" eaLnBrk="1" fontAlgn="auto" latinLnBrk="0" hangingPunct="1">
                <a:lnSpc>
                  <a:spcPct val="100000"/>
                </a:lnSpc>
                <a:spcBef>
                  <a:spcPts val="0"/>
                </a:spcBef>
                <a:spcAft>
                  <a:spcPts val="0"/>
                </a:spcAft>
                <a:buClrTx/>
                <a:buSzTx/>
                <a:buFontTx/>
                <a:buNone/>
                <a:tabLst/>
                <a:defRPr/>
              </a:pPr>
              <a:r>
                <a:rPr kumimoji="0" lang="en-US" altLang="ja-JP" sz="900" b="1" dirty="0">
                  <a:solidFill>
                    <a:srgbClr val="142FA4"/>
                  </a:solidFill>
                  <a:latin typeface="Poppins SemiBold" pitchFamily="2" charset="0"/>
                  <a:cs typeface="Poppins SemiBold" pitchFamily="2" charset="0"/>
                </a:rPr>
                <a:t>+</a:t>
              </a:r>
              <a:r>
                <a:rPr kumimoji="0" lang="en-US" altLang="ja-JP" sz="1000" b="1" dirty="0">
                  <a:solidFill>
                    <a:srgbClr val="142FA4"/>
                  </a:solidFill>
                  <a:latin typeface="Poppins SemiBold" pitchFamily="2" charset="0"/>
                  <a:cs typeface="Poppins SemiBold" pitchFamily="2" charset="0"/>
                </a:rPr>
                <a:t>180,746</a:t>
              </a:r>
              <a:endParaRPr kumimoji="0" lang="en-US" altLang="ja-JP" sz="600" b="1"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sp>
          <p:nvSpPr>
            <p:cNvPr id="78" name="矢印: 上向き折線 12">
              <a:extLst>
                <a:ext uri="{FF2B5EF4-FFF2-40B4-BE49-F238E27FC236}">
                  <a16:creationId xmlns:a16="http://schemas.microsoft.com/office/drawing/2014/main" id="{BB3ABB17-A210-91ED-BB41-BB899558E834}"/>
                </a:ext>
              </a:extLst>
            </p:cNvPr>
            <p:cNvSpPr>
              <a:spLocks/>
            </p:cNvSpPr>
            <p:nvPr/>
          </p:nvSpPr>
          <p:spPr>
            <a:xfrm rot="5400000" flipH="1">
              <a:off x="6419594" y="2588455"/>
              <a:ext cx="789244" cy="981475"/>
            </a:xfrm>
            <a:prstGeom prst="bentUpArrow">
              <a:avLst>
                <a:gd name="adj1" fmla="val 1973"/>
                <a:gd name="adj2" fmla="val 4817"/>
                <a:gd name="adj3" fmla="val 786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ヒラギノ角ゴ Pro W3"/>
                <a:ea typeface="ヒラギノ角ゴ Pro W3"/>
                <a:cs typeface="+mn-cs"/>
              </a:endParaRPr>
            </a:p>
          </p:txBody>
        </p:sp>
        <p:cxnSp>
          <p:nvCxnSpPr>
            <p:cNvPr id="87" name="直線矢印コネクタ 86">
              <a:extLst>
                <a:ext uri="{FF2B5EF4-FFF2-40B4-BE49-F238E27FC236}">
                  <a16:creationId xmlns:a16="http://schemas.microsoft.com/office/drawing/2014/main" id="{FA75AEE4-2D0F-F832-6A9C-A3B1FD8104D1}"/>
                </a:ext>
              </a:extLst>
            </p:cNvPr>
            <p:cNvCxnSpPr>
              <a:cxnSpLocks/>
            </p:cNvCxnSpPr>
            <p:nvPr/>
          </p:nvCxnSpPr>
          <p:spPr>
            <a:xfrm flipV="1">
              <a:off x="5246540" y="2566606"/>
              <a:ext cx="1038970" cy="938891"/>
            </a:xfrm>
            <a:prstGeom prst="straightConnector1">
              <a:avLst/>
            </a:prstGeom>
            <a:ln w="25400">
              <a:solidFill>
                <a:srgbClr val="142FA4"/>
              </a:solidFill>
              <a:tailEnd type="triangle"/>
            </a:ln>
          </p:spPr>
          <p:style>
            <a:lnRef idx="2">
              <a:schemeClr val="accent1"/>
            </a:lnRef>
            <a:fillRef idx="0">
              <a:schemeClr val="accent1"/>
            </a:fillRef>
            <a:effectRef idx="1">
              <a:schemeClr val="accent1"/>
            </a:effectRef>
            <a:fontRef idx="minor">
              <a:schemeClr val="tx1"/>
            </a:fontRef>
          </p:style>
        </p:cxnSp>
        <p:grpSp>
          <p:nvGrpSpPr>
            <p:cNvPr id="95" name="グループ化 94">
              <a:extLst>
                <a:ext uri="{FF2B5EF4-FFF2-40B4-BE49-F238E27FC236}">
                  <a16:creationId xmlns:a16="http://schemas.microsoft.com/office/drawing/2014/main" id="{367260D2-6469-DE25-7935-0FD5B44EE8C9}"/>
                </a:ext>
              </a:extLst>
            </p:cNvPr>
            <p:cNvGrpSpPr/>
            <p:nvPr/>
          </p:nvGrpSpPr>
          <p:grpSpPr>
            <a:xfrm>
              <a:off x="5077369" y="2536372"/>
              <a:ext cx="1306676" cy="935474"/>
              <a:chOff x="10258879" y="2198995"/>
              <a:chExt cx="1306676" cy="935474"/>
            </a:xfrm>
          </p:grpSpPr>
          <p:sp>
            <p:nvSpPr>
              <p:cNvPr id="96" name="楕円 19">
                <a:extLst>
                  <a:ext uri="{FF2B5EF4-FFF2-40B4-BE49-F238E27FC236}">
                    <a16:creationId xmlns:a16="http://schemas.microsoft.com/office/drawing/2014/main" id="{5BF2548D-B95F-8CCE-91E9-FBD516660719}"/>
                  </a:ext>
                </a:extLst>
              </p:cNvPr>
              <p:cNvSpPr/>
              <p:nvPr/>
            </p:nvSpPr>
            <p:spPr>
              <a:xfrm>
                <a:off x="10444479" y="2198995"/>
                <a:ext cx="935477" cy="93547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defRPr/>
                </a:pPr>
                <a:endParaRPr kumimoji="1" lang="ja-JP" altLang="en-US" sz="1200">
                  <a:solidFill>
                    <a:prstClr val="white"/>
                  </a:solidFill>
                  <a:latin typeface="+mn-ea"/>
                </a:endParaRPr>
              </a:p>
            </p:txBody>
          </p:sp>
          <p:sp>
            <p:nvSpPr>
              <p:cNvPr id="97" name="テキスト ボックス 96">
                <a:extLst>
                  <a:ext uri="{FF2B5EF4-FFF2-40B4-BE49-F238E27FC236}">
                    <a16:creationId xmlns:a16="http://schemas.microsoft.com/office/drawing/2014/main" id="{EB3B1509-7A5D-4A11-4702-DD22FEFB130C}"/>
                  </a:ext>
                </a:extLst>
              </p:cNvPr>
              <p:cNvSpPr txBox="1"/>
              <p:nvPr/>
            </p:nvSpPr>
            <p:spPr>
              <a:xfrm>
                <a:off x="10258879" y="2290114"/>
                <a:ext cx="1306676" cy="800219"/>
              </a:xfrm>
              <a:prstGeom prst="rect">
                <a:avLst/>
              </a:prstGeom>
              <a:noFill/>
            </p:spPr>
            <p:txBody>
              <a:bodyPr wrap="square" rtlCol="0">
                <a:spAutoFit/>
              </a:bodyPr>
              <a:lstStyle/>
              <a:p>
                <a:pPr marL="0" marR="0" lvl="0" indent="0" algn="ctr" defTabSz="457178" rtl="0" eaLnBrk="1" fontAlgn="auto" latinLnBrk="0" hangingPunct="1">
                  <a:lnSpc>
                    <a:spcPct val="100000"/>
                  </a:lnSpc>
                  <a:spcBef>
                    <a:spcPts val="0"/>
                  </a:spcBef>
                  <a:spcAft>
                    <a:spcPts val="0"/>
                  </a:spcAft>
                  <a:buClrTx/>
                  <a:buSzTx/>
                  <a:buFontTx/>
                  <a:buNone/>
                  <a:tabLst/>
                  <a:defRPr/>
                </a:pPr>
                <a:r>
                  <a:rPr lang="en-US" altLang="ja-JP" sz="800" dirty="0">
                    <a:solidFill>
                      <a:schemeClr val="bg1"/>
                    </a:solidFill>
                    <a:latin typeface="M PLUS 1p Medium" panose="020B0502020203020207" pitchFamily="34" charset="-128"/>
                    <a:ea typeface="M PLUS 1p Medium" panose="020B0502020203020207" pitchFamily="34" charset="-128"/>
                    <a:cs typeface="M PLUS 1p Medium" panose="020B0502020203020207" pitchFamily="34" charset="-128"/>
                  </a:rPr>
                  <a:t>Growth Rate</a:t>
                </a:r>
                <a:endParaRPr kumimoji="0" lang="en-US" altLang="ja-JP" sz="1000" u="none" strike="noStrike" kern="1200" cap="none" spc="0" normalizeH="0" baseline="0" noProof="0" dirty="0">
                  <a:ln>
                    <a:noFill/>
                  </a:ln>
                  <a:solidFill>
                    <a:schemeClr val="bg1"/>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2400" b="1" dirty="0">
                    <a:solidFill>
                      <a:schemeClr val="bg1"/>
                    </a:solidFill>
                    <a:latin typeface="Poppins SemiBold" pitchFamily="2" charset="0"/>
                    <a:cs typeface="Poppins SemiBold" pitchFamily="2" charset="0"/>
                  </a:rPr>
                  <a:t>1</a:t>
                </a:r>
                <a:r>
                  <a:rPr kumimoji="0" lang="en-US" altLang="ja-JP" sz="2400" b="1" u="none" strike="noStrike" kern="1200" cap="none" spc="0" normalizeH="0" baseline="0" noProof="0" dirty="0">
                    <a:ln>
                      <a:noFill/>
                    </a:ln>
                    <a:solidFill>
                      <a:schemeClr val="bg1"/>
                    </a:solidFill>
                    <a:effectLst/>
                    <a:uLnTx/>
                    <a:uFillTx/>
                    <a:latin typeface="Poppins SemiBold" pitchFamily="2" charset="0"/>
                    <a:cs typeface="Poppins SemiBold" pitchFamily="2" charset="0"/>
                  </a:rPr>
                  <a:t>.4</a:t>
                </a:r>
                <a:endParaRPr kumimoji="0" lang="en-US" altLang="ja-JP" sz="1400" b="1" u="none" strike="noStrike" kern="1200" cap="none" spc="0" normalizeH="0" baseline="0" noProof="0" dirty="0">
                  <a:ln>
                    <a:noFill/>
                  </a:ln>
                  <a:solidFill>
                    <a:schemeClr val="bg1"/>
                  </a:solidFill>
                  <a:effectLst/>
                  <a:uLnTx/>
                  <a:uFillTx/>
                  <a:latin typeface="M PLUS 1p" panose="020B0502020203020207" pitchFamily="34" charset="-128"/>
                  <a:ea typeface="M PLUS 1p" panose="020B0502020203020207" pitchFamily="34" charset="-128"/>
                  <a:cs typeface="M PLUS 1p" panose="020B0502020203020207" pitchFamily="34" charset="-128"/>
                </a:endParaRPr>
              </a:p>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altLang="ja-JP" sz="1400" b="1" u="none" strike="noStrike" kern="1200" cap="none" spc="0" normalizeH="0" baseline="0" noProof="0" dirty="0">
                    <a:ln>
                      <a:noFill/>
                    </a:ln>
                    <a:solidFill>
                      <a:schemeClr val="bg1"/>
                    </a:solidFill>
                    <a:effectLst/>
                    <a:uLnTx/>
                    <a:uFillTx/>
                    <a:latin typeface="M PLUS 1p" panose="020B0502020203020207" pitchFamily="34" charset="-128"/>
                    <a:ea typeface="M PLUS 1p" panose="020B0502020203020207" pitchFamily="34" charset="-128"/>
                    <a:cs typeface="M PLUS 1p" panose="020B0502020203020207" pitchFamily="34" charset="-128"/>
                  </a:rPr>
                  <a:t>times</a:t>
                </a:r>
              </a:p>
            </p:txBody>
          </p:sp>
        </p:grpSp>
      </p:grpSp>
    </p:spTree>
    <p:extLst>
      <p:ext uri="{BB962C8B-B14F-4D97-AF65-F5344CB8AC3E}">
        <p14:creationId xmlns:p14="http://schemas.microsoft.com/office/powerpoint/2010/main" val="4039873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建物, ウィンドウ, 写真, 座る が含まれている画像&#10;&#10;AI 生成コンテンツは誤りを含む可能性があります。">
            <a:extLst>
              <a:ext uri="{FF2B5EF4-FFF2-40B4-BE49-F238E27FC236}">
                <a16:creationId xmlns:a16="http://schemas.microsoft.com/office/drawing/2014/main" id="{3B3C4C8B-C079-DCD8-D2D4-FB9E7A8BA653}"/>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096000" y="0"/>
            <a:ext cx="6096000" cy="6858000"/>
          </a:xfrm>
          <a:prstGeom prst="rect">
            <a:avLst/>
          </a:prstGeom>
        </p:spPr>
      </p:pic>
      <p:pic>
        <p:nvPicPr>
          <p:cNvPr id="6" name="図 5">
            <a:extLst>
              <a:ext uri="{FF2B5EF4-FFF2-40B4-BE49-F238E27FC236}">
                <a16:creationId xmlns:a16="http://schemas.microsoft.com/office/drawing/2014/main" id="{4AC11D12-EAA8-17B2-BFB7-2C7EB992844E}"/>
              </a:ext>
            </a:extLst>
          </p:cNvPr>
          <p:cNvPicPr>
            <a:picLocks noChangeAspect="1"/>
          </p:cNvPicPr>
          <p:nvPr/>
        </p:nvPicPr>
        <p:blipFill>
          <a:blip r:embed="rId4"/>
          <a:stretch>
            <a:fillRect/>
          </a:stretch>
        </p:blipFill>
        <p:spPr>
          <a:xfrm>
            <a:off x="488966" y="572789"/>
            <a:ext cx="1311259" cy="461369"/>
          </a:xfrm>
          <a:prstGeom prst="rect">
            <a:avLst/>
          </a:prstGeom>
        </p:spPr>
      </p:pic>
      <p:sp>
        <p:nvSpPr>
          <p:cNvPr id="14" name="テキスト ボックス 13">
            <a:extLst>
              <a:ext uri="{FF2B5EF4-FFF2-40B4-BE49-F238E27FC236}">
                <a16:creationId xmlns:a16="http://schemas.microsoft.com/office/drawing/2014/main" id="{49EE104B-676E-B689-B315-4D175DADC724}"/>
              </a:ext>
            </a:extLst>
          </p:cNvPr>
          <p:cNvSpPr txBox="1"/>
          <p:nvPr/>
        </p:nvSpPr>
        <p:spPr>
          <a:xfrm>
            <a:off x="501666" y="5659305"/>
            <a:ext cx="7658100" cy="444352"/>
          </a:xfrm>
          <a:prstGeom prst="rect">
            <a:avLst/>
          </a:prstGeom>
          <a:noFill/>
        </p:spPr>
        <p:txBody>
          <a:bodyPr wrap="square">
            <a:spAutoFit/>
          </a:bodyPr>
          <a:lstStyle/>
          <a:p>
            <a:pPr marL="0" marR="0" lvl="0" indent="0" algn="l" defTabSz="914400" rtl="0" eaLnBrk="1" fontAlgn="auto" latinLnBrk="0" hangingPunct="1">
              <a:lnSpc>
                <a:spcPts val="312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ibis inc. (TSE Growth: 9343)</a:t>
            </a:r>
          </a:p>
        </p:txBody>
      </p:sp>
      <p:sp>
        <p:nvSpPr>
          <p:cNvPr id="15" name="テキスト ボックス 14">
            <a:extLst>
              <a:ext uri="{FF2B5EF4-FFF2-40B4-BE49-F238E27FC236}">
                <a16:creationId xmlns:a16="http://schemas.microsoft.com/office/drawing/2014/main" id="{2ECEB5FE-C2FE-6C5D-3716-1C6AF37BE89D}"/>
              </a:ext>
            </a:extLst>
          </p:cNvPr>
          <p:cNvSpPr txBox="1"/>
          <p:nvPr/>
        </p:nvSpPr>
        <p:spPr>
          <a:xfrm>
            <a:off x="446688" y="3772422"/>
            <a:ext cx="7658100" cy="868764"/>
          </a:xfrm>
          <a:prstGeom prst="rect">
            <a:avLst/>
          </a:prstGeom>
          <a:noFill/>
        </p:spPr>
        <p:txBody>
          <a:bodyPr wrap="square">
            <a:spAutoFit/>
          </a:bodyPr>
          <a:lstStyle/>
          <a:p>
            <a:pPr marL="0" marR="0" lvl="0" indent="0" algn="l" defTabSz="914400" rtl="0" eaLnBrk="1" fontAlgn="auto" latinLnBrk="0" hangingPunct="1">
              <a:lnSpc>
                <a:spcPts val="3120"/>
              </a:lnSpc>
              <a:spcBef>
                <a:spcPts val="0"/>
              </a:spcBef>
              <a:spcAft>
                <a:spcPts val="0"/>
              </a:spcAft>
              <a:buClrTx/>
              <a:buSzTx/>
              <a:buFontTx/>
              <a:buNone/>
              <a:tabLst/>
              <a:defRPr/>
            </a:pPr>
            <a:r>
              <a:rPr kumimoji="1" lang="en-US" altLang="ja-JP" sz="2100" b="0" i="0" u="none" strike="noStrike" kern="1200" cap="none" spc="0" normalizeH="0" baseline="0" noProof="0" dirty="0">
                <a:ln>
                  <a:noFill/>
                </a:ln>
                <a:solidFill>
                  <a:srgbClr val="C0FF00"/>
                </a:solidFill>
                <a:effectLst/>
                <a:uLnTx/>
                <a:uFillTx/>
                <a:latin typeface="Poppins Medium" pitchFamily="2" charset="0"/>
                <a:ea typeface="M PLUS 1p Medium" panose="020B0502020203020207" pitchFamily="34" charset="-128"/>
                <a:cs typeface="Poppins Medium" pitchFamily="2" charset="0"/>
              </a:rPr>
              <a:t>From Japan to the world -</a:t>
            </a:r>
          </a:p>
          <a:p>
            <a:pPr marL="0" marR="0" lvl="0" indent="0" algn="l" defTabSz="914400" rtl="0" eaLnBrk="1" fontAlgn="auto" latinLnBrk="0" hangingPunct="1">
              <a:lnSpc>
                <a:spcPts val="3120"/>
              </a:lnSpc>
              <a:spcBef>
                <a:spcPts val="0"/>
              </a:spcBef>
              <a:spcAft>
                <a:spcPts val="0"/>
              </a:spcAft>
              <a:buClrTx/>
              <a:buSzTx/>
              <a:buFontTx/>
              <a:buNone/>
              <a:tabLst/>
              <a:defRPr/>
            </a:pPr>
            <a:r>
              <a:rPr kumimoji="1" lang="en-US" altLang="ja-JP" sz="2100" b="0" i="0" u="none" strike="noStrike" kern="1200" cap="none" spc="0" normalizeH="0" baseline="0" noProof="0" dirty="0">
                <a:ln>
                  <a:noFill/>
                </a:ln>
                <a:solidFill>
                  <a:srgbClr val="C0FF00"/>
                </a:solidFill>
                <a:effectLst/>
                <a:uLnTx/>
                <a:uFillTx/>
                <a:latin typeface="Poppins Medium" pitchFamily="2" charset="0"/>
                <a:ea typeface="M PLUS 1p Medium" panose="020B0502020203020207" pitchFamily="34" charset="-128"/>
                <a:cs typeface="Poppins Medium" pitchFamily="2" charset="0"/>
              </a:rPr>
              <a:t>ibis turns global creativity into growth.</a:t>
            </a:r>
          </a:p>
        </p:txBody>
      </p:sp>
      <p:sp>
        <p:nvSpPr>
          <p:cNvPr id="16" name="テキスト ボックス 15">
            <a:extLst>
              <a:ext uri="{FF2B5EF4-FFF2-40B4-BE49-F238E27FC236}">
                <a16:creationId xmlns:a16="http://schemas.microsoft.com/office/drawing/2014/main" id="{472DB37A-2C71-F8EE-16C4-2C2C1CEDECEE}"/>
              </a:ext>
            </a:extLst>
          </p:cNvPr>
          <p:cNvSpPr txBox="1"/>
          <p:nvPr/>
        </p:nvSpPr>
        <p:spPr>
          <a:xfrm>
            <a:off x="435113" y="1808406"/>
            <a:ext cx="7042129" cy="20544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750" b="1" i="0" u="none" strike="noStrike" kern="1200" cap="none" spc="0" normalizeH="0" baseline="0" noProof="0" dirty="0">
                <a:ln>
                  <a:noFill/>
                </a:ln>
                <a:solidFill>
                  <a:prstClr val="white"/>
                </a:solidFill>
                <a:effectLst/>
                <a:uLnTx/>
                <a:uFillTx/>
                <a:latin typeface="Poppins" pitchFamily="2" charset="0"/>
                <a:ea typeface="游ゴシック" panose="020B0400000000000000" pitchFamily="50" charset="-128"/>
                <a:cs typeface="Poppins" pitchFamily="2" charset="0"/>
              </a:rPr>
              <a:t>Harvest</a:t>
            </a:r>
          </a:p>
          <a:p>
            <a:pPr marL="0" marR="0" lvl="0" indent="0" algn="l" defTabSz="914400" rtl="0" eaLnBrk="1" fontAlgn="auto" latinLnBrk="0" hangingPunct="1">
              <a:lnSpc>
                <a:spcPts val="6500"/>
              </a:lnSpc>
              <a:spcBef>
                <a:spcPts val="0"/>
              </a:spcBef>
              <a:spcAft>
                <a:spcPts val="0"/>
              </a:spcAft>
              <a:buClrTx/>
              <a:buSzTx/>
              <a:buFontTx/>
              <a:buNone/>
              <a:tabLst/>
              <a:defRPr/>
            </a:pPr>
            <a:r>
              <a:rPr kumimoji="1" lang="en-US" altLang="ja-JP" sz="6750" b="1" i="0" u="none" strike="noStrike" kern="1200" cap="none" spc="0" normalizeH="0" baseline="0" noProof="0" dirty="0">
                <a:ln>
                  <a:noFill/>
                </a:ln>
                <a:solidFill>
                  <a:prstClr val="white"/>
                </a:solidFill>
                <a:effectLst/>
                <a:uLnTx/>
                <a:uFillTx/>
                <a:latin typeface="Poppins" pitchFamily="2" charset="0"/>
                <a:ea typeface="游ゴシック" panose="020B0400000000000000" pitchFamily="50" charset="-128"/>
                <a:cs typeface="Poppins" pitchFamily="2" charset="0"/>
              </a:rPr>
              <a:t>the Momentum</a:t>
            </a:r>
            <a:endParaRPr kumimoji="1" lang="ja-JP" altLang="en-US" sz="6750" b="1" i="0" u="none" strike="noStrike" kern="1200" cap="none" spc="0" normalizeH="0" baseline="0" noProof="0" dirty="0">
              <a:ln>
                <a:noFill/>
              </a:ln>
              <a:solidFill>
                <a:prstClr val="white"/>
              </a:solidFill>
              <a:effectLst/>
              <a:uLnTx/>
              <a:uFillTx/>
              <a:latin typeface="Poppins" pitchFamily="2" charset="0"/>
              <a:ea typeface="游ゴシック" panose="020B0400000000000000" pitchFamily="50" charset="-128"/>
              <a:cs typeface="Poppins" pitchFamily="2" charset="0"/>
            </a:endParaRPr>
          </a:p>
        </p:txBody>
      </p:sp>
      <p:sp>
        <p:nvSpPr>
          <p:cNvPr id="17" name="角丸四角形 16">
            <a:extLst>
              <a:ext uri="{FF2B5EF4-FFF2-40B4-BE49-F238E27FC236}">
                <a16:creationId xmlns:a16="http://schemas.microsoft.com/office/drawing/2014/main" id="{0F53916A-45CE-A20F-C07C-A842AD31997E}"/>
              </a:ext>
            </a:extLst>
          </p:cNvPr>
          <p:cNvSpPr/>
          <p:nvPr/>
        </p:nvSpPr>
        <p:spPr>
          <a:xfrm>
            <a:off x="550863" y="5364647"/>
            <a:ext cx="1590603" cy="30407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Investor Digest</a:t>
            </a:r>
            <a:endParaRPr kumimoji="1" lang="ja-JP" altLang="en-US" sz="13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18" name="タイトル 1">
            <a:extLst>
              <a:ext uri="{FF2B5EF4-FFF2-40B4-BE49-F238E27FC236}">
                <a16:creationId xmlns:a16="http://schemas.microsoft.com/office/drawing/2014/main" id="{B46E0303-DBB3-B1B7-0AE6-E3BE0E906381}"/>
              </a:ext>
            </a:extLst>
          </p:cNvPr>
          <p:cNvSpPr txBox="1">
            <a:spLocks/>
          </p:cNvSpPr>
          <p:nvPr/>
        </p:nvSpPr>
        <p:spPr>
          <a:xfrm>
            <a:off x="471763" y="6389550"/>
            <a:ext cx="5660887" cy="304071"/>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 PLUS 1p" panose="020B0502020203020207" pitchFamily="34" charset="-128"/>
                <a:ea typeface="M PLUS 1p" panose="020B0502020203020207" pitchFamily="34" charset="-128"/>
                <a:cs typeface="M PLUS 1p" panose="020B0502020203020207" pitchFamily="34" charset="-128"/>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13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May 12, 2026</a:t>
            </a:r>
            <a:endParaRPr kumimoji="1" lang="ja-JP" altLang="en-US" sz="13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endParaRPr>
          </a:p>
        </p:txBody>
      </p:sp>
    </p:spTree>
    <p:extLst>
      <p:ext uri="{BB962C8B-B14F-4D97-AF65-F5344CB8AC3E}">
        <p14:creationId xmlns:p14="http://schemas.microsoft.com/office/powerpoint/2010/main" val="1548064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6F7F9-E5EE-8678-2F05-28E212876DA4}"/>
            </a:ext>
          </a:extLst>
        </p:cNvPr>
        <p:cNvGrpSpPr/>
        <p:nvPr/>
      </p:nvGrpSpPr>
      <p:grpSpPr>
        <a:xfrm>
          <a:off x="0" y="0"/>
          <a:ext cx="0" cy="0"/>
          <a:chOff x="0" y="0"/>
          <a:chExt cx="0" cy="0"/>
        </a:xfrm>
      </p:grpSpPr>
      <p:pic>
        <p:nvPicPr>
          <p:cNvPr id="11" name="図 10" descr="屋外, 水, 飛ぶ, ブルー が含まれている画像&#10;&#10;AI 生成コンテンツは誤りを含む可能性があります。">
            <a:extLst>
              <a:ext uri="{FF2B5EF4-FFF2-40B4-BE49-F238E27FC236}">
                <a16:creationId xmlns:a16="http://schemas.microsoft.com/office/drawing/2014/main" id="{EE70DFD5-DF53-42DC-17B9-879822BF26B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 y="0"/>
            <a:ext cx="12193473" cy="6858000"/>
          </a:xfrm>
          <a:prstGeom prst="rect">
            <a:avLst/>
          </a:prstGeom>
        </p:spPr>
      </p:pic>
      <p:pic>
        <p:nvPicPr>
          <p:cNvPr id="7" name="図 6">
            <a:extLst>
              <a:ext uri="{FF2B5EF4-FFF2-40B4-BE49-F238E27FC236}">
                <a16:creationId xmlns:a16="http://schemas.microsoft.com/office/drawing/2014/main" id="{6E979D09-7E09-371F-971B-17868C8803F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532" y="57067"/>
            <a:ext cx="12072936" cy="6743866"/>
          </a:xfrm>
          <a:prstGeom prst="rect">
            <a:avLst/>
          </a:prstGeom>
        </p:spPr>
      </p:pic>
      <p:sp>
        <p:nvSpPr>
          <p:cNvPr id="8" name="角丸四角形 7">
            <a:extLst>
              <a:ext uri="{FF2B5EF4-FFF2-40B4-BE49-F238E27FC236}">
                <a16:creationId xmlns:a16="http://schemas.microsoft.com/office/drawing/2014/main" id="{6A952179-2575-FF25-E46D-CB5FC378AD49}"/>
              </a:ext>
            </a:extLst>
          </p:cNvPr>
          <p:cNvSpPr/>
          <p:nvPr/>
        </p:nvSpPr>
        <p:spPr>
          <a:xfrm>
            <a:off x="561504" y="4544653"/>
            <a:ext cx="3611548" cy="1403661"/>
          </a:xfrm>
          <a:prstGeom prst="roundRect">
            <a:avLst>
              <a:gd name="adj" fmla="val 14175"/>
            </a:avLst>
          </a:prstGeom>
          <a:solidFill>
            <a:schemeClr val="bg1">
              <a:alpha val="14901"/>
            </a:schemeClr>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77" name="角丸四角形 76">
            <a:extLst>
              <a:ext uri="{FF2B5EF4-FFF2-40B4-BE49-F238E27FC236}">
                <a16:creationId xmlns:a16="http://schemas.microsoft.com/office/drawing/2014/main" id="{A589059B-793C-CD69-2E76-6DF85E608B9B}"/>
              </a:ext>
            </a:extLst>
          </p:cNvPr>
          <p:cNvSpPr/>
          <p:nvPr/>
        </p:nvSpPr>
        <p:spPr>
          <a:xfrm>
            <a:off x="4290226" y="4544653"/>
            <a:ext cx="3611548" cy="1403661"/>
          </a:xfrm>
          <a:prstGeom prst="roundRect">
            <a:avLst>
              <a:gd name="adj" fmla="val 14175"/>
            </a:avLst>
          </a:prstGeom>
          <a:solidFill>
            <a:schemeClr val="bg1">
              <a:alpha val="14737"/>
            </a:schemeClr>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84" name="角丸四角形 83">
            <a:extLst>
              <a:ext uri="{FF2B5EF4-FFF2-40B4-BE49-F238E27FC236}">
                <a16:creationId xmlns:a16="http://schemas.microsoft.com/office/drawing/2014/main" id="{1955A1C0-5C72-577E-B3B9-BB1EF2C62C60}"/>
              </a:ext>
            </a:extLst>
          </p:cNvPr>
          <p:cNvSpPr/>
          <p:nvPr/>
        </p:nvSpPr>
        <p:spPr>
          <a:xfrm>
            <a:off x="8010476" y="4544653"/>
            <a:ext cx="3611548" cy="1403661"/>
          </a:xfrm>
          <a:prstGeom prst="roundRect">
            <a:avLst>
              <a:gd name="adj" fmla="val 14175"/>
            </a:avLst>
          </a:prstGeom>
          <a:solidFill>
            <a:schemeClr val="bg1">
              <a:alpha val="14737"/>
            </a:schemeClr>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44" name="テキスト ボックス 43">
            <a:extLst>
              <a:ext uri="{FF2B5EF4-FFF2-40B4-BE49-F238E27FC236}">
                <a16:creationId xmlns:a16="http://schemas.microsoft.com/office/drawing/2014/main" id="{3DCA869F-24B3-87BC-BA5E-09000217F448}"/>
              </a:ext>
            </a:extLst>
          </p:cNvPr>
          <p:cNvSpPr txBox="1"/>
          <p:nvPr/>
        </p:nvSpPr>
        <p:spPr>
          <a:xfrm>
            <a:off x="3825031" y="3597444"/>
            <a:ext cx="4541939" cy="369332"/>
          </a:xfrm>
          <a:prstGeom prst="rect">
            <a:avLst/>
          </a:prstGeom>
          <a:noFill/>
        </p:spPr>
        <p:txBody>
          <a:bodyPr wrap="square">
            <a:spAutoFit/>
          </a:bodyPr>
          <a:lstStyle/>
          <a:p>
            <a:pPr algn="ctr"/>
            <a:r>
              <a:rPr lang="en-US" altLang="ja-JP" dirty="0">
                <a:solidFill>
                  <a:schemeClr val="bg1"/>
                </a:solidFill>
                <a:latin typeface="Poppins" panose="00000500000000000000" pitchFamily="2" charset="0"/>
                <a:cs typeface="Poppins" panose="00000500000000000000" pitchFamily="2" charset="0"/>
              </a:rPr>
              <a:t>The world is drawn on </a:t>
            </a:r>
            <a:r>
              <a:rPr lang="en-US" altLang="ja-JP" dirty="0" err="1">
                <a:solidFill>
                  <a:schemeClr val="bg1"/>
                </a:solidFill>
                <a:latin typeface="Poppins" panose="00000500000000000000" pitchFamily="2" charset="0"/>
                <a:cs typeface="Poppins" panose="00000500000000000000" pitchFamily="2" charset="0"/>
              </a:rPr>
              <a:t>ibisPaint</a:t>
            </a:r>
            <a:endParaRPr lang="ja-JP" altLang="en-US" spc="300" dirty="0">
              <a:solidFill>
                <a:schemeClr val="bg1"/>
              </a:solidFill>
              <a:latin typeface="Poppins" panose="00000500000000000000" pitchFamily="2" charset="0"/>
              <a:ea typeface="M PLUS 1p Medium" panose="020B0502020203020207" pitchFamily="34" charset="-128"/>
              <a:cs typeface="Poppins" panose="00000500000000000000" pitchFamily="2" charset="0"/>
            </a:endParaRPr>
          </a:p>
        </p:txBody>
      </p:sp>
      <p:sp>
        <p:nvSpPr>
          <p:cNvPr id="43" name="テキスト ボックス 42">
            <a:extLst>
              <a:ext uri="{FF2B5EF4-FFF2-40B4-BE49-F238E27FC236}">
                <a16:creationId xmlns:a16="http://schemas.microsoft.com/office/drawing/2014/main" id="{64DA5DA0-0E35-811E-9B83-78C88E0959F2}"/>
              </a:ext>
            </a:extLst>
          </p:cNvPr>
          <p:cNvSpPr txBox="1"/>
          <p:nvPr/>
        </p:nvSpPr>
        <p:spPr>
          <a:xfrm>
            <a:off x="629050" y="4748699"/>
            <a:ext cx="3476456" cy="523220"/>
          </a:xfrm>
          <a:prstGeom prst="rect">
            <a:avLst/>
          </a:prstGeom>
          <a:noFill/>
        </p:spPr>
        <p:txBody>
          <a:bodyPr wrap="square">
            <a:spAutoFit/>
          </a:bodyPr>
          <a:lstStyle/>
          <a:p>
            <a:pPr algn="ctr"/>
            <a:r>
              <a:rPr lang="en-US" altLang="ja-JP" sz="1400" dirty="0">
                <a:solidFill>
                  <a:schemeClr val="bg1"/>
                </a:solidFill>
                <a:latin typeface="Poppins Medium" pitchFamily="2" charset="0"/>
                <a:cs typeface="Poppins Medium" pitchFamily="2" charset="0"/>
              </a:rPr>
              <a:t>The go-to drawing app ranked No.1 for 7 consecutive years</a:t>
            </a:r>
            <a:r>
              <a:rPr lang="en-US" altLang="ja-JP" sz="1400" baseline="30000" dirty="0">
                <a:solidFill>
                  <a:schemeClr val="bg1"/>
                </a:solidFill>
                <a:effectLst/>
                <a:latin typeface="Poppins Medium" pitchFamily="2" charset="0"/>
                <a:ea typeface="M PLUS 1p Medium" panose="020B0502020203020207" pitchFamily="34" charset="-128"/>
                <a:cs typeface="Poppins Medium" pitchFamily="2" charset="0"/>
              </a:rPr>
              <a:t>※1</a:t>
            </a:r>
            <a:endParaRPr lang="ja-JP" altLang="en-US" sz="1400" baseline="30000" dirty="0">
              <a:solidFill>
                <a:schemeClr val="bg1"/>
              </a:solidFill>
              <a:latin typeface="Poppins Medium" pitchFamily="2" charset="0"/>
              <a:ea typeface="M PLUS 1p Medium" panose="020B0502020203020207" pitchFamily="34" charset="-128"/>
              <a:cs typeface="Poppins Medium" pitchFamily="2" charset="0"/>
            </a:endParaRPr>
          </a:p>
        </p:txBody>
      </p:sp>
      <p:sp>
        <p:nvSpPr>
          <p:cNvPr id="45" name="テキスト ボックス 44">
            <a:extLst>
              <a:ext uri="{FF2B5EF4-FFF2-40B4-BE49-F238E27FC236}">
                <a16:creationId xmlns:a16="http://schemas.microsoft.com/office/drawing/2014/main" id="{B32393A1-0E1A-7EB2-42D4-6160465349B0}"/>
              </a:ext>
            </a:extLst>
          </p:cNvPr>
          <p:cNvSpPr txBox="1"/>
          <p:nvPr/>
        </p:nvSpPr>
        <p:spPr>
          <a:xfrm>
            <a:off x="1108882" y="5266512"/>
            <a:ext cx="2516793" cy="507062"/>
          </a:xfrm>
          <a:prstGeom prst="rect">
            <a:avLst/>
          </a:prstGeom>
          <a:noFill/>
        </p:spPr>
        <p:txBody>
          <a:bodyPr wrap="square">
            <a:spAutoFit/>
          </a:bodyPr>
          <a:lstStyle/>
          <a:p>
            <a:pPr>
              <a:lnSpc>
                <a:spcPct val="140000"/>
              </a:lnSpc>
            </a:pPr>
            <a:r>
              <a:rPr lang="ja-JP" altLang="en-US" sz="1000" dirty="0">
                <a:solidFill>
                  <a:schemeClr val="bg1"/>
                </a:solidFill>
                <a:effectLst/>
                <a:latin typeface="Poppins" panose="00000500000000000000" pitchFamily="2" charset="0"/>
                <a:ea typeface="M PLUS 1p" panose="020B0502020203020207" pitchFamily="34" charset="-128"/>
                <a:cs typeface="Poppins" panose="00000500000000000000" pitchFamily="2" charset="0"/>
              </a:rPr>
              <a:t>⚫︎</a:t>
            </a:r>
            <a:r>
              <a:rPr lang="en-US" altLang="ja-JP" sz="1000" dirty="0">
                <a:solidFill>
                  <a:schemeClr val="bg1"/>
                </a:solidFill>
                <a:effectLst/>
                <a:latin typeface="Poppins" panose="00000500000000000000" pitchFamily="2" charset="0"/>
                <a:ea typeface="M PLUS 1p" panose="020B0502020203020207" pitchFamily="34" charset="-128"/>
                <a:cs typeface="Poppins" panose="00000500000000000000" pitchFamily="2" charset="0"/>
              </a:rPr>
              <a:t> </a:t>
            </a:r>
            <a:r>
              <a:rPr lang="en-AU" altLang="ja-JP" sz="1000" dirty="0">
                <a:solidFill>
                  <a:schemeClr val="bg1"/>
                </a:solidFill>
                <a:latin typeface="Poppins" panose="00000500000000000000" pitchFamily="2" charset="0"/>
                <a:cs typeface="Poppins" panose="00000500000000000000" pitchFamily="2" charset="0"/>
              </a:rPr>
              <a:t>Overseas MAU Ratio: Over 90%</a:t>
            </a:r>
            <a:r>
              <a:rPr lang="en-US" altLang="ja-JP" sz="1000" baseline="30000" dirty="0">
                <a:solidFill>
                  <a:schemeClr val="bg1"/>
                </a:solidFill>
                <a:effectLst/>
                <a:latin typeface="Poppins" panose="00000500000000000000" pitchFamily="2" charset="0"/>
                <a:ea typeface="M PLUS 1p" panose="020B0502020203020207" pitchFamily="34" charset="-128"/>
                <a:cs typeface="Poppins" panose="00000500000000000000" pitchFamily="2" charset="0"/>
              </a:rPr>
              <a:t>※2</a:t>
            </a:r>
          </a:p>
          <a:p>
            <a:pPr>
              <a:lnSpc>
                <a:spcPct val="140000"/>
              </a:lnSpc>
            </a:pPr>
            <a:r>
              <a:rPr lang="ja-JP" altLang="en-US" sz="1000" dirty="0">
                <a:solidFill>
                  <a:schemeClr val="bg1"/>
                </a:solidFill>
                <a:latin typeface="Poppins" panose="00000500000000000000" pitchFamily="2" charset="0"/>
                <a:ea typeface="M PLUS 1p" panose="020B0502020203020207" pitchFamily="34" charset="-128"/>
                <a:cs typeface="Poppins" panose="00000500000000000000" pitchFamily="2" charset="0"/>
              </a:rPr>
              <a:t>⚫︎</a:t>
            </a:r>
            <a:r>
              <a:rPr lang="en-AU" altLang="ja-JP" sz="1000" dirty="0">
                <a:solidFill>
                  <a:schemeClr val="bg1"/>
                </a:solidFill>
                <a:latin typeface="Poppins" panose="00000500000000000000" pitchFamily="2" charset="0"/>
                <a:cs typeface="Poppins" panose="00000500000000000000" pitchFamily="2" charset="0"/>
              </a:rPr>
              <a:t> Cumulative Downloads: 520 million</a:t>
            </a:r>
            <a:endParaRPr lang="ja-JP" altLang="en-US" sz="1000" dirty="0">
              <a:solidFill>
                <a:schemeClr val="bg1"/>
              </a:solidFill>
              <a:latin typeface="Poppins" panose="00000500000000000000" pitchFamily="2" charset="0"/>
              <a:ea typeface="M PLUS 1p" panose="020B0502020203020207" pitchFamily="34" charset="-128"/>
              <a:cs typeface="Poppins" panose="00000500000000000000" pitchFamily="2" charset="0"/>
            </a:endParaRPr>
          </a:p>
        </p:txBody>
      </p:sp>
      <p:sp>
        <p:nvSpPr>
          <p:cNvPr id="78" name="テキスト ボックス 77">
            <a:extLst>
              <a:ext uri="{FF2B5EF4-FFF2-40B4-BE49-F238E27FC236}">
                <a16:creationId xmlns:a16="http://schemas.microsoft.com/office/drawing/2014/main" id="{36E4A9E5-8877-F754-FCD7-5835110B215F}"/>
              </a:ext>
            </a:extLst>
          </p:cNvPr>
          <p:cNvSpPr txBox="1"/>
          <p:nvPr/>
        </p:nvSpPr>
        <p:spPr>
          <a:xfrm>
            <a:off x="4457003" y="4748699"/>
            <a:ext cx="3277994" cy="523220"/>
          </a:xfrm>
          <a:prstGeom prst="rect">
            <a:avLst/>
          </a:prstGeom>
          <a:noFill/>
        </p:spPr>
        <p:txBody>
          <a:bodyPr wrap="square">
            <a:spAutoFit/>
          </a:bodyPr>
          <a:lstStyle/>
          <a:p>
            <a:pPr algn="ctr"/>
            <a:r>
              <a:rPr lang="en-AU" altLang="ja-JP" sz="1400" dirty="0">
                <a:solidFill>
                  <a:schemeClr val="bg1"/>
                </a:solidFill>
                <a:latin typeface="Poppins Medium" pitchFamily="2" charset="0"/>
                <a:cs typeface="Poppins Medium" pitchFamily="2" charset="0"/>
              </a:rPr>
              <a:t>In-house ads accelerate subscriptions</a:t>
            </a:r>
            <a:endParaRPr lang="ja-JP" altLang="en-US" sz="1400" dirty="0">
              <a:solidFill>
                <a:schemeClr val="bg1"/>
              </a:solidFill>
              <a:effectLst/>
              <a:latin typeface="Poppins Medium" pitchFamily="2" charset="0"/>
              <a:ea typeface="M PLUS 1p Medium" panose="020B0502020203020207" pitchFamily="34" charset="-128"/>
              <a:cs typeface="Poppins Medium" pitchFamily="2" charset="0"/>
            </a:endParaRPr>
          </a:p>
        </p:txBody>
      </p:sp>
      <p:sp>
        <p:nvSpPr>
          <p:cNvPr id="85" name="テキスト ボックス 84">
            <a:extLst>
              <a:ext uri="{FF2B5EF4-FFF2-40B4-BE49-F238E27FC236}">
                <a16:creationId xmlns:a16="http://schemas.microsoft.com/office/drawing/2014/main" id="{D3FC8759-09BD-8333-B09E-D3A363579059}"/>
              </a:ext>
            </a:extLst>
          </p:cNvPr>
          <p:cNvSpPr txBox="1"/>
          <p:nvPr/>
        </p:nvSpPr>
        <p:spPr>
          <a:xfrm>
            <a:off x="8177253" y="4856421"/>
            <a:ext cx="3277994" cy="307777"/>
          </a:xfrm>
          <a:prstGeom prst="rect">
            <a:avLst/>
          </a:prstGeom>
          <a:noFill/>
        </p:spPr>
        <p:txBody>
          <a:bodyPr wrap="square">
            <a:spAutoFit/>
          </a:bodyPr>
          <a:lstStyle/>
          <a:p>
            <a:pPr algn="ctr"/>
            <a:r>
              <a:rPr lang="en-US" altLang="ja-JP" sz="1400" dirty="0">
                <a:solidFill>
                  <a:schemeClr val="bg1"/>
                </a:solidFill>
                <a:latin typeface="Poppins Medium" pitchFamily="2" charset="0"/>
                <a:cs typeface="Poppins Medium" pitchFamily="2" charset="0"/>
              </a:rPr>
              <a:t>Japanese IP leads the market</a:t>
            </a:r>
            <a:endParaRPr lang="ja-JP" altLang="en-US" sz="1400" dirty="0">
              <a:solidFill>
                <a:schemeClr val="bg1"/>
              </a:solidFill>
              <a:effectLst/>
              <a:latin typeface="Poppins Medium" pitchFamily="2" charset="0"/>
              <a:ea typeface="M PLUS 1p Medium" panose="020B0502020203020207" pitchFamily="34" charset="-128"/>
              <a:cs typeface="Poppins Medium" pitchFamily="2" charset="0"/>
            </a:endParaRPr>
          </a:p>
        </p:txBody>
      </p:sp>
      <p:sp>
        <p:nvSpPr>
          <p:cNvPr id="95" name="テキスト ボックス 94">
            <a:extLst>
              <a:ext uri="{FF2B5EF4-FFF2-40B4-BE49-F238E27FC236}">
                <a16:creationId xmlns:a16="http://schemas.microsoft.com/office/drawing/2014/main" id="{09F541A5-94E0-8AC8-6270-830916E6B150}"/>
              </a:ext>
            </a:extLst>
          </p:cNvPr>
          <p:cNvSpPr txBox="1"/>
          <p:nvPr/>
        </p:nvSpPr>
        <p:spPr>
          <a:xfrm>
            <a:off x="8214578" y="5266512"/>
            <a:ext cx="3137293" cy="507831"/>
          </a:xfrm>
          <a:prstGeom prst="rect">
            <a:avLst/>
          </a:prstGeom>
          <a:noFill/>
        </p:spPr>
        <p:txBody>
          <a:bodyPr wrap="square">
            <a:spAutoFit/>
          </a:bodyPr>
          <a:lstStyle/>
          <a:p>
            <a:pPr>
              <a:lnSpc>
                <a:spcPct val="140000"/>
              </a:lnSpc>
            </a:pPr>
            <a:r>
              <a:rPr lang="ja-JP" altLang="en-US" sz="1000" dirty="0">
                <a:solidFill>
                  <a:schemeClr val="bg1"/>
                </a:solidFill>
                <a:effectLst/>
                <a:latin typeface="M PLUS 1p" panose="020B0502020203020207" pitchFamily="34" charset="-128"/>
                <a:ea typeface="M PLUS 1p" panose="020B0502020203020207" pitchFamily="34" charset="-128"/>
                <a:cs typeface="M PLUS 1p" panose="020B0502020203020207" pitchFamily="34" charset="-128"/>
              </a:rPr>
              <a:t>⚫︎</a:t>
            </a:r>
            <a:r>
              <a:rPr lang="en-US" altLang="ja-JP" sz="1000" dirty="0">
                <a:solidFill>
                  <a:schemeClr val="bg1"/>
                </a:solidFill>
                <a:effectLst/>
                <a:latin typeface="M PLUS 1p" panose="020B0502020203020207" pitchFamily="34" charset="-128"/>
                <a:ea typeface="M PLUS 1p" panose="020B0502020203020207" pitchFamily="34" charset="-128"/>
                <a:cs typeface="M PLUS 1p" panose="020B0502020203020207" pitchFamily="34" charset="-128"/>
              </a:rPr>
              <a:t> </a:t>
            </a:r>
            <a:r>
              <a:rPr lang="en-US" altLang="ja-JP" sz="1000" dirty="0">
                <a:solidFill>
                  <a:schemeClr val="bg1"/>
                </a:solidFill>
                <a:latin typeface="Poppins" panose="00000500000000000000" pitchFamily="2" charset="0"/>
                <a:cs typeface="Poppins" panose="00000500000000000000" pitchFamily="2" charset="0"/>
              </a:rPr>
              <a:t>Global IP Market</a:t>
            </a:r>
            <a:r>
              <a:rPr lang="ja-JP" altLang="en-US" sz="1000" dirty="0">
                <a:solidFill>
                  <a:schemeClr val="bg1"/>
                </a:solidFill>
                <a:latin typeface="Poppins" panose="00000500000000000000" pitchFamily="2" charset="0"/>
                <a:cs typeface="Poppins" panose="00000500000000000000" pitchFamily="2" charset="0"/>
              </a:rPr>
              <a:t>：</a:t>
            </a:r>
            <a:r>
              <a:rPr lang="en-US" altLang="ja-JP" sz="1000" dirty="0">
                <a:solidFill>
                  <a:schemeClr val="bg1"/>
                </a:solidFill>
                <a:latin typeface="Poppins" panose="00000500000000000000" pitchFamily="2" charset="0"/>
                <a:cs typeface="Poppins" panose="00000500000000000000" pitchFamily="2" charset="0"/>
              </a:rPr>
              <a:t> </a:t>
            </a:r>
          </a:p>
          <a:p>
            <a:pPr>
              <a:lnSpc>
                <a:spcPct val="140000"/>
              </a:lnSpc>
            </a:pPr>
            <a:r>
              <a:rPr lang="ja-JP" altLang="en-US" sz="1000" dirty="0">
                <a:solidFill>
                  <a:schemeClr val="bg1"/>
                </a:solidFill>
                <a:latin typeface="Poppins" panose="00000500000000000000" pitchFamily="2" charset="0"/>
                <a:cs typeface="Poppins" panose="00000500000000000000" pitchFamily="2" charset="0"/>
              </a:rPr>
              <a:t>　</a:t>
            </a:r>
            <a:r>
              <a:rPr lang="en-US" altLang="ja-JP" sz="1000" dirty="0">
                <a:solidFill>
                  <a:schemeClr val="bg1"/>
                </a:solidFill>
                <a:latin typeface="Poppins" panose="00000500000000000000" pitchFamily="2" charset="0"/>
                <a:cs typeface="Poppins" panose="00000500000000000000" pitchFamily="2" charset="0"/>
              </a:rPr>
              <a:t>Expected to Reach JPY 20 Trillion by 2033 </a:t>
            </a:r>
            <a:r>
              <a:rPr lang="en-US" altLang="ja-JP" sz="1000" baseline="30000" dirty="0">
                <a:solidFill>
                  <a:schemeClr val="bg1"/>
                </a:solidFill>
                <a:effectLst/>
                <a:latin typeface="M PLUS 1p" panose="020B0502020203020207" pitchFamily="34" charset="-128"/>
                <a:ea typeface="M PLUS 1p" panose="020B0502020203020207" pitchFamily="34" charset="-128"/>
                <a:cs typeface="M PLUS 1p" panose="020B0502020203020207" pitchFamily="34" charset="-128"/>
              </a:rPr>
              <a:t>※3</a:t>
            </a:r>
            <a:endParaRPr lang="ja-JP" altLang="en-US" sz="1000" baseline="30000" dirty="0">
              <a:solidFill>
                <a:schemeClr val="bg1"/>
              </a:solidFill>
              <a:latin typeface="M PLUS 1p" panose="020B0502020203020207" pitchFamily="34" charset="-128"/>
              <a:ea typeface="M PLUS 1p" panose="020B0502020203020207" pitchFamily="34" charset="-128"/>
              <a:cs typeface="M PLUS 1p" panose="020B0502020203020207" pitchFamily="34" charset="-128"/>
            </a:endParaRPr>
          </a:p>
        </p:txBody>
      </p:sp>
      <p:pic>
        <p:nvPicPr>
          <p:cNvPr id="12" name="図 11">
            <a:extLst>
              <a:ext uri="{FF2B5EF4-FFF2-40B4-BE49-F238E27FC236}">
                <a16:creationId xmlns:a16="http://schemas.microsoft.com/office/drawing/2014/main" id="{B37D2512-4F85-65BA-8DEF-4E137CA90C9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907024" y="775519"/>
            <a:ext cx="2377953" cy="653733"/>
          </a:xfrm>
          <a:prstGeom prst="rect">
            <a:avLst/>
          </a:prstGeom>
        </p:spPr>
      </p:pic>
      <p:sp>
        <p:nvSpPr>
          <p:cNvPr id="39" name="フリーフォーム 38">
            <a:extLst>
              <a:ext uri="{FF2B5EF4-FFF2-40B4-BE49-F238E27FC236}">
                <a16:creationId xmlns:a16="http://schemas.microsoft.com/office/drawing/2014/main" id="{A43EAE55-93A6-7EED-13D4-19454B9A2FAE}"/>
              </a:ext>
            </a:extLst>
          </p:cNvPr>
          <p:cNvSpPr/>
          <p:nvPr/>
        </p:nvSpPr>
        <p:spPr>
          <a:xfrm>
            <a:off x="638406" y="4544653"/>
            <a:ext cx="3457744" cy="45719"/>
          </a:xfrm>
          <a:custGeom>
            <a:avLst/>
            <a:gdLst>
              <a:gd name="csX0" fmla="*/ 122067 w 3457744"/>
              <a:gd name="csY0" fmla="*/ 0 h 45719"/>
              <a:gd name="csX1" fmla="*/ 3335677 w 3457744"/>
              <a:gd name="csY1" fmla="*/ 0 h 45719"/>
              <a:gd name="csX2" fmla="*/ 3413125 w 3457744"/>
              <a:gd name="csY2" fmla="*/ 15636 h 45719"/>
              <a:gd name="csX3" fmla="*/ 3457744 w 3457744"/>
              <a:gd name="csY3" fmla="*/ 45719 h 45719"/>
              <a:gd name="csX4" fmla="*/ 0 w 3457744"/>
              <a:gd name="csY4" fmla="*/ 45719 h 45719"/>
              <a:gd name="csX5" fmla="*/ 44619 w 3457744"/>
              <a:gd name="csY5" fmla="*/ 15636 h 45719"/>
              <a:gd name="csX6" fmla="*/ 122067 w 3457744"/>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57744" h="45719">
                <a:moveTo>
                  <a:pt x="122067" y="0"/>
                </a:moveTo>
                <a:lnTo>
                  <a:pt x="3335677" y="0"/>
                </a:lnTo>
                <a:cubicBezTo>
                  <a:pt x="3363149" y="0"/>
                  <a:pt x="3389321" y="5568"/>
                  <a:pt x="3413125" y="15636"/>
                </a:cubicBezTo>
                <a:lnTo>
                  <a:pt x="3457744" y="45719"/>
                </a:lnTo>
                <a:lnTo>
                  <a:pt x="0" y="45719"/>
                </a:lnTo>
                <a:lnTo>
                  <a:pt x="44619" y="15636"/>
                </a:lnTo>
                <a:cubicBezTo>
                  <a:pt x="68424" y="5568"/>
                  <a:pt x="94595" y="0"/>
                  <a:pt x="122067" y="0"/>
                </a:cubicBezTo>
                <a:close/>
              </a:path>
            </a:pathLst>
          </a:custGeom>
          <a:gradFill>
            <a:gsLst>
              <a:gs pos="22000">
                <a:schemeClr val="accent1">
                  <a:lumMod val="45000"/>
                  <a:lumOff val="55000"/>
                </a:schemeClr>
              </a:gs>
              <a:gs pos="85000">
                <a:srgbClr val="A1BFFF"/>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46" name="フリーフォーム 45">
            <a:extLst>
              <a:ext uri="{FF2B5EF4-FFF2-40B4-BE49-F238E27FC236}">
                <a16:creationId xmlns:a16="http://schemas.microsoft.com/office/drawing/2014/main" id="{7AC000EA-13F8-6854-77A4-6DAF58E632CE}"/>
              </a:ext>
            </a:extLst>
          </p:cNvPr>
          <p:cNvSpPr/>
          <p:nvPr/>
        </p:nvSpPr>
        <p:spPr>
          <a:xfrm>
            <a:off x="4367128" y="4544653"/>
            <a:ext cx="3457744" cy="45719"/>
          </a:xfrm>
          <a:custGeom>
            <a:avLst/>
            <a:gdLst>
              <a:gd name="csX0" fmla="*/ 122067 w 3457744"/>
              <a:gd name="csY0" fmla="*/ 0 h 45719"/>
              <a:gd name="csX1" fmla="*/ 3335677 w 3457744"/>
              <a:gd name="csY1" fmla="*/ 0 h 45719"/>
              <a:gd name="csX2" fmla="*/ 3413125 w 3457744"/>
              <a:gd name="csY2" fmla="*/ 15636 h 45719"/>
              <a:gd name="csX3" fmla="*/ 3457744 w 3457744"/>
              <a:gd name="csY3" fmla="*/ 45719 h 45719"/>
              <a:gd name="csX4" fmla="*/ 0 w 3457744"/>
              <a:gd name="csY4" fmla="*/ 45719 h 45719"/>
              <a:gd name="csX5" fmla="*/ 44619 w 3457744"/>
              <a:gd name="csY5" fmla="*/ 15636 h 45719"/>
              <a:gd name="csX6" fmla="*/ 122067 w 3457744"/>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57744" h="45719">
                <a:moveTo>
                  <a:pt x="122067" y="0"/>
                </a:moveTo>
                <a:lnTo>
                  <a:pt x="3335677" y="0"/>
                </a:lnTo>
                <a:cubicBezTo>
                  <a:pt x="3363149" y="0"/>
                  <a:pt x="3389321" y="5568"/>
                  <a:pt x="3413125" y="15636"/>
                </a:cubicBezTo>
                <a:lnTo>
                  <a:pt x="3457744" y="45719"/>
                </a:lnTo>
                <a:lnTo>
                  <a:pt x="0" y="45719"/>
                </a:lnTo>
                <a:lnTo>
                  <a:pt x="44619" y="15636"/>
                </a:lnTo>
                <a:cubicBezTo>
                  <a:pt x="68424" y="5568"/>
                  <a:pt x="94595" y="0"/>
                  <a:pt x="122067" y="0"/>
                </a:cubicBezTo>
                <a:close/>
              </a:path>
            </a:pathLst>
          </a:custGeom>
          <a:gradFill flip="none" rotWithShape="1">
            <a:gsLst>
              <a:gs pos="93000">
                <a:schemeClr val="accent1">
                  <a:lumMod val="45000"/>
                  <a:lumOff val="55000"/>
                </a:schemeClr>
              </a:gs>
              <a:gs pos="14000">
                <a:srgbClr val="28D8FF"/>
              </a:gs>
            </a:gsLst>
            <a:path path="circle">
              <a:fillToRect l="100000" t="10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3" name="フリーフォーム 52">
            <a:extLst>
              <a:ext uri="{FF2B5EF4-FFF2-40B4-BE49-F238E27FC236}">
                <a16:creationId xmlns:a16="http://schemas.microsoft.com/office/drawing/2014/main" id="{6A58BE1B-EFF9-4A82-9C6F-1B960051F01E}"/>
              </a:ext>
            </a:extLst>
          </p:cNvPr>
          <p:cNvSpPr/>
          <p:nvPr/>
        </p:nvSpPr>
        <p:spPr>
          <a:xfrm>
            <a:off x="8087378" y="4544653"/>
            <a:ext cx="3457744" cy="45719"/>
          </a:xfrm>
          <a:custGeom>
            <a:avLst/>
            <a:gdLst>
              <a:gd name="csX0" fmla="*/ 122067 w 3457744"/>
              <a:gd name="csY0" fmla="*/ 0 h 45719"/>
              <a:gd name="csX1" fmla="*/ 3335677 w 3457744"/>
              <a:gd name="csY1" fmla="*/ 0 h 45719"/>
              <a:gd name="csX2" fmla="*/ 3413125 w 3457744"/>
              <a:gd name="csY2" fmla="*/ 15636 h 45719"/>
              <a:gd name="csX3" fmla="*/ 3457744 w 3457744"/>
              <a:gd name="csY3" fmla="*/ 45719 h 45719"/>
              <a:gd name="csX4" fmla="*/ 0 w 3457744"/>
              <a:gd name="csY4" fmla="*/ 45719 h 45719"/>
              <a:gd name="csX5" fmla="*/ 44619 w 3457744"/>
              <a:gd name="csY5" fmla="*/ 15636 h 45719"/>
              <a:gd name="csX6" fmla="*/ 122067 w 3457744"/>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57744" h="45719">
                <a:moveTo>
                  <a:pt x="122067" y="0"/>
                </a:moveTo>
                <a:lnTo>
                  <a:pt x="3335677" y="0"/>
                </a:lnTo>
                <a:cubicBezTo>
                  <a:pt x="3363149" y="0"/>
                  <a:pt x="3389321" y="5568"/>
                  <a:pt x="3413125" y="15636"/>
                </a:cubicBezTo>
                <a:lnTo>
                  <a:pt x="3457744" y="45719"/>
                </a:lnTo>
                <a:lnTo>
                  <a:pt x="0" y="45719"/>
                </a:lnTo>
                <a:lnTo>
                  <a:pt x="44619" y="15636"/>
                </a:lnTo>
                <a:cubicBezTo>
                  <a:pt x="68424" y="5568"/>
                  <a:pt x="94595" y="0"/>
                  <a:pt x="122067" y="0"/>
                </a:cubicBezTo>
                <a:close/>
              </a:path>
            </a:pathLst>
          </a:custGeom>
          <a:gradFill flip="none" rotWithShape="1">
            <a:gsLst>
              <a:gs pos="3000">
                <a:srgbClr val="CA16FA"/>
              </a:gs>
              <a:gs pos="100000">
                <a:srgbClr val="28D8FF"/>
              </a:gs>
            </a:gsLst>
            <a:path path="circle">
              <a:fillToRect l="100000" t="10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6" name="テキスト ボックス 25">
            <a:extLst>
              <a:ext uri="{FF2B5EF4-FFF2-40B4-BE49-F238E27FC236}">
                <a16:creationId xmlns:a16="http://schemas.microsoft.com/office/drawing/2014/main" id="{EEF0A530-E6C1-9D1A-7ADC-9691E348F61C}"/>
              </a:ext>
            </a:extLst>
          </p:cNvPr>
          <p:cNvSpPr txBox="1"/>
          <p:nvPr/>
        </p:nvSpPr>
        <p:spPr>
          <a:xfrm>
            <a:off x="4427514" y="5266512"/>
            <a:ext cx="3370543" cy="507062"/>
          </a:xfrm>
          <a:prstGeom prst="rect">
            <a:avLst/>
          </a:prstGeom>
          <a:noFill/>
        </p:spPr>
        <p:txBody>
          <a:bodyPr wrap="square">
            <a:spAutoFit/>
          </a:bodyPr>
          <a:lstStyle/>
          <a:p>
            <a:pPr>
              <a:lnSpc>
                <a:spcPct val="140000"/>
              </a:lnSpc>
            </a:pPr>
            <a:r>
              <a:rPr lang="ja-JP" altLang="en-US" sz="1000" dirty="0">
                <a:solidFill>
                  <a:schemeClr val="bg1"/>
                </a:solidFill>
                <a:latin typeface="Poppins" panose="00000500000000000000" pitchFamily="2" charset="0"/>
                <a:ea typeface="M PLUS 1p" panose="020B0502020203020207" pitchFamily="34" charset="-128"/>
                <a:cs typeface="Poppins" panose="00000500000000000000" pitchFamily="2" charset="0"/>
              </a:rPr>
              <a:t>⚫︎</a:t>
            </a:r>
            <a:r>
              <a:rPr lang="en-US" altLang="ja-JP" sz="1000" dirty="0">
                <a:solidFill>
                  <a:schemeClr val="bg1"/>
                </a:solidFill>
                <a:latin typeface="Poppins" panose="00000500000000000000" pitchFamily="2" charset="0"/>
                <a:ea typeface="M PLUS 1p" panose="020B0502020203020207" pitchFamily="34" charset="-128"/>
                <a:cs typeface="Poppins" panose="00000500000000000000" pitchFamily="2" charset="0"/>
              </a:rPr>
              <a:t> </a:t>
            </a:r>
            <a:r>
              <a:rPr lang="en-US" altLang="ja-JP" sz="1000" dirty="0">
                <a:solidFill>
                  <a:schemeClr val="bg1"/>
                </a:solidFill>
                <a:latin typeface="Poppins" panose="00000500000000000000" pitchFamily="2" charset="0"/>
                <a:cs typeface="Poppins" panose="00000500000000000000" pitchFamily="2" charset="0"/>
              </a:rPr>
              <a:t>Subscribers: 397K (Paid Conversion Rate: 1.0%)</a:t>
            </a:r>
            <a:br>
              <a:rPr lang="en-US" altLang="ja-JP" sz="1000" dirty="0">
                <a:solidFill>
                  <a:schemeClr val="bg1"/>
                </a:solidFill>
                <a:latin typeface="Poppins" panose="00000500000000000000" pitchFamily="2" charset="0"/>
                <a:cs typeface="Poppins" panose="00000500000000000000" pitchFamily="2" charset="0"/>
              </a:rPr>
            </a:br>
            <a:r>
              <a:rPr lang="ja-JP" altLang="en-US" sz="1000" dirty="0">
                <a:solidFill>
                  <a:schemeClr val="bg1"/>
                </a:solidFill>
                <a:latin typeface="Poppins" panose="00000500000000000000" pitchFamily="2" charset="0"/>
                <a:ea typeface="M PLUS 1p" panose="020B0502020203020207" pitchFamily="34" charset="-128"/>
                <a:cs typeface="Poppins" panose="00000500000000000000" pitchFamily="2" charset="0"/>
              </a:rPr>
              <a:t>⚫︎</a:t>
            </a:r>
            <a:r>
              <a:rPr lang="en-US" altLang="ja-JP" sz="1000" dirty="0">
                <a:solidFill>
                  <a:schemeClr val="bg1"/>
                </a:solidFill>
                <a:latin typeface="Poppins" panose="00000500000000000000" pitchFamily="2" charset="0"/>
                <a:ea typeface="M PLUS 1p" panose="020B0502020203020207" pitchFamily="34" charset="-128"/>
                <a:cs typeface="Poppins" panose="00000500000000000000" pitchFamily="2" charset="0"/>
              </a:rPr>
              <a:t> Subscription </a:t>
            </a:r>
            <a:r>
              <a:rPr lang="en-US" altLang="ja-JP" sz="1000" dirty="0">
                <a:solidFill>
                  <a:schemeClr val="bg1"/>
                </a:solidFill>
                <a:latin typeface="Poppins" panose="00000500000000000000" pitchFamily="2" charset="0"/>
                <a:cs typeface="Poppins" panose="00000500000000000000" pitchFamily="2" charset="0"/>
              </a:rPr>
              <a:t>ARPU: 17.1x In-app Advertising ARPU</a:t>
            </a:r>
            <a:endParaRPr lang="ja-JP" altLang="en-US" sz="1000" dirty="0">
              <a:solidFill>
                <a:schemeClr val="bg1"/>
              </a:solidFill>
              <a:latin typeface="Poppins" panose="00000500000000000000" pitchFamily="2" charset="0"/>
              <a:ea typeface="M PLUS 1p" panose="020B0502020203020207" pitchFamily="34" charset="-128"/>
              <a:cs typeface="Poppins" panose="00000500000000000000" pitchFamily="2" charset="0"/>
            </a:endParaRPr>
          </a:p>
        </p:txBody>
      </p:sp>
      <p:sp>
        <p:nvSpPr>
          <p:cNvPr id="10" name="コンテンツ プレースホルダー 1">
            <a:extLst>
              <a:ext uri="{FF2B5EF4-FFF2-40B4-BE49-F238E27FC236}">
                <a16:creationId xmlns:a16="http://schemas.microsoft.com/office/drawing/2014/main" id="{E6CB1815-4921-35F7-8140-8EE6B23474E8}"/>
              </a:ext>
            </a:extLst>
          </p:cNvPr>
          <p:cNvSpPr txBox="1">
            <a:spLocks/>
          </p:cNvSpPr>
          <p:nvPr/>
        </p:nvSpPr>
        <p:spPr>
          <a:xfrm>
            <a:off x="2044700" y="5035709"/>
            <a:ext cx="9970297" cy="1620110"/>
          </a:xfrm>
          <a:prstGeom prst="rect">
            <a:avLst/>
          </a:prstGeom>
        </p:spPr>
        <p:txBody>
          <a:bodyPr vert="horz" lIns="91440" tIns="45720" rIns="91440" bIns="45720" rtlCol="0" anchor="b"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*1 App Store “Graphics &amp; Design” category (from 2019 through January-November 2025), global basis, Monthly Active Users (MAU). Source: </a:t>
            </a:r>
            <a:r>
              <a:rPr kumimoji="1" lang="en-US" altLang="ja-JP" sz="700" b="0" i="0" u="none" strike="noStrike" kern="1200" cap="none" spc="0" normalizeH="0" baseline="0" noProof="0" dirty="0" err="1">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data.ai</a:t>
            </a: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 by Sensor Tower</a:t>
            </a:r>
          </a:p>
          <a:p>
            <a:pPr marL="0" marR="0" lvl="0" indent="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*2 January–December 2025, global basis, Monthly Active Users (MAU). Source: Company research</a:t>
            </a:r>
          </a:p>
          <a:p>
            <a:pPr marL="0" marR="0" lvl="0" indent="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*3 Source: “Intellectual Property Strategic Program 2025,” Cabinet Office of Japan. Available at: https://</a:t>
            </a:r>
            <a:r>
              <a:rPr kumimoji="1" lang="en-US" altLang="ja-JP" sz="700" b="0" i="0" u="none" strike="noStrike" kern="1200" cap="none" spc="0" normalizeH="0" baseline="0" noProof="0" dirty="0" err="1">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www.cas.go.jp</a:t>
            </a: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a:t>
            </a:r>
            <a:r>
              <a:rPr kumimoji="1" lang="en-US" altLang="ja-JP" sz="700" b="0" i="0" u="none" strike="noStrike" kern="1200" cap="none" spc="0" normalizeH="0" baseline="0" noProof="0" dirty="0" err="1">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jp</a:t>
            </a: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a:t>
            </a:r>
            <a:r>
              <a:rPr kumimoji="1" lang="en-US" altLang="ja-JP" sz="700" b="0" i="0" u="none" strike="noStrike" kern="1200" cap="none" spc="0" normalizeH="0" baseline="0" noProof="0" dirty="0" err="1">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seisakukaigi</a:t>
            </a: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/titeki2/chitekizaisan2025/pdf/</a:t>
            </a:r>
            <a:r>
              <a:rPr kumimoji="1" lang="en-US" altLang="ja-JP" sz="700" b="0" i="0" u="none" strike="noStrike" kern="1200" cap="none" spc="0" normalizeH="0" baseline="0" noProof="0" dirty="0" err="1">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suishinkeikaku.pdf</a:t>
            </a:r>
            <a:r>
              <a:rPr kumimoji="1" lang="en-US" altLang="ja-JP" sz="700" b="0" i="0" u="none" strike="noStrike" kern="1200" cap="none" spc="0" normalizeH="0" baseline="0" noProof="0" dirty="0">
                <a:ln>
                  <a:noFill/>
                </a:ln>
                <a:solidFill>
                  <a:schemeClr val="bg1"/>
                </a:solidFill>
                <a:effectLst/>
                <a:uLnTx/>
                <a:uFillTx/>
                <a:latin typeface="Poppins" panose="00000500000000000000" pitchFamily="2" charset="0"/>
                <a:ea typeface="M PLUS 1p" panose="020B0502020203020207" pitchFamily="34" charset="-128"/>
                <a:cs typeface="Poppins" panose="00000500000000000000" pitchFamily="2" charset="0"/>
              </a:rPr>
              <a:t> (accessed April 6, 2026)</a:t>
            </a:r>
          </a:p>
        </p:txBody>
      </p:sp>
      <p:pic>
        <p:nvPicPr>
          <p:cNvPr id="2" name="図 1">
            <a:extLst>
              <a:ext uri="{FF2B5EF4-FFF2-40B4-BE49-F238E27FC236}">
                <a16:creationId xmlns:a16="http://schemas.microsoft.com/office/drawing/2014/main" id="{DEFBA6F4-D834-6BCA-FE62-BC4DC8ACE6E1}"/>
              </a:ext>
            </a:extLst>
          </p:cNvPr>
          <p:cNvPicPr>
            <a:picLocks noChangeAspect="1"/>
          </p:cNvPicPr>
          <p:nvPr/>
        </p:nvPicPr>
        <p:blipFill>
          <a:blip r:embed="rId6"/>
          <a:stretch>
            <a:fillRect/>
          </a:stretch>
        </p:blipFill>
        <p:spPr>
          <a:xfrm>
            <a:off x="1195407" y="1104778"/>
            <a:ext cx="9801186" cy="2604966"/>
          </a:xfrm>
          <a:prstGeom prst="rect">
            <a:avLst/>
          </a:prstGeom>
        </p:spPr>
      </p:pic>
    </p:spTree>
    <p:extLst>
      <p:ext uri="{BB962C8B-B14F-4D97-AF65-F5344CB8AC3E}">
        <p14:creationId xmlns:p14="http://schemas.microsoft.com/office/powerpoint/2010/main" val="3163584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2D758-2495-D191-9E1D-026B97BDA646}"/>
            </a:ext>
          </a:extLst>
        </p:cNvPr>
        <p:cNvGrpSpPr/>
        <p:nvPr/>
      </p:nvGrpSpPr>
      <p:grpSpPr>
        <a:xfrm>
          <a:off x="0" y="0"/>
          <a:ext cx="0" cy="0"/>
          <a:chOff x="0" y="0"/>
          <a:chExt cx="0" cy="0"/>
        </a:xfrm>
      </p:grpSpPr>
      <p:sp>
        <p:nvSpPr>
          <p:cNvPr id="5" name="角丸四角形 4">
            <a:extLst>
              <a:ext uri="{FF2B5EF4-FFF2-40B4-BE49-F238E27FC236}">
                <a16:creationId xmlns:a16="http://schemas.microsoft.com/office/drawing/2014/main" id="{415D7C4C-8DA8-43CC-7BA9-E4DA6F75100A}"/>
              </a:ext>
            </a:extLst>
          </p:cNvPr>
          <p:cNvSpPr/>
          <p:nvPr/>
        </p:nvSpPr>
        <p:spPr>
          <a:xfrm>
            <a:off x="550862" y="1495092"/>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 PLUS 1p" panose="020B0502020203020207" pitchFamily="34" charset="-128"/>
              <a:ea typeface="M PLUS 1p" panose="020B0502020203020207" pitchFamily="34" charset="-128"/>
            </a:endParaRPr>
          </a:p>
        </p:txBody>
      </p:sp>
      <p:sp>
        <p:nvSpPr>
          <p:cNvPr id="17" name="テキスト ボックス 16">
            <a:extLst>
              <a:ext uri="{FF2B5EF4-FFF2-40B4-BE49-F238E27FC236}">
                <a16:creationId xmlns:a16="http://schemas.microsoft.com/office/drawing/2014/main" id="{01508877-77C1-7724-2110-93CB06DEDFA7}"/>
              </a:ext>
            </a:extLst>
          </p:cNvPr>
          <p:cNvSpPr txBox="1"/>
          <p:nvPr/>
        </p:nvSpPr>
        <p:spPr>
          <a:xfrm>
            <a:off x="10585924" y="5389265"/>
            <a:ext cx="716863" cy="434734"/>
          </a:xfrm>
          <a:prstGeom prst="rect">
            <a:avLst/>
          </a:prstGeom>
          <a:noFill/>
        </p:spPr>
        <p:txBody>
          <a:bodyPr wrap="none" rtlCol="0">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Tokyo</a:t>
            </a:r>
          </a:p>
        </p:txBody>
      </p:sp>
      <p:graphicFrame>
        <p:nvGraphicFramePr>
          <p:cNvPr id="4" name="グラフ 3">
            <a:extLst>
              <a:ext uri="{FF2B5EF4-FFF2-40B4-BE49-F238E27FC236}">
                <a16:creationId xmlns:a16="http://schemas.microsoft.com/office/drawing/2014/main" id="{98216F5F-2BB8-C628-E2AE-9F2B26CDBB68}"/>
              </a:ext>
            </a:extLst>
          </p:cNvPr>
          <p:cNvGraphicFramePr/>
          <p:nvPr>
            <p:extLst>
              <p:ext uri="{D42A27DB-BD31-4B8C-83A1-F6EECF244321}">
                <p14:modId xmlns:p14="http://schemas.microsoft.com/office/powerpoint/2010/main" val="2540530158"/>
              </p:ext>
            </p:extLst>
          </p:nvPr>
        </p:nvGraphicFramePr>
        <p:xfrm>
          <a:off x="4373846" y="2960387"/>
          <a:ext cx="4217643" cy="3142993"/>
        </p:xfrm>
        <a:graphic>
          <a:graphicData uri="http://schemas.openxmlformats.org/drawingml/2006/chart">
            <c:chart xmlns:c="http://schemas.openxmlformats.org/drawingml/2006/chart" xmlns:r="http://schemas.openxmlformats.org/officeDocument/2006/relationships" r:id="rId4"/>
          </a:graphicData>
        </a:graphic>
      </p:graphicFrame>
      <p:cxnSp>
        <p:nvCxnSpPr>
          <p:cNvPr id="20" name="直線矢印コネクタ 19">
            <a:extLst>
              <a:ext uri="{FF2B5EF4-FFF2-40B4-BE49-F238E27FC236}">
                <a16:creationId xmlns:a16="http://schemas.microsoft.com/office/drawing/2014/main" id="{1CA61F1A-4E6D-A551-A9AB-404A46782A7C}"/>
              </a:ext>
            </a:extLst>
          </p:cNvPr>
          <p:cNvCxnSpPr>
            <a:cxnSpLocks/>
            <a:endCxn id="95" idx="3"/>
          </p:cNvCxnSpPr>
          <p:nvPr/>
        </p:nvCxnSpPr>
        <p:spPr>
          <a:xfrm flipV="1">
            <a:off x="5515045" y="3978986"/>
            <a:ext cx="2015624" cy="1617590"/>
          </a:xfrm>
          <a:prstGeom prst="straightConnector1">
            <a:avLst/>
          </a:prstGeom>
          <a:ln w="57150">
            <a:solidFill>
              <a:srgbClr val="C0FF00"/>
            </a:solidFill>
            <a:tailEnd type="none"/>
          </a:ln>
        </p:spPr>
        <p:style>
          <a:lnRef idx="2">
            <a:schemeClr val="accent1"/>
          </a:lnRef>
          <a:fillRef idx="0">
            <a:schemeClr val="accent1"/>
          </a:fillRef>
          <a:effectRef idx="1">
            <a:schemeClr val="accent1"/>
          </a:effectRef>
          <a:fontRef idx="minor">
            <a:schemeClr val="tx1"/>
          </a:fontRef>
        </p:style>
      </p:cxnSp>
      <p:graphicFrame>
        <p:nvGraphicFramePr>
          <p:cNvPr id="6" name="グラフ 5">
            <a:extLst>
              <a:ext uri="{FF2B5EF4-FFF2-40B4-BE49-F238E27FC236}">
                <a16:creationId xmlns:a16="http://schemas.microsoft.com/office/drawing/2014/main" id="{443BAA18-00D1-ADB1-2C88-4909A8CAEA64}"/>
              </a:ext>
            </a:extLst>
          </p:cNvPr>
          <p:cNvGraphicFramePr/>
          <p:nvPr>
            <p:extLst>
              <p:ext uri="{D42A27DB-BD31-4B8C-83A1-F6EECF244321}">
                <p14:modId xmlns:p14="http://schemas.microsoft.com/office/powerpoint/2010/main" val="1751850080"/>
              </p:ext>
            </p:extLst>
          </p:nvPr>
        </p:nvGraphicFramePr>
        <p:xfrm>
          <a:off x="974625" y="1978057"/>
          <a:ext cx="2849202" cy="3925670"/>
        </p:xfrm>
        <a:graphic>
          <a:graphicData uri="http://schemas.openxmlformats.org/drawingml/2006/chart">
            <c:chart xmlns:c="http://schemas.openxmlformats.org/drawingml/2006/chart" xmlns:r="http://schemas.openxmlformats.org/officeDocument/2006/relationships" r:id="rId5"/>
          </a:graphicData>
        </a:graphic>
      </p:graphicFrame>
      <p:pic>
        <p:nvPicPr>
          <p:cNvPr id="10" name="図 9">
            <a:extLst>
              <a:ext uri="{FF2B5EF4-FFF2-40B4-BE49-F238E27FC236}">
                <a16:creationId xmlns:a16="http://schemas.microsoft.com/office/drawing/2014/main" id="{E465E841-0EC6-ECFF-85EC-87858C178756}"/>
              </a:ext>
            </a:extLst>
          </p:cNvPr>
          <p:cNvPicPr>
            <a:picLocks noChangeAspect="1"/>
          </p:cNvPicPr>
          <p:nvPr/>
        </p:nvPicPr>
        <p:blipFill>
          <a:blip r:embed="rId6"/>
          <a:stretch>
            <a:fillRect/>
          </a:stretch>
        </p:blipFill>
        <p:spPr>
          <a:xfrm>
            <a:off x="9004108" y="3874779"/>
            <a:ext cx="2175793" cy="1996772"/>
          </a:xfrm>
          <a:prstGeom prst="rect">
            <a:avLst/>
          </a:prstGeom>
        </p:spPr>
      </p:pic>
      <p:cxnSp>
        <p:nvCxnSpPr>
          <p:cNvPr id="11" name="直線コネクタ 10">
            <a:extLst>
              <a:ext uri="{FF2B5EF4-FFF2-40B4-BE49-F238E27FC236}">
                <a16:creationId xmlns:a16="http://schemas.microsoft.com/office/drawing/2014/main" id="{A96234C0-29E7-C84F-9EF0-CFE25081F9AC}"/>
              </a:ext>
            </a:extLst>
          </p:cNvPr>
          <p:cNvCxnSpPr>
            <a:cxnSpLocks/>
          </p:cNvCxnSpPr>
          <p:nvPr/>
        </p:nvCxnSpPr>
        <p:spPr>
          <a:xfrm>
            <a:off x="8682860"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58C78E27-6308-5B1C-0FA6-325148BD98C0}"/>
              </a:ext>
            </a:extLst>
          </p:cNvPr>
          <p:cNvCxnSpPr>
            <a:cxnSpLocks/>
          </p:cNvCxnSpPr>
          <p:nvPr/>
        </p:nvCxnSpPr>
        <p:spPr>
          <a:xfrm>
            <a:off x="4247621"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938FFCFE-771C-5C95-B0AF-53A714477626}"/>
              </a:ext>
            </a:extLst>
          </p:cNvPr>
          <p:cNvSpPr txBox="1"/>
          <p:nvPr/>
        </p:nvSpPr>
        <p:spPr>
          <a:xfrm>
            <a:off x="974625" y="2195034"/>
            <a:ext cx="3501111" cy="461665"/>
          </a:xfrm>
          <a:prstGeom prst="rect">
            <a:avLst/>
          </a:prstGeom>
          <a:noFill/>
        </p:spPr>
        <p:txBody>
          <a:bodyPr wrap="square" rtlCol="0">
            <a:spAutoFit/>
          </a:bodyPr>
          <a:lstStyle/>
          <a:p>
            <a:r>
              <a:rPr lang="ja-JP" altLang="en-US" sz="800" dirty="0">
                <a:solidFill>
                  <a:srgbClr val="00A7FF"/>
                </a:solidFill>
                <a:latin typeface="Poppins" pitchFamily="2" charset="0"/>
                <a:ea typeface="M PLUS 1p Medium" panose="020B0502020203020207" pitchFamily="34" charset="-128"/>
                <a:cs typeface="Poppins" pitchFamily="2" charset="0"/>
              </a:rPr>
              <a:t>■</a:t>
            </a:r>
            <a:r>
              <a:rPr lang="en-US" altLang="ja-JP" sz="800" dirty="0">
                <a:solidFill>
                  <a:srgbClr val="00A7FF"/>
                </a:solidFill>
                <a:latin typeface="Poppins" pitchFamily="2" charset="0"/>
                <a:ea typeface="M PLUS 1p Medium" panose="020B0502020203020207" pitchFamily="34" charset="-128"/>
                <a:cs typeface="Poppins" pitchFamily="2" charset="0"/>
              </a:rPr>
              <a:t> </a:t>
            </a:r>
            <a:r>
              <a:rPr lang="en" altLang="ja-JP" sz="800" dirty="0">
                <a:solidFill>
                  <a:srgbClr val="142FA4"/>
                </a:solidFill>
                <a:latin typeface="Poppins" pitchFamily="2" charset="0"/>
                <a:ea typeface="M PLUS 1p Medium" panose="020B0502020203020207" pitchFamily="34" charset="-128"/>
                <a:cs typeface="Poppins" pitchFamily="2" charset="0"/>
              </a:rPr>
              <a:t>Mobile </a:t>
            </a:r>
            <a:r>
              <a:rPr lang="en" altLang="ja-JP" sz="800" dirty="0">
                <a:solidFill>
                  <a:srgbClr val="142FA3"/>
                </a:solidFill>
                <a:latin typeface="Poppins" pitchFamily="2" charset="0"/>
                <a:ea typeface="M PLUS 1p Medium" panose="020B0502020203020207" pitchFamily="34" charset="-128"/>
                <a:cs typeface="Poppins" pitchFamily="2" charset="0"/>
              </a:rPr>
              <a:t>Segment </a:t>
            </a:r>
            <a:r>
              <a:rPr lang="en-US" altLang="ja-JP" sz="800" dirty="0">
                <a:solidFill>
                  <a:srgbClr val="142FA3"/>
                </a:solidFill>
                <a:latin typeface="Poppins" pitchFamily="2" charset="0"/>
                <a:ea typeface="M PLUS 1p Medium" panose="020B0502020203020207" pitchFamily="34" charset="-128"/>
                <a:cs typeface="Poppins" panose="00000500000000000000" pitchFamily="2" charset="0"/>
              </a:rPr>
              <a:t>(</a:t>
            </a:r>
            <a:r>
              <a:rPr lang="en-AU" altLang="ja-JP" sz="800" dirty="0" err="1">
                <a:solidFill>
                  <a:srgbClr val="142FA3"/>
                </a:solidFill>
                <a:latin typeface="Poppins" pitchFamily="2" charset="0"/>
                <a:cs typeface="Poppins" panose="00000500000000000000" pitchFamily="2" charset="0"/>
              </a:rPr>
              <a:t>ibisPaint</a:t>
            </a:r>
            <a:r>
              <a:rPr lang="en-AU" altLang="ja-JP" sz="800" dirty="0">
                <a:solidFill>
                  <a:srgbClr val="142FA3"/>
                </a:solidFill>
                <a:latin typeface="Poppins" pitchFamily="2" charset="0"/>
                <a:cs typeface="Poppins" panose="00000500000000000000" pitchFamily="2" charset="0"/>
              </a:rPr>
              <a:t> Development and Operations</a:t>
            </a:r>
            <a:r>
              <a:rPr lang="en-US" altLang="ja-JP" sz="800" dirty="0">
                <a:solidFill>
                  <a:srgbClr val="142FA3"/>
                </a:solidFill>
                <a:latin typeface="Poppins" pitchFamily="2" charset="0"/>
                <a:ea typeface="M PLUS 1p Medium" panose="020B0502020203020207" pitchFamily="34" charset="-128"/>
                <a:cs typeface="Poppins" pitchFamily="2" charset="0"/>
              </a:rPr>
              <a:t>)</a:t>
            </a:r>
          </a:p>
          <a:p>
            <a:r>
              <a:rPr lang="ja-JP" altLang="en-US" sz="800" dirty="0">
                <a:solidFill>
                  <a:srgbClr val="142FA4"/>
                </a:solidFill>
                <a:latin typeface="Poppins" pitchFamily="2" charset="0"/>
                <a:ea typeface="M PLUS 1p Medium" panose="020B0502020203020207" pitchFamily="34" charset="-128"/>
                <a:cs typeface="Poppins" pitchFamily="2" charset="0"/>
              </a:rPr>
              <a:t>■</a:t>
            </a:r>
            <a:r>
              <a:rPr lang="en-US" altLang="ja-JP" sz="800" dirty="0">
                <a:solidFill>
                  <a:srgbClr val="142FA4"/>
                </a:solidFill>
                <a:latin typeface="Poppins" pitchFamily="2" charset="0"/>
                <a:ea typeface="M PLUS 1p Medium" panose="020B0502020203020207" pitchFamily="34" charset="-128"/>
                <a:cs typeface="Poppins" pitchFamily="2" charset="0"/>
              </a:rPr>
              <a:t> </a:t>
            </a:r>
            <a:r>
              <a:rPr lang="en" altLang="ja-JP" sz="800" dirty="0">
                <a:solidFill>
                  <a:srgbClr val="142FA4"/>
                </a:solidFill>
                <a:latin typeface="Poppins" pitchFamily="2" charset="0"/>
                <a:ea typeface="M PLUS 1p Medium" panose="020B0502020203020207" pitchFamily="34" charset="-128"/>
                <a:cs typeface="Poppins" pitchFamily="2" charset="0"/>
              </a:rPr>
              <a:t>Solutions Segment</a:t>
            </a:r>
            <a:endParaRPr lang="en-US" altLang="ja-JP" sz="800" dirty="0">
              <a:solidFill>
                <a:srgbClr val="142FA4"/>
              </a:solidFill>
              <a:latin typeface="Poppins" pitchFamily="2" charset="0"/>
              <a:ea typeface="M PLUS 1p Medium" panose="020B0502020203020207" pitchFamily="34" charset="-128"/>
              <a:cs typeface="Poppins" pitchFamily="2" charset="0"/>
            </a:endParaRPr>
          </a:p>
          <a:p>
            <a:r>
              <a:rPr lang="ja-JP" altLang="en-US" sz="800" dirty="0">
                <a:solidFill>
                  <a:srgbClr val="D44ED9"/>
                </a:solidFill>
                <a:latin typeface="Poppins" pitchFamily="2" charset="0"/>
                <a:ea typeface="M PLUS 1p Medium" panose="020B0502020203020207" pitchFamily="34" charset="-128"/>
                <a:cs typeface="Poppins" pitchFamily="2" charset="0"/>
              </a:rPr>
              <a:t>■</a:t>
            </a:r>
            <a:r>
              <a:rPr lang="en-US" altLang="ja-JP" sz="800" dirty="0">
                <a:solidFill>
                  <a:srgbClr val="D44ED9"/>
                </a:solidFill>
                <a:latin typeface="Poppins" pitchFamily="2" charset="0"/>
                <a:ea typeface="M PLUS 1p Medium" panose="020B0502020203020207" pitchFamily="34" charset="-128"/>
                <a:cs typeface="Poppins" pitchFamily="2" charset="0"/>
              </a:rPr>
              <a:t> </a:t>
            </a:r>
            <a:r>
              <a:rPr lang="en-US" altLang="ja-JP" sz="800" dirty="0">
                <a:solidFill>
                  <a:srgbClr val="142FA4"/>
                </a:solidFill>
                <a:latin typeface="Poppins" pitchFamily="2" charset="0"/>
                <a:ea typeface="M PLUS 1p Medium" panose="020B0502020203020207" pitchFamily="34" charset="-128"/>
                <a:cs typeface="Poppins" pitchFamily="2" charset="0"/>
              </a:rPr>
              <a:t>AI Singing Voice Synthesis Segment</a:t>
            </a:r>
            <a:endParaRPr lang="ja-JP" altLang="en-US" sz="800" dirty="0">
              <a:solidFill>
                <a:srgbClr val="142FA4"/>
              </a:solidFill>
              <a:latin typeface="Poppins" pitchFamily="2" charset="0"/>
              <a:ea typeface="M PLUS 1p Medium" panose="020B0502020203020207" pitchFamily="34" charset="-128"/>
              <a:cs typeface="Poppins" pitchFamily="2" charset="0"/>
            </a:endParaRPr>
          </a:p>
        </p:txBody>
      </p:sp>
      <p:sp>
        <p:nvSpPr>
          <p:cNvPr id="26" name="テキスト ボックス 25">
            <a:extLst>
              <a:ext uri="{FF2B5EF4-FFF2-40B4-BE49-F238E27FC236}">
                <a16:creationId xmlns:a16="http://schemas.microsoft.com/office/drawing/2014/main" id="{844F008E-CB6A-E52C-FF9F-18388E6D024D}"/>
              </a:ext>
            </a:extLst>
          </p:cNvPr>
          <p:cNvSpPr txBox="1"/>
          <p:nvPr/>
        </p:nvSpPr>
        <p:spPr>
          <a:xfrm>
            <a:off x="10129139" y="2303343"/>
            <a:ext cx="1934613" cy="646331"/>
          </a:xfrm>
          <a:prstGeom prst="rect">
            <a:avLst/>
          </a:prstGeom>
          <a:noFill/>
        </p:spPr>
        <p:txBody>
          <a:bodyPr wrap="square" rtlCol="0">
            <a:spAutoFit/>
          </a:bodyPr>
          <a:lstStyle/>
          <a:p>
            <a:r>
              <a:rPr lang="en-US" altLang="ja-JP" sz="3600" b="1" spc="-150" dirty="0">
                <a:solidFill>
                  <a:srgbClr val="142FA4"/>
                </a:solidFill>
                <a:latin typeface="Poppins SemiBold" pitchFamily="2" charset="0"/>
                <a:ea typeface="M PLUS 1p Medium" panose="020B0502020203020207" pitchFamily="34" charset="-128"/>
                <a:cs typeface="Poppins SemiBold" pitchFamily="2" charset="0"/>
              </a:rPr>
              <a:t>2000</a:t>
            </a:r>
            <a:endParaRPr lang="ja-JP" altLang="en-US" sz="1400" b="1" spc="-150" baseline="-3000">
              <a:solidFill>
                <a:srgbClr val="142FA4"/>
              </a:solidFill>
              <a:latin typeface="Poppins SemiBold" pitchFamily="2" charset="0"/>
              <a:ea typeface="M PLUS 1p" panose="020B0502020203020207" pitchFamily="34" charset="-128"/>
              <a:cs typeface="Poppins SemiBold" pitchFamily="2" charset="0"/>
            </a:endParaRPr>
          </a:p>
        </p:txBody>
      </p:sp>
      <p:sp>
        <p:nvSpPr>
          <p:cNvPr id="27" name="テキスト ボックス 26">
            <a:extLst>
              <a:ext uri="{FF2B5EF4-FFF2-40B4-BE49-F238E27FC236}">
                <a16:creationId xmlns:a16="http://schemas.microsoft.com/office/drawing/2014/main" id="{87718D41-13FC-9B40-F778-A47F54E58216}"/>
              </a:ext>
            </a:extLst>
          </p:cNvPr>
          <p:cNvSpPr txBox="1"/>
          <p:nvPr/>
        </p:nvSpPr>
        <p:spPr>
          <a:xfrm>
            <a:off x="10129139" y="2951222"/>
            <a:ext cx="1934613" cy="646331"/>
          </a:xfrm>
          <a:prstGeom prst="rect">
            <a:avLst/>
          </a:prstGeom>
          <a:noFill/>
        </p:spPr>
        <p:txBody>
          <a:bodyPr wrap="square" rtlCol="0">
            <a:spAutoFit/>
          </a:bodyPr>
          <a:lstStyle/>
          <a:p>
            <a:r>
              <a:rPr lang="en-US" altLang="ja-JP" sz="3600" b="1" spc="-150" dirty="0">
                <a:solidFill>
                  <a:srgbClr val="142FA4"/>
                </a:solidFill>
                <a:latin typeface="Poppins SemiBold" pitchFamily="2" charset="0"/>
                <a:ea typeface="M PLUS 1p Medium" panose="020B0502020203020207" pitchFamily="34" charset="-128"/>
                <a:cs typeface="Poppins SemiBold" pitchFamily="2" charset="0"/>
              </a:rPr>
              <a:t>357</a:t>
            </a:r>
            <a:endParaRPr lang="ja-JP" altLang="en-US" sz="1400" b="1" spc="-150" baseline="-3000" dirty="0">
              <a:solidFill>
                <a:srgbClr val="142FA4"/>
              </a:solidFill>
              <a:latin typeface="Poppins SemiBold" pitchFamily="2" charset="0"/>
              <a:ea typeface="M PLUS 1p" panose="020B0502020203020207" pitchFamily="34" charset="-128"/>
              <a:cs typeface="Poppins SemiBold" pitchFamily="2" charset="0"/>
            </a:endParaRPr>
          </a:p>
        </p:txBody>
      </p:sp>
      <p:pic>
        <p:nvPicPr>
          <p:cNvPr id="29" name="図 28">
            <a:extLst>
              <a:ext uri="{FF2B5EF4-FFF2-40B4-BE49-F238E27FC236}">
                <a16:creationId xmlns:a16="http://schemas.microsoft.com/office/drawing/2014/main" id="{C6570207-D70C-C7D0-952E-004E6F38E790}"/>
              </a:ext>
            </a:extLst>
          </p:cNvPr>
          <p:cNvPicPr>
            <a:picLocks noChangeAspect="1"/>
          </p:cNvPicPr>
          <p:nvPr/>
        </p:nvPicPr>
        <p:blipFill>
          <a:blip r:embed="rId7"/>
          <a:stretch>
            <a:fillRect/>
          </a:stretch>
        </p:blipFill>
        <p:spPr>
          <a:xfrm>
            <a:off x="9816188" y="3148059"/>
            <a:ext cx="299179" cy="214506"/>
          </a:xfrm>
          <a:prstGeom prst="rect">
            <a:avLst/>
          </a:prstGeom>
        </p:spPr>
      </p:pic>
      <p:pic>
        <p:nvPicPr>
          <p:cNvPr id="30" name="図 29">
            <a:extLst>
              <a:ext uri="{FF2B5EF4-FFF2-40B4-BE49-F238E27FC236}">
                <a16:creationId xmlns:a16="http://schemas.microsoft.com/office/drawing/2014/main" id="{DB4BBF18-0558-0F7B-7230-C6F315BE53BD}"/>
              </a:ext>
            </a:extLst>
          </p:cNvPr>
          <p:cNvPicPr>
            <a:picLocks noChangeAspect="1"/>
          </p:cNvPicPr>
          <p:nvPr/>
        </p:nvPicPr>
        <p:blipFill>
          <a:blip r:embed="rId8"/>
          <a:stretch>
            <a:fillRect/>
          </a:stretch>
        </p:blipFill>
        <p:spPr>
          <a:xfrm>
            <a:off x="9816012" y="2488161"/>
            <a:ext cx="270954" cy="242730"/>
          </a:xfrm>
          <a:prstGeom prst="rect">
            <a:avLst/>
          </a:prstGeom>
        </p:spPr>
      </p:pic>
      <p:pic>
        <p:nvPicPr>
          <p:cNvPr id="36" name="グラフィックス 35">
            <a:extLst>
              <a:ext uri="{FF2B5EF4-FFF2-40B4-BE49-F238E27FC236}">
                <a16:creationId xmlns:a16="http://schemas.microsoft.com/office/drawing/2014/main" id="{3661BB12-E8DA-5B62-D6C0-EB4D1888C0A3}"/>
              </a:ext>
            </a:extLst>
          </p:cNvPr>
          <p:cNvPicPr/>
          <p:nvPr/>
        </p:nvPicPr>
        <p:blipFill>
          <a:blip>
            <a:extLst>
              <a:ext uri="{96DAC541-7B7A-43D3-8B79-37D633B846F1}">
                <asvg:svgBlip xmlns:asvg="http://schemas.microsoft.com/office/drawing/2016/SVG/main" r:embed="rId9"/>
              </a:ext>
            </a:extLst>
          </a:blip>
          <a:stretch>
            <a:fillRect/>
          </a:stretch>
        </p:blipFill>
        <p:spPr>
          <a:xfrm rot="16200000">
            <a:off x="-1108055" y="4596970"/>
            <a:ext cx="2775273" cy="576000"/>
          </a:xfrm>
          <a:prstGeom prst="rect">
            <a:avLst/>
          </a:prstGeom>
        </p:spPr>
      </p:pic>
      <p:graphicFrame>
        <p:nvGraphicFramePr>
          <p:cNvPr id="37" name="グラフ 36">
            <a:extLst>
              <a:ext uri="{FF2B5EF4-FFF2-40B4-BE49-F238E27FC236}">
                <a16:creationId xmlns:a16="http://schemas.microsoft.com/office/drawing/2014/main" id="{72F1FE0D-3EF6-556F-5B6D-CD3A58EF414D}"/>
              </a:ext>
            </a:extLst>
          </p:cNvPr>
          <p:cNvGraphicFramePr/>
          <p:nvPr>
            <p:extLst>
              <p:ext uri="{D42A27DB-BD31-4B8C-83A1-F6EECF244321}">
                <p14:modId xmlns:p14="http://schemas.microsoft.com/office/powerpoint/2010/main" val="3534942804"/>
              </p:ext>
            </p:extLst>
          </p:nvPr>
        </p:nvGraphicFramePr>
        <p:xfrm>
          <a:off x="1289530" y="4819144"/>
          <a:ext cx="3113257" cy="1071996"/>
        </p:xfrm>
        <a:graphic>
          <a:graphicData uri="http://schemas.openxmlformats.org/drawingml/2006/chart">
            <c:chart xmlns:c="http://schemas.openxmlformats.org/drawingml/2006/chart" xmlns:r="http://schemas.openxmlformats.org/officeDocument/2006/relationships" r:id="rId10"/>
          </a:graphicData>
        </a:graphic>
      </p:graphicFrame>
      <p:sp>
        <p:nvSpPr>
          <p:cNvPr id="39" name="テキスト ボックス 38">
            <a:extLst>
              <a:ext uri="{FF2B5EF4-FFF2-40B4-BE49-F238E27FC236}">
                <a16:creationId xmlns:a16="http://schemas.microsoft.com/office/drawing/2014/main" id="{58D728BD-ADAF-9054-7250-1A8A6DF7BBC4}"/>
              </a:ext>
            </a:extLst>
          </p:cNvPr>
          <p:cNvSpPr txBox="1"/>
          <p:nvPr/>
        </p:nvSpPr>
        <p:spPr>
          <a:xfrm>
            <a:off x="3290018" y="5650446"/>
            <a:ext cx="842317" cy="338554"/>
          </a:xfrm>
          <a:prstGeom prst="rect">
            <a:avLst/>
          </a:prstGeom>
          <a:noFill/>
        </p:spPr>
        <p:txBody>
          <a:bodyPr wrap="square" rtlCol="0">
            <a:spAutoFit/>
          </a:bodyPr>
          <a:lstStyle/>
          <a:p>
            <a:r>
              <a:rPr lang="en-US" altLang="ja-JP" sz="1600" b="1">
                <a:solidFill>
                  <a:srgbClr val="142EA4"/>
                </a:solidFill>
                <a:latin typeface="Poppins SemiBold" pitchFamily="2" charset="0"/>
                <a:ea typeface="M PLUS 1p Medium" panose="020B0502020203020207" pitchFamily="34" charset="-128"/>
                <a:cs typeface="Poppins SemiBold" pitchFamily="2" charset="0"/>
              </a:rPr>
              <a:t>24.1</a:t>
            </a:r>
            <a:r>
              <a:rPr lang="en-US" altLang="ja-JP" sz="1600" b="1" baseline="-3000">
                <a:solidFill>
                  <a:srgbClr val="142EA4"/>
                </a:solidFill>
                <a:latin typeface="Poppins SemiBold" pitchFamily="2" charset="0"/>
                <a:ea typeface="M PLUS 1p Medium" panose="020B0502020203020207" pitchFamily="34" charset="-128"/>
                <a:cs typeface="Poppins SemiBold" pitchFamily="2" charset="0"/>
              </a:rPr>
              <a:t>%</a:t>
            </a:r>
            <a:endParaRPr lang="ja-JP" altLang="en-US" sz="1600" b="1" baseline="-3000">
              <a:solidFill>
                <a:srgbClr val="142EA4"/>
              </a:solidFill>
              <a:latin typeface="Poppins SemiBold" pitchFamily="2" charset="0"/>
              <a:ea typeface="M PLUS 1p Medium" panose="020B0502020203020207" pitchFamily="34" charset="-128"/>
              <a:cs typeface="Poppins SemiBold" pitchFamily="2" charset="0"/>
            </a:endParaRPr>
          </a:p>
        </p:txBody>
      </p:sp>
      <p:sp>
        <p:nvSpPr>
          <p:cNvPr id="40" name="角丸四角形 39">
            <a:extLst>
              <a:ext uri="{FF2B5EF4-FFF2-40B4-BE49-F238E27FC236}">
                <a16:creationId xmlns:a16="http://schemas.microsoft.com/office/drawing/2014/main" id="{BFF274C7-6A5C-CAE9-24F1-85ADD267454D}"/>
              </a:ext>
            </a:extLst>
          </p:cNvPr>
          <p:cNvSpPr/>
          <p:nvPr/>
        </p:nvSpPr>
        <p:spPr>
          <a:xfrm>
            <a:off x="794198" y="5321847"/>
            <a:ext cx="3191377" cy="706035"/>
          </a:xfrm>
          <a:prstGeom prst="roundRect">
            <a:avLst>
              <a:gd name="adj" fmla="val 10929"/>
            </a:avLst>
          </a:prstGeom>
          <a:noFill/>
          <a:ln w="15875">
            <a:solidFill>
              <a:srgbClr val="00A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 name="グループ化 2">
            <a:extLst>
              <a:ext uri="{FF2B5EF4-FFF2-40B4-BE49-F238E27FC236}">
                <a16:creationId xmlns:a16="http://schemas.microsoft.com/office/drawing/2014/main" id="{14A41B36-ED94-CD8A-C738-DF5FA8EA45A6}"/>
              </a:ext>
            </a:extLst>
          </p:cNvPr>
          <p:cNvGrpSpPr/>
          <p:nvPr/>
        </p:nvGrpSpPr>
        <p:grpSpPr>
          <a:xfrm>
            <a:off x="682496" y="5503617"/>
            <a:ext cx="1018330" cy="485383"/>
            <a:chOff x="731924" y="5763109"/>
            <a:chExt cx="1018330" cy="485383"/>
          </a:xfrm>
        </p:grpSpPr>
        <p:sp>
          <p:nvSpPr>
            <p:cNvPr id="42" name="テキスト ボックス 41">
              <a:extLst>
                <a:ext uri="{FF2B5EF4-FFF2-40B4-BE49-F238E27FC236}">
                  <a16:creationId xmlns:a16="http://schemas.microsoft.com/office/drawing/2014/main" id="{3E655A4E-BEB4-9E87-5D37-0F8E2772D3A9}"/>
                </a:ext>
              </a:extLst>
            </p:cNvPr>
            <p:cNvSpPr txBox="1"/>
            <p:nvPr/>
          </p:nvSpPr>
          <p:spPr>
            <a:xfrm>
              <a:off x="731924" y="5763109"/>
              <a:ext cx="920413" cy="246221"/>
            </a:xfrm>
            <a:prstGeom prst="rect">
              <a:avLst/>
            </a:prstGeom>
            <a:noFill/>
          </p:spPr>
          <p:txBody>
            <a:bodyPr wrap="square">
              <a:spAutoFit/>
            </a:bodyPr>
            <a:lstStyle/>
            <a:p>
              <a:pPr algn="ctr">
                <a:defRPr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r>
                <a:rPr lang="en-AU" altLang="ja-JP" sz="1000" dirty="0">
                  <a:latin typeface="Poppins" panose="00000500000000000000" pitchFamily="2" charset="0"/>
                  <a:cs typeface="Poppins" panose="00000500000000000000" pitchFamily="2" charset="0"/>
                </a:rPr>
                <a:t>Overseas</a:t>
              </a:r>
              <a:endParaRPr lang="ja-JP" altLang="en-US" sz="1000" dirty="0">
                <a:solidFill>
                  <a:srgbClr val="142EA4"/>
                </a:solidFill>
                <a:latin typeface="Poppins" panose="00000500000000000000" pitchFamily="2" charset="0"/>
                <a:cs typeface="Poppins" panose="00000500000000000000" pitchFamily="2" charset="0"/>
              </a:endParaRPr>
            </a:p>
          </p:txBody>
        </p:sp>
        <p:sp>
          <p:nvSpPr>
            <p:cNvPr id="43" name="テキスト ボックス 42">
              <a:extLst>
                <a:ext uri="{FF2B5EF4-FFF2-40B4-BE49-F238E27FC236}">
                  <a16:creationId xmlns:a16="http://schemas.microsoft.com/office/drawing/2014/main" id="{8F3110C2-EE74-3DA8-1F02-8A825A94F75B}"/>
                </a:ext>
              </a:extLst>
            </p:cNvPr>
            <p:cNvSpPr txBox="1"/>
            <p:nvPr/>
          </p:nvSpPr>
          <p:spPr>
            <a:xfrm>
              <a:off x="866070" y="5909938"/>
              <a:ext cx="884184" cy="338554"/>
            </a:xfrm>
            <a:prstGeom prst="rect">
              <a:avLst/>
            </a:prstGeom>
            <a:noFill/>
          </p:spPr>
          <p:txBody>
            <a:bodyPr wrap="square" rtlCol="0">
              <a:spAutoFit/>
            </a:bodyPr>
            <a:lstStyle/>
            <a:p>
              <a:r>
                <a:rPr lang="en-US" altLang="ja-JP" sz="1600" b="1" dirty="0">
                  <a:solidFill>
                    <a:srgbClr val="142EA4"/>
                  </a:solidFill>
                  <a:latin typeface="Poppins SemiBold" pitchFamily="2" charset="0"/>
                  <a:ea typeface="M PLUS 1p Medium" panose="020B0502020203020207" pitchFamily="34" charset="-128"/>
                  <a:cs typeface="Poppins SemiBold" pitchFamily="2" charset="0"/>
                </a:rPr>
                <a:t>75.9</a:t>
              </a:r>
              <a:r>
                <a:rPr lang="en-US" altLang="ja-JP" sz="1600" b="1" baseline="-3000" dirty="0">
                  <a:solidFill>
                    <a:srgbClr val="142EA4"/>
                  </a:solidFill>
                  <a:latin typeface="Poppins SemiBold" pitchFamily="2" charset="0"/>
                  <a:ea typeface="M PLUS 1p Medium" panose="020B0502020203020207" pitchFamily="34" charset="-128"/>
                  <a:cs typeface="Poppins SemiBold" pitchFamily="2" charset="0"/>
                </a:rPr>
                <a:t>%</a:t>
              </a:r>
              <a:endParaRPr lang="ja-JP" altLang="en-US" sz="1600" b="1" baseline="-3000" dirty="0">
                <a:solidFill>
                  <a:srgbClr val="142EA4"/>
                </a:solidFill>
                <a:latin typeface="Poppins SemiBold" pitchFamily="2" charset="0"/>
                <a:ea typeface="M PLUS 1p Medium" panose="020B0502020203020207" pitchFamily="34" charset="-128"/>
                <a:cs typeface="Poppins SemiBold" pitchFamily="2" charset="0"/>
              </a:endParaRPr>
            </a:p>
          </p:txBody>
        </p:sp>
      </p:grpSp>
      <p:sp>
        <p:nvSpPr>
          <p:cNvPr id="47" name="テキスト ボックス 46">
            <a:extLst>
              <a:ext uri="{FF2B5EF4-FFF2-40B4-BE49-F238E27FC236}">
                <a16:creationId xmlns:a16="http://schemas.microsoft.com/office/drawing/2014/main" id="{2DD9B0E2-ECBE-2119-ACCD-823725F26F86}"/>
              </a:ext>
            </a:extLst>
          </p:cNvPr>
          <p:cNvSpPr txBox="1"/>
          <p:nvPr/>
        </p:nvSpPr>
        <p:spPr>
          <a:xfrm>
            <a:off x="563037" y="2629638"/>
            <a:ext cx="1250123" cy="461665"/>
          </a:xfrm>
          <a:prstGeom prst="rect">
            <a:avLst/>
          </a:prstGeom>
          <a:noFill/>
        </p:spPr>
        <p:txBody>
          <a:bodyPr wrap="square" rtlCol="0">
            <a:spAutoFit/>
          </a:bodyPr>
          <a:lstStyle/>
          <a:p>
            <a:pPr algn="r"/>
            <a:r>
              <a:rPr lang="en-US" altLang="ja-JP" sz="2400" b="1">
                <a:solidFill>
                  <a:srgbClr val="D44ED9"/>
                </a:solidFill>
                <a:latin typeface="Poppins SemiBold" pitchFamily="2" charset="0"/>
                <a:ea typeface="M PLUS 1p Medium" panose="020B0502020203020207" pitchFamily="34" charset="-128"/>
                <a:cs typeface="Poppins SemiBold" pitchFamily="2" charset="0"/>
              </a:rPr>
              <a:t>2.4</a:t>
            </a:r>
            <a:r>
              <a:rPr lang="en-US" altLang="ja-JP" sz="2400" b="1" baseline="-3000">
                <a:solidFill>
                  <a:srgbClr val="D44ED9"/>
                </a:solidFill>
                <a:latin typeface="Poppins SemiBold" pitchFamily="2" charset="0"/>
                <a:ea typeface="M PLUS 1p Medium" panose="020B0502020203020207" pitchFamily="34" charset="-128"/>
                <a:cs typeface="Poppins SemiBold" pitchFamily="2" charset="0"/>
              </a:rPr>
              <a:t>%</a:t>
            </a:r>
            <a:endParaRPr lang="ja-JP" altLang="en-US" sz="2400" b="1" baseline="-3000">
              <a:solidFill>
                <a:srgbClr val="D44ED9"/>
              </a:solidFill>
              <a:latin typeface="Poppins SemiBold" pitchFamily="2" charset="0"/>
              <a:ea typeface="M PLUS 1p Medium" panose="020B0502020203020207" pitchFamily="34" charset="-128"/>
              <a:cs typeface="Poppins SemiBold" pitchFamily="2" charset="0"/>
            </a:endParaRPr>
          </a:p>
        </p:txBody>
      </p:sp>
      <p:sp>
        <p:nvSpPr>
          <p:cNvPr id="48" name="テキスト ボックス 47">
            <a:extLst>
              <a:ext uri="{FF2B5EF4-FFF2-40B4-BE49-F238E27FC236}">
                <a16:creationId xmlns:a16="http://schemas.microsoft.com/office/drawing/2014/main" id="{A050418F-1408-AEF5-6DD9-C70B284E7A43}"/>
              </a:ext>
            </a:extLst>
          </p:cNvPr>
          <p:cNvSpPr txBox="1"/>
          <p:nvPr/>
        </p:nvSpPr>
        <p:spPr>
          <a:xfrm>
            <a:off x="3053481" y="4646277"/>
            <a:ext cx="1250123" cy="461665"/>
          </a:xfrm>
          <a:prstGeom prst="rect">
            <a:avLst/>
          </a:prstGeom>
          <a:noFill/>
        </p:spPr>
        <p:txBody>
          <a:bodyPr wrap="square" rtlCol="0">
            <a:spAutoFit/>
          </a:bodyPr>
          <a:lstStyle/>
          <a:p>
            <a:pPr algn="ctr"/>
            <a:r>
              <a:rPr lang="en-US" altLang="ja-JP" sz="2400" b="1">
                <a:solidFill>
                  <a:srgbClr val="00A7FF"/>
                </a:solidFill>
                <a:latin typeface="Poppins SemiBold" pitchFamily="2" charset="0"/>
                <a:ea typeface="M PLUS 1p Medium" panose="020B0502020203020207" pitchFamily="34" charset="-128"/>
                <a:cs typeface="Poppins SemiBold" pitchFamily="2" charset="0"/>
              </a:rPr>
              <a:t>56.5</a:t>
            </a:r>
            <a:r>
              <a:rPr lang="en-US" altLang="ja-JP" sz="2400" b="1" baseline="-3000">
                <a:solidFill>
                  <a:srgbClr val="00A7FF"/>
                </a:solidFill>
                <a:latin typeface="Poppins SemiBold" pitchFamily="2" charset="0"/>
                <a:ea typeface="M PLUS 1p Medium" panose="020B0502020203020207" pitchFamily="34" charset="-128"/>
                <a:cs typeface="Poppins SemiBold" pitchFamily="2" charset="0"/>
              </a:rPr>
              <a:t>%</a:t>
            </a:r>
            <a:endParaRPr lang="ja-JP" altLang="en-US" sz="2400" b="1" baseline="-3000">
              <a:solidFill>
                <a:srgbClr val="00A7FF"/>
              </a:solidFill>
              <a:latin typeface="Poppins SemiBold" pitchFamily="2" charset="0"/>
              <a:ea typeface="M PLUS 1p Medium" panose="020B0502020203020207" pitchFamily="34" charset="-128"/>
              <a:cs typeface="Poppins SemiBold" pitchFamily="2" charset="0"/>
            </a:endParaRPr>
          </a:p>
        </p:txBody>
      </p:sp>
      <p:sp>
        <p:nvSpPr>
          <p:cNvPr id="49" name="テキスト ボックス 48">
            <a:extLst>
              <a:ext uri="{FF2B5EF4-FFF2-40B4-BE49-F238E27FC236}">
                <a16:creationId xmlns:a16="http://schemas.microsoft.com/office/drawing/2014/main" id="{853FA1E8-3023-4E06-0B82-B629A190DF2D}"/>
              </a:ext>
            </a:extLst>
          </p:cNvPr>
          <p:cNvSpPr txBox="1"/>
          <p:nvPr/>
        </p:nvSpPr>
        <p:spPr>
          <a:xfrm>
            <a:off x="466507" y="4646277"/>
            <a:ext cx="1250123" cy="461665"/>
          </a:xfrm>
          <a:prstGeom prst="rect">
            <a:avLst/>
          </a:prstGeom>
          <a:noFill/>
        </p:spPr>
        <p:txBody>
          <a:bodyPr wrap="square" rtlCol="0">
            <a:spAutoFit/>
          </a:bodyPr>
          <a:lstStyle/>
          <a:p>
            <a:pPr algn="r"/>
            <a:r>
              <a:rPr lang="en-US" altLang="ja-JP" sz="2400" b="1">
                <a:solidFill>
                  <a:srgbClr val="142FA4"/>
                </a:solidFill>
                <a:latin typeface="Poppins SemiBold" pitchFamily="2" charset="0"/>
                <a:ea typeface="M PLUS 1p Medium" panose="020B0502020203020207" pitchFamily="34" charset="-128"/>
                <a:cs typeface="Poppins SemiBold" pitchFamily="2" charset="0"/>
              </a:rPr>
              <a:t>41.1</a:t>
            </a:r>
            <a:r>
              <a:rPr lang="en-US" altLang="ja-JP" sz="2400" b="1" baseline="-3000">
                <a:solidFill>
                  <a:srgbClr val="142FA4"/>
                </a:solidFill>
                <a:latin typeface="Poppins SemiBold" pitchFamily="2" charset="0"/>
                <a:ea typeface="M PLUS 1p Medium" panose="020B0502020203020207" pitchFamily="34" charset="-128"/>
                <a:cs typeface="Poppins SemiBold" pitchFamily="2" charset="0"/>
              </a:rPr>
              <a:t>%</a:t>
            </a:r>
            <a:endParaRPr lang="ja-JP" altLang="en-US" sz="2400" b="1" baseline="-3000">
              <a:solidFill>
                <a:srgbClr val="142FA4"/>
              </a:solidFill>
              <a:latin typeface="Poppins SemiBold" pitchFamily="2" charset="0"/>
              <a:ea typeface="M PLUS 1p Medium" panose="020B0502020203020207" pitchFamily="34" charset="-128"/>
              <a:cs typeface="Poppins SemiBold" pitchFamily="2" charset="0"/>
            </a:endParaRPr>
          </a:p>
        </p:txBody>
      </p:sp>
      <p:cxnSp>
        <p:nvCxnSpPr>
          <p:cNvPr id="61" name="直線コネクタ 60">
            <a:extLst>
              <a:ext uri="{FF2B5EF4-FFF2-40B4-BE49-F238E27FC236}">
                <a16:creationId xmlns:a16="http://schemas.microsoft.com/office/drawing/2014/main" id="{CFD3B3F1-748A-B116-A0B3-307B8727CAE6}"/>
              </a:ext>
            </a:extLst>
          </p:cNvPr>
          <p:cNvCxnSpPr>
            <a:cxnSpLocks/>
          </p:cNvCxnSpPr>
          <p:nvPr/>
        </p:nvCxnSpPr>
        <p:spPr>
          <a:xfrm>
            <a:off x="10712519" y="5310974"/>
            <a:ext cx="0" cy="244975"/>
          </a:xfrm>
          <a:prstGeom prst="line">
            <a:avLst/>
          </a:prstGeom>
          <a:ln w="12700">
            <a:solidFill>
              <a:srgbClr val="00A6FF"/>
            </a:solidFill>
          </a:ln>
        </p:spPr>
        <p:style>
          <a:lnRef idx="2">
            <a:schemeClr val="accent1"/>
          </a:lnRef>
          <a:fillRef idx="0">
            <a:schemeClr val="accent1"/>
          </a:fillRef>
          <a:effectRef idx="1">
            <a:schemeClr val="accent1"/>
          </a:effectRef>
          <a:fontRef idx="minor">
            <a:schemeClr val="tx1"/>
          </a:fontRef>
        </p:style>
      </p:cxnSp>
      <p:sp>
        <p:nvSpPr>
          <p:cNvPr id="62" name="円/楕円 61">
            <a:extLst>
              <a:ext uri="{FF2B5EF4-FFF2-40B4-BE49-F238E27FC236}">
                <a16:creationId xmlns:a16="http://schemas.microsoft.com/office/drawing/2014/main" id="{0D2F2B94-A9D8-77D9-84D3-71BAEA9A13DB}"/>
              </a:ext>
            </a:extLst>
          </p:cNvPr>
          <p:cNvSpPr/>
          <p:nvPr/>
        </p:nvSpPr>
        <p:spPr>
          <a:xfrm>
            <a:off x="10648992" y="5257811"/>
            <a:ext cx="127055" cy="127055"/>
          </a:xfrm>
          <a:prstGeom prst="ellipse">
            <a:avLst/>
          </a:prstGeom>
          <a:solidFill>
            <a:srgbClr val="00A7FF"/>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 PLUS 1p" panose="020B0502020203020207" pitchFamily="34" charset="-128"/>
              <a:ea typeface="M PLUS 1p" panose="020B0502020203020207" pitchFamily="34" charset="-128"/>
            </a:endParaRPr>
          </a:p>
        </p:txBody>
      </p:sp>
      <p:cxnSp>
        <p:nvCxnSpPr>
          <p:cNvPr id="73" name="直線コネクタ 72">
            <a:extLst>
              <a:ext uri="{FF2B5EF4-FFF2-40B4-BE49-F238E27FC236}">
                <a16:creationId xmlns:a16="http://schemas.microsoft.com/office/drawing/2014/main" id="{2044D435-E3F5-9EE7-6148-3695215FC5FC}"/>
              </a:ext>
            </a:extLst>
          </p:cNvPr>
          <p:cNvCxnSpPr>
            <a:cxnSpLocks/>
          </p:cNvCxnSpPr>
          <p:nvPr/>
        </p:nvCxnSpPr>
        <p:spPr>
          <a:xfrm>
            <a:off x="10300537" y="4873165"/>
            <a:ext cx="0" cy="334330"/>
          </a:xfrm>
          <a:prstGeom prst="line">
            <a:avLst/>
          </a:prstGeom>
          <a:ln w="12700">
            <a:solidFill>
              <a:srgbClr val="00A6FF"/>
            </a:solidFill>
          </a:ln>
        </p:spPr>
        <p:style>
          <a:lnRef idx="2">
            <a:schemeClr val="accent1"/>
          </a:lnRef>
          <a:fillRef idx="0">
            <a:schemeClr val="accent1"/>
          </a:fillRef>
          <a:effectRef idx="1">
            <a:schemeClr val="accent1"/>
          </a:effectRef>
          <a:fontRef idx="minor">
            <a:schemeClr val="tx1"/>
          </a:fontRef>
        </p:style>
      </p:cxnSp>
      <p:sp>
        <p:nvSpPr>
          <p:cNvPr id="76" name="円/楕円 75">
            <a:extLst>
              <a:ext uri="{FF2B5EF4-FFF2-40B4-BE49-F238E27FC236}">
                <a16:creationId xmlns:a16="http://schemas.microsoft.com/office/drawing/2014/main" id="{B8A25FF1-75F0-9033-58AC-4EAEBE2EF004}"/>
              </a:ext>
            </a:extLst>
          </p:cNvPr>
          <p:cNvSpPr/>
          <p:nvPr/>
        </p:nvSpPr>
        <p:spPr>
          <a:xfrm>
            <a:off x="10239328" y="5148907"/>
            <a:ext cx="127055" cy="127055"/>
          </a:xfrm>
          <a:prstGeom prst="ellipse">
            <a:avLst/>
          </a:prstGeom>
          <a:solidFill>
            <a:srgbClr val="C0FF00"/>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 PLUS 1p" panose="020B0502020203020207" pitchFamily="34" charset="-128"/>
              <a:ea typeface="M PLUS 1p" panose="020B0502020203020207" pitchFamily="34" charset="-128"/>
            </a:endParaRPr>
          </a:p>
        </p:txBody>
      </p:sp>
      <p:cxnSp>
        <p:nvCxnSpPr>
          <p:cNvPr id="77" name="直線コネクタ 76">
            <a:extLst>
              <a:ext uri="{FF2B5EF4-FFF2-40B4-BE49-F238E27FC236}">
                <a16:creationId xmlns:a16="http://schemas.microsoft.com/office/drawing/2014/main" id="{33021014-9D56-BF75-69EA-DA8A23E1086E}"/>
              </a:ext>
            </a:extLst>
          </p:cNvPr>
          <p:cNvCxnSpPr>
            <a:cxnSpLocks/>
          </p:cNvCxnSpPr>
          <p:nvPr/>
        </p:nvCxnSpPr>
        <p:spPr>
          <a:xfrm>
            <a:off x="10494552" y="5387202"/>
            <a:ext cx="0" cy="408121"/>
          </a:xfrm>
          <a:prstGeom prst="line">
            <a:avLst/>
          </a:prstGeom>
          <a:ln w="12700">
            <a:solidFill>
              <a:srgbClr val="00A6FF"/>
            </a:solidFill>
          </a:ln>
        </p:spPr>
        <p:style>
          <a:lnRef idx="2">
            <a:schemeClr val="accent1"/>
          </a:lnRef>
          <a:fillRef idx="0">
            <a:schemeClr val="accent1"/>
          </a:fillRef>
          <a:effectRef idx="1">
            <a:schemeClr val="accent1"/>
          </a:effectRef>
          <a:fontRef idx="minor">
            <a:schemeClr val="tx1"/>
          </a:fontRef>
        </p:style>
      </p:cxnSp>
      <p:sp>
        <p:nvSpPr>
          <p:cNvPr id="81" name="円/楕円 80">
            <a:extLst>
              <a:ext uri="{FF2B5EF4-FFF2-40B4-BE49-F238E27FC236}">
                <a16:creationId xmlns:a16="http://schemas.microsoft.com/office/drawing/2014/main" id="{F1FF2F87-BE4A-5104-8FAC-EB4BE3618F22}"/>
              </a:ext>
            </a:extLst>
          </p:cNvPr>
          <p:cNvSpPr/>
          <p:nvPr/>
        </p:nvSpPr>
        <p:spPr>
          <a:xfrm>
            <a:off x="10431025" y="5310974"/>
            <a:ext cx="127055" cy="127055"/>
          </a:xfrm>
          <a:prstGeom prst="ellipse">
            <a:avLst/>
          </a:prstGeom>
          <a:solidFill>
            <a:srgbClr val="D44ED9"/>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 PLUS 1p" panose="020B0502020203020207" pitchFamily="34" charset="-128"/>
              <a:ea typeface="M PLUS 1p" panose="020B0502020203020207" pitchFamily="34" charset="-128"/>
            </a:endParaRPr>
          </a:p>
        </p:txBody>
      </p:sp>
      <p:sp>
        <p:nvSpPr>
          <p:cNvPr id="92" name="テキスト ボックス 91">
            <a:extLst>
              <a:ext uri="{FF2B5EF4-FFF2-40B4-BE49-F238E27FC236}">
                <a16:creationId xmlns:a16="http://schemas.microsoft.com/office/drawing/2014/main" id="{1C471268-5FAC-80B0-8E75-5B20F336DDAF}"/>
              </a:ext>
            </a:extLst>
          </p:cNvPr>
          <p:cNvSpPr txBox="1"/>
          <p:nvPr/>
        </p:nvSpPr>
        <p:spPr>
          <a:xfrm>
            <a:off x="5621755" y="2653304"/>
            <a:ext cx="2278464" cy="523220"/>
          </a:xfrm>
          <a:prstGeom prst="rect">
            <a:avLst/>
          </a:prstGeom>
          <a:noFill/>
        </p:spPr>
        <p:txBody>
          <a:bodyPr wrap="square" rtlCol="0">
            <a:spAutoFit/>
          </a:bodyPr>
          <a:lstStyle/>
          <a:p>
            <a:pPr algn="r"/>
            <a:r>
              <a:rPr lang="en-AU" altLang="ja-JP" sz="1400" dirty="0">
                <a:solidFill>
                  <a:srgbClr val="142EA4"/>
                </a:solidFill>
                <a:latin typeface="Poppins Medium" pitchFamily="2" charset="0"/>
                <a:cs typeface="Poppins Medium" pitchFamily="2" charset="0"/>
              </a:rPr>
              <a:t>Subscribers</a:t>
            </a:r>
            <a:r>
              <a:rPr lang="en-AU" altLang="ja-JP" b="1" dirty="0">
                <a:solidFill>
                  <a:srgbClr val="142EA4"/>
                </a:solidFill>
                <a:latin typeface="Poppins SemiBold" pitchFamily="2" charset="0"/>
                <a:cs typeface="Poppins SemiBold" pitchFamily="2" charset="0"/>
              </a:rPr>
              <a:t> </a:t>
            </a:r>
            <a:r>
              <a:rPr lang="en-AU" altLang="ja-JP" sz="2800" b="1" dirty="0">
                <a:solidFill>
                  <a:srgbClr val="142EA4"/>
                </a:solidFill>
                <a:latin typeface="Poppins SemiBold" pitchFamily="2" charset="0"/>
                <a:cs typeface="Poppins SemiBold" pitchFamily="2" charset="0"/>
              </a:rPr>
              <a:t>397</a:t>
            </a:r>
            <a:r>
              <a:rPr lang="en-AU" altLang="ja-JP" b="1" dirty="0">
                <a:solidFill>
                  <a:srgbClr val="142EA4"/>
                </a:solidFill>
                <a:latin typeface="Poppins SemiBold" pitchFamily="2" charset="0"/>
                <a:cs typeface="Poppins SemiBold" pitchFamily="2" charset="0"/>
              </a:rPr>
              <a:t>K</a:t>
            </a:r>
            <a:endParaRPr lang="ja-JP" altLang="en-US" b="1" dirty="0">
              <a:solidFill>
                <a:srgbClr val="142EA4"/>
              </a:solidFill>
              <a:latin typeface="Poppins SemiBold" pitchFamily="2" charset="0"/>
              <a:ea typeface="M PLUS 1p" panose="020B0502020203020207" pitchFamily="34" charset="-128"/>
              <a:cs typeface="Poppins SemiBold" pitchFamily="2" charset="0"/>
            </a:endParaRPr>
          </a:p>
        </p:txBody>
      </p:sp>
      <p:sp>
        <p:nvSpPr>
          <p:cNvPr id="95" name="三角形 94">
            <a:extLst>
              <a:ext uri="{FF2B5EF4-FFF2-40B4-BE49-F238E27FC236}">
                <a16:creationId xmlns:a16="http://schemas.microsoft.com/office/drawing/2014/main" id="{C67F030F-9A70-C328-3DD7-93A0C3240D06}"/>
              </a:ext>
            </a:extLst>
          </p:cNvPr>
          <p:cNvSpPr/>
          <p:nvPr/>
        </p:nvSpPr>
        <p:spPr>
          <a:xfrm rot="2990612">
            <a:off x="7439108" y="3789721"/>
            <a:ext cx="359004" cy="230127"/>
          </a:xfrm>
          <a:prstGeom prst="triangl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96" name="円/楕円 95">
            <a:extLst>
              <a:ext uri="{FF2B5EF4-FFF2-40B4-BE49-F238E27FC236}">
                <a16:creationId xmlns:a16="http://schemas.microsoft.com/office/drawing/2014/main" id="{B0994169-02FE-F7C9-89DD-810F51813C05}"/>
              </a:ext>
            </a:extLst>
          </p:cNvPr>
          <p:cNvSpPr/>
          <p:nvPr/>
        </p:nvSpPr>
        <p:spPr>
          <a:xfrm>
            <a:off x="6020228" y="3893580"/>
            <a:ext cx="1322084" cy="1322084"/>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 PLUS 1p" panose="020B0502020203020207" pitchFamily="34" charset="-128"/>
              <a:ea typeface="M PLUS 1p" panose="020B0502020203020207" pitchFamily="34" charset="-128"/>
            </a:endParaRPr>
          </a:p>
        </p:txBody>
      </p:sp>
      <p:sp>
        <p:nvSpPr>
          <p:cNvPr id="97" name="テキスト ボックス 96">
            <a:extLst>
              <a:ext uri="{FF2B5EF4-FFF2-40B4-BE49-F238E27FC236}">
                <a16:creationId xmlns:a16="http://schemas.microsoft.com/office/drawing/2014/main" id="{63815EA7-53F1-6BC2-87E9-4CF72F740C10}"/>
              </a:ext>
            </a:extLst>
          </p:cNvPr>
          <p:cNvSpPr txBox="1"/>
          <p:nvPr/>
        </p:nvSpPr>
        <p:spPr>
          <a:xfrm>
            <a:off x="6026646" y="4196990"/>
            <a:ext cx="1192846" cy="584775"/>
          </a:xfrm>
          <a:prstGeom prst="rect">
            <a:avLst/>
          </a:prstGeom>
          <a:noFill/>
        </p:spPr>
        <p:txBody>
          <a:bodyPr wrap="square" rtlCol="0">
            <a:spAutoFit/>
          </a:bodyPr>
          <a:lstStyle/>
          <a:p>
            <a:pPr algn="ctr"/>
            <a:r>
              <a:rPr lang="en-US" altLang="ja-JP" sz="3200" b="1" dirty="0">
                <a:solidFill>
                  <a:srgbClr val="142FA4"/>
                </a:solidFill>
                <a:latin typeface="Poppins SemiBold" pitchFamily="2" charset="0"/>
                <a:ea typeface="M PLUS 1p" panose="020B0502020203020207" pitchFamily="34" charset="-128"/>
                <a:cs typeface="Poppins SemiBold" pitchFamily="2" charset="0"/>
              </a:rPr>
              <a:t>2.2</a:t>
            </a:r>
            <a:endParaRPr lang="ja-JP" altLang="en-US" sz="1600" b="1" dirty="0">
              <a:solidFill>
                <a:srgbClr val="142FA4"/>
              </a:solidFill>
              <a:latin typeface="Poppins SemiBold" pitchFamily="2" charset="0"/>
              <a:ea typeface="M PLUS 1p" panose="020B0502020203020207" pitchFamily="34" charset="-128"/>
              <a:cs typeface="Poppins SemiBold" pitchFamily="2" charset="0"/>
            </a:endParaRPr>
          </a:p>
        </p:txBody>
      </p:sp>
      <p:sp>
        <p:nvSpPr>
          <p:cNvPr id="98" name="テキスト ボックス 97">
            <a:extLst>
              <a:ext uri="{FF2B5EF4-FFF2-40B4-BE49-F238E27FC236}">
                <a16:creationId xmlns:a16="http://schemas.microsoft.com/office/drawing/2014/main" id="{492808C3-4996-0A3F-511E-546BD6803AF4}"/>
              </a:ext>
            </a:extLst>
          </p:cNvPr>
          <p:cNvSpPr txBox="1"/>
          <p:nvPr/>
        </p:nvSpPr>
        <p:spPr>
          <a:xfrm>
            <a:off x="6024159" y="3992788"/>
            <a:ext cx="1363158" cy="338554"/>
          </a:xfrm>
          <a:prstGeom prst="rect">
            <a:avLst/>
          </a:prstGeom>
          <a:noFill/>
        </p:spPr>
        <p:txBody>
          <a:bodyPr wrap="square" rtlCol="0">
            <a:spAutoFit/>
          </a:bodyPr>
          <a:lstStyle/>
          <a:p>
            <a:pPr algn="ctr"/>
            <a:r>
              <a:rPr lang="en-AU" altLang="ja-JP" sz="800" dirty="0">
                <a:solidFill>
                  <a:srgbClr val="142FA3"/>
                </a:solidFill>
                <a:latin typeface="Poppins" panose="00000500000000000000" pitchFamily="2" charset="0"/>
                <a:cs typeface="Poppins" panose="00000500000000000000" pitchFamily="2" charset="0"/>
              </a:rPr>
              <a:t>Subscription </a:t>
            </a:r>
          </a:p>
          <a:p>
            <a:pPr algn="ctr"/>
            <a:r>
              <a:rPr lang="en-US" altLang="ja-JP" sz="800" dirty="0">
                <a:solidFill>
                  <a:srgbClr val="142FA3"/>
                </a:solidFill>
                <a:latin typeface="M PLUS 1p Medium" panose="020B0502020203020207" pitchFamily="34" charset="-128"/>
                <a:ea typeface="M PLUS 1p Medium" panose="020B0502020203020207" pitchFamily="34" charset="-128"/>
                <a:cs typeface="M PLUS 1p Medium" panose="020B0502020203020207" pitchFamily="34" charset="-128"/>
              </a:rPr>
              <a:t>CAGR</a:t>
            </a:r>
            <a:r>
              <a:rPr lang="en-US" altLang="ja-JP" sz="800" baseline="30000" dirty="0">
                <a:solidFill>
                  <a:srgbClr val="142FA3"/>
                </a:solidFill>
                <a:latin typeface="M PLUS 1p Medium" panose="020B0502020203020207" pitchFamily="34" charset="-128"/>
                <a:ea typeface="M PLUS 1p Medium" panose="020B0502020203020207" pitchFamily="34" charset="-128"/>
                <a:cs typeface="M PLUS 1p Medium" panose="020B0502020203020207" pitchFamily="34" charset="-128"/>
              </a:rPr>
              <a:t>※2</a:t>
            </a:r>
            <a:endParaRPr lang="en" altLang="ja-JP" sz="700" baseline="30000" dirty="0">
              <a:solidFill>
                <a:srgbClr val="142FA3"/>
              </a:solidFill>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99" name="テキスト ボックス 98">
            <a:extLst>
              <a:ext uri="{FF2B5EF4-FFF2-40B4-BE49-F238E27FC236}">
                <a16:creationId xmlns:a16="http://schemas.microsoft.com/office/drawing/2014/main" id="{CBE51B16-F315-18CB-BC2E-88CDA5A8B903}"/>
              </a:ext>
            </a:extLst>
          </p:cNvPr>
          <p:cNvSpPr txBox="1"/>
          <p:nvPr/>
        </p:nvSpPr>
        <p:spPr>
          <a:xfrm>
            <a:off x="6013529" y="4812427"/>
            <a:ext cx="1363158" cy="215444"/>
          </a:xfrm>
          <a:prstGeom prst="rect">
            <a:avLst/>
          </a:prstGeom>
          <a:noFill/>
        </p:spPr>
        <p:txBody>
          <a:bodyPr wrap="square" rtlCol="0">
            <a:spAutoFit/>
          </a:bodyPr>
          <a:lstStyle/>
          <a:p>
            <a:pPr algn="ctr"/>
            <a:r>
              <a:rPr lang="en-US" altLang="ja-JP" sz="800" dirty="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rPr>
              <a:t>Aug 2018–Dec 2025</a:t>
            </a:r>
            <a:endParaRPr lang="en" altLang="ja-JP" sz="700" dirty="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endParaRPr>
          </a:p>
        </p:txBody>
      </p:sp>
      <p:grpSp>
        <p:nvGrpSpPr>
          <p:cNvPr id="100" name="グループ化 99">
            <a:extLst>
              <a:ext uri="{FF2B5EF4-FFF2-40B4-BE49-F238E27FC236}">
                <a16:creationId xmlns:a16="http://schemas.microsoft.com/office/drawing/2014/main" id="{1352086E-F0DB-D5A5-C8E4-A2554E0EC803}"/>
              </a:ext>
            </a:extLst>
          </p:cNvPr>
          <p:cNvGrpSpPr/>
          <p:nvPr/>
        </p:nvGrpSpPr>
        <p:grpSpPr>
          <a:xfrm>
            <a:off x="4759581" y="2071332"/>
            <a:ext cx="4840901" cy="266740"/>
            <a:chOff x="5044690" y="5845240"/>
            <a:chExt cx="4840901" cy="266740"/>
          </a:xfrm>
        </p:grpSpPr>
        <p:sp>
          <p:nvSpPr>
            <p:cNvPr id="101" name="テキスト ボックス 100">
              <a:extLst>
                <a:ext uri="{FF2B5EF4-FFF2-40B4-BE49-F238E27FC236}">
                  <a16:creationId xmlns:a16="http://schemas.microsoft.com/office/drawing/2014/main" id="{D45EEF85-B841-0A3D-88A0-38AF91F7CA13}"/>
                </a:ext>
              </a:extLst>
            </p:cNvPr>
            <p:cNvSpPr txBox="1"/>
            <p:nvPr/>
          </p:nvSpPr>
          <p:spPr>
            <a:xfrm>
              <a:off x="5044690" y="5845240"/>
              <a:ext cx="4840901" cy="266740"/>
            </a:xfrm>
            <a:prstGeom prst="rect">
              <a:avLst/>
            </a:prstGeom>
            <a:noFill/>
          </p:spPr>
          <p:txBody>
            <a:bodyPr wrap="square" rtlCol="0">
              <a:spAutoFit/>
            </a:bodyPr>
            <a:lstStyle/>
            <a:p>
              <a:pPr>
                <a:lnSpc>
                  <a:spcPts val="1520"/>
                </a:lnSpc>
              </a:pPr>
              <a:r>
                <a:rPr lang="ja-JP" altLang="en-US" sz="800" dirty="0">
                  <a:solidFill>
                    <a:srgbClr val="A1DEFF"/>
                  </a:solidFill>
                  <a:latin typeface="Poppins" pitchFamily="2" charset="0"/>
                  <a:ea typeface="M PLUS 1p Medium" panose="020B0502020203020207" pitchFamily="34" charset="-128"/>
                  <a:cs typeface="Poppins" pitchFamily="2" charset="0"/>
                </a:rPr>
                <a:t>■</a:t>
              </a:r>
              <a:r>
                <a:rPr lang="en-US" altLang="ja-JP" sz="800" dirty="0">
                  <a:solidFill>
                    <a:srgbClr val="142FA3"/>
                  </a:solidFill>
                  <a:latin typeface="Poppins" pitchFamily="2" charset="0"/>
                  <a:ea typeface="M PLUS 1p Medium" panose="020B0502020203020207" pitchFamily="34" charset="-128"/>
                  <a:cs typeface="Poppins" pitchFamily="2" charset="0"/>
                </a:rPr>
                <a:t> MAU</a:t>
              </a:r>
              <a:r>
                <a:rPr lang="ja-JP" altLang="en-US" sz="800" dirty="0">
                  <a:solidFill>
                    <a:srgbClr val="142FA3"/>
                  </a:solidFill>
                  <a:latin typeface="Poppins" pitchFamily="2" charset="0"/>
                  <a:ea typeface="M PLUS 1p Medium" panose="020B0502020203020207" pitchFamily="34" charset="-128"/>
                  <a:cs typeface="Poppins" pitchFamily="2" charset="0"/>
                </a:rPr>
                <a:t>（</a:t>
              </a:r>
              <a:r>
                <a:rPr lang="en-US" altLang="ja-JP" sz="800" dirty="0">
                  <a:solidFill>
                    <a:srgbClr val="142FA3"/>
                  </a:solidFill>
                  <a:latin typeface="Poppins" pitchFamily="2" charset="0"/>
                  <a:ea typeface="M PLUS 1p Medium" panose="020B0502020203020207" pitchFamily="34" charset="-128"/>
                  <a:cs typeface="Poppins" pitchFamily="2" charset="0"/>
                </a:rPr>
                <a:t>millions, left axis</a:t>
              </a:r>
              <a:r>
                <a:rPr lang="ja-JP" altLang="en-US" sz="800" dirty="0">
                  <a:solidFill>
                    <a:srgbClr val="142FA3"/>
                  </a:solidFill>
                  <a:latin typeface="Poppins" pitchFamily="2" charset="0"/>
                  <a:ea typeface="M PLUS 1p Medium" panose="020B0502020203020207" pitchFamily="34" charset="-128"/>
                  <a:cs typeface="Poppins" pitchFamily="2" charset="0"/>
                </a:rPr>
                <a:t>）　　　</a:t>
              </a:r>
              <a:r>
                <a:rPr lang="en-US" altLang="ja-JP" sz="800" dirty="0">
                  <a:solidFill>
                    <a:srgbClr val="142FA3"/>
                  </a:solidFill>
                  <a:latin typeface="Poppins" pitchFamily="2" charset="0"/>
                  <a:ea typeface="M PLUS 1p Medium" panose="020B0502020203020207" pitchFamily="34" charset="-128"/>
                  <a:cs typeface="Poppins" pitchFamily="2" charset="0"/>
                </a:rPr>
                <a:t>Subscribers (thousands, right axis)</a:t>
              </a:r>
            </a:p>
          </p:txBody>
        </p:sp>
        <p:cxnSp>
          <p:nvCxnSpPr>
            <p:cNvPr id="102" name="直線コネクタ 101">
              <a:extLst>
                <a:ext uri="{FF2B5EF4-FFF2-40B4-BE49-F238E27FC236}">
                  <a16:creationId xmlns:a16="http://schemas.microsoft.com/office/drawing/2014/main" id="{36457DA1-6E6B-F078-EACA-141BC36889EC}"/>
                </a:ext>
              </a:extLst>
            </p:cNvPr>
            <p:cNvCxnSpPr>
              <a:cxnSpLocks/>
            </p:cNvCxnSpPr>
            <p:nvPr/>
          </p:nvCxnSpPr>
          <p:spPr>
            <a:xfrm flipH="1">
              <a:off x="6573639" y="5999285"/>
              <a:ext cx="168854" cy="0"/>
            </a:xfrm>
            <a:prstGeom prst="line">
              <a:avLst/>
            </a:prstGeom>
            <a:ln w="19050">
              <a:solidFill>
                <a:srgbClr val="142FA4"/>
              </a:solidFill>
            </a:ln>
          </p:spPr>
          <p:style>
            <a:lnRef idx="2">
              <a:schemeClr val="accent1"/>
            </a:lnRef>
            <a:fillRef idx="0">
              <a:schemeClr val="accent1"/>
            </a:fillRef>
            <a:effectRef idx="1">
              <a:schemeClr val="accent1"/>
            </a:effectRef>
            <a:fontRef idx="minor">
              <a:schemeClr val="tx1"/>
            </a:fontRef>
          </p:style>
        </p:cxnSp>
      </p:grpSp>
      <p:sp>
        <p:nvSpPr>
          <p:cNvPr id="103" name="円/楕円 102">
            <a:extLst>
              <a:ext uri="{FF2B5EF4-FFF2-40B4-BE49-F238E27FC236}">
                <a16:creationId xmlns:a16="http://schemas.microsoft.com/office/drawing/2014/main" id="{754A76AB-1F2F-CBA2-D969-25580612769C}"/>
              </a:ext>
            </a:extLst>
          </p:cNvPr>
          <p:cNvSpPr>
            <a:spLocks noChangeAspect="1"/>
          </p:cNvSpPr>
          <p:nvPr/>
        </p:nvSpPr>
        <p:spPr>
          <a:xfrm>
            <a:off x="8076425" y="3583753"/>
            <a:ext cx="93728" cy="90000"/>
          </a:xfrm>
          <a:prstGeom prst="ellipse">
            <a:avLst/>
          </a:prstGeom>
          <a:solidFill>
            <a:srgbClr val="00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三角形 103">
            <a:extLst>
              <a:ext uri="{FF2B5EF4-FFF2-40B4-BE49-F238E27FC236}">
                <a16:creationId xmlns:a16="http://schemas.microsoft.com/office/drawing/2014/main" id="{241F3BB1-CFBD-FD69-6F62-DC7F0124C9A5}"/>
              </a:ext>
            </a:extLst>
          </p:cNvPr>
          <p:cNvSpPr/>
          <p:nvPr/>
        </p:nvSpPr>
        <p:spPr>
          <a:xfrm>
            <a:off x="2276311" y="5074931"/>
            <a:ext cx="227151" cy="195820"/>
          </a:xfrm>
          <a:prstGeom prst="triangle">
            <a:avLst/>
          </a:prstGeom>
          <a:solidFill>
            <a:srgbClr val="00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角丸四角形 104">
            <a:extLst>
              <a:ext uri="{FF2B5EF4-FFF2-40B4-BE49-F238E27FC236}">
                <a16:creationId xmlns:a16="http://schemas.microsoft.com/office/drawing/2014/main" id="{CFACBA2B-2055-EACB-BE52-392E7928E57D}"/>
              </a:ext>
            </a:extLst>
          </p:cNvPr>
          <p:cNvSpPr/>
          <p:nvPr/>
        </p:nvSpPr>
        <p:spPr>
          <a:xfrm>
            <a:off x="916273" y="5176322"/>
            <a:ext cx="2947226" cy="292571"/>
          </a:xfrm>
          <a:prstGeom prst="roundRect">
            <a:avLst>
              <a:gd name="adj" fmla="val 50000"/>
            </a:avLst>
          </a:prstGeom>
          <a:solidFill>
            <a:srgbClr val="00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ja-JP" sz="1100" dirty="0">
                <a:latin typeface="Poppins" panose="00000500000000000000" pitchFamily="2" charset="0"/>
                <a:cs typeface="Poppins" panose="00000500000000000000" pitchFamily="2" charset="0"/>
              </a:rPr>
              <a:t>Mobile Segment Revenue Breakdown</a:t>
            </a:r>
            <a:endParaRPr lang="ja-JP" altLang="en-US" sz="1100" dirty="0">
              <a:solidFill>
                <a:schemeClr val="bg1"/>
              </a:solidFill>
              <a:latin typeface="Poppins" panose="00000500000000000000" pitchFamily="2" charset="0"/>
              <a:ea typeface="M PLUS 1p Medium" panose="020B0502020203020207" pitchFamily="34" charset="-128"/>
              <a:cs typeface="Poppins" panose="00000500000000000000" pitchFamily="2" charset="0"/>
            </a:endParaRPr>
          </a:p>
        </p:txBody>
      </p:sp>
      <p:sp>
        <p:nvSpPr>
          <p:cNvPr id="8" name="正方形/長方形 7">
            <a:extLst>
              <a:ext uri="{FF2B5EF4-FFF2-40B4-BE49-F238E27FC236}">
                <a16:creationId xmlns:a16="http://schemas.microsoft.com/office/drawing/2014/main" id="{37CF9D5D-E863-C4D0-33DD-0F734BBC5666}"/>
              </a:ext>
            </a:extLst>
          </p:cNvPr>
          <p:cNvSpPr/>
          <p:nvPr/>
        </p:nvSpPr>
        <p:spPr>
          <a:xfrm>
            <a:off x="4624184" y="5555949"/>
            <a:ext cx="152400" cy="2528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731A017-6A5D-2123-A299-9D15281AE6EA}"/>
              </a:ext>
            </a:extLst>
          </p:cNvPr>
          <p:cNvSpPr/>
          <p:nvPr/>
        </p:nvSpPr>
        <p:spPr>
          <a:xfrm>
            <a:off x="8282658" y="5555949"/>
            <a:ext cx="152400" cy="2528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DF7495D-7A18-1A55-A7A8-8154B658F5DB}"/>
              </a:ext>
            </a:extLst>
          </p:cNvPr>
          <p:cNvSpPr txBox="1"/>
          <p:nvPr/>
        </p:nvSpPr>
        <p:spPr>
          <a:xfrm>
            <a:off x="4278729" y="2802997"/>
            <a:ext cx="782587"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a:t>
            </a:r>
            <a:r>
              <a:rPr lang="en" altLang="ja-JP" sz="800" dirty="0">
                <a:solidFill>
                  <a:srgbClr val="142FA4"/>
                </a:solidFill>
                <a:latin typeface="Poppins" pitchFamily="2" charset="0"/>
                <a:ea typeface="M PLUS 1p" panose="020B0502020203020207" pitchFamily="34" charset="-128"/>
                <a:cs typeface="Poppins" pitchFamily="2" charset="0"/>
              </a:rPr>
              <a:t>millions</a:t>
            </a:r>
            <a:r>
              <a:rPr kumimoji="1" lang="ja-JP" altLang="en-US"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a:t>
            </a:r>
            <a:endParaRPr kumimoji="1" lang="ja-JP" altLang="en-US" sz="8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16" name="テキスト ボックス 15">
            <a:extLst>
              <a:ext uri="{FF2B5EF4-FFF2-40B4-BE49-F238E27FC236}">
                <a16:creationId xmlns:a16="http://schemas.microsoft.com/office/drawing/2014/main" id="{2DE54CF9-3E15-AF0F-E3D3-78936FAE596E}"/>
              </a:ext>
            </a:extLst>
          </p:cNvPr>
          <p:cNvSpPr txBox="1"/>
          <p:nvPr/>
        </p:nvSpPr>
        <p:spPr>
          <a:xfrm>
            <a:off x="7763627" y="2802997"/>
            <a:ext cx="933269"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a:t>
            </a:r>
            <a:r>
              <a:rPr kumimoji="1" lang="en" altLang="ja-JP" sz="8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thousands</a:t>
            </a:r>
            <a:r>
              <a:rPr kumimoji="1" lang="ja-JP" altLang="en-US"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a:t>
            </a:r>
            <a:endParaRPr kumimoji="1" lang="ja-JP" altLang="en-US" sz="8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22" name="テキスト ボックス 21">
            <a:extLst>
              <a:ext uri="{FF2B5EF4-FFF2-40B4-BE49-F238E27FC236}">
                <a16:creationId xmlns:a16="http://schemas.microsoft.com/office/drawing/2014/main" id="{E1A5257B-F9D0-0DAE-2322-62845E09276F}"/>
              </a:ext>
            </a:extLst>
          </p:cNvPr>
          <p:cNvSpPr txBox="1"/>
          <p:nvPr/>
        </p:nvSpPr>
        <p:spPr>
          <a:xfrm>
            <a:off x="4397838" y="5771429"/>
            <a:ext cx="94171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2018/5</a:t>
            </a:r>
            <a:endParaRPr kumimoji="1" lang="ja-JP" altLang="en-US" sz="100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32" name="テキスト ボックス 31">
            <a:extLst>
              <a:ext uri="{FF2B5EF4-FFF2-40B4-BE49-F238E27FC236}">
                <a16:creationId xmlns:a16="http://schemas.microsoft.com/office/drawing/2014/main" id="{CDB4E2ED-77D5-9E47-E45C-A938606B1B8B}"/>
              </a:ext>
            </a:extLst>
          </p:cNvPr>
          <p:cNvSpPr txBox="1"/>
          <p:nvPr/>
        </p:nvSpPr>
        <p:spPr>
          <a:xfrm>
            <a:off x="7638147" y="5771429"/>
            <a:ext cx="94171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2025/12</a:t>
            </a:r>
            <a:endParaRPr kumimoji="1" lang="ja-JP" altLang="en-US" sz="100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9" name="テキスト ボックス 8">
            <a:extLst>
              <a:ext uri="{FF2B5EF4-FFF2-40B4-BE49-F238E27FC236}">
                <a16:creationId xmlns:a16="http://schemas.microsoft.com/office/drawing/2014/main" id="{E27C57D8-076E-DA39-9D2C-0605489F9991}"/>
              </a:ext>
            </a:extLst>
          </p:cNvPr>
          <p:cNvSpPr txBox="1"/>
          <p:nvPr/>
        </p:nvSpPr>
        <p:spPr>
          <a:xfrm>
            <a:off x="6001805" y="4626555"/>
            <a:ext cx="1407867" cy="246221"/>
          </a:xfrm>
          <a:prstGeom prst="rect">
            <a:avLst/>
          </a:prstGeom>
          <a:noFill/>
        </p:spPr>
        <p:txBody>
          <a:bodyPr wrap="square" rtlCol="0">
            <a:spAutoFit/>
          </a:bodyPr>
          <a:lstStyle/>
          <a:p>
            <a:pPr algn="ctr"/>
            <a:r>
              <a:rPr lang="en-US" altLang="ja-JP" sz="1000" dirty="0">
                <a:solidFill>
                  <a:srgbClr val="142FA4"/>
                </a:solidFill>
                <a:latin typeface="Poppins SemiBold" pitchFamily="2" charset="0"/>
                <a:ea typeface="M PLUS 1p" panose="020B0502020203020207" pitchFamily="34" charset="-128"/>
                <a:cs typeface="Poppins SemiBold" pitchFamily="2" charset="0"/>
              </a:rPr>
              <a:t>(123.3%)</a:t>
            </a:r>
            <a:endParaRPr lang="ja-JP" altLang="en-US" sz="500" dirty="0">
              <a:solidFill>
                <a:srgbClr val="142FA4"/>
              </a:solidFill>
              <a:latin typeface="Poppins SemiBold" pitchFamily="2" charset="0"/>
              <a:ea typeface="M PLUS 1p" panose="020B0502020203020207" pitchFamily="34" charset="-128"/>
              <a:cs typeface="Poppins SemiBold" pitchFamily="2" charset="0"/>
            </a:endParaRPr>
          </a:p>
        </p:txBody>
      </p:sp>
      <p:sp>
        <p:nvSpPr>
          <p:cNvPr id="33" name="テキスト ボックス 32">
            <a:extLst>
              <a:ext uri="{FF2B5EF4-FFF2-40B4-BE49-F238E27FC236}">
                <a16:creationId xmlns:a16="http://schemas.microsoft.com/office/drawing/2014/main" id="{644F1466-D1C9-27A6-FE28-7A1BA5B04DFE}"/>
              </a:ext>
            </a:extLst>
          </p:cNvPr>
          <p:cNvSpPr txBox="1"/>
          <p:nvPr/>
        </p:nvSpPr>
        <p:spPr>
          <a:xfrm>
            <a:off x="6863387" y="4347766"/>
            <a:ext cx="349369" cy="400110"/>
          </a:xfrm>
          <a:prstGeom prst="rect">
            <a:avLst/>
          </a:prstGeom>
          <a:noFill/>
        </p:spPr>
        <p:txBody>
          <a:bodyPr wrap="square">
            <a:spAutoFit/>
          </a:bodyPr>
          <a:lstStyle/>
          <a:p>
            <a:r>
              <a:rPr lang="en-US" altLang="ja-JP" sz="2000" b="1" dirty="0">
                <a:solidFill>
                  <a:srgbClr val="142FA4"/>
                </a:solidFill>
                <a:latin typeface="Poppins SemiBold" pitchFamily="2" charset="0"/>
                <a:ea typeface="M PLUS 1p" panose="020B0502020203020207" pitchFamily="34" charset="-128"/>
                <a:cs typeface="Poppins SemiBold" pitchFamily="2" charset="0"/>
              </a:rPr>
              <a:t>X</a:t>
            </a:r>
            <a:endParaRPr lang="ja-JP" altLang="en-US" sz="2000" b="1" dirty="0">
              <a:latin typeface="Poppins SemiBold" pitchFamily="2" charset="0"/>
              <a:cs typeface="Poppins SemiBold" pitchFamily="2" charset="0"/>
            </a:endParaRPr>
          </a:p>
        </p:txBody>
      </p:sp>
      <p:sp>
        <p:nvSpPr>
          <p:cNvPr id="46" name="テキスト ボックス 45">
            <a:extLst>
              <a:ext uri="{FF2B5EF4-FFF2-40B4-BE49-F238E27FC236}">
                <a16:creationId xmlns:a16="http://schemas.microsoft.com/office/drawing/2014/main" id="{C047442A-87E5-D042-7F0B-0A161CFC9455}"/>
              </a:ext>
            </a:extLst>
          </p:cNvPr>
          <p:cNvSpPr txBox="1"/>
          <p:nvPr/>
        </p:nvSpPr>
        <p:spPr>
          <a:xfrm>
            <a:off x="10359347" y="5623934"/>
            <a:ext cx="898003" cy="434734"/>
          </a:xfrm>
          <a:prstGeom prst="rect">
            <a:avLst/>
          </a:prstGeom>
          <a:noFill/>
        </p:spPr>
        <p:txBody>
          <a:bodyPr wrap="none" rtlCol="0">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Nagoya</a:t>
            </a:r>
          </a:p>
        </p:txBody>
      </p:sp>
      <p:sp>
        <p:nvSpPr>
          <p:cNvPr id="51" name="テキスト ボックス 50">
            <a:extLst>
              <a:ext uri="{FF2B5EF4-FFF2-40B4-BE49-F238E27FC236}">
                <a16:creationId xmlns:a16="http://schemas.microsoft.com/office/drawing/2014/main" id="{142C1488-18C8-F1FC-6860-6160FEA32723}"/>
              </a:ext>
            </a:extLst>
          </p:cNvPr>
          <p:cNvSpPr txBox="1"/>
          <p:nvPr/>
        </p:nvSpPr>
        <p:spPr>
          <a:xfrm>
            <a:off x="9696744" y="4482131"/>
            <a:ext cx="764953" cy="434734"/>
          </a:xfrm>
          <a:prstGeom prst="rect">
            <a:avLst/>
          </a:prstGeom>
          <a:noFill/>
        </p:spPr>
        <p:txBody>
          <a:bodyPr wrap="none" rtlCol="0">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Osaka</a:t>
            </a:r>
          </a:p>
        </p:txBody>
      </p:sp>
      <p:sp>
        <p:nvSpPr>
          <p:cNvPr id="52" name="テキスト ボックス 51">
            <a:extLst>
              <a:ext uri="{FF2B5EF4-FFF2-40B4-BE49-F238E27FC236}">
                <a16:creationId xmlns:a16="http://schemas.microsoft.com/office/drawing/2014/main" id="{94A24A46-7C73-7CAA-C841-0B9C770D0A6C}"/>
              </a:ext>
            </a:extLst>
          </p:cNvPr>
          <p:cNvSpPr txBox="1"/>
          <p:nvPr/>
        </p:nvSpPr>
        <p:spPr>
          <a:xfrm>
            <a:off x="9703582" y="3445344"/>
            <a:ext cx="1846980"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Including 302 IT engineers</a:t>
            </a:r>
            <a:endParaRPr kumimoji="1" lang="ja-JP" altLang="en-US" sz="10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endParaRPr>
          </a:p>
        </p:txBody>
      </p:sp>
      <p:sp>
        <p:nvSpPr>
          <p:cNvPr id="63" name="テキスト ボックス 62">
            <a:extLst>
              <a:ext uri="{FF2B5EF4-FFF2-40B4-BE49-F238E27FC236}">
                <a16:creationId xmlns:a16="http://schemas.microsoft.com/office/drawing/2014/main" id="{8354210C-EC7F-1A4D-3DCF-21DB77B5EDBC}"/>
              </a:ext>
            </a:extLst>
          </p:cNvPr>
          <p:cNvSpPr txBox="1"/>
          <p:nvPr/>
        </p:nvSpPr>
        <p:spPr>
          <a:xfrm>
            <a:off x="8767216" y="3051396"/>
            <a:ext cx="994183"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Number 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Employees:</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64" name="テキスト ボックス 63">
            <a:extLst>
              <a:ext uri="{FF2B5EF4-FFF2-40B4-BE49-F238E27FC236}">
                <a16:creationId xmlns:a16="http://schemas.microsoft.com/office/drawing/2014/main" id="{5886F5A8-2F45-8928-362A-FAF281DB13DE}"/>
              </a:ext>
            </a:extLst>
          </p:cNvPr>
          <p:cNvSpPr txBox="1"/>
          <p:nvPr/>
        </p:nvSpPr>
        <p:spPr>
          <a:xfrm>
            <a:off x="8767216" y="2515734"/>
            <a:ext cx="998991"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Established:</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65" name="テキスト ボックス 64">
            <a:extLst>
              <a:ext uri="{FF2B5EF4-FFF2-40B4-BE49-F238E27FC236}">
                <a16:creationId xmlns:a16="http://schemas.microsoft.com/office/drawing/2014/main" id="{7BAEE995-14D3-94BA-5A6F-79F575ED2DC4}"/>
              </a:ext>
            </a:extLst>
          </p:cNvPr>
          <p:cNvSpPr txBox="1"/>
          <p:nvPr/>
        </p:nvSpPr>
        <p:spPr>
          <a:xfrm>
            <a:off x="8767216" y="3789411"/>
            <a:ext cx="86754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Locations:</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66" name="テキスト ボックス 65">
            <a:extLst>
              <a:ext uri="{FF2B5EF4-FFF2-40B4-BE49-F238E27FC236}">
                <a16:creationId xmlns:a16="http://schemas.microsoft.com/office/drawing/2014/main" id="{DA12825B-53E4-4083-E44F-89170BFE8C5D}"/>
              </a:ext>
            </a:extLst>
          </p:cNvPr>
          <p:cNvSpPr txBox="1"/>
          <p:nvPr/>
        </p:nvSpPr>
        <p:spPr>
          <a:xfrm>
            <a:off x="9518003" y="1736224"/>
            <a:ext cx="1288814"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Company Profile</a:t>
            </a:r>
          </a:p>
        </p:txBody>
      </p:sp>
      <p:sp>
        <p:nvSpPr>
          <p:cNvPr id="71" name="タイトル 1">
            <a:extLst>
              <a:ext uri="{FF2B5EF4-FFF2-40B4-BE49-F238E27FC236}">
                <a16:creationId xmlns:a16="http://schemas.microsoft.com/office/drawing/2014/main" id="{33657BD6-BFF7-9750-13BA-3B5462DD614F}"/>
              </a:ext>
            </a:extLst>
          </p:cNvPr>
          <p:cNvSpPr>
            <a:spLocks noGrp="1"/>
          </p:cNvSpPr>
          <p:nvPr>
            <p:ph type="ctrTitle"/>
          </p:nvPr>
        </p:nvSpPr>
        <p:spPr>
          <a:xfrm>
            <a:off x="610272" y="684000"/>
            <a:ext cx="10971455" cy="622579"/>
          </a:xfrm>
        </p:spPr>
        <p:txBody>
          <a:bodyPr/>
          <a:lstStyle/>
          <a:p>
            <a:pPr>
              <a:lnSpc>
                <a:spcPct val="100000"/>
              </a:lnSpc>
            </a:pPr>
            <a:r>
              <a:rPr lang="ja-JP" altLang="ja-JP" sz="2650" dirty="0">
                <a:ea typeface="M PLUS 1p Medium" panose="020B0502020203020207"/>
              </a:rPr>
              <a:t>A Japan-</a:t>
            </a:r>
            <a:r>
              <a:rPr lang="en-US" altLang="ja-JP" sz="2650" dirty="0">
                <a:ea typeface="M PLUS 1p Medium" panose="020B0502020203020207"/>
              </a:rPr>
              <a:t>Based</a:t>
            </a:r>
            <a:r>
              <a:rPr lang="ja-JP" altLang="ja-JP" sz="2650" dirty="0">
                <a:ea typeface="M PLUS 1p Medium" panose="020B0502020203020207"/>
              </a:rPr>
              <a:t> </a:t>
            </a:r>
            <a:r>
              <a:rPr lang="en-US" altLang="ja-JP" dirty="0">
                <a:ea typeface="M PLUS 1p Medium" panose="020B0502020203020207"/>
              </a:rPr>
              <a:t>T</a:t>
            </a:r>
            <a:r>
              <a:rPr lang="ja-JP" altLang="ja-JP" sz="2650" dirty="0">
                <a:ea typeface="M PLUS 1p Medium" panose="020B0502020203020207"/>
              </a:rPr>
              <a:t>ech </a:t>
            </a:r>
            <a:r>
              <a:rPr lang="en-US" altLang="ja-JP" dirty="0">
                <a:ea typeface="M PLUS 1p Medium" panose="020B0502020203020207"/>
              </a:rPr>
              <a:t>C</a:t>
            </a:r>
            <a:r>
              <a:rPr lang="ja-JP" altLang="ja-JP" sz="2650" dirty="0">
                <a:ea typeface="M PLUS 1p Medium" panose="020B0502020203020207"/>
              </a:rPr>
              <a:t>ompany </a:t>
            </a:r>
            <a:r>
              <a:rPr lang="en-US" altLang="ja-JP" sz="2650" dirty="0">
                <a:ea typeface="M PLUS 1p Medium" panose="020B0502020203020207"/>
              </a:rPr>
              <a:t>Developing</a:t>
            </a:r>
            <a:br>
              <a:rPr lang="en-US" altLang="ja-JP" sz="2650" dirty="0">
                <a:ea typeface="M PLUS 1p Medium" panose="020B0502020203020207"/>
              </a:rPr>
            </a:br>
            <a:r>
              <a:rPr lang="ja-JP" altLang="ja-JP" sz="2650" dirty="0">
                <a:solidFill>
                  <a:srgbClr val="C0FF00"/>
                </a:solidFill>
                <a:ea typeface="M PLUS 1p Medium" panose="020B0502020203020207"/>
              </a:rPr>
              <a:t>the </a:t>
            </a:r>
            <a:r>
              <a:rPr lang="en-US" altLang="ja-JP" sz="2650" dirty="0">
                <a:solidFill>
                  <a:srgbClr val="C0FF00"/>
                </a:solidFill>
                <a:ea typeface="M PLUS 1p Medium" panose="020B0502020203020207"/>
              </a:rPr>
              <a:t>W</a:t>
            </a:r>
            <a:r>
              <a:rPr lang="ja-JP" altLang="ja-JP" sz="2650" dirty="0">
                <a:solidFill>
                  <a:srgbClr val="C0FF00"/>
                </a:solidFill>
                <a:ea typeface="M PLUS 1p Medium" panose="020B0502020203020207"/>
              </a:rPr>
              <a:t>orld</a:t>
            </a:r>
            <a:r>
              <a:rPr lang="en-US" altLang="ja-JP" sz="2650" dirty="0">
                <a:solidFill>
                  <a:srgbClr val="C0FF00"/>
                </a:solidFill>
                <a:ea typeface="M PLUS 1p Medium" panose="020B0502020203020207"/>
              </a:rPr>
              <a:t>’</a:t>
            </a:r>
            <a:r>
              <a:rPr lang="ja-JP" altLang="ja-JP" sz="2650" dirty="0">
                <a:solidFill>
                  <a:srgbClr val="C0FF00"/>
                </a:solidFill>
                <a:ea typeface="M PLUS 1p Medium" panose="020B0502020203020207"/>
              </a:rPr>
              <a:t>s No.</a:t>
            </a:r>
            <a:r>
              <a:rPr lang="en-US" altLang="ja-JP" sz="2650" dirty="0">
                <a:solidFill>
                  <a:srgbClr val="C0FF00"/>
                </a:solidFill>
                <a:ea typeface="M PLUS 1p Medium" panose="020B0502020203020207"/>
              </a:rPr>
              <a:t> 1</a:t>
            </a:r>
            <a:r>
              <a:rPr lang="ja-JP" altLang="ja-JP" sz="2650" dirty="0">
                <a:solidFill>
                  <a:srgbClr val="C0FF00"/>
                </a:solidFill>
                <a:ea typeface="M PLUS 1p Medium" panose="020B0502020203020207"/>
              </a:rPr>
              <a:t> </a:t>
            </a:r>
            <a:r>
              <a:rPr lang="en-US" altLang="ja-JP" sz="2650" dirty="0">
                <a:solidFill>
                  <a:srgbClr val="C0FF00"/>
                </a:solidFill>
                <a:ea typeface="M PLUS 1p Medium" panose="020B0502020203020207"/>
              </a:rPr>
              <a:t>M</a:t>
            </a:r>
            <a:r>
              <a:rPr lang="ja-JP" altLang="ja-JP" sz="2650" dirty="0">
                <a:solidFill>
                  <a:srgbClr val="C0FF00"/>
                </a:solidFill>
                <a:ea typeface="M PLUS 1p Medium" panose="020B0502020203020207"/>
              </a:rPr>
              <a:t>obile </a:t>
            </a:r>
            <a:r>
              <a:rPr lang="en-US" altLang="ja-JP" dirty="0">
                <a:solidFill>
                  <a:srgbClr val="C0FF00"/>
                </a:solidFill>
                <a:ea typeface="M PLUS 1p Medium" panose="020B0502020203020207"/>
              </a:rPr>
              <a:t>P</a:t>
            </a:r>
            <a:r>
              <a:rPr lang="ja-JP" altLang="ja-JP" sz="2650" dirty="0">
                <a:solidFill>
                  <a:srgbClr val="C0FF00"/>
                </a:solidFill>
                <a:ea typeface="M PLUS 1p Medium" panose="020B0502020203020207"/>
              </a:rPr>
              <a:t>ainting </a:t>
            </a:r>
            <a:r>
              <a:rPr lang="en-US" altLang="ja-JP" dirty="0">
                <a:solidFill>
                  <a:srgbClr val="C0FF00"/>
                </a:solidFill>
                <a:ea typeface="M PLUS 1p Medium" panose="020B0502020203020207"/>
              </a:rPr>
              <a:t>A</a:t>
            </a:r>
            <a:r>
              <a:rPr lang="ja-JP" altLang="ja-JP" sz="2650" dirty="0">
                <a:solidFill>
                  <a:srgbClr val="C0FF00"/>
                </a:solidFill>
                <a:ea typeface="M PLUS 1p Medium" panose="020B0502020203020207"/>
              </a:rPr>
              <a:t>pp </a:t>
            </a:r>
            <a:endParaRPr lang="ja-JP" altLang="en-US" sz="2650" dirty="0">
              <a:solidFill>
                <a:srgbClr val="C0FF00"/>
              </a:solidFill>
              <a:ea typeface="M PLUS 1p Medium" panose="020B0502020203020207"/>
            </a:endParaRPr>
          </a:p>
        </p:txBody>
      </p:sp>
      <p:sp>
        <p:nvSpPr>
          <p:cNvPr id="79" name="テキスト プレースホルダー 6">
            <a:extLst>
              <a:ext uri="{FF2B5EF4-FFF2-40B4-BE49-F238E27FC236}">
                <a16:creationId xmlns:a16="http://schemas.microsoft.com/office/drawing/2014/main" id="{7CB4A494-D3C1-20A0-D9CE-C75A31EE3A04}"/>
              </a:ext>
            </a:extLst>
          </p:cNvPr>
          <p:cNvSpPr>
            <a:spLocks noGrp="1"/>
          </p:cNvSpPr>
          <p:nvPr>
            <p:ph type="body" sz="quarter" idx="12"/>
          </p:nvPr>
        </p:nvSpPr>
        <p:spPr/>
        <p:txBody>
          <a:bodyPr>
            <a:normAutofit/>
          </a:bodyPr>
          <a:lstStyle/>
          <a:p>
            <a:r>
              <a:rPr lang="en-US" altLang="ja-JP" dirty="0">
                <a:latin typeface="Poppins" pitchFamily="2" charset="0"/>
                <a:cs typeface="Poppins" pitchFamily="2" charset="0"/>
              </a:rPr>
              <a:t>About ibis</a:t>
            </a:r>
            <a:endParaRPr lang="ja-JP" altLang="en-US">
              <a:latin typeface="Poppins" pitchFamily="2" charset="0"/>
              <a:cs typeface="Poppins" pitchFamily="2" charset="0"/>
            </a:endParaRPr>
          </a:p>
        </p:txBody>
      </p:sp>
      <p:sp>
        <p:nvSpPr>
          <p:cNvPr id="88" name="テキスト ボックス 87">
            <a:extLst>
              <a:ext uri="{FF2B5EF4-FFF2-40B4-BE49-F238E27FC236}">
                <a16:creationId xmlns:a16="http://schemas.microsoft.com/office/drawing/2014/main" id="{4FC6D330-D8DE-6BF2-B42E-3C967A966F55}"/>
              </a:ext>
            </a:extLst>
          </p:cNvPr>
          <p:cNvSpPr txBox="1"/>
          <p:nvPr/>
        </p:nvSpPr>
        <p:spPr>
          <a:xfrm>
            <a:off x="1591570" y="1736224"/>
            <a:ext cx="1623842"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Net Sales Breakdown</a:t>
            </a:r>
          </a:p>
        </p:txBody>
      </p:sp>
      <p:sp>
        <p:nvSpPr>
          <p:cNvPr id="89" name="テキスト ボックス 88">
            <a:extLst>
              <a:ext uri="{FF2B5EF4-FFF2-40B4-BE49-F238E27FC236}">
                <a16:creationId xmlns:a16="http://schemas.microsoft.com/office/drawing/2014/main" id="{022AE205-6ED8-FF94-8EB8-8B91F7895BD3}"/>
              </a:ext>
            </a:extLst>
          </p:cNvPr>
          <p:cNvSpPr txBox="1"/>
          <p:nvPr/>
        </p:nvSpPr>
        <p:spPr>
          <a:xfrm>
            <a:off x="1577143" y="1947239"/>
            <a:ext cx="1652696"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by Business Segment</a:t>
            </a:r>
          </a:p>
        </p:txBody>
      </p:sp>
      <p:sp>
        <p:nvSpPr>
          <p:cNvPr id="90" name="テキスト ボックス 89">
            <a:extLst>
              <a:ext uri="{FF2B5EF4-FFF2-40B4-BE49-F238E27FC236}">
                <a16:creationId xmlns:a16="http://schemas.microsoft.com/office/drawing/2014/main" id="{2351A866-F0D3-93D7-E520-BD864F61F57B}"/>
              </a:ext>
            </a:extLst>
          </p:cNvPr>
          <p:cNvSpPr txBox="1"/>
          <p:nvPr>
            <p:custDataLst>
              <p:custData r:id="rId1"/>
            </p:custDataLst>
          </p:nvPr>
        </p:nvSpPr>
        <p:spPr>
          <a:xfrm>
            <a:off x="1092194" y="3473033"/>
            <a:ext cx="251960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15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a:t>
            </a:r>
            <a:r>
              <a:rPr kumimoji="1" lang="en-US" altLang="ja-JP" sz="4000" b="0" i="0" u="none" strike="noStrike" kern="1200" cap="none" spc="-15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5.00</a:t>
            </a:r>
            <a:r>
              <a:rPr kumimoji="1" lang="en-US" altLang="ja-JP" sz="2800" b="0" i="0" u="none" strike="noStrike" kern="1200" cap="none" spc="-15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B</a:t>
            </a:r>
            <a:r>
              <a:rPr kumimoji="1" lang="en-US" altLang="ja-JP" sz="2000" b="0" i="0" u="none" strike="noStrike" kern="1200" cap="none" spc="-150" normalizeH="0" baseline="0" noProof="0">
                <a:ln>
                  <a:noFill/>
                </a:ln>
                <a:solidFill>
                  <a:srgbClr val="FF0000"/>
                </a:solidFill>
                <a:effectLst/>
                <a:uLnTx/>
                <a:uFillTx/>
                <a:latin typeface="Poppins SemiBold" pitchFamily="2" charset="0"/>
                <a:ea typeface="M PLUS 1p Medium" panose="020B0502020203020207" pitchFamily="34" charset="-128"/>
                <a:cs typeface="Poppins SemiBold" pitchFamily="2" charset="0"/>
              </a:rPr>
              <a:t> </a:t>
            </a:r>
            <a:endParaRPr kumimoji="1" lang="ja-JP" altLang="en-US" sz="2000" b="0" i="0" u="none" strike="noStrike" kern="1200" cap="none" spc="-150" normalizeH="0" baseline="-3000" noProof="0" dirty="0">
              <a:ln>
                <a:noFill/>
              </a:ln>
              <a:solidFill>
                <a:srgbClr val="FF0000"/>
              </a:solidFill>
              <a:effectLst/>
              <a:uLnTx/>
              <a:uFillTx/>
              <a:latin typeface="Poppins" pitchFamily="2" charset="0"/>
              <a:ea typeface="M PLUS 1p" panose="020B0502020203020207" pitchFamily="34" charset="-128"/>
              <a:cs typeface="Poppins" pitchFamily="2" charset="0"/>
            </a:endParaRPr>
          </a:p>
        </p:txBody>
      </p:sp>
      <p:sp>
        <p:nvSpPr>
          <p:cNvPr id="91" name="テキスト ボックス 90">
            <a:extLst>
              <a:ext uri="{FF2B5EF4-FFF2-40B4-BE49-F238E27FC236}">
                <a16:creationId xmlns:a16="http://schemas.microsoft.com/office/drawing/2014/main" id="{D1D82851-D6D2-8B38-B550-E28B2924A548}"/>
              </a:ext>
            </a:extLst>
          </p:cNvPr>
          <p:cNvSpPr txBox="1"/>
          <p:nvPr/>
        </p:nvSpPr>
        <p:spPr>
          <a:xfrm>
            <a:off x="2079164" y="4077510"/>
            <a:ext cx="654346" cy="25391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FY2025</a:t>
            </a:r>
            <a:endParaRPr kumimoji="1" lang="ja-JP" altLang="en-US" sz="800" b="0" i="0" u="none" strike="noStrike" kern="1200" cap="none" spc="0" normalizeH="0" baseline="3000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93" name="テキスト ボックス 92">
            <a:extLst>
              <a:ext uri="{FF2B5EF4-FFF2-40B4-BE49-F238E27FC236}">
                <a16:creationId xmlns:a16="http://schemas.microsoft.com/office/drawing/2014/main" id="{C6590346-50E6-1202-EB79-934A27123FEC}"/>
              </a:ext>
            </a:extLst>
          </p:cNvPr>
          <p:cNvSpPr txBox="1"/>
          <p:nvPr/>
        </p:nvSpPr>
        <p:spPr>
          <a:xfrm>
            <a:off x="1867909" y="3245236"/>
            <a:ext cx="1096666" cy="30008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r>
              <a:rPr kumimoji="1" lang="en-US" altLang="ja-JP" sz="13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Net Sales</a:t>
            </a:r>
            <a:endParaRPr kumimoji="1" lang="ja-JP" altLang="en-US" sz="13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106" name="コンテンツ プレースホルダー 1">
            <a:extLst>
              <a:ext uri="{FF2B5EF4-FFF2-40B4-BE49-F238E27FC236}">
                <a16:creationId xmlns:a16="http://schemas.microsoft.com/office/drawing/2014/main" id="{096BE976-724A-2926-CF63-EE994E889E07}"/>
              </a:ext>
            </a:extLst>
          </p:cNvPr>
          <p:cNvSpPr txBox="1">
            <a:spLocks/>
          </p:cNvSpPr>
          <p:nvPr/>
        </p:nvSpPr>
        <p:spPr>
          <a:xfrm>
            <a:off x="4076185" y="6277352"/>
            <a:ext cx="7494312" cy="456164"/>
          </a:xfrm>
          <a:prstGeom prst="rect">
            <a:avLst/>
          </a:prstGeom>
        </p:spPr>
        <p:txBody>
          <a:bodyPr vert="horz" lIns="91440" tIns="45720" rIns="91440" bIns="45720" rtlCol="0" anchor="b"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cs typeface="Poppins" panose="00000500000000000000" pitchFamily="2" charset="0"/>
              </a:rPr>
              <a:t>*1</a:t>
            </a:r>
            <a:r>
              <a:rPr kumimoji="1" lang="ja-JP" altLang="en-US" sz="700" b="0" i="0" u="none" strike="noStrike" kern="1200" cap="none" spc="0" normalizeH="0" baseline="0" noProof="0" dirty="0">
                <a:ln>
                  <a:noFill/>
                </a:ln>
                <a:solidFill>
                  <a:srgbClr val="142FA4"/>
                </a:solidFill>
                <a:effectLst/>
                <a:uLnTx/>
                <a:uFillTx/>
                <a:latin typeface="Poppins" panose="00000500000000000000" pitchFamily="2" charset="0"/>
                <a:cs typeface="Poppins" panose="00000500000000000000" pitchFamily="2" charset="0"/>
              </a:rPr>
              <a:t> </a:t>
            </a: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cs typeface="Poppins" panose="00000500000000000000" pitchFamily="2" charset="0"/>
              </a:rPr>
              <a:t>App Store “Graphics &amp; Design” category (from 2019 through January-November 2025), global basis, Monthly Active Users (MAU). Source: data.ai by Sensor Tower</a:t>
            </a:r>
          </a:p>
          <a:p>
            <a:pPr marL="0" lvl="0" indent="0" algn="l">
              <a:lnSpc>
                <a:spcPts val="820"/>
              </a:lnSpc>
              <a:defRPr/>
            </a:pPr>
            <a:r>
              <a:rPr lang="en-US" altLang="ja-JP" sz="700" dirty="0">
                <a:latin typeface="Poppins" panose="00000500000000000000" pitchFamily="2" charset="0"/>
                <a:cs typeface="Poppins" panose="00000500000000000000" pitchFamily="2" charset="0"/>
              </a:rPr>
              <a:t>*2 </a:t>
            </a: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cs typeface="Poppins" panose="00000500000000000000" pitchFamily="2" charset="0"/>
              </a:rPr>
              <a:t>CAGR is calculated from August 2018, when the subscription service w</a:t>
            </a:r>
            <a:r>
              <a:rPr lang="en-US" altLang="ja-JP" sz="700" dirty="0">
                <a:latin typeface="Poppins" panose="00000500000000000000" pitchFamily="2" charset="0"/>
                <a:cs typeface="Poppins" panose="00000500000000000000" pitchFamily="2" charset="0"/>
              </a:rPr>
              <a:t>as</a:t>
            </a: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cs typeface="Poppins" panose="00000500000000000000" pitchFamily="2" charset="0"/>
              </a:rPr>
              <a:t> launched</a:t>
            </a:r>
          </a:p>
        </p:txBody>
      </p:sp>
      <p:sp>
        <p:nvSpPr>
          <p:cNvPr id="113" name="テキスト ボックス 112">
            <a:extLst>
              <a:ext uri="{FF2B5EF4-FFF2-40B4-BE49-F238E27FC236}">
                <a16:creationId xmlns:a16="http://schemas.microsoft.com/office/drawing/2014/main" id="{BE9CEB11-2AF3-24AC-1838-31887CFD7902}"/>
              </a:ext>
            </a:extLst>
          </p:cNvPr>
          <p:cNvSpPr txBox="1"/>
          <p:nvPr/>
        </p:nvSpPr>
        <p:spPr>
          <a:xfrm>
            <a:off x="5399243" y="1736224"/>
            <a:ext cx="2131994"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MAU and Subscribers Trend</a:t>
            </a:r>
          </a:p>
        </p:txBody>
      </p:sp>
      <p:sp>
        <p:nvSpPr>
          <p:cNvPr id="38" name="テキスト ボックス 37">
            <a:extLst>
              <a:ext uri="{FF2B5EF4-FFF2-40B4-BE49-F238E27FC236}">
                <a16:creationId xmlns:a16="http://schemas.microsoft.com/office/drawing/2014/main" id="{155876D8-7A71-2379-6B27-5DA5826B4C29}"/>
              </a:ext>
            </a:extLst>
          </p:cNvPr>
          <p:cNvSpPr txBox="1"/>
          <p:nvPr/>
        </p:nvSpPr>
        <p:spPr>
          <a:xfrm>
            <a:off x="3148895" y="5503617"/>
            <a:ext cx="920413" cy="253916"/>
          </a:xfrm>
          <a:prstGeom prst="rect">
            <a:avLst/>
          </a:prstGeom>
          <a:noFill/>
        </p:spPr>
        <p:txBody>
          <a:bodyPr wrap="square">
            <a:spAutoFit/>
          </a:bodyPr>
          <a:lstStyle/>
          <a:p>
            <a:pPr algn="ctr" rtl="0">
              <a:defRPr sz="1350" b="0" i="0" u="none" strike="noStrike" kern="1200" spc="0" baseline="0">
                <a:solidFill>
                  <a:srgbClr val="142FA4"/>
                </a:solidFill>
                <a:latin typeface="M PLUS 1p Medium" panose="020B0502020203020207" pitchFamily="34" charset="-128"/>
                <a:ea typeface="M PLUS 1p Medium" panose="020B0502020203020207" pitchFamily="34" charset="-128"/>
                <a:cs typeface="M PLUS 1p Medium" panose="020B0502020203020207" pitchFamily="34" charset="-128"/>
              </a:defRPr>
            </a:pPr>
            <a:r>
              <a:rPr lang="en-US" altLang="ja-JP" sz="1000" dirty="0">
                <a:solidFill>
                  <a:srgbClr val="142EA4"/>
                </a:solidFill>
              </a:rPr>
              <a:t>Japan</a:t>
            </a:r>
            <a:endParaRPr lang="ja-JP" altLang="en-US" sz="1050" dirty="0">
              <a:solidFill>
                <a:srgbClr val="142EA4"/>
              </a:solidFill>
            </a:endParaRPr>
          </a:p>
        </p:txBody>
      </p:sp>
      <p:sp>
        <p:nvSpPr>
          <p:cNvPr id="2" name="テキスト ボックス 1">
            <a:extLst>
              <a:ext uri="{FF2B5EF4-FFF2-40B4-BE49-F238E27FC236}">
                <a16:creationId xmlns:a16="http://schemas.microsoft.com/office/drawing/2014/main" id="{6F15D6E1-FBD9-995C-4DF3-022D549FEE14}"/>
              </a:ext>
            </a:extLst>
          </p:cNvPr>
          <p:cNvSpPr txBox="1"/>
          <p:nvPr/>
        </p:nvSpPr>
        <p:spPr>
          <a:xfrm>
            <a:off x="5791075" y="3106974"/>
            <a:ext cx="2278464" cy="523220"/>
          </a:xfrm>
          <a:prstGeom prst="rect">
            <a:avLst/>
          </a:prstGeom>
          <a:noFill/>
        </p:spPr>
        <p:txBody>
          <a:bodyPr wrap="square" rtlCol="0">
            <a:spAutoFit/>
          </a:bodyPr>
          <a:lstStyle/>
          <a:p>
            <a:pPr algn="r"/>
            <a:r>
              <a:rPr lang="en-AU" altLang="ja-JP" sz="1400" dirty="0">
                <a:solidFill>
                  <a:srgbClr val="00A7FF"/>
                </a:solidFill>
                <a:latin typeface="Poppins Medium" pitchFamily="2" charset="0"/>
                <a:cs typeface="Poppins Medium" pitchFamily="2" charset="0"/>
              </a:rPr>
              <a:t>MAU</a:t>
            </a:r>
            <a:r>
              <a:rPr lang="en-AU" altLang="ja-JP" b="1" dirty="0">
                <a:solidFill>
                  <a:srgbClr val="00A7FF"/>
                </a:solidFill>
                <a:latin typeface="Poppins SemiBold" pitchFamily="2" charset="0"/>
                <a:cs typeface="Poppins SemiBold" pitchFamily="2" charset="0"/>
              </a:rPr>
              <a:t> </a:t>
            </a:r>
            <a:r>
              <a:rPr lang="en-AU" altLang="ja-JP" sz="2800" b="1" dirty="0">
                <a:solidFill>
                  <a:srgbClr val="00A7FF"/>
                </a:solidFill>
                <a:latin typeface="Poppins SemiBold" pitchFamily="2" charset="0"/>
                <a:cs typeface="Poppins SemiBold" pitchFamily="2" charset="0"/>
              </a:rPr>
              <a:t>40.07</a:t>
            </a:r>
            <a:r>
              <a:rPr lang="en-AU" altLang="ja-JP" b="1" dirty="0">
                <a:solidFill>
                  <a:srgbClr val="00A7FF"/>
                </a:solidFill>
                <a:latin typeface="Poppins SemiBold" pitchFamily="2" charset="0"/>
                <a:cs typeface="Poppins SemiBold" pitchFamily="2" charset="0"/>
              </a:rPr>
              <a:t>M</a:t>
            </a:r>
            <a:endParaRPr lang="ja-JP" altLang="en-US" b="1" dirty="0">
              <a:solidFill>
                <a:srgbClr val="00A7FF"/>
              </a:solidFill>
              <a:latin typeface="Poppins SemiBold" pitchFamily="2" charset="0"/>
              <a:ea typeface="M PLUS 1p" panose="020B0502020203020207" pitchFamily="34" charset="-128"/>
              <a:cs typeface="Poppins SemiBold" pitchFamily="2" charset="0"/>
            </a:endParaRPr>
          </a:p>
        </p:txBody>
      </p:sp>
    </p:spTree>
    <p:extLst>
      <p:ext uri="{BB962C8B-B14F-4D97-AF65-F5344CB8AC3E}">
        <p14:creationId xmlns:p14="http://schemas.microsoft.com/office/powerpoint/2010/main" val="4212999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角丸四角形 18">
            <a:extLst>
              <a:ext uri="{FF2B5EF4-FFF2-40B4-BE49-F238E27FC236}">
                <a16:creationId xmlns:a16="http://schemas.microsoft.com/office/drawing/2014/main" id="{FE9ACC5F-2D04-1AA2-DAA4-5AF355A918E8}"/>
              </a:ext>
            </a:extLst>
          </p:cNvPr>
          <p:cNvSpPr/>
          <p:nvPr/>
        </p:nvSpPr>
        <p:spPr>
          <a:xfrm>
            <a:off x="550862" y="1948270"/>
            <a:ext cx="2767170" cy="4325530"/>
          </a:xfrm>
          <a:prstGeom prst="roundRect">
            <a:avLst>
              <a:gd name="adj" fmla="val 6141"/>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2" name="角丸四角形 21">
            <a:extLst>
              <a:ext uri="{FF2B5EF4-FFF2-40B4-BE49-F238E27FC236}">
                <a16:creationId xmlns:a16="http://schemas.microsoft.com/office/drawing/2014/main" id="{B4237235-B657-9BD6-F366-00D8954EAFFA}"/>
              </a:ext>
            </a:extLst>
          </p:cNvPr>
          <p:cNvSpPr/>
          <p:nvPr/>
        </p:nvSpPr>
        <p:spPr>
          <a:xfrm>
            <a:off x="3582876" y="1948270"/>
            <a:ext cx="2767170" cy="4325530"/>
          </a:xfrm>
          <a:prstGeom prst="roundRect">
            <a:avLst>
              <a:gd name="adj" fmla="val 6141"/>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3" name="角丸四角形 22">
            <a:extLst>
              <a:ext uri="{FF2B5EF4-FFF2-40B4-BE49-F238E27FC236}">
                <a16:creationId xmlns:a16="http://schemas.microsoft.com/office/drawing/2014/main" id="{51D3EDDD-4A23-9A82-6E14-CEA260B39E72}"/>
              </a:ext>
            </a:extLst>
          </p:cNvPr>
          <p:cNvSpPr/>
          <p:nvPr/>
        </p:nvSpPr>
        <p:spPr>
          <a:xfrm>
            <a:off x="6563104" y="1948270"/>
            <a:ext cx="2767170" cy="4325530"/>
          </a:xfrm>
          <a:prstGeom prst="roundRect">
            <a:avLst>
              <a:gd name="adj" fmla="val 6141"/>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10" name="図 9" descr="黒いバックグラウンドの前に立つ男性&#10;&#10;AI 生成コンテンツは誤りを含む可能性があります。">
            <a:extLst>
              <a:ext uri="{FF2B5EF4-FFF2-40B4-BE49-F238E27FC236}">
                <a16:creationId xmlns:a16="http://schemas.microsoft.com/office/drawing/2014/main" id="{4D96E161-3DEC-798B-9DE3-97657A285D77}"/>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7099442" y="0"/>
            <a:ext cx="5092558" cy="6858000"/>
          </a:xfrm>
          <a:prstGeom prst="rect">
            <a:avLst/>
          </a:prstGeom>
        </p:spPr>
      </p:pic>
      <p:sp>
        <p:nvSpPr>
          <p:cNvPr id="7" name="テキスト プレースホルダー 6">
            <a:extLst>
              <a:ext uri="{FF2B5EF4-FFF2-40B4-BE49-F238E27FC236}">
                <a16:creationId xmlns:a16="http://schemas.microsoft.com/office/drawing/2014/main" id="{BF0EFE54-B63C-0E16-A457-F614BFEB0498}"/>
              </a:ext>
            </a:extLst>
          </p:cNvPr>
          <p:cNvSpPr>
            <a:spLocks noGrp="1"/>
          </p:cNvSpPr>
          <p:nvPr>
            <p:ph type="body" sz="quarter" idx="12"/>
          </p:nvPr>
        </p:nvSpPr>
        <p:spPr/>
        <p:txBody>
          <a:bodyPr>
            <a:normAutofit/>
          </a:bodyPr>
          <a:lstStyle/>
          <a:p>
            <a:r>
              <a:rPr lang="en-US" altLang="ja-JP" dirty="0"/>
              <a:t>Founder Profile</a:t>
            </a:r>
            <a:endParaRPr lang="ja-JP" altLang="en-US"/>
          </a:p>
        </p:txBody>
      </p:sp>
      <p:sp>
        <p:nvSpPr>
          <p:cNvPr id="2" name="タイトル 1">
            <a:extLst>
              <a:ext uri="{FF2B5EF4-FFF2-40B4-BE49-F238E27FC236}">
                <a16:creationId xmlns:a16="http://schemas.microsoft.com/office/drawing/2014/main" id="{0C1007B9-7077-E1DF-9773-1BAA883227A9}"/>
              </a:ext>
            </a:extLst>
          </p:cNvPr>
          <p:cNvSpPr>
            <a:spLocks noGrp="1"/>
          </p:cNvSpPr>
          <p:nvPr>
            <p:ph type="ctrTitle"/>
          </p:nvPr>
        </p:nvSpPr>
        <p:spPr>
          <a:xfrm>
            <a:off x="265132" y="590400"/>
            <a:ext cx="11661737" cy="622579"/>
          </a:xfrm>
        </p:spPr>
        <p:txBody>
          <a:bodyPr/>
          <a:lstStyle/>
          <a:p>
            <a:pPr>
              <a:lnSpc>
                <a:spcPct val="100000"/>
              </a:lnSpc>
            </a:pPr>
            <a:r>
              <a:rPr lang="en-US" altLang="ja-JP" dirty="0">
                <a:ea typeface="M PLUS 1p Medium" panose="020B0502020203020207"/>
              </a:rPr>
              <a:t>Bringing </a:t>
            </a:r>
            <a:r>
              <a:rPr lang="en-US" altLang="ja-JP" dirty="0">
                <a:solidFill>
                  <a:srgbClr val="C0FF00"/>
                </a:solidFill>
                <a:ea typeface="M PLUS 1p Medium" panose="020B0502020203020207"/>
              </a:rPr>
              <a:t>surprise and joy to young creators worldwide</a:t>
            </a:r>
            <a:br>
              <a:rPr lang="en-US" altLang="ja-JP" dirty="0">
                <a:solidFill>
                  <a:srgbClr val="C0FF00"/>
                </a:solidFill>
                <a:ea typeface="M PLUS 1p Medium" panose="020B0502020203020207"/>
              </a:rPr>
            </a:br>
            <a:r>
              <a:rPr lang="en-US" altLang="ja-JP" dirty="0">
                <a:ea typeface="M PLUS 1p Medium" panose="020B0502020203020207"/>
              </a:rPr>
              <a:t>with technology born in Japan</a:t>
            </a:r>
            <a:endParaRPr lang="ja-JP" altLang="en-US" dirty="0">
              <a:ea typeface="M PLUS 1p Medium" panose="020B0502020203020207"/>
            </a:endParaRPr>
          </a:p>
        </p:txBody>
      </p:sp>
      <p:sp>
        <p:nvSpPr>
          <p:cNvPr id="3" name="テキスト ボックス 2">
            <a:extLst>
              <a:ext uri="{FF2B5EF4-FFF2-40B4-BE49-F238E27FC236}">
                <a16:creationId xmlns:a16="http://schemas.microsoft.com/office/drawing/2014/main" id="{BC1537BF-26F0-0110-BAFF-E2135FB7CBB9}"/>
              </a:ext>
            </a:extLst>
          </p:cNvPr>
          <p:cNvSpPr txBox="1"/>
          <p:nvPr/>
        </p:nvSpPr>
        <p:spPr>
          <a:xfrm>
            <a:off x="979415" y="2108508"/>
            <a:ext cx="1950940" cy="761747"/>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 pioneer </a:t>
            </a:r>
          </a:p>
          <a:p>
            <a:pPr marL="0" marR="0" lvl="0" indent="0" algn="l" defTabSz="914400" rtl="0" eaLnBrk="1" fontAlgn="auto" latinLnBrk="0" hangingPunct="1">
              <a:lnSpc>
                <a:spcPct val="11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in technology</a:t>
            </a:r>
            <a:endParaRPr kumimoji="1" lang="ja-JP" altLang="en-US" sz="2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8" name="テキスト ボックス 7">
            <a:extLst>
              <a:ext uri="{FF2B5EF4-FFF2-40B4-BE49-F238E27FC236}">
                <a16:creationId xmlns:a16="http://schemas.microsoft.com/office/drawing/2014/main" id="{3EA8BE9C-FEFA-E363-60A7-06F7C272BF92}"/>
              </a:ext>
            </a:extLst>
          </p:cNvPr>
          <p:cNvSpPr txBox="1"/>
          <p:nvPr/>
        </p:nvSpPr>
        <p:spPr>
          <a:xfrm>
            <a:off x="6776457" y="2108508"/>
            <a:ext cx="2627675" cy="91178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500" b="0" i="0" u="none" strike="noStrike" kern="1200" cap="none" spc="0" normalizeH="0" baseline="0" noProof="0" dirty="0">
                <a:ln>
                  <a:noFill/>
                </a:ln>
                <a:solidFill>
                  <a:srgbClr val="142FA4"/>
                </a:solidFill>
                <a:effectLst/>
                <a:uLnTx/>
                <a:uFillTx/>
                <a:latin typeface="Poppins Medium" pitchFamily="2" charset="0"/>
                <a:ea typeface="Poppins SemiBold"/>
                <a:cs typeface="Poppins Medium" pitchFamily="2" charset="0"/>
                <a:sym typeface="Poppins SemiBold"/>
              </a:rPr>
              <a:t>Delivering technology born in Japan to every corner of the world</a:t>
            </a:r>
            <a:endParaRPr kumimoji="1" lang="en-US" altLang="ja-JP" sz="15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sp>
        <p:nvSpPr>
          <p:cNvPr id="27" name="角丸四角形 26">
            <a:extLst>
              <a:ext uri="{FF2B5EF4-FFF2-40B4-BE49-F238E27FC236}">
                <a16:creationId xmlns:a16="http://schemas.microsoft.com/office/drawing/2014/main" id="{2CFB5A40-F678-604B-549E-85E968D02F72}"/>
              </a:ext>
            </a:extLst>
          </p:cNvPr>
          <p:cNvSpPr/>
          <p:nvPr/>
        </p:nvSpPr>
        <p:spPr>
          <a:xfrm>
            <a:off x="10458995" y="5487725"/>
            <a:ext cx="1357826" cy="22686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rPr>
              <a:t>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President &amp; CEO</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32" name="テキスト ボックス 31">
            <a:extLst>
              <a:ext uri="{FF2B5EF4-FFF2-40B4-BE49-F238E27FC236}">
                <a16:creationId xmlns:a16="http://schemas.microsoft.com/office/drawing/2014/main" id="{A62E8311-B103-FD6F-B190-AE24F92CBB4A}"/>
              </a:ext>
            </a:extLst>
          </p:cNvPr>
          <p:cNvSpPr txBox="1"/>
          <p:nvPr/>
        </p:nvSpPr>
        <p:spPr>
          <a:xfrm>
            <a:off x="10401299" y="5749155"/>
            <a:ext cx="1494981"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ja-JP" sz="1400" b="0" i="0" u="none" strike="noStrike" kern="1200" cap="none" spc="0" normalizeH="0" baseline="0" noProof="0">
                <a:ln>
                  <a:noFill/>
                </a:ln>
                <a:solidFill>
                  <a:srgbClr val="142FA4"/>
                </a:solidFill>
                <a:effectLst/>
                <a:uLnTx/>
                <a:uFillTx/>
                <a:latin typeface="Poppins SemiBold" pitchFamily="2" charset="0"/>
                <a:ea typeface="游ゴシック" panose="020B0400000000000000" pitchFamily="50" charset="-128"/>
                <a:cs typeface="Poppins SemiBold" pitchFamily="2" charset="0"/>
              </a:rPr>
              <a:t> Eiji Kamiya</a:t>
            </a:r>
            <a:endParaRPr kumimoji="1" lang="ja-JP" altLang="en-US" sz="13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33" name="テキスト ボックス 32">
            <a:extLst>
              <a:ext uri="{FF2B5EF4-FFF2-40B4-BE49-F238E27FC236}">
                <a16:creationId xmlns:a16="http://schemas.microsoft.com/office/drawing/2014/main" id="{64901B7A-2FF5-5541-11BC-D6D912E51689}"/>
              </a:ext>
            </a:extLst>
          </p:cNvPr>
          <p:cNvSpPr txBox="1"/>
          <p:nvPr/>
        </p:nvSpPr>
        <p:spPr>
          <a:xfrm>
            <a:off x="10325892" y="6019030"/>
            <a:ext cx="1570388" cy="3693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 Born in 1973,</a:t>
            </a:r>
            <a:endParaRPr kumimoji="1" lang="en-US" altLang="ja-JP" sz="9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 Nagoya, Aichi, Japan </a:t>
            </a:r>
            <a:endParaRPr kumimoji="1" lang="ja-JP" altLang="en-US"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37" name="テキスト ボックス 36">
            <a:extLst>
              <a:ext uri="{FF2B5EF4-FFF2-40B4-BE49-F238E27FC236}">
                <a16:creationId xmlns:a16="http://schemas.microsoft.com/office/drawing/2014/main" id="{7BA91719-3412-A717-B4B1-D6A59C2DC50F}"/>
              </a:ext>
            </a:extLst>
          </p:cNvPr>
          <p:cNvSpPr txBox="1"/>
          <p:nvPr/>
        </p:nvSpPr>
        <p:spPr>
          <a:xfrm>
            <a:off x="636576" y="4928243"/>
            <a:ext cx="2593193" cy="124758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Began programming in elementary school and became immersed in building high-speed, high-performance technology—creating innovations</a:t>
            </a: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born in Japan</a:t>
            </a:r>
            <a:r>
              <a:rPr kumimoji="1" lang="ja-JP"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that</a:t>
            </a: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can</a:t>
            </a:r>
            <a:r>
              <a:rPr kumimoji="1" lang="ja-JP"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compete globally.</a:t>
            </a:r>
            <a:endParaRPr kumimoji="1" lang="ja-JP" altLang="en-US"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endParaRPr>
          </a:p>
        </p:txBody>
      </p:sp>
      <p:sp>
        <p:nvSpPr>
          <p:cNvPr id="38" name="テキスト ボックス 37">
            <a:extLst>
              <a:ext uri="{FF2B5EF4-FFF2-40B4-BE49-F238E27FC236}">
                <a16:creationId xmlns:a16="http://schemas.microsoft.com/office/drawing/2014/main" id="{5A5C13EB-7487-99CD-D232-8AA148AE1639}"/>
              </a:ext>
            </a:extLst>
          </p:cNvPr>
          <p:cNvSpPr txBox="1"/>
          <p:nvPr/>
        </p:nvSpPr>
        <p:spPr>
          <a:xfrm>
            <a:off x="3691841" y="4928243"/>
            <a:ext cx="2549240" cy="85978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Combining engineering expertise with marketing insight, he led the company’s global expansion and guided ibis to its 2023 public listing.</a:t>
            </a:r>
          </a:p>
        </p:txBody>
      </p:sp>
      <p:sp>
        <p:nvSpPr>
          <p:cNvPr id="39" name="テキスト ボックス 38">
            <a:extLst>
              <a:ext uri="{FF2B5EF4-FFF2-40B4-BE49-F238E27FC236}">
                <a16:creationId xmlns:a16="http://schemas.microsoft.com/office/drawing/2014/main" id="{0E91C4E2-3125-DE10-929F-607CD7A7361F}"/>
              </a:ext>
            </a:extLst>
          </p:cNvPr>
          <p:cNvSpPr txBox="1"/>
          <p:nvPr/>
        </p:nvSpPr>
        <p:spPr>
          <a:xfrm>
            <a:off x="6643717" y="4928243"/>
            <a:ext cx="2605944" cy="105368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Delivering “WOW!” experiences and the joy of creation to Gen Alpha and Gen Z worldwide, accelerating creativity and unlocking new possibilities in the AI era.</a:t>
            </a:r>
            <a:endPar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Poppins"/>
              <a:cs typeface="Poppins" panose="00000500000000000000" pitchFamily="2" charset="0"/>
              <a:sym typeface="Poppins"/>
            </a:endParaRPr>
          </a:p>
        </p:txBody>
      </p:sp>
      <p:sp>
        <p:nvSpPr>
          <p:cNvPr id="45" name="テキスト ボックス 44">
            <a:extLst>
              <a:ext uri="{FF2B5EF4-FFF2-40B4-BE49-F238E27FC236}">
                <a16:creationId xmlns:a16="http://schemas.microsoft.com/office/drawing/2014/main" id="{06D598AC-D6A6-1463-E52B-025467019F9A}"/>
              </a:ext>
            </a:extLst>
          </p:cNvPr>
          <p:cNvSpPr txBox="1"/>
          <p:nvPr/>
        </p:nvSpPr>
        <p:spPr>
          <a:xfrm>
            <a:off x="1031298" y="1628334"/>
            <a:ext cx="180629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white"/>
                </a:solidFill>
                <a:effectLst/>
                <a:uLnTx/>
                <a:uFillTx/>
                <a:latin typeface="Poppins SemiBold" pitchFamily="2" charset="0"/>
                <a:ea typeface="M PLUS 1p Medium" panose="020B0502020203020207" pitchFamily="34" charset="-128"/>
                <a:cs typeface="Poppins SemiBold" pitchFamily="2" charset="0"/>
              </a:rPr>
              <a:t>WHO I AM</a:t>
            </a:r>
            <a:endParaRPr kumimoji="1" lang="ja-JP" altLang="en-US" sz="2400" b="0" i="0" u="none" strike="noStrike" kern="1200" cap="none" spc="0" normalizeH="0" baseline="0" noProof="0" dirty="0">
              <a:ln>
                <a:noFill/>
              </a:ln>
              <a:solidFill>
                <a:prstClr val="white"/>
              </a:solidFill>
              <a:effectLst/>
              <a:uLnTx/>
              <a:uFillTx/>
              <a:latin typeface="Poppins" pitchFamily="2" charset="0"/>
              <a:ea typeface="游ゴシック" panose="020B0400000000000000" pitchFamily="50" charset="-128"/>
              <a:cs typeface="+mn-cs"/>
            </a:endParaRPr>
          </a:p>
        </p:txBody>
      </p:sp>
      <p:sp>
        <p:nvSpPr>
          <p:cNvPr id="46" name="テキスト ボックス 45">
            <a:extLst>
              <a:ext uri="{FF2B5EF4-FFF2-40B4-BE49-F238E27FC236}">
                <a16:creationId xmlns:a16="http://schemas.microsoft.com/office/drawing/2014/main" id="{BDFB2DBD-27BA-D4A3-FB79-8A9C50601F76}"/>
              </a:ext>
            </a:extLst>
          </p:cNvPr>
          <p:cNvSpPr txBox="1"/>
          <p:nvPr/>
        </p:nvSpPr>
        <p:spPr>
          <a:xfrm>
            <a:off x="3730937" y="1628334"/>
            <a:ext cx="247104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white"/>
                </a:solidFill>
                <a:effectLst/>
                <a:uLnTx/>
                <a:uFillTx/>
                <a:latin typeface="Poppins SemiBold" pitchFamily="2" charset="0"/>
                <a:ea typeface="M PLUS 1p Medium" panose="020B0502020203020207" pitchFamily="34" charset="-128"/>
                <a:cs typeface="Poppins SemiBold" pitchFamily="2" charset="0"/>
              </a:rPr>
              <a:t>WORK STYLE</a:t>
            </a:r>
            <a:endParaRPr kumimoji="1" lang="ja-JP" altLang="en-US" sz="24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7" name="テキスト ボックス 46">
            <a:extLst>
              <a:ext uri="{FF2B5EF4-FFF2-40B4-BE49-F238E27FC236}">
                <a16:creationId xmlns:a16="http://schemas.microsoft.com/office/drawing/2014/main" id="{FB1B2731-811D-9121-8BBD-2E18B2B5FC4F}"/>
              </a:ext>
            </a:extLst>
          </p:cNvPr>
          <p:cNvSpPr txBox="1"/>
          <p:nvPr/>
        </p:nvSpPr>
        <p:spPr>
          <a:xfrm>
            <a:off x="6827695" y="1628334"/>
            <a:ext cx="223798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white"/>
                </a:solidFill>
                <a:effectLst/>
                <a:uLnTx/>
                <a:uFillTx/>
                <a:latin typeface="Poppins SemiBold" pitchFamily="2" charset="0"/>
                <a:ea typeface="M PLUS 1p Medium" panose="020B0502020203020207" pitchFamily="34" charset="-128"/>
                <a:cs typeface="Poppins SemiBold" pitchFamily="2" charset="0"/>
              </a:rPr>
              <a:t>MY PASSION</a:t>
            </a:r>
            <a:endParaRPr kumimoji="1" lang="ja-JP" altLang="en-US" sz="24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5" name="コンテンツ プレースホルダー 1">
            <a:extLst>
              <a:ext uri="{FF2B5EF4-FFF2-40B4-BE49-F238E27FC236}">
                <a16:creationId xmlns:a16="http://schemas.microsoft.com/office/drawing/2014/main" id="{FD236324-AE09-29CF-49A3-F1AB74D6B4CF}"/>
              </a:ext>
            </a:extLst>
          </p:cNvPr>
          <p:cNvSpPr txBox="1">
            <a:spLocks/>
          </p:cNvSpPr>
          <p:nvPr/>
        </p:nvSpPr>
        <p:spPr>
          <a:xfrm>
            <a:off x="5678283" y="6277352"/>
            <a:ext cx="7494312" cy="456164"/>
          </a:xfrm>
          <a:prstGeom prst="rect">
            <a:avLst/>
          </a:prstGeom>
        </p:spPr>
        <p:txBody>
          <a:bodyPr vert="horz" lIns="91440" tIns="45720" rIns="91440" bIns="45720" rtlCol="0" anchor="b"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ea typeface="M PLUS 1p" panose="020B0502020203020207" pitchFamily="34" charset="-128"/>
                <a:cs typeface="Poppins" panose="00000500000000000000" pitchFamily="2" charset="0"/>
              </a:rPr>
              <a:t>* Generation Alpha and Generation Z: An age group mainly corresponding to </a:t>
            </a:r>
          </a:p>
          <a:p>
            <a:pPr marL="0" marR="0" lvl="0" indent="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ea typeface="M PLUS 1p" panose="020B0502020203020207" pitchFamily="34" charset="-128"/>
                <a:cs typeface="Poppins" panose="00000500000000000000" pitchFamily="2" charset="0"/>
              </a:rPr>
              <a:t>   elementary school through high school students (as defined by the Company)</a:t>
            </a:r>
          </a:p>
        </p:txBody>
      </p:sp>
      <p:sp>
        <p:nvSpPr>
          <p:cNvPr id="6" name="テキスト ボックス 5">
            <a:extLst>
              <a:ext uri="{FF2B5EF4-FFF2-40B4-BE49-F238E27FC236}">
                <a16:creationId xmlns:a16="http://schemas.microsoft.com/office/drawing/2014/main" id="{4C4EB486-39F7-3427-04A7-9BEAA53A6287}"/>
              </a:ext>
            </a:extLst>
          </p:cNvPr>
          <p:cNvSpPr txBox="1"/>
          <p:nvPr/>
        </p:nvSpPr>
        <p:spPr>
          <a:xfrm>
            <a:off x="3634442" y="2108508"/>
            <a:ext cx="2767170" cy="6347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500" b="0" i="0" u="none" strike="noStrike" kern="1200" cap="none" spc="0" normalizeH="0" baseline="0" noProof="0" dirty="0">
                <a:ln>
                  <a:noFill/>
                </a:ln>
                <a:solidFill>
                  <a:srgbClr val="142FA4"/>
                </a:solidFill>
                <a:effectLst/>
                <a:uLnTx/>
                <a:uFillTx/>
                <a:latin typeface="Poppins Medium" pitchFamily="2" charset="0"/>
                <a:ea typeface="Poppins SemiBold"/>
                <a:cs typeface="Poppins Medium" pitchFamily="2" charset="0"/>
                <a:sym typeface="Poppins SemiBold"/>
              </a:rPr>
              <a:t>Dual-track management:</a:t>
            </a: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500" b="0" i="0" u="none" strike="noStrike" kern="1200" cap="none" spc="0" normalizeH="0" baseline="0" noProof="0" dirty="0">
                <a:ln>
                  <a:noFill/>
                </a:ln>
                <a:solidFill>
                  <a:srgbClr val="142FA4"/>
                </a:solidFill>
                <a:effectLst/>
                <a:uLnTx/>
                <a:uFillTx/>
                <a:latin typeface="Poppins Medium" pitchFamily="2" charset="0"/>
                <a:ea typeface="Poppins SemiBold"/>
                <a:cs typeface="Poppins Medium" pitchFamily="2" charset="0"/>
                <a:sym typeface="Poppins SemiBold"/>
              </a:rPr>
              <a:t>Engineering × Marketing</a:t>
            </a:r>
          </a:p>
        </p:txBody>
      </p:sp>
      <p:pic>
        <p:nvPicPr>
          <p:cNvPr id="9" name="図 8">
            <a:extLst>
              <a:ext uri="{FF2B5EF4-FFF2-40B4-BE49-F238E27FC236}">
                <a16:creationId xmlns:a16="http://schemas.microsoft.com/office/drawing/2014/main" id="{3EB35299-0E16-718C-7EA1-90DA87860180}"/>
              </a:ext>
            </a:extLst>
          </p:cNvPr>
          <p:cNvPicPr>
            <a:picLocks noChangeAspect="1"/>
          </p:cNvPicPr>
          <p:nvPr/>
        </p:nvPicPr>
        <p:blipFill>
          <a:blip r:embed="rId4"/>
          <a:stretch>
            <a:fillRect/>
          </a:stretch>
        </p:blipFill>
        <p:spPr>
          <a:xfrm>
            <a:off x="973876" y="3106615"/>
            <a:ext cx="1874251" cy="1619251"/>
          </a:xfrm>
          <a:prstGeom prst="rect">
            <a:avLst/>
          </a:prstGeom>
        </p:spPr>
      </p:pic>
      <p:pic>
        <p:nvPicPr>
          <p:cNvPr id="12" name="図 11">
            <a:extLst>
              <a:ext uri="{FF2B5EF4-FFF2-40B4-BE49-F238E27FC236}">
                <a16:creationId xmlns:a16="http://schemas.microsoft.com/office/drawing/2014/main" id="{361D6A71-06FF-B1CD-7630-08D5E3B24375}"/>
              </a:ext>
            </a:extLst>
          </p:cNvPr>
          <p:cNvPicPr>
            <a:picLocks noChangeAspect="1"/>
          </p:cNvPicPr>
          <p:nvPr/>
        </p:nvPicPr>
        <p:blipFill>
          <a:blip r:embed="rId5"/>
          <a:stretch>
            <a:fillRect/>
          </a:stretch>
        </p:blipFill>
        <p:spPr>
          <a:xfrm>
            <a:off x="3751692" y="3035277"/>
            <a:ext cx="2569330" cy="2222303"/>
          </a:xfrm>
          <a:prstGeom prst="rect">
            <a:avLst/>
          </a:prstGeom>
        </p:spPr>
      </p:pic>
      <p:pic>
        <p:nvPicPr>
          <p:cNvPr id="13" name="図 12">
            <a:extLst>
              <a:ext uri="{FF2B5EF4-FFF2-40B4-BE49-F238E27FC236}">
                <a16:creationId xmlns:a16="http://schemas.microsoft.com/office/drawing/2014/main" id="{21FEE244-D781-9A79-808A-D28928436AC3}"/>
              </a:ext>
            </a:extLst>
          </p:cNvPr>
          <p:cNvPicPr>
            <a:picLocks noChangeAspect="1"/>
          </p:cNvPicPr>
          <p:nvPr/>
        </p:nvPicPr>
        <p:blipFill>
          <a:blip r:embed="rId6"/>
          <a:stretch>
            <a:fillRect/>
          </a:stretch>
        </p:blipFill>
        <p:spPr>
          <a:xfrm>
            <a:off x="6789850" y="3143616"/>
            <a:ext cx="2231367" cy="1655317"/>
          </a:xfrm>
          <a:prstGeom prst="rect">
            <a:avLst/>
          </a:prstGeom>
        </p:spPr>
      </p:pic>
      <p:sp>
        <p:nvSpPr>
          <p:cNvPr id="5" name="テキスト ボックス 4">
            <a:extLst>
              <a:ext uri="{FF2B5EF4-FFF2-40B4-BE49-F238E27FC236}">
                <a16:creationId xmlns:a16="http://schemas.microsoft.com/office/drawing/2014/main" id="{46112585-C5B9-D5D7-810D-39D2A52C8E55}"/>
              </a:ext>
            </a:extLst>
          </p:cNvPr>
          <p:cNvSpPr txBox="1"/>
          <p:nvPr/>
        </p:nvSpPr>
        <p:spPr>
          <a:xfrm>
            <a:off x="11311200" y="6501600"/>
            <a:ext cx="405728" cy="276999"/>
          </a:xfrm>
          <a:prstGeom prst="rect">
            <a:avLst/>
          </a:prstGeom>
          <a:noFill/>
        </p:spPr>
        <p:txBody>
          <a:bodyPr wrap="square" rtlCol="0">
            <a:spAutoFit/>
          </a:bodyPr>
          <a:lstStyle/>
          <a:p>
            <a:pPr algn="r"/>
            <a:fld id="{7350FDB5-5533-274B-8EC0-FE2FC0CFC6C4}" type="slidenum">
              <a:rPr kumimoji="1" lang="en-US" altLang="ja-JP" sz="1200" b="0" i="0">
                <a:solidFill>
                  <a:srgbClr val="142EA4"/>
                </a:solidFill>
                <a:latin typeface="Poppins Light" pitchFamily="2" charset="0"/>
                <a:cs typeface="Poppins Light" pitchFamily="2" charset="0"/>
              </a:rPr>
              <a:pPr algn="r"/>
              <a:t>13</a:t>
            </a:fld>
            <a:endParaRPr kumimoji="1" lang="ja-JP" altLang="en-US" sz="1200" b="0" i="0">
              <a:solidFill>
                <a:srgbClr val="142EA4"/>
              </a:solidFill>
              <a:latin typeface="Poppins Light" pitchFamily="2" charset="0"/>
              <a:cs typeface="Poppins Light" pitchFamily="2" charset="0"/>
            </a:endParaRPr>
          </a:p>
        </p:txBody>
      </p:sp>
    </p:spTree>
    <p:extLst>
      <p:ext uri="{BB962C8B-B14F-4D97-AF65-F5344CB8AC3E}">
        <p14:creationId xmlns:p14="http://schemas.microsoft.com/office/powerpoint/2010/main" val="1429130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593B2-F800-ED15-E381-EDAEEEC34D5F}"/>
            </a:ext>
          </a:extLst>
        </p:cNvPr>
        <p:cNvGrpSpPr/>
        <p:nvPr/>
      </p:nvGrpSpPr>
      <p:grpSpPr>
        <a:xfrm>
          <a:off x="0" y="0"/>
          <a:ext cx="0" cy="0"/>
          <a:chOff x="0" y="0"/>
          <a:chExt cx="0" cy="0"/>
        </a:xfrm>
      </p:grpSpPr>
      <p:sp>
        <p:nvSpPr>
          <p:cNvPr id="28" name="角丸四角形 27">
            <a:extLst>
              <a:ext uri="{FF2B5EF4-FFF2-40B4-BE49-F238E27FC236}">
                <a16:creationId xmlns:a16="http://schemas.microsoft.com/office/drawing/2014/main" id="{7BDDE7B5-4D89-9E93-4585-484B14D2FD61}"/>
              </a:ext>
            </a:extLst>
          </p:cNvPr>
          <p:cNvSpPr/>
          <p:nvPr/>
        </p:nvSpPr>
        <p:spPr>
          <a:xfrm>
            <a:off x="2274569" y="1525037"/>
            <a:ext cx="9091769" cy="1021322"/>
          </a:xfrm>
          <a:prstGeom prst="roundRect">
            <a:avLst>
              <a:gd name="adj" fmla="val 16158"/>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7" name="角丸四角形 6">
            <a:extLst>
              <a:ext uri="{FF2B5EF4-FFF2-40B4-BE49-F238E27FC236}">
                <a16:creationId xmlns:a16="http://schemas.microsoft.com/office/drawing/2014/main" id="{6D70B96B-8BDA-8384-9018-E65C59A7FF2B}"/>
              </a:ext>
            </a:extLst>
          </p:cNvPr>
          <p:cNvSpPr/>
          <p:nvPr/>
        </p:nvSpPr>
        <p:spPr>
          <a:xfrm>
            <a:off x="2274569" y="2744488"/>
            <a:ext cx="9091769" cy="1021322"/>
          </a:xfrm>
          <a:prstGeom prst="roundRect">
            <a:avLst>
              <a:gd name="adj" fmla="val 16069"/>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8" name="角丸四角形 7">
            <a:extLst>
              <a:ext uri="{FF2B5EF4-FFF2-40B4-BE49-F238E27FC236}">
                <a16:creationId xmlns:a16="http://schemas.microsoft.com/office/drawing/2014/main" id="{C54F03AE-E2B2-9563-0602-AB413EFB1453}"/>
              </a:ext>
            </a:extLst>
          </p:cNvPr>
          <p:cNvSpPr/>
          <p:nvPr/>
        </p:nvSpPr>
        <p:spPr>
          <a:xfrm>
            <a:off x="2274569" y="3963938"/>
            <a:ext cx="9091769" cy="2321305"/>
          </a:xfrm>
          <a:prstGeom prst="roundRect">
            <a:avLst>
              <a:gd name="adj" fmla="val 7127"/>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cxnSp>
        <p:nvCxnSpPr>
          <p:cNvPr id="35" name="直線コネクタ 34">
            <a:extLst>
              <a:ext uri="{FF2B5EF4-FFF2-40B4-BE49-F238E27FC236}">
                <a16:creationId xmlns:a16="http://schemas.microsoft.com/office/drawing/2014/main" id="{98D57A55-E7B7-46B6-D99A-81F4BFF400A2}"/>
              </a:ext>
            </a:extLst>
          </p:cNvPr>
          <p:cNvCxnSpPr>
            <a:cxnSpLocks/>
          </p:cNvCxnSpPr>
          <p:nvPr/>
        </p:nvCxnSpPr>
        <p:spPr>
          <a:xfrm>
            <a:off x="2512479" y="3097973"/>
            <a:ext cx="684746" cy="0"/>
          </a:xfrm>
          <a:prstGeom prst="line">
            <a:avLst/>
          </a:prstGeom>
          <a:ln w="50800">
            <a:solidFill>
              <a:srgbClr val="C0FF00"/>
            </a:solidFill>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BB575A16-1D0F-0A4C-6481-71202E2FBFF9}"/>
              </a:ext>
            </a:extLst>
          </p:cNvPr>
          <p:cNvCxnSpPr>
            <a:cxnSpLocks/>
          </p:cNvCxnSpPr>
          <p:nvPr/>
        </p:nvCxnSpPr>
        <p:spPr>
          <a:xfrm>
            <a:off x="2515654" y="4305024"/>
            <a:ext cx="633946" cy="0"/>
          </a:xfrm>
          <a:prstGeom prst="line">
            <a:avLst/>
          </a:prstGeom>
          <a:ln w="50800">
            <a:solidFill>
              <a:srgbClr val="C0FF00"/>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95CE1F02-0606-515D-30FA-737294854396}"/>
              </a:ext>
            </a:extLst>
          </p:cNvPr>
          <p:cNvCxnSpPr>
            <a:cxnSpLocks/>
          </p:cNvCxnSpPr>
          <p:nvPr/>
        </p:nvCxnSpPr>
        <p:spPr>
          <a:xfrm>
            <a:off x="2515654" y="1905935"/>
            <a:ext cx="834299" cy="0"/>
          </a:xfrm>
          <a:prstGeom prst="line">
            <a:avLst/>
          </a:prstGeom>
          <a:ln w="50800">
            <a:solidFill>
              <a:srgbClr val="C0FF00"/>
            </a:solidFill>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16FEB3B5-FB2D-073B-C355-794048B0A730}"/>
              </a:ext>
            </a:extLst>
          </p:cNvPr>
          <p:cNvSpPr txBox="1"/>
          <p:nvPr/>
        </p:nvSpPr>
        <p:spPr>
          <a:xfrm>
            <a:off x="2414771" y="2906803"/>
            <a:ext cx="1055792" cy="298159"/>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VISION</a:t>
            </a:r>
            <a:endParaRPr kumimoji="1" lang="ja-JP" altLang="en-US" sz="16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30" name="テキスト ボックス 29">
            <a:extLst>
              <a:ext uri="{FF2B5EF4-FFF2-40B4-BE49-F238E27FC236}">
                <a16:creationId xmlns:a16="http://schemas.microsoft.com/office/drawing/2014/main" id="{33DED2AB-C850-415D-6B68-9C33DCCDD532}"/>
              </a:ext>
            </a:extLst>
          </p:cNvPr>
          <p:cNvSpPr txBox="1"/>
          <p:nvPr/>
        </p:nvSpPr>
        <p:spPr>
          <a:xfrm>
            <a:off x="2414771" y="4106041"/>
            <a:ext cx="1055792" cy="298159"/>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VALUE</a:t>
            </a:r>
            <a:endParaRPr kumimoji="1" lang="ja-JP" altLang="en-US" sz="16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27" name="テキスト ボックス 26">
            <a:extLst>
              <a:ext uri="{FF2B5EF4-FFF2-40B4-BE49-F238E27FC236}">
                <a16:creationId xmlns:a16="http://schemas.microsoft.com/office/drawing/2014/main" id="{D12E768A-F646-1E3A-F510-013921206D6F}"/>
              </a:ext>
            </a:extLst>
          </p:cNvPr>
          <p:cNvSpPr txBox="1"/>
          <p:nvPr/>
        </p:nvSpPr>
        <p:spPr>
          <a:xfrm>
            <a:off x="2414771" y="1700480"/>
            <a:ext cx="1055792" cy="298159"/>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MISSION</a:t>
            </a:r>
            <a:endParaRPr kumimoji="1" lang="ja-JP" altLang="en-US" sz="16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2" name="テキスト プレースホルダー 1">
            <a:extLst>
              <a:ext uri="{FF2B5EF4-FFF2-40B4-BE49-F238E27FC236}">
                <a16:creationId xmlns:a16="http://schemas.microsoft.com/office/drawing/2014/main" id="{D4ABE21D-C641-FAAA-3FE3-79ABF06BE18B}"/>
              </a:ext>
            </a:extLst>
          </p:cNvPr>
          <p:cNvSpPr>
            <a:spLocks noGrp="1"/>
          </p:cNvSpPr>
          <p:nvPr>
            <p:ph type="body" sz="quarter" idx="12"/>
          </p:nvPr>
        </p:nvSpPr>
        <p:spPr/>
        <p:txBody>
          <a:bodyPr>
            <a:normAutofit/>
          </a:bodyPr>
          <a:lstStyle/>
          <a:p>
            <a:r>
              <a:rPr lang="en-US" altLang="ja-JP" dirty="0"/>
              <a:t>Corporate Philosophy</a:t>
            </a:r>
            <a:endParaRPr lang="ja-JP" altLang="en-US"/>
          </a:p>
        </p:txBody>
      </p:sp>
      <p:sp>
        <p:nvSpPr>
          <p:cNvPr id="3" name="タイトル 2">
            <a:extLst>
              <a:ext uri="{FF2B5EF4-FFF2-40B4-BE49-F238E27FC236}">
                <a16:creationId xmlns:a16="http://schemas.microsoft.com/office/drawing/2014/main" id="{F17AE566-BF8E-D75C-A89E-48E7D9650E41}"/>
              </a:ext>
            </a:extLst>
          </p:cNvPr>
          <p:cNvSpPr>
            <a:spLocks noGrp="1"/>
          </p:cNvSpPr>
          <p:nvPr>
            <p:ph type="ctrTitle"/>
          </p:nvPr>
        </p:nvSpPr>
        <p:spPr/>
        <p:txBody>
          <a:bodyPr/>
          <a:lstStyle/>
          <a:p>
            <a:r>
              <a:rPr lang="en-US" altLang="ja-JP" dirty="0">
                <a:ea typeface="M PLUS 1p Medium" panose="020B0502020203020207"/>
              </a:rPr>
              <a:t>A steadfast passion continues to </a:t>
            </a:r>
            <a:r>
              <a:rPr lang="en-US" altLang="ja-JP" dirty="0">
                <a:solidFill>
                  <a:srgbClr val="C0FF00"/>
                </a:solidFill>
                <a:ea typeface="M PLUS 1p Medium" panose="020B0502020203020207"/>
              </a:rPr>
              <a:t>drive ibis forward</a:t>
            </a:r>
            <a:endParaRPr lang="ja-JP" altLang="en-US">
              <a:solidFill>
                <a:srgbClr val="C0FF00"/>
              </a:solidFill>
              <a:ea typeface="M PLUS 1p Medium" panose="020B0502020203020207"/>
            </a:endParaRPr>
          </a:p>
        </p:txBody>
      </p:sp>
      <p:sp>
        <p:nvSpPr>
          <p:cNvPr id="9" name="テキスト ボックス 8">
            <a:extLst>
              <a:ext uri="{FF2B5EF4-FFF2-40B4-BE49-F238E27FC236}">
                <a16:creationId xmlns:a16="http://schemas.microsoft.com/office/drawing/2014/main" id="{E1CFA91F-77FE-0EDE-7159-C8B93D33F337}"/>
              </a:ext>
            </a:extLst>
          </p:cNvPr>
          <p:cNvSpPr txBox="1"/>
          <p:nvPr/>
        </p:nvSpPr>
        <p:spPr>
          <a:xfrm>
            <a:off x="2531473" y="4442106"/>
            <a:ext cx="252361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Group of Experts in Advanced Technologies</a:t>
            </a:r>
            <a:endParaRPr kumimoji="1" lang="ja-JP" altLang="en-US" sz="14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cxnSp>
        <p:nvCxnSpPr>
          <p:cNvPr id="16" name="直線コネクタ 15">
            <a:extLst>
              <a:ext uri="{FF2B5EF4-FFF2-40B4-BE49-F238E27FC236}">
                <a16:creationId xmlns:a16="http://schemas.microsoft.com/office/drawing/2014/main" id="{4A894F15-F280-FA9C-87F6-D0E175E24C45}"/>
              </a:ext>
            </a:extLst>
          </p:cNvPr>
          <p:cNvCxnSpPr>
            <a:cxnSpLocks/>
          </p:cNvCxnSpPr>
          <p:nvPr/>
        </p:nvCxnSpPr>
        <p:spPr>
          <a:xfrm>
            <a:off x="5305159" y="4494691"/>
            <a:ext cx="0" cy="158338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E48B345-3BB7-7C2D-4075-C2D77BCE77AE}"/>
              </a:ext>
            </a:extLst>
          </p:cNvPr>
          <p:cNvSpPr txBox="1"/>
          <p:nvPr/>
        </p:nvSpPr>
        <p:spPr>
          <a:xfrm>
            <a:off x="4243571" y="3305915"/>
            <a:ext cx="6885092" cy="285784"/>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i</a:t>
            </a:r>
            <a:r>
              <a:rPr kumimoji="1" lang="ja-JP"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bis aims to elevate the global presence of </a:t>
            </a:r>
            <a:r>
              <a:rPr kumimoji="1" lang="en-US"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a:t>
            </a:r>
            <a:r>
              <a:rPr kumimoji="1" lang="ja-JP"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Made</a:t>
            </a:r>
            <a:r>
              <a:rPr kumimoji="1" lang="en-US"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a:t>
            </a:r>
            <a:r>
              <a:rPr kumimoji="1" lang="ja-JP"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in</a:t>
            </a:r>
            <a:r>
              <a:rPr kumimoji="1" lang="en-US"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a:t>
            </a:r>
            <a:r>
              <a:rPr kumimoji="1" lang="ja-JP"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Japan</a:t>
            </a:r>
            <a:r>
              <a:rPr kumimoji="1" lang="en-US"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a:t>
            </a:r>
            <a:r>
              <a:rPr kumimoji="1" lang="ja-JP" altLang="ja-JP" sz="13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a:t>
            </a:r>
            <a:endParaRPr kumimoji="1" lang="ja-JP" altLang="en-US" sz="13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endParaRPr>
          </a:p>
        </p:txBody>
      </p:sp>
      <p:sp>
        <p:nvSpPr>
          <p:cNvPr id="22" name="テキスト ボックス 21">
            <a:extLst>
              <a:ext uri="{FF2B5EF4-FFF2-40B4-BE49-F238E27FC236}">
                <a16:creationId xmlns:a16="http://schemas.microsoft.com/office/drawing/2014/main" id="{DCF0DC90-E6D8-C111-6AC8-FBB1094936E4}"/>
              </a:ext>
            </a:extLst>
          </p:cNvPr>
          <p:cNvSpPr txBox="1"/>
          <p:nvPr/>
        </p:nvSpPr>
        <p:spPr>
          <a:xfrm>
            <a:off x="4243571" y="3014971"/>
            <a:ext cx="6885092" cy="328936"/>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1" lang="en-US" altLang="ja-JP" sz="2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Boost Japanese Tech to the World</a:t>
            </a:r>
            <a:endParaRPr kumimoji="1" lang="ja-JP" altLang="en-US" sz="24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26" name="テキスト ボックス 25">
            <a:extLst>
              <a:ext uri="{FF2B5EF4-FFF2-40B4-BE49-F238E27FC236}">
                <a16:creationId xmlns:a16="http://schemas.microsoft.com/office/drawing/2014/main" id="{5E5E4E69-AD5E-A1BA-6A27-17B231164B11}"/>
              </a:ext>
            </a:extLst>
          </p:cNvPr>
          <p:cNvSpPr txBox="1"/>
          <p:nvPr/>
        </p:nvSpPr>
        <p:spPr>
          <a:xfrm>
            <a:off x="4220993" y="1956057"/>
            <a:ext cx="6885092" cy="328936"/>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1" lang="en-US" altLang="ja-JP" sz="2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Delivering “WOW!” Experience on Mobile</a:t>
            </a:r>
            <a:endParaRPr kumimoji="1" lang="ja-JP" altLang="en-US" sz="2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6" name="テキスト ボックス 5">
            <a:extLst>
              <a:ext uri="{FF2B5EF4-FFF2-40B4-BE49-F238E27FC236}">
                <a16:creationId xmlns:a16="http://schemas.microsoft.com/office/drawing/2014/main" id="{ADE13636-948D-505A-026C-6BAF5A81AB87}"/>
              </a:ext>
            </a:extLst>
          </p:cNvPr>
          <p:cNvSpPr txBox="1"/>
          <p:nvPr/>
        </p:nvSpPr>
        <p:spPr>
          <a:xfrm>
            <a:off x="2534823" y="4932242"/>
            <a:ext cx="2603968" cy="1344535"/>
          </a:xfrm>
          <a:prstGeom prst="rect">
            <a:avLst/>
          </a:prstGeom>
          <a:noFill/>
        </p:spPr>
        <p:txBody>
          <a:bodyPr wrap="square" rtlCol="0">
            <a:spAutoFit/>
          </a:bodyPr>
          <a:lstStyle/>
          <a:p>
            <a:pPr marL="0" marR="0" lvl="0" indent="0" algn="l" defTabSz="914400" rtl="0" eaLnBrk="1" fontAlgn="auto" latinLnBrk="0" hangingPunct="1">
              <a:lnSpc>
                <a:spcPts val="13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We are a group of experts who continuously acquire cutting-edge technologies, fully aware of our role as specialists in advanced technology, committed to solving societal challenges.</a:t>
            </a:r>
          </a:p>
          <a:p>
            <a:pPr marL="0" marR="0" lvl="0" indent="0" algn="l" defTabSz="914400" rtl="0" eaLnBrk="1" fontAlgn="auto" latinLnBrk="0" hangingPunct="1">
              <a:lnSpc>
                <a:spcPts val="1360"/>
              </a:lnSpc>
              <a:spcBef>
                <a:spcPts val="0"/>
              </a:spcBef>
              <a:spcAft>
                <a:spcPts val="0"/>
              </a:spcAft>
              <a:buClrTx/>
              <a:buSzTx/>
              <a:buFontTx/>
              <a:buNone/>
              <a:tabLst/>
              <a:defRPr/>
            </a:pPr>
            <a:endPar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endParaRPr>
          </a:p>
        </p:txBody>
      </p:sp>
      <p:sp>
        <p:nvSpPr>
          <p:cNvPr id="34" name="テキスト ボックス 33">
            <a:extLst>
              <a:ext uri="{FF2B5EF4-FFF2-40B4-BE49-F238E27FC236}">
                <a16:creationId xmlns:a16="http://schemas.microsoft.com/office/drawing/2014/main" id="{B165AC32-BFA8-88B6-7B4D-A3AF21B4B4FA}"/>
              </a:ext>
            </a:extLst>
          </p:cNvPr>
          <p:cNvSpPr txBox="1"/>
          <p:nvPr/>
        </p:nvSpPr>
        <p:spPr>
          <a:xfrm>
            <a:off x="5529676" y="4442106"/>
            <a:ext cx="234939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Rapid Decision-Making and Execution</a:t>
            </a:r>
          </a:p>
        </p:txBody>
      </p:sp>
      <p:sp>
        <p:nvSpPr>
          <p:cNvPr id="37" name="テキスト ボックス 36">
            <a:extLst>
              <a:ext uri="{FF2B5EF4-FFF2-40B4-BE49-F238E27FC236}">
                <a16:creationId xmlns:a16="http://schemas.microsoft.com/office/drawing/2014/main" id="{7A1DB7BC-88CF-9C20-D9B1-B0F5AD437BBF}"/>
              </a:ext>
            </a:extLst>
          </p:cNvPr>
          <p:cNvSpPr txBox="1"/>
          <p:nvPr/>
        </p:nvSpPr>
        <p:spPr>
          <a:xfrm>
            <a:off x="5518469" y="4932242"/>
            <a:ext cx="2603968" cy="985463"/>
          </a:xfrm>
          <a:prstGeom prst="rect">
            <a:avLst/>
          </a:prstGeom>
          <a:noFill/>
        </p:spPr>
        <p:txBody>
          <a:bodyPr wrap="square" rtlCol="0">
            <a:spAutoFit/>
          </a:bodyPr>
          <a:lstStyle/>
          <a:p>
            <a:pPr marL="0" marR="0" lvl="0" indent="0" algn="l" defTabSz="914400" rtl="0" eaLnBrk="1" fontAlgn="auto" latinLnBrk="0" hangingPunct="1">
              <a:lnSpc>
                <a:spcPts val="13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Not only do we develop fast and efficient software, but we also make swift decisions and execute them promptly, ensuring agility in our operations.</a:t>
            </a:r>
          </a:p>
        </p:txBody>
      </p:sp>
      <p:sp>
        <p:nvSpPr>
          <p:cNvPr id="38" name="テキスト ボックス 37">
            <a:extLst>
              <a:ext uri="{FF2B5EF4-FFF2-40B4-BE49-F238E27FC236}">
                <a16:creationId xmlns:a16="http://schemas.microsoft.com/office/drawing/2014/main" id="{B1042E61-86C6-B786-F0DB-3B8EA5C038E1}"/>
              </a:ext>
            </a:extLst>
          </p:cNvPr>
          <p:cNvSpPr txBox="1"/>
          <p:nvPr/>
        </p:nvSpPr>
        <p:spPr>
          <a:xfrm>
            <a:off x="8534865" y="4525464"/>
            <a:ext cx="23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Continuous Challenge</a:t>
            </a:r>
          </a:p>
        </p:txBody>
      </p:sp>
      <p:sp>
        <p:nvSpPr>
          <p:cNvPr id="39" name="テキスト ボックス 38">
            <a:extLst>
              <a:ext uri="{FF2B5EF4-FFF2-40B4-BE49-F238E27FC236}">
                <a16:creationId xmlns:a16="http://schemas.microsoft.com/office/drawing/2014/main" id="{E7FE7578-E2AB-AF55-2EEC-244792FD4E2E}"/>
              </a:ext>
            </a:extLst>
          </p:cNvPr>
          <p:cNvSpPr txBox="1"/>
          <p:nvPr/>
        </p:nvSpPr>
        <p:spPr>
          <a:xfrm>
            <a:off x="8549060" y="4932242"/>
            <a:ext cx="2603968" cy="626390"/>
          </a:xfrm>
          <a:prstGeom prst="rect">
            <a:avLst/>
          </a:prstGeom>
          <a:noFill/>
        </p:spPr>
        <p:txBody>
          <a:bodyPr wrap="square" rtlCol="0">
            <a:spAutoFit/>
          </a:bodyPr>
          <a:lstStyle/>
          <a:p>
            <a:pPr marL="0" marR="0" lvl="0" indent="0" algn="l" defTabSz="914400" rtl="0" eaLnBrk="1" fontAlgn="auto" latinLnBrk="0" hangingPunct="1">
              <a:lnSpc>
                <a:spcPts val="13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By relentlessly pursuing challenges without slowing down, we create new value and drive innovation.</a:t>
            </a:r>
          </a:p>
        </p:txBody>
      </p:sp>
      <p:cxnSp>
        <p:nvCxnSpPr>
          <p:cNvPr id="40" name="直線コネクタ 39">
            <a:extLst>
              <a:ext uri="{FF2B5EF4-FFF2-40B4-BE49-F238E27FC236}">
                <a16:creationId xmlns:a16="http://schemas.microsoft.com/office/drawing/2014/main" id="{43469AEC-20C1-BA3E-4D87-BCD24178B0D7}"/>
              </a:ext>
            </a:extLst>
          </p:cNvPr>
          <p:cNvCxnSpPr>
            <a:cxnSpLocks/>
          </p:cNvCxnSpPr>
          <p:nvPr/>
        </p:nvCxnSpPr>
        <p:spPr>
          <a:xfrm>
            <a:off x="8335749" y="4494691"/>
            <a:ext cx="0" cy="158338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837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52779-603E-BC18-1B19-E26E00EA8CD2}"/>
            </a:ext>
          </a:extLst>
        </p:cNvPr>
        <p:cNvGrpSpPr/>
        <p:nvPr/>
      </p:nvGrpSpPr>
      <p:grpSpPr>
        <a:xfrm>
          <a:off x="0" y="0"/>
          <a:ext cx="0" cy="0"/>
          <a:chOff x="0" y="0"/>
          <a:chExt cx="0" cy="0"/>
        </a:xfrm>
      </p:grpSpPr>
      <p:sp>
        <p:nvSpPr>
          <p:cNvPr id="19" name="角丸四角形 18">
            <a:extLst>
              <a:ext uri="{FF2B5EF4-FFF2-40B4-BE49-F238E27FC236}">
                <a16:creationId xmlns:a16="http://schemas.microsoft.com/office/drawing/2014/main" id="{C9459E9C-52C0-AAEE-479D-664A3F22CED2}"/>
              </a:ext>
            </a:extLst>
          </p:cNvPr>
          <p:cNvSpPr/>
          <p:nvPr/>
        </p:nvSpPr>
        <p:spPr>
          <a:xfrm>
            <a:off x="550862" y="1495092"/>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2" name="角丸四角形 41">
            <a:extLst>
              <a:ext uri="{FF2B5EF4-FFF2-40B4-BE49-F238E27FC236}">
                <a16:creationId xmlns:a16="http://schemas.microsoft.com/office/drawing/2014/main" id="{379075D4-94C5-0E56-1666-EBC9F23AAD5B}"/>
              </a:ext>
            </a:extLst>
          </p:cNvPr>
          <p:cNvSpPr/>
          <p:nvPr/>
        </p:nvSpPr>
        <p:spPr>
          <a:xfrm>
            <a:off x="1141390" y="5780372"/>
            <a:ext cx="6598979" cy="344204"/>
          </a:xfrm>
          <a:prstGeom prst="roundRect">
            <a:avLst>
              <a:gd name="adj" fmla="val 17589"/>
            </a:avLst>
          </a:prstGeom>
          <a:solidFill>
            <a:srgbClr val="A1B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graphicFrame>
        <p:nvGraphicFramePr>
          <p:cNvPr id="12" name="グラフ 11">
            <a:extLst>
              <a:ext uri="{FF2B5EF4-FFF2-40B4-BE49-F238E27FC236}">
                <a16:creationId xmlns:a16="http://schemas.microsoft.com/office/drawing/2014/main" id="{806C305F-FAF9-95A0-1FF1-75DC409BF0F6}"/>
              </a:ext>
            </a:extLst>
          </p:cNvPr>
          <p:cNvGraphicFramePr/>
          <p:nvPr/>
        </p:nvGraphicFramePr>
        <p:xfrm>
          <a:off x="757551" y="1718820"/>
          <a:ext cx="6988032" cy="3634070"/>
        </p:xfrm>
        <a:graphic>
          <a:graphicData uri="http://schemas.openxmlformats.org/drawingml/2006/chart">
            <c:chart xmlns:c="http://schemas.openxmlformats.org/drawingml/2006/chart" xmlns:r="http://schemas.openxmlformats.org/officeDocument/2006/relationships" r:id="rId3"/>
          </a:graphicData>
        </a:graphic>
      </p:graphicFrame>
      <p:pic>
        <p:nvPicPr>
          <p:cNvPr id="17" name="図 16">
            <a:extLst>
              <a:ext uri="{FF2B5EF4-FFF2-40B4-BE49-F238E27FC236}">
                <a16:creationId xmlns:a16="http://schemas.microsoft.com/office/drawing/2014/main" id="{19823D28-1AD1-2BD7-978D-615A7F9A1566}"/>
              </a:ext>
            </a:extLst>
          </p:cNvPr>
          <p:cNvPicPr>
            <a:picLocks noChangeAspect="1"/>
          </p:cNvPicPr>
          <p:nvPr/>
        </p:nvPicPr>
        <p:blipFill>
          <a:blip r:embed="rId4"/>
          <a:stretch>
            <a:fillRect/>
          </a:stretch>
        </p:blipFill>
        <p:spPr>
          <a:xfrm rot="21292223">
            <a:off x="3936467" y="2397918"/>
            <a:ext cx="3560231" cy="1734407"/>
          </a:xfrm>
          <a:prstGeom prst="rect">
            <a:avLst/>
          </a:prstGeom>
        </p:spPr>
      </p:pic>
      <p:sp>
        <p:nvSpPr>
          <p:cNvPr id="4" name="テキスト プレースホルダー 3">
            <a:extLst>
              <a:ext uri="{FF2B5EF4-FFF2-40B4-BE49-F238E27FC236}">
                <a16:creationId xmlns:a16="http://schemas.microsoft.com/office/drawing/2014/main" id="{E1948ED2-B5A0-27E8-73BF-A58CEFCC0CDC}"/>
              </a:ext>
            </a:extLst>
          </p:cNvPr>
          <p:cNvSpPr>
            <a:spLocks noGrp="1"/>
          </p:cNvSpPr>
          <p:nvPr>
            <p:ph type="body" sz="quarter" idx="12"/>
          </p:nvPr>
        </p:nvSpPr>
        <p:spPr/>
        <p:txBody>
          <a:bodyPr>
            <a:noAutofit/>
          </a:bodyPr>
          <a:lstStyle/>
          <a:p>
            <a:r>
              <a:rPr lang="en-US" altLang="ja-JP" dirty="0"/>
              <a:t>Our Journey So Far</a:t>
            </a:r>
            <a:endParaRPr lang="ja-JP" altLang="en-US"/>
          </a:p>
        </p:txBody>
      </p:sp>
      <p:sp>
        <p:nvSpPr>
          <p:cNvPr id="2" name="タイトル 1">
            <a:extLst>
              <a:ext uri="{FF2B5EF4-FFF2-40B4-BE49-F238E27FC236}">
                <a16:creationId xmlns:a16="http://schemas.microsoft.com/office/drawing/2014/main" id="{84BEA225-BECB-3EE3-D497-1A4EC44C6E3D}"/>
              </a:ext>
            </a:extLst>
          </p:cNvPr>
          <p:cNvSpPr>
            <a:spLocks noGrp="1"/>
          </p:cNvSpPr>
          <p:nvPr>
            <p:ph type="ctrTitle"/>
          </p:nvPr>
        </p:nvSpPr>
        <p:spPr/>
        <p:txBody>
          <a:bodyPr/>
          <a:lstStyle/>
          <a:p>
            <a:r>
              <a:rPr lang="ja-JP" altLang="ja-JP" sz="2650"/>
              <a:t>Continuing to expand into global markets, </a:t>
            </a:r>
            <a:br>
              <a:rPr lang="en-US" altLang="ja-JP" sz="2650" dirty="0"/>
            </a:br>
            <a:r>
              <a:rPr lang="ja-JP" altLang="ja-JP" sz="2650"/>
              <a:t>bringing the </a:t>
            </a:r>
            <a:r>
              <a:rPr lang="ja-JP" altLang="ja-JP" sz="2650">
                <a:solidFill>
                  <a:srgbClr val="C0FF00"/>
                </a:solidFill>
              </a:rPr>
              <a:t>mobile segment onto a growth trajectory </a:t>
            </a:r>
            <a:endParaRPr lang="ja-JP" altLang="en-US" sz="2650">
              <a:solidFill>
                <a:srgbClr val="C0FF00"/>
              </a:solidFill>
            </a:endParaRPr>
          </a:p>
        </p:txBody>
      </p:sp>
      <p:cxnSp>
        <p:nvCxnSpPr>
          <p:cNvPr id="7" name="直線コネクタ 6">
            <a:extLst>
              <a:ext uri="{FF2B5EF4-FFF2-40B4-BE49-F238E27FC236}">
                <a16:creationId xmlns:a16="http://schemas.microsoft.com/office/drawing/2014/main" id="{CC478DE9-98C8-EB52-E7B4-3D750D927E5A}"/>
              </a:ext>
            </a:extLst>
          </p:cNvPr>
          <p:cNvCxnSpPr>
            <a:cxnSpLocks/>
          </p:cNvCxnSpPr>
          <p:nvPr/>
        </p:nvCxnSpPr>
        <p:spPr>
          <a:xfrm>
            <a:off x="7962773"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82993D33-F968-B2CB-5FC8-C186781EEDFB}"/>
              </a:ext>
            </a:extLst>
          </p:cNvPr>
          <p:cNvCxnSpPr>
            <a:cxnSpLocks/>
          </p:cNvCxnSpPr>
          <p:nvPr/>
        </p:nvCxnSpPr>
        <p:spPr>
          <a:xfrm flipH="1">
            <a:off x="8228702" y="3378243"/>
            <a:ext cx="313037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C70AED6D-B725-DE7E-03C3-288072B1A594}"/>
              </a:ext>
            </a:extLst>
          </p:cNvPr>
          <p:cNvCxnSpPr>
            <a:cxnSpLocks/>
          </p:cNvCxnSpPr>
          <p:nvPr/>
        </p:nvCxnSpPr>
        <p:spPr>
          <a:xfrm flipH="1">
            <a:off x="8229600" y="4705649"/>
            <a:ext cx="313037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06B74500-AC60-C708-9242-0CAEF9E59862}"/>
              </a:ext>
            </a:extLst>
          </p:cNvPr>
          <p:cNvSpPr txBox="1"/>
          <p:nvPr/>
        </p:nvSpPr>
        <p:spPr>
          <a:xfrm>
            <a:off x="8742300" y="2351284"/>
            <a:ext cx="2731503"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Focus on Internet advertising to invest in high-performing markets</a:t>
            </a:r>
            <a:endParaRPr kumimoji="1" lang="ja-JP" altLang="en-US" sz="14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37" name="テキスト ボックス 36">
            <a:extLst>
              <a:ext uri="{FF2B5EF4-FFF2-40B4-BE49-F238E27FC236}">
                <a16:creationId xmlns:a16="http://schemas.microsoft.com/office/drawing/2014/main" id="{E37B0AD7-3165-E5A8-E603-72E4084C429D}"/>
              </a:ext>
            </a:extLst>
          </p:cNvPr>
          <p:cNvSpPr txBox="1"/>
          <p:nvPr/>
        </p:nvSpPr>
        <p:spPr>
          <a:xfrm>
            <a:off x="1301507" y="2504944"/>
            <a:ext cx="5926713" cy="58330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Solutions Segment</a:t>
            </a:r>
            <a:r>
              <a:rPr kumimoji="1" lang="ja-JP" altLang="en-US" sz="9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endPar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Mobile Segment</a:t>
            </a:r>
            <a:r>
              <a:rPr kumimoji="1" lang="ja-JP" altLang="en-US" sz="90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　</a:t>
            </a:r>
            <a:endParaRPr kumimoji="1" lang="en-US" altLang="ja-JP" sz="9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rPr>
              <a:t> AI Singing Voice Synthesis Segment</a:t>
            </a:r>
            <a:endParaRPr kumimoji="1" lang="ja-JP" altLang="en-US" sz="90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44" name="テキスト ボックス 43">
            <a:extLst>
              <a:ext uri="{FF2B5EF4-FFF2-40B4-BE49-F238E27FC236}">
                <a16:creationId xmlns:a16="http://schemas.microsoft.com/office/drawing/2014/main" id="{FD1FDE32-3FB1-BB83-7E7D-1B2E23CB349D}"/>
              </a:ext>
            </a:extLst>
          </p:cNvPr>
          <p:cNvSpPr txBox="1"/>
          <p:nvPr/>
        </p:nvSpPr>
        <p:spPr>
          <a:xfrm>
            <a:off x="8742300" y="3658926"/>
            <a:ext cx="2835337"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4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Establish a proven “success formula” to maximize investment efficiency </a:t>
            </a:r>
            <a:endParaRPr kumimoji="1" lang="ja-JP" altLang="en-US" sz="14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45" name="テキスト ボックス 44">
            <a:extLst>
              <a:ext uri="{FF2B5EF4-FFF2-40B4-BE49-F238E27FC236}">
                <a16:creationId xmlns:a16="http://schemas.microsoft.com/office/drawing/2014/main" id="{03D77738-5A2E-95D2-8C02-C9DFA3CE1F99}"/>
              </a:ext>
            </a:extLst>
          </p:cNvPr>
          <p:cNvSpPr txBox="1"/>
          <p:nvPr/>
        </p:nvSpPr>
        <p:spPr>
          <a:xfrm>
            <a:off x="8742300" y="5029642"/>
            <a:ext cx="2775926"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Foster growth cycles </a:t>
            </a:r>
            <a:r>
              <a:rPr kumimoji="1" lang="ja-JP" altLang="ja-JP" sz="14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through disciplined self-funded investment </a:t>
            </a:r>
            <a:endParaRPr kumimoji="1" lang="ja-JP" altLang="en-US" sz="14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46" name="コンテンツ プレースホルダー 1">
            <a:extLst>
              <a:ext uri="{FF2B5EF4-FFF2-40B4-BE49-F238E27FC236}">
                <a16:creationId xmlns:a16="http://schemas.microsoft.com/office/drawing/2014/main" id="{9C776B36-AD06-2502-9ACC-04CD025EB7F7}"/>
              </a:ext>
            </a:extLst>
          </p:cNvPr>
          <p:cNvSpPr txBox="1">
            <a:spLocks/>
          </p:cNvSpPr>
          <p:nvPr/>
        </p:nvSpPr>
        <p:spPr>
          <a:xfrm>
            <a:off x="9461500" y="6273800"/>
            <a:ext cx="2018131" cy="459716"/>
          </a:xfrm>
          <a:prstGeom prst="rect">
            <a:avLst/>
          </a:prstGeom>
        </p:spPr>
        <p:txBody>
          <a:bodyPr vert="horz" lIns="91440" tIns="45720" rIns="91440" bIns="45720" rtlCol="0" anchor="b"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 CAGR=Compound Annual Growth Rate</a:t>
            </a:r>
            <a:endParaRPr kumimoji="1" lang="ja-JP" altLang="en-US" sz="7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48" name="円/楕円 47">
            <a:extLst>
              <a:ext uri="{FF2B5EF4-FFF2-40B4-BE49-F238E27FC236}">
                <a16:creationId xmlns:a16="http://schemas.microsoft.com/office/drawing/2014/main" id="{1816C1CC-7E1F-7CB5-2CEE-D076B0281118}"/>
              </a:ext>
            </a:extLst>
          </p:cNvPr>
          <p:cNvSpPr>
            <a:spLocks noChangeAspect="1"/>
          </p:cNvSpPr>
          <p:nvPr/>
        </p:nvSpPr>
        <p:spPr>
          <a:xfrm>
            <a:off x="8164306" y="2444475"/>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9" name="テキスト ボックス 48">
            <a:extLst>
              <a:ext uri="{FF2B5EF4-FFF2-40B4-BE49-F238E27FC236}">
                <a16:creationId xmlns:a16="http://schemas.microsoft.com/office/drawing/2014/main" id="{09F22187-EA71-C637-F4B4-8E5A3750D488}"/>
              </a:ext>
            </a:extLst>
          </p:cNvPr>
          <p:cNvSpPr txBox="1"/>
          <p:nvPr/>
        </p:nvSpPr>
        <p:spPr>
          <a:xfrm>
            <a:off x="8284873" y="2551277"/>
            <a:ext cx="296876" cy="4289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25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1</a:t>
            </a:r>
            <a:endParaRPr kumimoji="1" lang="ja-JP" altLang="en-US"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50" name="円/楕円 49">
            <a:extLst>
              <a:ext uri="{FF2B5EF4-FFF2-40B4-BE49-F238E27FC236}">
                <a16:creationId xmlns:a16="http://schemas.microsoft.com/office/drawing/2014/main" id="{E9B1073F-B39D-715C-10C8-E5B1919DF4DB}"/>
              </a:ext>
            </a:extLst>
          </p:cNvPr>
          <p:cNvSpPr>
            <a:spLocks noChangeAspect="1"/>
          </p:cNvSpPr>
          <p:nvPr/>
        </p:nvSpPr>
        <p:spPr>
          <a:xfrm>
            <a:off x="8164306" y="3771881"/>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1" name="テキスト ボックス 50">
            <a:extLst>
              <a:ext uri="{FF2B5EF4-FFF2-40B4-BE49-F238E27FC236}">
                <a16:creationId xmlns:a16="http://schemas.microsoft.com/office/drawing/2014/main" id="{49E87694-7B87-B7A2-71B6-BF6B19703126}"/>
              </a:ext>
            </a:extLst>
          </p:cNvPr>
          <p:cNvSpPr txBox="1"/>
          <p:nvPr/>
        </p:nvSpPr>
        <p:spPr>
          <a:xfrm>
            <a:off x="8262405" y="3872913"/>
            <a:ext cx="369012" cy="4289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25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2</a:t>
            </a:r>
            <a:endParaRPr kumimoji="1" lang="ja-JP" altLang="en-US"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52" name="円/楕円 51">
            <a:extLst>
              <a:ext uri="{FF2B5EF4-FFF2-40B4-BE49-F238E27FC236}">
                <a16:creationId xmlns:a16="http://schemas.microsoft.com/office/drawing/2014/main" id="{43930C58-9EBE-D62C-9048-3FAB12FE8054}"/>
              </a:ext>
            </a:extLst>
          </p:cNvPr>
          <p:cNvSpPr>
            <a:spLocks noChangeAspect="1"/>
          </p:cNvSpPr>
          <p:nvPr/>
        </p:nvSpPr>
        <p:spPr>
          <a:xfrm>
            <a:off x="8164306" y="5099287"/>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3" name="テキスト ボックス 52">
            <a:extLst>
              <a:ext uri="{FF2B5EF4-FFF2-40B4-BE49-F238E27FC236}">
                <a16:creationId xmlns:a16="http://schemas.microsoft.com/office/drawing/2014/main" id="{60A3E1CE-96EB-544A-11D3-0CFFFE1B77C5}"/>
              </a:ext>
            </a:extLst>
          </p:cNvPr>
          <p:cNvSpPr txBox="1"/>
          <p:nvPr/>
        </p:nvSpPr>
        <p:spPr>
          <a:xfrm>
            <a:off x="8247528" y="5195876"/>
            <a:ext cx="375424" cy="4289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25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3</a:t>
            </a:r>
            <a:endParaRPr kumimoji="1" lang="ja-JP" altLang="en-US"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8" name="テキスト ボックス 7">
            <a:extLst>
              <a:ext uri="{FF2B5EF4-FFF2-40B4-BE49-F238E27FC236}">
                <a16:creationId xmlns:a16="http://schemas.microsoft.com/office/drawing/2014/main" id="{ABB981C8-F2C0-F7D2-8DD6-0D922E3D1CD7}"/>
              </a:ext>
            </a:extLst>
          </p:cNvPr>
          <p:cNvSpPr txBox="1"/>
          <p:nvPr/>
        </p:nvSpPr>
        <p:spPr>
          <a:xfrm>
            <a:off x="638599" y="2021525"/>
            <a:ext cx="1117615"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(m</a:t>
            </a: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illion</a:t>
            </a:r>
            <a:r>
              <a:rPr kumimoji="1" lang="en-US" altLang="ja-JP" sz="9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s of</a:t>
            </a: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 yen</a:t>
            </a:r>
            <a:r>
              <a:rPr kumimoji="1" lang="en-US" altLang="ja-JP" sz="9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28" name="テキスト ボックス 27">
            <a:extLst>
              <a:ext uri="{FF2B5EF4-FFF2-40B4-BE49-F238E27FC236}">
                <a16:creationId xmlns:a16="http://schemas.microsoft.com/office/drawing/2014/main" id="{CD718BAB-7FCD-0232-2D1B-9520B41E8090}"/>
              </a:ext>
            </a:extLst>
          </p:cNvPr>
          <p:cNvSpPr txBox="1"/>
          <p:nvPr/>
        </p:nvSpPr>
        <p:spPr>
          <a:xfrm>
            <a:off x="1446787" y="5853934"/>
            <a:ext cx="68196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Founded</a:t>
            </a:r>
            <a:endPar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31" name="テキスト ボックス 30">
            <a:extLst>
              <a:ext uri="{FF2B5EF4-FFF2-40B4-BE49-F238E27FC236}">
                <a16:creationId xmlns:a16="http://schemas.microsoft.com/office/drawing/2014/main" id="{C046E250-431A-F65C-42F5-6848B658188B}"/>
              </a:ext>
            </a:extLst>
          </p:cNvPr>
          <p:cNvSpPr txBox="1"/>
          <p:nvPr/>
        </p:nvSpPr>
        <p:spPr>
          <a:xfrm>
            <a:off x="4302202" y="5853934"/>
            <a:ext cx="1902722"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Listed on TSE Growth Market</a:t>
            </a:r>
            <a:endPar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32" name="テキスト ボックス 31">
            <a:extLst>
              <a:ext uri="{FF2B5EF4-FFF2-40B4-BE49-F238E27FC236}">
                <a16:creationId xmlns:a16="http://schemas.microsoft.com/office/drawing/2014/main" id="{BB71FF85-061C-3ED1-18CB-529EF742CFB8}"/>
              </a:ext>
            </a:extLst>
          </p:cNvPr>
          <p:cNvSpPr txBox="1"/>
          <p:nvPr/>
        </p:nvSpPr>
        <p:spPr>
          <a:xfrm>
            <a:off x="6202950" y="5795136"/>
            <a:ext cx="15411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AI Singing Voice Synthesis Segment Launched</a:t>
            </a:r>
            <a:endPar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76" name="テキスト ボックス 75">
            <a:extLst>
              <a:ext uri="{FF2B5EF4-FFF2-40B4-BE49-F238E27FC236}">
                <a16:creationId xmlns:a16="http://schemas.microsoft.com/office/drawing/2014/main" id="{527AD319-8F49-1E19-CC39-744D078EE9EA}"/>
              </a:ext>
            </a:extLst>
          </p:cNvPr>
          <p:cNvSpPr txBox="1"/>
          <p:nvPr/>
        </p:nvSpPr>
        <p:spPr>
          <a:xfrm>
            <a:off x="6447559" y="2480778"/>
            <a:ext cx="1454244" cy="2051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3000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Current Fiscal Year Outlook</a:t>
            </a:r>
            <a:endParaRPr kumimoji="1" lang="ja-JP" altLang="en-US" sz="1100" b="0" i="0" u="none" strike="noStrike" kern="1200" cap="none" spc="0" normalizeH="0" baseline="3000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13" name="正方形/長方形 12">
            <a:extLst>
              <a:ext uri="{FF2B5EF4-FFF2-40B4-BE49-F238E27FC236}">
                <a16:creationId xmlns:a16="http://schemas.microsoft.com/office/drawing/2014/main" id="{D85AF9A9-9E89-BE4F-4300-7EAD68F490EF}"/>
              </a:ext>
            </a:extLst>
          </p:cNvPr>
          <p:cNvSpPr/>
          <p:nvPr/>
        </p:nvSpPr>
        <p:spPr>
          <a:xfrm>
            <a:off x="5750087" y="4291858"/>
            <a:ext cx="163090" cy="663375"/>
          </a:xfrm>
          <a:prstGeom prst="rect">
            <a:avLst/>
          </a:prstGeom>
          <a:noFill/>
          <a:ln w="12700">
            <a:solidFill>
              <a:srgbClr val="00A7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20" name="図 19" descr="挿絵 が含まれている画像&#10;&#10;AI 生成コンテンツは誤りを含む可能性があります。">
            <a:extLst>
              <a:ext uri="{FF2B5EF4-FFF2-40B4-BE49-F238E27FC236}">
                <a16:creationId xmlns:a16="http://schemas.microsoft.com/office/drawing/2014/main" id="{7A6EB08B-C873-029F-7530-E790840C72F6}"/>
              </a:ext>
            </a:extLst>
          </p:cNvPr>
          <p:cNvPicPr>
            <a:picLocks noGrp="1" noRot="1" noChangeAspect="1" noMove="1" noResize="1" noEditPoints="1" noAdjustHandles="1" noChangeArrowheads="1" noChangeShapeType="1" noCrop="1"/>
          </p:cNvPicPr>
          <p:nvPr/>
        </p:nvPicPr>
        <p:blipFill>
          <a:blip r:embed="rId5" cstate="email">
            <a:extLst>
              <a:ext uri="{28A0092B-C50C-407E-A947-70E740481C1C}">
                <a14:useLocalDpi xmlns:a14="http://schemas.microsoft.com/office/drawing/2010/main"/>
              </a:ext>
            </a:extLst>
          </a:blip>
          <a:stretch>
            <a:fillRect/>
          </a:stretch>
        </p:blipFill>
        <p:spPr>
          <a:xfrm>
            <a:off x="-11724" y="2871099"/>
            <a:ext cx="576000" cy="3405914"/>
          </a:xfrm>
          <a:prstGeom prst="rect">
            <a:avLst/>
          </a:prstGeom>
        </p:spPr>
      </p:pic>
      <p:grpSp>
        <p:nvGrpSpPr>
          <p:cNvPr id="3" name="グループ化 2">
            <a:extLst>
              <a:ext uri="{FF2B5EF4-FFF2-40B4-BE49-F238E27FC236}">
                <a16:creationId xmlns:a16="http://schemas.microsoft.com/office/drawing/2014/main" id="{0C1F388E-25EF-86D6-8B1C-129F191428FA}"/>
              </a:ext>
            </a:extLst>
          </p:cNvPr>
          <p:cNvGrpSpPr/>
          <p:nvPr/>
        </p:nvGrpSpPr>
        <p:grpSpPr>
          <a:xfrm>
            <a:off x="5367854" y="3929610"/>
            <a:ext cx="925746" cy="369406"/>
            <a:chOff x="5329558" y="3948758"/>
            <a:chExt cx="925746" cy="369406"/>
          </a:xfrm>
        </p:grpSpPr>
        <p:sp>
          <p:nvSpPr>
            <p:cNvPr id="40" name="角丸四角形 39">
              <a:extLst>
                <a:ext uri="{FF2B5EF4-FFF2-40B4-BE49-F238E27FC236}">
                  <a16:creationId xmlns:a16="http://schemas.microsoft.com/office/drawing/2014/main" id="{987907B1-27C7-18AD-8128-F0D0DF2401A0}"/>
                </a:ext>
              </a:extLst>
            </p:cNvPr>
            <p:cNvSpPr/>
            <p:nvPr/>
          </p:nvSpPr>
          <p:spPr>
            <a:xfrm>
              <a:off x="5329558" y="3948758"/>
              <a:ext cx="918842" cy="313943"/>
            </a:xfrm>
            <a:prstGeom prst="roundRect">
              <a:avLst>
                <a:gd name="adj" fmla="val 50000"/>
              </a:avLst>
            </a:prstGeom>
            <a:solidFill>
              <a:schemeClr val="bg1"/>
            </a:solidFill>
            <a:ln w="12700">
              <a:solidFill>
                <a:srgbClr val="00A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9884521E-3989-4D92-EA94-63A03CAB1F46}"/>
                </a:ext>
              </a:extLst>
            </p:cNvPr>
            <p:cNvSpPr txBox="1"/>
            <p:nvPr/>
          </p:nvSpPr>
          <p:spPr>
            <a:xfrm>
              <a:off x="5334859" y="3980379"/>
              <a:ext cx="920445" cy="337785"/>
            </a:xfrm>
            <a:prstGeom prst="rect">
              <a:avLst/>
            </a:prstGeom>
            <a:noFill/>
          </p:spPr>
          <p:txBody>
            <a:bodyPr wrap="none" rtlCol="0">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en-US" altLang="ja-JP" sz="1100" b="0" i="0" u="none" strike="noStrike" kern="1200" cap="none" spc="0" normalizeH="0" baseline="30000" noProof="0" dirty="0">
                  <a:ln>
                    <a:noFill/>
                  </a:ln>
                  <a:solidFill>
                    <a:srgbClr val="00A7FF"/>
                  </a:solidFill>
                  <a:effectLst/>
                  <a:uLnTx/>
                  <a:uFillTx/>
                  <a:latin typeface="Poppins Medium" pitchFamily="2" charset="0"/>
                  <a:ea typeface="M PLUS 1p" panose="020B0502020203020207" pitchFamily="34" charset="-128"/>
                  <a:cs typeface="Poppins Medium" pitchFamily="2" charset="0"/>
                </a:rPr>
                <a:t>Change in </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en-US" altLang="ja-JP" sz="1100" b="0" i="0" u="none" strike="noStrike" kern="1200" cap="none" spc="0" normalizeH="0" baseline="30000" noProof="0" dirty="0">
                  <a:ln>
                    <a:noFill/>
                  </a:ln>
                  <a:solidFill>
                    <a:srgbClr val="00A7FF"/>
                  </a:solidFill>
                  <a:effectLst/>
                  <a:uLnTx/>
                  <a:uFillTx/>
                  <a:latin typeface="Poppins Medium" pitchFamily="2" charset="0"/>
                  <a:ea typeface="M PLUS 1p" panose="020B0502020203020207" pitchFamily="34" charset="-128"/>
                  <a:cs typeface="Poppins Medium" pitchFamily="2" charset="0"/>
                </a:rPr>
                <a:t>Fiscal Year-End</a:t>
              </a:r>
              <a:endParaRPr kumimoji="1" lang="ja-JP" altLang="en-US" sz="1100" b="0" i="0" u="none" strike="noStrike" kern="1200" cap="none" spc="0" normalizeH="0" baseline="30000" noProof="0">
                <a:ln>
                  <a:noFill/>
                </a:ln>
                <a:solidFill>
                  <a:srgbClr val="00A7FF"/>
                </a:solidFill>
                <a:effectLst/>
                <a:uLnTx/>
                <a:uFillTx/>
                <a:latin typeface="Poppins Medium" pitchFamily="2" charset="0"/>
                <a:ea typeface="M PLUS 1p" panose="020B0502020203020207" pitchFamily="34" charset="-128"/>
                <a:cs typeface="Poppins Medium" pitchFamily="2" charset="0"/>
              </a:endParaRPr>
            </a:p>
          </p:txBody>
        </p:sp>
      </p:grpSp>
      <p:grpSp>
        <p:nvGrpSpPr>
          <p:cNvPr id="94" name="グループ化 93">
            <a:extLst>
              <a:ext uri="{FF2B5EF4-FFF2-40B4-BE49-F238E27FC236}">
                <a16:creationId xmlns:a16="http://schemas.microsoft.com/office/drawing/2014/main" id="{B4349DF9-75A7-D21F-6BDA-BFEAC200E44D}"/>
              </a:ext>
            </a:extLst>
          </p:cNvPr>
          <p:cNvGrpSpPr/>
          <p:nvPr/>
        </p:nvGrpSpPr>
        <p:grpSpPr>
          <a:xfrm>
            <a:off x="4109902" y="2215935"/>
            <a:ext cx="2918331" cy="1228354"/>
            <a:chOff x="3198549" y="2065027"/>
            <a:chExt cx="2918331" cy="1228354"/>
          </a:xfrm>
        </p:grpSpPr>
        <p:sp>
          <p:nvSpPr>
            <p:cNvPr id="95" name="円/楕円 94">
              <a:extLst>
                <a:ext uri="{FF2B5EF4-FFF2-40B4-BE49-F238E27FC236}">
                  <a16:creationId xmlns:a16="http://schemas.microsoft.com/office/drawing/2014/main" id="{0DCBA516-D153-2FBC-7F48-C7056B46EA26}"/>
                </a:ext>
              </a:extLst>
            </p:cNvPr>
            <p:cNvSpPr/>
            <p:nvPr/>
          </p:nvSpPr>
          <p:spPr>
            <a:xfrm>
              <a:off x="4005240" y="2065027"/>
              <a:ext cx="1228354" cy="1228354"/>
            </a:xfrm>
            <a:prstGeom prst="ellipse">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6" name="テキスト ボックス 15">
              <a:extLst>
                <a:ext uri="{FF2B5EF4-FFF2-40B4-BE49-F238E27FC236}">
                  <a16:creationId xmlns:a16="http://schemas.microsoft.com/office/drawing/2014/main" id="{EA6A52C0-AA16-D9A1-FF12-DE4CD7E95100}"/>
                </a:ext>
              </a:extLst>
            </p:cNvPr>
            <p:cNvSpPr txBox="1"/>
            <p:nvPr/>
          </p:nvSpPr>
          <p:spPr>
            <a:xfrm>
              <a:off x="3198549" y="2491311"/>
              <a:ext cx="291833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31.4</a:t>
              </a:r>
              <a:r>
                <a:rPr kumimoji="1" lang="en-US" altLang="ja-JP" sz="16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a:t>
              </a:r>
              <a:endParaRPr kumimoji="1" lang="ja-JP" altLang="en-US" sz="16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100" name="テキスト ボックス 99">
              <a:extLst>
                <a:ext uri="{FF2B5EF4-FFF2-40B4-BE49-F238E27FC236}">
                  <a16:creationId xmlns:a16="http://schemas.microsoft.com/office/drawing/2014/main" id="{DAC5CC2A-9589-B22D-136F-B2C655164760}"/>
                </a:ext>
              </a:extLst>
            </p:cNvPr>
            <p:cNvSpPr txBox="1"/>
            <p:nvPr/>
          </p:nvSpPr>
          <p:spPr>
            <a:xfrm>
              <a:off x="4093849" y="2936683"/>
              <a:ext cx="105113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FY20-FY26</a:t>
              </a:r>
            </a:p>
          </p:txBody>
        </p:sp>
        <p:sp>
          <p:nvSpPr>
            <p:cNvPr id="99" name="テキスト ボックス 98">
              <a:extLst>
                <a:ext uri="{FF2B5EF4-FFF2-40B4-BE49-F238E27FC236}">
                  <a16:creationId xmlns:a16="http://schemas.microsoft.com/office/drawing/2014/main" id="{C9568B29-11B3-198A-EF94-FA10FDC5BFEF}"/>
                </a:ext>
              </a:extLst>
            </p:cNvPr>
            <p:cNvSpPr txBox="1"/>
            <p:nvPr/>
          </p:nvSpPr>
          <p:spPr>
            <a:xfrm>
              <a:off x="3937838" y="2260352"/>
              <a:ext cx="136315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Mobile Segment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CAGR</a:t>
              </a:r>
              <a:endParaRPr kumimoji="1" lang="en-US" altLang="ja-JP" sz="900" b="0" i="0" u="none" strike="noStrike" kern="1200" cap="none" spc="0" normalizeH="0" baseline="30000" noProof="0" dirty="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grpSp>
      <p:cxnSp>
        <p:nvCxnSpPr>
          <p:cNvPr id="22" name="直線コネクタ 21">
            <a:extLst>
              <a:ext uri="{FF2B5EF4-FFF2-40B4-BE49-F238E27FC236}">
                <a16:creationId xmlns:a16="http://schemas.microsoft.com/office/drawing/2014/main" id="{54AF1D8E-46A1-6287-04EF-6BC925D64039}"/>
              </a:ext>
            </a:extLst>
          </p:cNvPr>
          <p:cNvCxnSpPr>
            <a:cxnSpLocks/>
          </p:cNvCxnSpPr>
          <p:nvPr/>
        </p:nvCxnSpPr>
        <p:spPr>
          <a:xfrm flipV="1">
            <a:off x="3687896" y="4492316"/>
            <a:ext cx="0" cy="384564"/>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33" name="図 32">
            <a:extLst>
              <a:ext uri="{FF2B5EF4-FFF2-40B4-BE49-F238E27FC236}">
                <a16:creationId xmlns:a16="http://schemas.microsoft.com/office/drawing/2014/main" id="{EF9A995E-D417-BA1F-856E-23583F3A5FD0}"/>
              </a:ext>
            </a:extLst>
          </p:cNvPr>
          <p:cNvPicPr>
            <a:picLocks noChangeAspect="1"/>
          </p:cNvPicPr>
          <p:nvPr/>
        </p:nvPicPr>
        <p:blipFill>
          <a:blip r:embed="rId6"/>
          <a:stretch>
            <a:fillRect/>
          </a:stretch>
        </p:blipFill>
        <p:spPr>
          <a:xfrm>
            <a:off x="3408040" y="3976892"/>
            <a:ext cx="559712" cy="559712"/>
          </a:xfrm>
          <a:prstGeom prst="rect">
            <a:avLst/>
          </a:prstGeom>
        </p:spPr>
      </p:pic>
      <p:cxnSp>
        <p:nvCxnSpPr>
          <p:cNvPr id="43" name="直線コネクタ 42">
            <a:extLst>
              <a:ext uri="{FF2B5EF4-FFF2-40B4-BE49-F238E27FC236}">
                <a16:creationId xmlns:a16="http://schemas.microsoft.com/office/drawing/2014/main" id="{22EC6018-E64A-2606-A3B1-3FA83D3091DD}"/>
              </a:ext>
            </a:extLst>
          </p:cNvPr>
          <p:cNvCxnSpPr>
            <a:cxnSpLocks/>
          </p:cNvCxnSpPr>
          <p:nvPr/>
        </p:nvCxnSpPr>
        <p:spPr>
          <a:xfrm>
            <a:off x="3687896" y="5450100"/>
            <a:ext cx="0" cy="319894"/>
          </a:xfrm>
          <a:prstGeom prst="line">
            <a:avLst/>
          </a:prstGeom>
          <a:ln w="9525">
            <a:solidFill>
              <a:srgbClr val="142FA4"/>
            </a:solidFill>
            <a:headEnd type="oval"/>
          </a:ln>
        </p:spPr>
        <p:style>
          <a:lnRef idx="2">
            <a:schemeClr val="accent1"/>
          </a:lnRef>
          <a:fillRef idx="0">
            <a:schemeClr val="accent1"/>
          </a:fillRef>
          <a:effectRef idx="1">
            <a:schemeClr val="accent1"/>
          </a:effectRef>
          <a:fontRef idx="minor">
            <a:schemeClr val="tx1"/>
          </a:fontRef>
        </p:style>
      </p:cxnSp>
      <p:cxnSp>
        <p:nvCxnSpPr>
          <p:cNvPr id="47" name="直線コネクタ 46">
            <a:extLst>
              <a:ext uri="{FF2B5EF4-FFF2-40B4-BE49-F238E27FC236}">
                <a16:creationId xmlns:a16="http://schemas.microsoft.com/office/drawing/2014/main" id="{CF345D65-A5F1-4169-B222-2F23B982BC17}"/>
              </a:ext>
            </a:extLst>
          </p:cNvPr>
          <p:cNvCxnSpPr>
            <a:cxnSpLocks/>
          </p:cNvCxnSpPr>
          <p:nvPr/>
        </p:nvCxnSpPr>
        <p:spPr>
          <a:xfrm>
            <a:off x="1317184" y="5450100"/>
            <a:ext cx="0" cy="232495"/>
          </a:xfrm>
          <a:prstGeom prst="line">
            <a:avLst/>
          </a:prstGeom>
          <a:ln w="9525">
            <a:solidFill>
              <a:srgbClr val="142FA4"/>
            </a:solidFill>
            <a:headEnd type="oval"/>
          </a:ln>
        </p:spPr>
        <p:style>
          <a:lnRef idx="2">
            <a:schemeClr val="accent1"/>
          </a:lnRef>
          <a:fillRef idx="0">
            <a:schemeClr val="accent1"/>
          </a:fillRef>
          <a:effectRef idx="1">
            <a:schemeClr val="accent1"/>
          </a:effectRef>
          <a:fontRef idx="minor">
            <a:schemeClr val="tx1"/>
          </a:fontRef>
        </p:style>
      </p:cxnSp>
      <p:cxnSp>
        <p:nvCxnSpPr>
          <p:cNvPr id="54" name="直線コネクタ 53">
            <a:extLst>
              <a:ext uri="{FF2B5EF4-FFF2-40B4-BE49-F238E27FC236}">
                <a16:creationId xmlns:a16="http://schemas.microsoft.com/office/drawing/2014/main" id="{7B31011F-12B6-E265-6941-5BD4263D4FF9}"/>
              </a:ext>
            </a:extLst>
          </p:cNvPr>
          <p:cNvCxnSpPr>
            <a:cxnSpLocks/>
          </p:cNvCxnSpPr>
          <p:nvPr/>
        </p:nvCxnSpPr>
        <p:spPr>
          <a:xfrm>
            <a:off x="7260971" y="5450100"/>
            <a:ext cx="0" cy="281326"/>
          </a:xfrm>
          <a:prstGeom prst="line">
            <a:avLst/>
          </a:prstGeom>
          <a:ln w="9525">
            <a:solidFill>
              <a:srgbClr val="142FA4"/>
            </a:solidFill>
            <a:headEnd type="oval"/>
          </a:ln>
        </p:spPr>
        <p:style>
          <a:lnRef idx="2">
            <a:schemeClr val="accent1"/>
          </a:lnRef>
          <a:fillRef idx="0">
            <a:schemeClr val="accent1"/>
          </a:fillRef>
          <a:effectRef idx="1">
            <a:schemeClr val="accent1"/>
          </a:effectRef>
          <a:fontRef idx="minor">
            <a:schemeClr val="tx1"/>
          </a:fontRef>
        </p:style>
      </p:cxnSp>
      <p:cxnSp>
        <p:nvCxnSpPr>
          <p:cNvPr id="56" name="直線コネクタ 55">
            <a:extLst>
              <a:ext uri="{FF2B5EF4-FFF2-40B4-BE49-F238E27FC236}">
                <a16:creationId xmlns:a16="http://schemas.microsoft.com/office/drawing/2014/main" id="{1820F9AE-2659-91AF-7423-1E2A935AE415}"/>
              </a:ext>
            </a:extLst>
          </p:cNvPr>
          <p:cNvCxnSpPr>
            <a:cxnSpLocks/>
          </p:cNvCxnSpPr>
          <p:nvPr/>
        </p:nvCxnSpPr>
        <p:spPr>
          <a:xfrm flipH="1">
            <a:off x="1193800" y="5454978"/>
            <a:ext cx="6396973"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57" name="フリーフォーム 56">
            <a:extLst>
              <a:ext uri="{FF2B5EF4-FFF2-40B4-BE49-F238E27FC236}">
                <a16:creationId xmlns:a16="http://schemas.microsoft.com/office/drawing/2014/main" id="{224548CF-02A4-03F7-4CB4-F5922CC4401B}"/>
              </a:ext>
            </a:extLst>
          </p:cNvPr>
          <p:cNvSpPr/>
          <p:nvPr/>
        </p:nvSpPr>
        <p:spPr>
          <a:xfrm>
            <a:off x="730255" y="5780372"/>
            <a:ext cx="695321" cy="344204"/>
          </a:xfrm>
          <a:custGeom>
            <a:avLst/>
            <a:gdLst>
              <a:gd name="csX0" fmla="*/ 60542 w 695321"/>
              <a:gd name="csY0" fmla="*/ 0 h 344204"/>
              <a:gd name="csX1" fmla="*/ 695321 w 695321"/>
              <a:gd name="csY1" fmla="*/ 0 h 344204"/>
              <a:gd name="csX2" fmla="*/ 695321 w 695321"/>
              <a:gd name="csY2" fmla="*/ 344204 h 344204"/>
              <a:gd name="csX3" fmla="*/ 60542 w 695321"/>
              <a:gd name="csY3" fmla="*/ 344204 h 344204"/>
              <a:gd name="csX4" fmla="*/ 0 w 695321"/>
              <a:gd name="csY4" fmla="*/ 283662 h 344204"/>
              <a:gd name="csX5" fmla="*/ 0 w 695321"/>
              <a:gd name="csY5" fmla="*/ 60542 h 344204"/>
              <a:gd name="csX6" fmla="*/ 60542 w 695321"/>
              <a:gd name="csY6" fmla="*/ 0 h 3442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5321" h="344204">
                <a:moveTo>
                  <a:pt x="60542" y="0"/>
                </a:moveTo>
                <a:lnTo>
                  <a:pt x="695321" y="0"/>
                </a:lnTo>
                <a:lnTo>
                  <a:pt x="695321" y="344204"/>
                </a:lnTo>
                <a:lnTo>
                  <a:pt x="60542" y="344204"/>
                </a:lnTo>
                <a:cubicBezTo>
                  <a:pt x="27106" y="344204"/>
                  <a:pt x="0" y="317098"/>
                  <a:pt x="0" y="283662"/>
                </a:cubicBezTo>
                <a:lnTo>
                  <a:pt x="0" y="60542"/>
                </a:lnTo>
                <a:cubicBezTo>
                  <a:pt x="0" y="27106"/>
                  <a:pt x="27106" y="0"/>
                  <a:pt x="60542" y="0"/>
                </a:cubicBezTo>
                <a:close/>
              </a:path>
            </a:pathLst>
          </a:cu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60" name="テキスト ボックス 59">
            <a:extLst>
              <a:ext uri="{FF2B5EF4-FFF2-40B4-BE49-F238E27FC236}">
                <a16:creationId xmlns:a16="http://schemas.microsoft.com/office/drawing/2014/main" id="{BDE317CB-F650-6C38-CDA0-E78E84E93088}"/>
              </a:ext>
            </a:extLst>
          </p:cNvPr>
          <p:cNvSpPr txBox="1"/>
          <p:nvPr/>
        </p:nvSpPr>
        <p:spPr>
          <a:xfrm>
            <a:off x="3087817" y="5853934"/>
            <a:ext cx="1200159"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ibisPaint Released</a:t>
            </a:r>
          </a:p>
        </p:txBody>
      </p:sp>
      <p:cxnSp>
        <p:nvCxnSpPr>
          <p:cNvPr id="63" name="直線コネクタ 62">
            <a:extLst>
              <a:ext uri="{FF2B5EF4-FFF2-40B4-BE49-F238E27FC236}">
                <a16:creationId xmlns:a16="http://schemas.microsoft.com/office/drawing/2014/main" id="{69CD299D-88D2-2988-59F2-864FC0F81A76}"/>
              </a:ext>
            </a:extLst>
          </p:cNvPr>
          <p:cNvCxnSpPr>
            <a:cxnSpLocks/>
          </p:cNvCxnSpPr>
          <p:nvPr/>
        </p:nvCxnSpPr>
        <p:spPr>
          <a:xfrm flipH="1">
            <a:off x="1314009" y="5676830"/>
            <a:ext cx="132779"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64" name="直線コネクタ 63">
            <a:extLst>
              <a:ext uri="{FF2B5EF4-FFF2-40B4-BE49-F238E27FC236}">
                <a16:creationId xmlns:a16="http://schemas.microsoft.com/office/drawing/2014/main" id="{4863A092-C8F2-643E-5F0C-7047759CFEB9}"/>
              </a:ext>
            </a:extLst>
          </p:cNvPr>
          <p:cNvCxnSpPr>
            <a:cxnSpLocks/>
          </p:cNvCxnSpPr>
          <p:nvPr/>
        </p:nvCxnSpPr>
        <p:spPr>
          <a:xfrm flipV="1">
            <a:off x="1753689" y="5744392"/>
            <a:ext cx="0" cy="11429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65" name="テキスト ボックス 64">
            <a:extLst>
              <a:ext uri="{FF2B5EF4-FFF2-40B4-BE49-F238E27FC236}">
                <a16:creationId xmlns:a16="http://schemas.microsoft.com/office/drawing/2014/main" id="{C55FC083-4356-3A74-9536-09DFB8DAD343}"/>
              </a:ext>
            </a:extLst>
          </p:cNvPr>
          <p:cNvSpPr txBox="1"/>
          <p:nvPr/>
        </p:nvSpPr>
        <p:spPr>
          <a:xfrm>
            <a:off x="1369975" y="5572204"/>
            <a:ext cx="724534"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142FA4"/>
                </a:solidFill>
                <a:latin typeface="Poppins Medium" pitchFamily="2" charset="0"/>
                <a:ea typeface="M PLUS 1p Medium" panose="020B0502020203020207" pitchFamily="34" charset="-128"/>
                <a:cs typeface="Poppins Medium" pitchFamily="2" charset="0"/>
              </a:rPr>
              <a:t>May</a:t>
            </a: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2000</a:t>
            </a:r>
          </a:p>
        </p:txBody>
      </p:sp>
      <p:sp>
        <p:nvSpPr>
          <p:cNvPr id="66" name="角丸四角形 65">
            <a:extLst>
              <a:ext uri="{FF2B5EF4-FFF2-40B4-BE49-F238E27FC236}">
                <a16:creationId xmlns:a16="http://schemas.microsoft.com/office/drawing/2014/main" id="{E9FC7DBA-6F57-7196-BDD2-8011CCC1100D}"/>
              </a:ext>
            </a:extLst>
          </p:cNvPr>
          <p:cNvSpPr/>
          <p:nvPr/>
        </p:nvSpPr>
        <p:spPr>
          <a:xfrm>
            <a:off x="4969803" y="5289658"/>
            <a:ext cx="1723127" cy="165459"/>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cxnSp>
        <p:nvCxnSpPr>
          <p:cNvPr id="67" name="直線コネクタ 66">
            <a:extLst>
              <a:ext uri="{FF2B5EF4-FFF2-40B4-BE49-F238E27FC236}">
                <a16:creationId xmlns:a16="http://schemas.microsoft.com/office/drawing/2014/main" id="{8D86C0B1-3B8B-61E3-ED1A-8D552C2CB75B}"/>
              </a:ext>
            </a:extLst>
          </p:cNvPr>
          <p:cNvCxnSpPr>
            <a:cxnSpLocks/>
          </p:cNvCxnSpPr>
          <p:nvPr/>
        </p:nvCxnSpPr>
        <p:spPr>
          <a:xfrm flipV="1">
            <a:off x="5604990" y="5676830"/>
            <a:ext cx="0" cy="168887"/>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68" name="直線コネクタ 67">
            <a:extLst>
              <a:ext uri="{FF2B5EF4-FFF2-40B4-BE49-F238E27FC236}">
                <a16:creationId xmlns:a16="http://schemas.microsoft.com/office/drawing/2014/main" id="{99925DE7-5E65-6314-9ACD-6F864255AF01}"/>
              </a:ext>
            </a:extLst>
          </p:cNvPr>
          <p:cNvCxnSpPr>
            <a:cxnSpLocks/>
          </p:cNvCxnSpPr>
          <p:nvPr/>
        </p:nvCxnSpPr>
        <p:spPr>
          <a:xfrm flipH="1">
            <a:off x="5888435" y="5676830"/>
            <a:ext cx="887975"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69" name="テキスト ボックス 68">
            <a:extLst>
              <a:ext uri="{FF2B5EF4-FFF2-40B4-BE49-F238E27FC236}">
                <a16:creationId xmlns:a16="http://schemas.microsoft.com/office/drawing/2014/main" id="{61EBCE41-E089-40CC-2066-142CE9442CD7}"/>
              </a:ext>
            </a:extLst>
          </p:cNvPr>
          <p:cNvSpPr txBox="1"/>
          <p:nvPr/>
        </p:nvSpPr>
        <p:spPr>
          <a:xfrm>
            <a:off x="5319075" y="5612182"/>
            <a:ext cx="569360" cy="123111"/>
          </a:xfrm>
          <a:prstGeom prst="rect">
            <a:avLst/>
          </a:prstGeom>
          <a:solidFill>
            <a:schemeClr val="bg1"/>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Mar. 2023</a:t>
            </a:r>
          </a:p>
        </p:txBody>
      </p:sp>
      <p:cxnSp>
        <p:nvCxnSpPr>
          <p:cNvPr id="70" name="直線コネクタ 69">
            <a:extLst>
              <a:ext uri="{FF2B5EF4-FFF2-40B4-BE49-F238E27FC236}">
                <a16:creationId xmlns:a16="http://schemas.microsoft.com/office/drawing/2014/main" id="{D0000395-CB07-7639-6F55-5EF7EC4CB8BB}"/>
              </a:ext>
            </a:extLst>
          </p:cNvPr>
          <p:cNvCxnSpPr>
            <a:cxnSpLocks/>
          </p:cNvCxnSpPr>
          <p:nvPr/>
        </p:nvCxnSpPr>
        <p:spPr>
          <a:xfrm>
            <a:off x="6777330" y="5450100"/>
            <a:ext cx="0" cy="232495"/>
          </a:xfrm>
          <a:prstGeom prst="line">
            <a:avLst/>
          </a:prstGeom>
          <a:ln w="9525">
            <a:solidFill>
              <a:srgbClr val="142FA4"/>
            </a:solidFill>
            <a:headEnd type="oval"/>
          </a:ln>
        </p:spPr>
        <p:style>
          <a:lnRef idx="2">
            <a:schemeClr val="accent1"/>
          </a:lnRef>
          <a:fillRef idx="0">
            <a:schemeClr val="accent1"/>
          </a:fillRef>
          <a:effectRef idx="1">
            <a:schemeClr val="accent1"/>
          </a:effectRef>
          <a:fontRef idx="minor">
            <a:schemeClr val="tx1"/>
          </a:fontRef>
        </p:style>
      </p:cxnSp>
      <p:sp>
        <p:nvSpPr>
          <p:cNvPr id="71" name="左右矢印 70">
            <a:extLst>
              <a:ext uri="{FF2B5EF4-FFF2-40B4-BE49-F238E27FC236}">
                <a16:creationId xmlns:a16="http://schemas.microsoft.com/office/drawing/2014/main" id="{15B9CA2B-E413-8006-1177-43471D79091F}"/>
              </a:ext>
            </a:extLst>
          </p:cNvPr>
          <p:cNvSpPr/>
          <p:nvPr/>
        </p:nvSpPr>
        <p:spPr>
          <a:xfrm>
            <a:off x="4873339" y="5324596"/>
            <a:ext cx="1867455" cy="260765"/>
          </a:xfrm>
          <a:prstGeom prst="leftRightArrow">
            <a:avLst>
              <a:gd name="adj1" fmla="val 64096"/>
              <a:gd name="adj2" fmla="val 57048"/>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cxnSp>
        <p:nvCxnSpPr>
          <p:cNvPr id="72" name="直線コネクタ 71">
            <a:extLst>
              <a:ext uri="{FF2B5EF4-FFF2-40B4-BE49-F238E27FC236}">
                <a16:creationId xmlns:a16="http://schemas.microsoft.com/office/drawing/2014/main" id="{FC9A872A-794A-ED93-8F66-432DC3002DAF}"/>
              </a:ext>
            </a:extLst>
          </p:cNvPr>
          <p:cNvCxnSpPr>
            <a:cxnSpLocks/>
          </p:cNvCxnSpPr>
          <p:nvPr/>
        </p:nvCxnSpPr>
        <p:spPr>
          <a:xfrm flipV="1">
            <a:off x="3687896" y="5670486"/>
            <a:ext cx="0" cy="175231"/>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73" name="テキスト ボックス 72">
            <a:extLst>
              <a:ext uri="{FF2B5EF4-FFF2-40B4-BE49-F238E27FC236}">
                <a16:creationId xmlns:a16="http://schemas.microsoft.com/office/drawing/2014/main" id="{D7544530-03DE-4AD4-0251-10B3089342AE}"/>
              </a:ext>
            </a:extLst>
          </p:cNvPr>
          <p:cNvSpPr txBox="1"/>
          <p:nvPr/>
        </p:nvSpPr>
        <p:spPr>
          <a:xfrm>
            <a:off x="3279951" y="5612182"/>
            <a:ext cx="807423" cy="123111"/>
          </a:xfrm>
          <a:prstGeom prst="rect">
            <a:avLst/>
          </a:prstGeom>
          <a:solidFill>
            <a:schemeClr val="bg1"/>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Jun. 2011</a:t>
            </a:r>
          </a:p>
        </p:txBody>
      </p:sp>
      <p:cxnSp>
        <p:nvCxnSpPr>
          <p:cNvPr id="80" name="直線コネクタ 79">
            <a:extLst>
              <a:ext uri="{FF2B5EF4-FFF2-40B4-BE49-F238E27FC236}">
                <a16:creationId xmlns:a16="http://schemas.microsoft.com/office/drawing/2014/main" id="{7B92A891-FE6C-9888-B5A1-5A715C5452D1}"/>
              </a:ext>
            </a:extLst>
          </p:cNvPr>
          <p:cNvCxnSpPr>
            <a:cxnSpLocks/>
          </p:cNvCxnSpPr>
          <p:nvPr/>
        </p:nvCxnSpPr>
        <p:spPr>
          <a:xfrm flipV="1">
            <a:off x="7260971" y="5645086"/>
            <a:ext cx="0" cy="175231"/>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81" name="テキスト ボックス 80">
            <a:extLst>
              <a:ext uri="{FF2B5EF4-FFF2-40B4-BE49-F238E27FC236}">
                <a16:creationId xmlns:a16="http://schemas.microsoft.com/office/drawing/2014/main" id="{D0C85B3E-C3D3-450C-5D25-CC76B2B3D867}"/>
              </a:ext>
            </a:extLst>
          </p:cNvPr>
          <p:cNvSpPr txBox="1"/>
          <p:nvPr/>
        </p:nvSpPr>
        <p:spPr>
          <a:xfrm>
            <a:off x="6926363" y="5612182"/>
            <a:ext cx="672524" cy="123111"/>
          </a:xfrm>
          <a:prstGeom prst="rect">
            <a:avLst/>
          </a:prstGeom>
          <a:solidFill>
            <a:schemeClr val="bg1"/>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Apr. 2025</a:t>
            </a:r>
          </a:p>
        </p:txBody>
      </p:sp>
      <p:sp>
        <p:nvSpPr>
          <p:cNvPr id="96" name="テキスト ボックス 95">
            <a:extLst>
              <a:ext uri="{FF2B5EF4-FFF2-40B4-BE49-F238E27FC236}">
                <a16:creationId xmlns:a16="http://schemas.microsoft.com/office/drawing/2014/main" id="{6BE4E4DC-90F2-9F75-423E-8471C43E944D}"/>
              </a:ext>
            </a:extLst>
          </p:cNvPr>
          <p:cNvSpPr txBox="1"/>
          <p:nvPr/>
        </p:nvSpPr>
        <p:spPr>
          <a:xfrm>
            <a:off x="666900" y="5770278"/>
            <a:ext cx="84587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Key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Milestones</a:t>
            </a:r>
          </a:p>
        </p:txBody>
      </p:sp>
      <p:sp>
        <p:nvSpPr>
          <p:cNvPr id="9" name="テキスト ボックス 8">
            <a:extLst>
              <a:ext uri="{FF2B5EF4-FFF2-40B4-BE49-F238E27FC236}">
                <a16:creationId xmlns:a16="http://schemas.microsoft.com/office/drawing/2014/main" id="{C3806F6E-26D4-CEC6-2ADC-338EB4A127D3}"/>
              </a:ext>
            </a:extLst>
          </p:cNvPr>
          <p:cNvSpPr txBox="1"/>
          <p:nvPr/>
        </p:nvSpPr>
        <p:spPr>
          <a:xfrm>
            <a:off x="4892800" y="5345655"/>
            <a:ext cx="183080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Global Market Expansion Phase</a:t>
            </a:r>
            <a:endParaRPr kumimoji="1" lang="ja-JP" altLang="en-US" sz="8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34" name="テキスト ボックス 33">
            <a:extLst>
              <a:ext uri="{FF2B5EF4-FFF2-40B4-BE49-F238E27FC236}">
                <a16:creationId xmlns:a16="http://schemas.microsoft.com/office/drawing/2014/main" id="{C7DECB59-9183-9D41-9EB1-79E96DB43C14}"/>
              </a:ext>
            </a:extLst>
          </p:cNvPr>
          <p:cNvSpPr txBox="1"/>
          <p:nvPr/>
        </p:nvSpPr>
        <p:spPr>
          <a:xfrm>
            <a:off x="8478676" y="1736224"/>
            <a:ext cx="2646558"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Global Market Expansion Strategy</a:t>
            </a:r>
          </a:p>
        </p:txBody>
      </p:sp>
      <p:sp>
        <p:nvSpPr>
          <p:cNvPr id="35" name="テキスト ボックス 34">
            <a:extLst>
              <a:ext uri="{FF2B5EF4-FFF2-40B4-BE49-F238E27FC236}">
                <a16:creationId xmlns:a16="http://schemas.microsoft.com/office/drawing/2014/main" id="{0BCD031F-1E73-8BD0-620A-3F818B09F095}"/>
              </a:ext>
            </a:extLst>
          </p:cNvPr>
          <p:cNvSpPr txBox="1"/>
          <p:nvPr/>
        </p:nvSpPr>
        <p:spPr>
          <a:xfrm>
            <a:off x="3656492" y="1736224"/>
            <a:ext cx="1200649"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Net Sales Trend</a:t>
            </a:r>
          </a:p>
        </p:txBody>
      </p:sp>
    </p:spTree>
    <p:extLst>
      <p:ext uri="{BB962C8B-B14F-4D97-AF65-F5344CB8AC3E}">
        <p14:creationId xmlns:p14="http://schemas.microsoft.com/office/powerpoint/2010/main" val="3172278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descr="メガネを掛けた女性の絵&#10;&#10;AI 生成コンテンツは誤りを含む可能性があります。">
            <a:extLst>
              <a:ext uri="{FF2B5EF4-FFF2-40B4-BE49-F238E27FC236}">
                <a16:creationId xmlns:a16="http://schemas.microsoft.com/office/drawing/2014/main" id="{E8F4A381-5C3E-C153-F68F-3C7CD7B68AC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103786" y="1500508"/>
            <a:ext cx="4537500" cy="3960000"/>
          </a:xfrm>
          <a:prstGeom prst="rect">
            <a:avLst/>
          </a:prstGeom>
        </p:spPr>
      </p:pic>
      <p:sp>
        <p:nvSpPr>
          <p:cNvPr id="26" name="角丸四角形 25">
            <a:extLst>
              <a:ext uri="{FF2B5EF4-FFF2-40B4-BE49-F238E27FC236}">
                <a16:creationId xmlns:a16="http://schemas.microsoft.com/office/drawing/2014/main" id="{0440D9FB-5D6E-7115-2E08-6CCBF912C6C9}"/>
              </a:ext>
            </a:extLst>
          </p:cNvPr>
          <p:cNvSpPr/>
          <p:nvPr/>
        </p:nvSpPr>
        <p:spPr>
          <a:xfrm>
            <a:off x="8398802" y="3885600"/>
            <a:ext cx="3239056" cy="1887886"/>
          </a:xfrm>
          <a:prstGeom prst="roundRect">
            <a:avLst>
              <a:gd name="adj" fmla="val 9165"/>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3" name="角丸四角形 12">
            <a:extLst>
              <a:ext uri="{FF2B5EF4-FFF2-40B4-BE49-F238E27FC236}">
                <a16:creationId xmlns:a16="http://schemas.microsoft.com/office/drawing/2014/main" id="{BA6EDCC3-4140-5BFE-7FCD-901470E4B33F}"/>
              </a:ext>
            </a:extLst>
          </p:cNvPr>
          <p:cNvSpPr/>
          <p:nvPr/>
        </p:nvSpPr>
        <p:spPr>
          <a:xfrm>
            <a:off x="8398802" y="1785337"/>
            <a:ext cx="3239056" cy="1887886"/>
          </a:xfrm>
          <a:prstGeom prst="roundRect">
            <a:avLst>
              <a:gd name="adj" fmla="val 9165"/>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2" name="図 1" descr="スカーフを頭に巻いた女性&#10;&#10;AI 生成コンテンツは誤りを含む可能性があります。">
            <a:extLst>
              <a:ext uri="{FF2B5EF4-FFF2-40B4-BE49-F238E27FC236}">
                <a16:creationId xmlns:a16="http://schemas.microsoft.com/office/drawing/2014/main" id="{08900258-84D0-2E5E-C606-131B3B354E4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50714" y="2060768"/>
            <a:ext cx="4544698" cy="3960000"/>
          </a:xfrm>
          <a:prstGeom prst="rect">
            <a:avLst/>
          </a:prstGeom>
        </p:spPr>
      </p:pic>
      <p:sp>
        <p:nvSpPr>
          <p:cNvPr id="6" name="角丸四角形 5">
            <a:extLst>
              <a:ext uri="{FF2B5EF4-FFF2-40B4-BE49-F238E27FC236}">
                <a16:creationId xmlns:a16="http://schemas.microsoft.com/office/drawing/2014/main" id="{7CD54DB0-8A01-E5D3-C89F-8A858A89CF63}"/>
              </a:ext>
            </a:extLst>
          </p:cNvPr>
          <p:cNvSpPr/>
          <p:nvPr/>
        </p:nvSpPr>
        <p:spPr>
          <a:xfrm>
            <a:off x="504482" y="3885600"/>
            <a:ext cx="3239056" cy="1887886"/>
          </a:xfrm>
          <a:prstGeom prst="roundRect">
            <a:avLst>
              <a:gd name="adj" fmla="val 9165"/>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 name="角丸四角形 4">
            <a:extLst>
              <a:ext uri="{FF2B5EF4-FFF2-40B4-BE49-F238E27FC236}">
                <a16:creationId xmlns:a16="http://schemas.microsoft.com/office/drawing/2014/main" id="{4941D03D-993D-6C3D-9358-4F052C979844}"/>
              </a:ext>
            </a:extLst>
          </p:cNvPr>
          <p:cNvSpPr/>
          <p:nvPr/>
        </p:nvSpPr>
        <p:spPr>
          <a:xfrm>
            <a:off x="504482" y="1785337"/>
            <a:ext cx="3239056" cy="1887886"/>
          </a:xfrm>
          <a:prstGeom prst="roundRect">
            <a:avLst>
              <a:gd name="adj" fmla="val 9165"/>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11" name="図 10">
            <a:extLst>
              <a:ext uri="{FF2B5EF4-FFF2-40B4-BE49-F238E27FC236}">
                <a16:creationId xmlns:a16="http://schemas.microsoft.com/office/drawing/2014/main" id="{619C6FCC-78BA-A44B-29E6-F46BE4809054}"/>
              </a:ext>
            </a:extLst>
          </p:cNvPr>
          <p:cNvPicPr>
            <a:picLocks noGrp="1" noRot="1" noChangeAspect="1" noMove="1" noResize="1" noEditPoints="1" noAdjustHandles="1" noChangeArrowheads="1" noChangeShapeType="1" noCrop="1"/>
          </p:cNvPicPr>
          <p:nvPr/>
        </p:nvPicPr>
        <p:blipFill>
          <a:blip r:embed="rId5" cstate="email">
            <a:extLst>
              <a:ext uri="{28A0092B-C50C-407E-A947-70E740481C1C}">
                <a14:useLocalDpi xmlns:a14="http://schemas.microsoft.com/office/drawing/2010/main"/>
              </a:ext>
            </a:extLst>
          </a:blip>
          <a:stretch>
            <a:fillRect/>
          </a:stretch>
        </p:blipFill>
        <p:spPr>
          <a:xfrm>
            <a:off x="-11724" y="617186"/>
            <a:ext cx="576000" cy="5659827"/>
          </a:xfrm>
          <a:prstGeom prst="rect">
            <a:avLst/>
          </a:prstGeom>
        </p:spPr>
      </p:pic>
      <p:sp>
        <p:nvSpPr>
          <p:cNvPr id="27" name="テキスト ボックス 26">
            <a:extLst>
              <a:ext uri="{FF2B5EF4-FFF2-40B4-BE49-F238E27FC236}">
                <a16:creationId xmlns:a16="http://schemas.microsoft.com/office/drawing/2014/main" id="{CC8EC2C0-55CC-5D8A-1661-E7210534ECD7}"/>
              </a:ext>
            </a:extLst>
          </p:cNvPr>
          <p:cNvSpPr txBox="1"/>
          <p:nvPr/>
        </p:nvSpPr>
        <p:spPr>
          <a:xfrm>
            <a:off x="970135" y="2426265"/>
            <a:ext cx="2262714"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No.</a:t>
            </a:r>
            <a:r>
              <a:rPr kumimoji="1" lang="en-US" altLang="ja-JP" sz="64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1</a:t>
            </a:r>
            <a:endParaRPr kumimoji="1" lang="ja-JP" altLang="en-US" sz="6400" b="0" i="0" u="none" strike="noStrike" kern="1200" cap="none" spc="0" normalizeH="0" baseline="10000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4" name="テキスト プレースホルダー 3">
            <a:extLst>
              <a:ext uri="{FF2B5EF4-FFF2-40B4-BE49-F238E27FC236}">
                <a16:creationId xmlns:a16="http://schemas.microsoft.com/office/drawing/2014/main" id="{8967897C-80AC-4B95-21FD-36C5E5959BA4}"/>
              </a:ext>
            </a:extLst>
          </p:cNvPr>
          <p:cNvSpPr>
            <a:spLocks noGrp="1"/>
          </p:cNvSpPr>
          <p:nvPr>
            <p:ph type="body" sz="quarter" idx="12"/>
          </p:nvPr>
        </p:nvSpPr>
        <p:spPr/>
        <p:txBody>
          <a:bodyPr>
            <a:normAutofit/>
          </a:bodyPr>
          <a:lstStyle/>
          <a:p>
            <a:r>
              <a:rPr lang="en-US" altLang="ja-JP" dirty="0"/>
              <a:t>ibisPaint Achievements</a:t>
            </a:r>
            <a:endParaRPr lang="ja-JP" altLang="en-US" dirty="0"/>
          </a:p>
        </p:txBody>
      </p:sp>
      <p:sp>
        <p:nvSpPr>
          <p:cNvPr id="3" name="タイトル 2">
            <a:extLst>
              <a:ext uri="{FF2B5EF4-FFF2-40B4-BE49-F238E27FC236}">
                <a16:creationId xmlns:a16="http://schemas.microsoft.com/office/drawing/2014/main" id="{6503F50D-AA95-AC02-FC02-0FD6C388B218}"/>
              </a:ext>
            </a:extLst>
          </p:cNvPr>
          <p:cNvSpPr>
            <a:spLocks noGrp="1"/>
          </p:cNvSpPr>
          <p:nvPr>
            <p:ph type="ctrTitle"/>
          </p:nvPr>
        </p:nvSpPr>
        <p:spPr/>
        <p:txBody>
          <a:bodyPr/>
          <a:lstStyle/>
          <a:p>
            <a:r>
              <a:rPr lang="en-US" altLang="ja-JP" dirty="0">
                <a:ea typeface="M PLUS 1p Medium" panose="020B0502020203020207"/>
              </a:rPr>
              <a:t>ibisPaint has become </a:t>
            </a:r>
            <a:r>
              <a:rPr lang="en-US" altLang="ja-JP" dirty="0">
                <a:solidFill>
                  <a:srgbClr val="C0FF00"/>
                </a:solidFill>
                <a:ea typeface="M PLUS 1p Medium" panose="020B0502020203020207"/>
              </a:rPr>
              <a:t>the world’s No. 1 global app*</a:t>
            </a:r>
            <a:r>
              <a:rPr lang="en-US" altLang="ja-JP" baseline="30000" dirty="0">
                <a:solidFill>
                  <a:srgbClr val="C0FF00"/>
                </a:solidFill>
                <a:ea typeface="M PLUS 1p Medium" panose="020B0502020203020207"/>
              </a:rPr>
              <a:t>1</a:t>
            </a:r>
            <a:endParaRPr lang="ja-JP" altLang="en-US" dirty="0">
              <a:solidFill>
                <a:srgbClr val="C0FF00"/>
              </a:solidFill>
              <a:ea typeface="M PLUS 1p Medium" panose="020B0502020203020207"/>
            </a:endParaRPr>
          </a:p>
        </p:txBody>
      </p:sp>
      <p:sp>
        <p:nvSpPr>
          <p:cNvPr id="25" name="テキスト ボックス 24">
            <a:extLst>
              <a:ext uri="{FF2B5EF4-FFF2-40B4-BE49-F238E27FC236}">
                <a16:creationId xmlns:a16="http://schemas.microsoft.com/office/drawing/2014/main" id="{09969D3D-D3E8-D76F-D0D0-D11C36FDF6CB}"/>
              </a:ext>
            </a:extLst>
          </p:cNvPr>
          <p:cNvSpPr txBox="1"/>
          <p:nvPr/>
        </p:nvSpPr>
        <p:spPr>
          <a:xfrm>
            <a:off x="940835" y="2297886"/>
            <a:ext cx="236635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Graphics &amp; Design Category</a:t>
            </a:r>
            <a:endParaRPr kumimoji="1" lang="en-AU" altLang="ja-JP" sz="1200" b="0" i="0" u="none" strike="noStrike" kern="1200" cap="none" spc="0" normalizeH="0" baseline="30000" noProof="0" dirty="0">
              <a:ln>
                <a:noFill/>
              </a:ln>
              <a:solidFill>
                <a:srgbClr val="142FA4"/>
              </a:solidFill>
              <a:effectLst/>
              <a:uLnTx/>
              <a:uFillTx/>
              <a:latin typeface="Poppins Medium" pitchFamily="2" charset="0"/>
              <a:ea typeface="Poppins Medium"/>
              <a:cs typeface="Poppins Medium" pitchFamily="2" charset="0"/>
              <a:sym typeface="Poppins Medium"/>
            </a:endParaRPr>
          </a:p>
        </p:txBody>
      </p:sp>
      <p:pic>
        <p:nvPicPr>
          <p:cNvPr id="62" name="図 61">
            <a:extLst>
              <a:ext uri="{FF2B5EF4-FFF2-40B4-BE49-F238E27FC236}">
                <a16:creationId xmlns:a16="http://schemas.microsoft.com/office/drawing/2014/main" id="{9031D31D-8B6B-801C-8AB6-9DFAA2CECA5C}"/>
              </a:ext>
            </a:extLst>
          </p:cNvPr>
          <p:cNvPicPr>
            <a:picLocks noChangeAspect="1"/>
          </p:cNvPicPr>
          <p:nvPr/>
        </p:nvPicPr>
        <p:blipFill>
          <a:blip r:embed="rId6"/>
          <a:stretch>
            <a:fillRect/>
          </a:stretch>
        </p:blipFill>
        <p:spPr>
          <a:xfrm>
            <a:off x="5107139" y="2899078"/>
            <a:ext cx="1977722" cy="1977722"/>
          </a:xfrm>
          <a:prstGeom prst="rect">
            <a:avLst/>
          </a:prstGeom>
        </p:spPr>
      </p:pic>
      <p:sp>
        <p:nvSpPr>
          <p:cNvPr id="19" name="テキスト ボックス 18">
            <a:extLst>
              <a:ext uri="{FF2B5EF4-FFF2-40B4-BE49-F238E27FC236}">
                <a16:creationId xmlns:a16="http://schemas.microsoft.com/office/drawing/2014/main" id="{3F26B902-542E-2CBF-3944-47D94C2E956B}"/>
              </a:ext>
            </a:extLst>
          </p:cNvPr>
          <p:cNvSpPr txBox="1"/>
          <p:nvPr/>
        </p:nvSpPr>
        <p:spPr>
          <a:xfrm>
            <a:off x="8444898" y="2429652"/>
            <a:ext cx="3146863"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400" b="1" i="0" u="none" strike="noStrike" kern="1200" cap="none" spc="-15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520</a:t>
            </a:r>
            <a:r>
              <a:rPr kumimoji="1" lang="en-US" altLang="ja-JP" sz="2800" b="1" i="0" u="none" strike="noStrike" kern="1200" cap="none" spc="-150" normalizeH="0" baseline="0" noProof="0" dirty="0">
                <a:ln>
                  <a:noFill/>
                </a:ln>
                <a:solidFill>
                  <a:srgbClr val="D44ED9"/>
                </a:solidFill>
                <a:effectLst/>
                <a:uLnTx/>
                <a:uFillTx/>
                <a:latin typeface="Poppins SemiBold" pitchFamily="2" charset="0"/>
                <a:ea typeface="游ゴシック" panose="020B0400000000000000" pitchFamily="50" charset="-128"/>
                <a:cs typeface="Poppins SemiBold" pitchFamily="2" charset="0"/>
              </a:rPr>
              <a:t>M</a:t>
            </a:r>
            <a:endParaRPr kumimoji="1" lang="ja-JP" altLang="en-US" sz="2800" b="1" i="0" u="none" strike="noStrike" kern="1200" cap="none" spc="-150" normalizeH="0" baseline="-300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endParaRPr>
          </a:p>
        </p:txBody>
      </p:sp>
      <p:sp>
        <p:nvSpPr>
          <p:cNvPr id="17" name="テキスト ボックス 16">
            <a:extLst>
              <a:ext uri="{FF2B5EF4-FFF2-40B4-BE49-F238E27FC236}">
                <a16:creationId xmlns:a16="http://schemas.microsoft.com/office/drawing/2014/main" id="{B0B7632F-9D6F-5C98-A3A1-55EE930903D2}"/>
              </a:ext>
            </a:extLst>
          </p:cNvPr>
          <p:cNvSpPr txBox="1"/>
          <p:nvPr/>
        </p:nvSpPr>
        <p:spPr>
          <a:xfrm>
            <a:off x="9105261" y="2297886"/>
            <a:ext cx="182614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As of December 2025</a:t>
            </a:r>
          </a:p>
        </p:txBody>
      </p:sp>
      <p:sp>
        <p:nvSpPr>
          <p:cNvPr id="20" name="テキスト ボックス 19">
            <a:extLst>
              <a:ext uri="{FF2B5EF4-FFF2-40B4-BE49-F238E27FC236}">
                <a16:creationId xmlns:a16="http://schemas.microsoft.com/office/drawing/2014/main" id="{5DB42D10-2861-9290-58A0-A0DC9C337166}"/>
              </a:ext>
            </a:extLst>
          </p:cNvPr>
          <p:cNvSpPr txBox="1"/>
          <p:nvPr/>
        </p:nvSpPr>
        <p:spPr>
          <a:xfrm>
            <a:off x="9263156" y="3294582"/>
            <a:ext cx="1510350"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Overseas ratio 93.9%</a:t>
            </a:r>
          </a:p>
        </p:txBody>
      </p:sp>
      <p:sp>
        <p:nvSpPr>
          <p:cNvPr id="36" name="テキスト ボックス 35">
            <a:extLst>
              <a:ext uri="{FF2B5EF4-FFF2-40B4-BE49-F238E27FC236}">
                <a16:creationId xmlns:a16="http://schemas.microsoft.com/office/drawing/2014/main" id="{14A924DB-BE8E-B113-CF26-CE7CEE1ACD56}"/>
              </a:ext>
            </a:extLst>
          </p:cNvPr>
          <p:cNvSpPr txBox="1"/>
          <p:nvPr/>
        </p:nvSpPr>
        <p:spPr>
          <a:xfrm>
            <a:off x="740779" y="4500710"/>
            <a:ext cx="2721425"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400" b="0" i="0" u="none" strike="noStrike" kern="1200" cap="none" spc="-15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40.07</a:t>
            </a:r>
            <a:r>
              <a:rPr kumimoji="1" lang="en-US" altLang="ja-JP" sz="2800" b="1" i="0" u="none" strike="noStrike" kern="1200" cap="none" spc="-150" normalizeH="0" baseline="0" noProof="0" dirty="0">
                <a:ln>
                  <a:noFill/>
                </a:ln>
                <a:solidFill>
                  <a:srgbClr val="D44ED9"/>
                </a:solidFill>
                <a:effectLst/>
                <a:uLnTx/>
                <a:uFillTx/>
                <a:latin typeface="Poppins SemiBold" pitchFamily="2" charset="0"/>
                <a:ea typeface="游ゴシック" panose="020B0400000000000000" pitchFamily="50" charset="-128"/>
                <a:cs typeface="Poppins SemiBold" pitchFamily="2" charset="0"/>
              </a:rPr>
              <a:t>M</a:t>
            </a:r>
            <a:endParaRPr kumimoji="1" lang="ja-JP" altLang="en-US" sz="2800" b="1" i="0" u="none" strike="noStrike" kern="1200" cap="none" spc="-150" normalizeH="0" baseline="-300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endParaRPr>
          </a:p>
        </p:txBody>
      </p:sp>
      <p:sp>
        <p:nvSpPr>
          <p:cNvPr id="32" name="テキスト ボックス 31">
            <a:extLst>
              <a:ext uri="{FF2B5EF4-FFF2-40B4-BE49-F238E27FC236}">
                <a16:creationId xmlns:a16="http://schemas.microsoft.com/office/drawing/2014/main" id="{D54981EC-5154-09E9-371A-39A0D4DA5B7E}"/>
              </a:ext>
            </a:extLst>
          </p:cNvPr>
          <p:cNvSpPr txBox="1"/>
          <p:nvPr/>
        </p:nvSpPr>
        <p:spPr>
          <a:xfrm>
            <a:off x="1210941" y="4398149"/>
            <a:ext cx="182614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As of December 2025</a:t>
            </a:r>
          </a:p>
        </p:txBody>
      </p:sp>
      <p:sp>
        <p:nvSpPr>
          <p:cNvPr id="10" name="テキスト ボックス 9">
            <a:extLst>
              <a:ext uri="{FF2B5EF4-FFF2-40B4-BE49-F238E27FC236}">
                <a16:creationId xmlns:a16="http://schemas.microsoft.com/office/drawing/2014/main" id="{BF8B4ED8-15E9-F0C1-0771-1F4E898B1D75}"/>
              </a:ext>
            </a:extLst>
          </p:cNvPr>
          <p:cNvSpPr txBox="1"/>
          <p:nvPr/>
        </p:nvSpPr>
        <p:spPr>
          <a:xfrm>
            <a:off x="977703" y="3301186"/>
            <a:ext cx="229261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0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Seven consecutive years as No. 1</a:t>
            </a:r>
          </a:p>
        </p:txBody>
      </p:sp>
      <p:sp>
        <p:nvSpPr>
          <p:cNvPr id="15" name="コンテンツ プレースホルダー 1">
            <a:extLst>
              <a:ext uri="{FF2B5EF4-FFF2-40B4-BE49-F238E27FC236}">
                <a16:creationId xmlns:a16="http://schemas.microsoft.com/office/drawing/2014/main" id="{9D69BF73-7180-ABD6-2F90-0BCA3F31672A}"/>
              </a:ext>
            </a:extLst>
          </p:cNvPr>
          <p:cNvSpPr txBox="1">
            <a:spLocks/>
          </p:cNvSpPr>
          <p:nvPr/>
        </p:nvSpPr>
        <p:spPr>
          <a:xfrm>
            <a:off x="3208930" y="5885315"/>
            <a:ext cx="8300335" cy="848201"/>
          </a:xfrm>
          <a:prstGeom prst="rect">
            <a:avLst/>
          </a:prstGeom>
        </p:spPr>
        <p:txBody>
          <a:bodyPr vert="horz" lIns="91440" tIns="45720" rIns="91440" bIns="45720" rtlCol="0" anchor="b"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88900" marR="0" lvl="0" indent="-8890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142FA4"/>
                </a:solidFill>
                <a:effectLst/>
                <a:uLnTx/>
                <a:uFillTx/>
                <a:latin typeface="Poppins" panose="00000500000000000000" pitchFamily="2" charset="0"/>
                <a:ea typeface="M PLUS 1p" panose="020B0502020203020207" pitchFamily="34" charset="-128"/>
                <a:cs typeface="Poppins" panose="00000500000000000000" pitchFamily="2" charset="0"/>
              </a:rPr>
              <a:t>*1 App Store “Graphics &amp; Design” category (from 2019 through January–November 2025), global basis, Monthly Active Users (MAU). Source: data.ai by Sensor Tower *2 MAU overseas ratio (January-December 2025), worldwide, MAU, in-house research *3 Share of active users under the age of 25 on iPhone and Android (January–November 2025) in Japan and the United States. Source: data.ai by Sensor Tower. The comparison includes five leading apps considered by the Company to be its direct global competitors</a:t>
            </a:r>
          </a:p>
        </p:txBody>
      </p:sp>
      <p:grpSp>
        <p:nvGrpSpPr>
          <p:cNvPr id="39" name="グループ化 38">
            <a:extLst>
              <a:ext uri="{FF2B5EF4-FFF2-40B4-BE49-F238E27FC236}">
                <a16:creationId xmlns:a16="http://schemas.microsoft.com/office/drawing/2014/main" id="{E97B8E55-7563-4A00-39DE-AFFA1109A235}"/>
              </a:ext>
            </a:extLst>
          </p:cNvPr>
          <p:cNvGrpSpPr/>
          <p:nvPr/>
        </p:nvGrpSpPr>
        <p:grpSpPr>
          <a:xfrm>
            <a:off x="2496546" y="2565039"/>
            <a:ext cx="714328" cy="836477"/>
            <a:chOff x="2561862" y="2565039"/>
            <a:chExt cx="714328" cy="836477"/>
          </a:xfrm>
        </p:grpSpPr>
        <p:sp>
          <p:nvSpPr>
            <p:cNvPr id="9" name="テキスト ボックス 8">
              <a:extLst>
                <a:ext uri="{FF2B5EF4-FFF2-40B4-BE49-F238E27FC236}">
                  <a16:creationId xmlns:a16="http://schemas.microsoft.com/office/drawing/2014/main" id="{294A579D-84F1-E8AC-C9D3-ACD61DED9B59}"/>
                </a:ext>
              </a:extLst>
            </p:cNvPr>
            <p:cNvSpPr txBox="1"/>
            <p:nvPr/>
          </p:nvSpPr>
          <p:spPr>
            <a:xfrm>
              <a:off x="2733564" y="2816741"/>
              <a:ext cx="542626"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10000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1</a:t>
              </a:r>
              <a:endParaRPr kumimoji="1" lang="ja-JP" altLang="en-US" sz="32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
          <p:nvSpPr>
            <p:cNvPr id="37" name="テキスト ボックス 36">
              <a:extLst>
                <a:ext uri="{FF2B5EF4-FFF2-40B4-BE49-F238E27FC236}">
                  <a16:creationId xmlns:a16="http://schemas.microsoft.com/office/drawing/2014/main" id="{22FC14CA-100B-BCD5-CDF0-6F8B68E63C6B}"/>
                </a:ext>
              </a:extLst>
            </p:cNvPr>
            <p:cNvSpPr txBox="1"/>
            <p:nvPr/>
          </p:nvSpPr>
          <p:spPr>
            <a:xfrm>
              <a:off x="2561862" y="2565039"/>
              <a:ext cx="13536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endParaRPr kumimoji="1" lang="ja-JP" altLang="en-US" sz="2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grpSp>
      <p:sp>
        <p:nvSpPr>
          <p:cNvPr id="46" name="テキスト ボックス 45">
            <a:extLst>
              <a:ext uri="{FF2B5EF4-FFF2-40B4-BE49-F238E27FC236}">
                <a16:creationId xmlns:a16="http://schemas.microsoft.com/office/drawing/2014/main" id="{C7BBD471-29BC-8640-1D18-DFC33E5D779B}"/>
              </a:ext>
            </a:extLst>
          </p:cNvPr>
          <p:cNvSpPr txBox="1"/>
          <p:nvPr/>
        </p:nvSpPr>
        <p:spPr>
          <a:xfrm>
            <a:off x="9210215" y="4389336"/>
            <a:ext cx="182614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As of December 2025</a:t>
            </a:r>
          </a:p>
        </p:txBody>
      </p:sp>
      <p:sp>
        <p:nvSpPr>
          <p:cNvPr id="58" name="テキスト ボックス 57">
            <a:extLst>
              <a:ext uri="{FF2B5EF4-FFF2-40B4-BE49-F238E27FC236}">
                <a16:creationId xmlns:a16="http://schemas.microsoft.com/office/drawing/2014/main" id="{10783882-B8DE-EE0A-6E43-3C7AFE2A3307}"/>
              </a:ext>
            </a:extLst>
          </p:cNvPr>
          <p:cNvSpPr txBox="1"/>
          <p:nvPr/>
        </p:nvSpPr>
        <p:spPr>
          <a:xfrm>
            <a:off x="8991928" y="4521103"/>
            <a:ext cx="2262714"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400" b="0" i="0" u="none" strike="noStrike" kern="1200" cap="none" spc="-15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91.7</a:t>
            </a:r>
            <a:r>
              <a:rPr kumimoji="1" lang="en-US" altLang="ja-JP" sz="28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6400" b="0" i="0" u="none" strike="noStrike" kern="1200" cap="none" spc="0" normalizeH="0" baseline="-300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61" name="テキスト ボックス 60">
            <a:extLst>
              <a:ext uri="{FF2B5EF4-FFF2-40B4-BE49-F238E27FC236}">
                <a16:creationId xmlns:a16="http://schemas.microsoft.com/office/drawing/2014/main" id="{D4F071FB-5C75-F58F-CED7-41D024C2A7D3}"/>
              </a:ext>
            </a:extLst>
          </p:cNvPr>
          <p:cNvSpPr txBox="1"/>
          <p:nvPr/>
        </p:nvSpPr>
        <p:spPr>
          <a:xfrm>
            <a:off x="8867422" y="5346337"/>
            <a:ext cx="251172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A leading painting app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for Gen Alpha and Gen Z creators</a:t>
            </a:r>
            <a:endPar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Poppins"/>
              <a:cs typeface="Poppins" panose="00000500000000000000" pitchFamily="2" charset="0"/>
              <a:sym typeface="Poppins"/>
            </a:endParaRPr>
          </a:p>
        </p:txBody>
      </p:sp>
      <p:grpSp>
        <p:nvGrpSpPr>
          <p:cNvPr id="41" name="グループ化 40">
            <a:extLst>
              <a:ext uri="{FF2B5EF4-FFF2-40B4-BE49-F238E27FC236}">
                <a16:creationId xmlns:a16="http://schemas.microsoft.com/office/drawing/2014/main" id="{7948798C-1953-A39E-7BEA-9305E3ACA642}"/>
              </a:ext>
            </a:extLst>
          </p:cNvPr>
          <p:cNvGrpSpPr/>
          <p:nvPr/>
        </p:nvGrpSpPr>
        <p:grpSpPr>
          <a:xfrm>
            <a:off x="10644370" y="4628957"/>
            <a:ext cx="714327" cy="836477"/>
            <a:chOff x="2561863" y="2565039"/>
            <a:chExt cx="714327" cy="836477"/>
          </a:xfrm>
        </p:grpSpPr>
        <p:sp>
          <p:nvSpPr>
            <p:cNvPr id="43" name="テキスト ボックス 42">
              <a:extLst>
                <a:ext uri="{FF2B5EF4-FFF2-40B4-BE49-F238E27FC236}">
                  <a16:creationId xmlns:a16="http://schemas.microsoft.com/office/drawing/2014/main" id="{1755B797-9D7E-DA2A-985F-A6B01366C868}"/>
                </a:ext>
              </a:extLst>
            </p:cNvPr>
            <p:cNvSpPr txBox="1"/>
            <p:nvPr/>
          </p:nvSpPr>
          <p:spPr>
            <a:xfrm>
              <a:off x="2733564" y="2816741"/>
              <a:ext cx="542626"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10000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3</a:t>
              </a:r>
              <a:endParaRPr kumimoji="1" lang="ja-JP" altLang="en-US" sz="3200" b="0" i="0" u="none" strike="noStrike" kern="1200" cap="none" spc="0" normalizeH="0" baseline="0" noProof="0" dirty="0">
                <a:ln>
                  <a:noFill/>
                </a:ln>
                <a:solidFill>
                  <a:prstClr val="black"/>
                </a:solidFill>
                <a:effectLst/>
                <a:uLnTx/>
                <a:uFillTx/>
                <a:latin typeface="Poppins" pitchFamily="2" charset="0"/>
                <a:ea typeface="游ゴシック" panose="020B0400000000000000" pitchFamily="50" charset="-128"/>
                <a:cs typeface="+mn-cs"/>
              </a:endParaRPr>
            </a:p>
          </p:txBody>
        </p:sp>
        <p:sp>
          <p:nvSpPr>
            <p:cNvPr id="44" name="テキスト ボックス 43">
              <a:extLst>
                <a:ext uri="{FF2B5EF4-FFF2-40B4-BE49-F238E27FC236}">
                  <a16:creationId xmlns:a16="http://schemas.microsoft.com/office/drawing/2014/main" id="{55C65CF6-DA73-2DC2-CEB4-DC4517DAC060}"/>
                </a:ext>
              </a:extLst>
            </p:cNvPr>
            <p:cNvSpPr txBox="1"/>
            <p:nvPr/>
          </p:nvSpPr>
          <p:spPr>
            <a:xfrm>
              <a:off x="2561863" y="2565039"/>
              <a:ext cx="51649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endPar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p:txBody>
        </p:sp>
      </p:grpSp>
      <p:sp>
        <p:nvSpPr>
          <p:cNvPr id="47" name="フリーフォーム 46">
            <a:extLst>
              <a:ext uri="{FF2B5EF4-FFF2-40B4-BE49-F238E27FC236}">
                <a16:creationId xmlns:a16="http://schemas.microsoft.com/office/drawing/2014/main" id="{1E5684DD-24AB-7957-BD98-722EB5861E02}"/>
              </a:ext>
            </a:extLst>
          </p:cNvPr>
          <p:cNvSpPr/>
          <p:nvPr/>
        </p:nvSpPr>
        <p:spPr>
          <a:xfrm>
            <a:off x="504482" y="1785337"/>
            <a:ext cx="3239056" cy="425088"/>
          </a:xfrm>
          <a:custGeom>
            <a:avLst/>
            <a:gdLst>
              <a:gd name="csX0" fmla="*/ 173025 w 3239056"/>
              <a:gd name="csY0" fmla="*/ 0 h 425088"/>
              <a:gd name="csX1" fmla="*/ 3066031 w 3239056"/>
              <a:gd name="csY1" fmla="*/ 0 h 425088"/>
              <a:gd name="csX2" fmla="*/ 3239056 w 3239056"/>
              <a:gd name="csY2" fmla="*/ 173025 h 425088"/>
              <a:gd name="csX3" fmla="*/ 3239056 w 3239056"/>
              <a:gd name="csY3" fmla="*/ 425088 h 425088"/>
              <a:gd name="csX4" fmla="*/ 0 w 3239056"/>
              <a:gd name="csY4" fmla="*/ 425088 h 425088"/>
              <a:gd name="csX5" fmla="*/ 0 w 3239056"/>
              <a:gd name="csY5" fmla="*/ 173025 h 425088"/>
              <a:gd name="csX6" fmla="*/ 173025 w 3239056"/>
              <a:gd name="csY6" fmla="*/ 0 h 4250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39056" h="425088">
                <a:moveTo>
                  <a:pt x="173025" y="0"/>
                </a:moveTo>
                <a:lnTo>
                  <a:pt x="3066031" y="0"/>
                </a:lnTo>
                <a:cubicBezTo>
                  <a:pt x="3161590" y="0"/>
                  <a:pt x="3239056" y="77466"/>
                  <a:pt x="3239056" y="173025"/>
                </a:cubicBezTo>
                <a:lnTo>
                  <a:pt x="3239056" y="425088"/>
                </a:lnTo>
                <a:lnTo>
                  <a:pt x="0" y="425088"/>
                </a:lnTo>
                <a:lnTo>
                  <a:pt x="0" y="173025"/>
                </a:lnTo>
                <a:cubicBezTo>
                  <a:pt x="0" y="77466"/>
                  <a:pt x="77466" y="0"/>
                  <a:pt x="173025" y="0"/>
                </a:cubicBezTo>
                <a:close/>
              </a:path>
            </a:pathLst>
          </a:custGeom>
          <a:solidFill>
            <a:srgbClr val="142FA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4" name="テキスト ボックス 23">
            <a:extLst>
              <a:ext uri="{FF2B5EF4-FFF2-40B4-BE49-F238E27FC236}">
                <a16:creationId xmlns:a16="http://schemas.microsoft.com/office/drawing/2014/main" id="{FDEE195C-2ECE-3DFB-57C7-19E58D52D1D6}"/>
              </a:ext>
            </a:extLst>
          </p:cNvPr>
          <p:cNvSpPr txBox="1"/>
          <p:nvPr/>
        </p:nvSpPr>
        <p:spPr>
          <a:xfrm>
            <a:off x="616224" y="1854925"/>
            <a:ext cx="3015570"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6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Global Active User Ranking </a:t>
            </a:r>
            <a:endParaRPr kumimoji="1" lang="ja-JP" altLang="en-US" sz="16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48" name="フリーフォーム 47">
            <a:extLst>
              <a:ext uri="{FF2B5EF4-FFF2-40B4-BE49-F238E27FC236}">
                <a16:creationId xmlns:a16="http://schemas.microsoft.com/office/drawing/2014/main" id="{59A6A151-5CD3-32FF-2AB4-C39D527061E8}"/>
              </a:ext>
            </a:extLst>
          </p:cNvPr>
          <p:cNvSpPr/>
          <p:nvPr/>
        </p:nvSpPr>
        <p:spPr>
          <a:xfrm>
            <a:off x="8398802" y="1785337"/>
            <a:ext cx="3239056" cy="425088"/>
          </a:xfrm>
          <a:custGeom>
            <a:avLst/>
            <a:gdLst>
              <a:gd name="csX0" fmla="*/ 173025 w 3239056"/>
              <a:gd name="csY0" fmla="*/ 0 h 425088"/>
              <a:gd name="csX1" fmla="*/ 3066031 w 3239056"/>
              <a:gd name="csY1" fmla="*/ 0 h 425088"/>
              <a:gd name="csX2" fmla="*/ 3239056 w 3239056"/>
              <a:gd name="csY2" fmla="*/ 173025 h 425088"/>
              <a:gd name="csX3" fmla="*/ 3239056 w 3239056"/>
              <a:gd name="csY3" fmla="*/ 425088 h 425088"/>
              <a:gd name="csX4" fmla="*/ 0 w 3239056"/>
              <a:gd name="csY4" fmla="*/ 425088 h 425088"/>
              <a:gd name="csX5" fmla="*/ 0 w 3239056"/>
              <a:gd name="csY5" fmla="*/ 173025 h 425088"/>
              <a:gd name="csX6" fmla="*/ 173025 w 3239056"/>
              <a:gd name="csY6" fmla="*/ 0 h 4250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39056" h="425088">
                <a:moveTo>
                  <a:pt x="173025" y="0"/>
                </a:moveTo>
                <a:lnTo>
                  <a:pt x="3066031" y="0"/>
                </a:lnTo>
                <a:cubicBezTo>
                  <a:pt x="3161590" y="0"/>
                  <a:pt x="3239056" y="77466"/>
                  <a:pt x="3239056" y="173025"/>
                </a:cubicBezTo>
                <a:lnTo>
                  <a:pt x="3239056" y="425088"/>
                </a:lnTo>
                <a:lnTo>
                  <a:pt x="0" y="425088"/>
                </a:lnTo>
                <a:lnTo>
                  <a:pt x="0" y="173025"/>
                </a:lnTo>
                <a:cubicBezTo>
                  <a:pt x="0" y="77466"/>
                  <a:pt x="77466" y="0"/>
                  <a:pt x="173025" y="0"/>
                </a:cubicBezTo>
                <a:close/>
              </a:path>
            </a:pathLst>
          </a:custGeom>
          <a:solidFill>
            <a:srgbClr val="D44ED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9" name="テキスト ボックス 28">
            <a:extLst>
              <a:ext uri="{FF2B5EF4-FFF2-40B4-BE49-F238E27FC236}">
                <a16:creationId xmlns:a16="http://schemas.microsoft.com/office/drawing/2014/main" id="{F8649C12-C06E-9937-D828-B344C9C02EAF}"/>
              </a:ext>
            </a:extLst>
          </p:cNvPr>
          <p:cNvSpPr txBox="1"/>
          <p:nvPr/>
        </p:nvSpPr>
        <p:spPr>
          <a:xfrm>
            <a:off x="8691684" y="1854925"/>
            <a:ext cx="2653291"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Cumulative Downloads </a:t>
            </a:r>
          </a:p>
        </p:txBody>
      </p:sp>
      <p:sp>
        <p:nvSpPr>
          <p:cNvPr id="53" name="フリーフォーム 52">
            <a:extLst>
              <a:ext uri="{FF2B5EF4-FFF2-40B4-BE49-F238E27FC236}">
                <a16:creationId xmlns:a16="http://schemas.microsoft.com/office/drawing/2014/main" id="{B662B008-3E7B-41DC-2414-B8519EEB84B4}"/>
              </a:ext>
            </a:extLst>
          </p:cNvPr>
          <p:cNvSpPr/>
          <p:nvPr/>
        </p:nvSpPr>
        <p:spPr>
          <a:xfrm>
            <a:off x="504482" y="3885600"/>
            <a:ext cx="3239056" cy="425088"/>
          </a:xfrm>
          <a:custGeom>
            <a:avLst/>
            <a:gdLst>
              <a:gd name="csX0" fmla="*/ 173025 w 3239056"/>
              <a:gd name="csY0" fmla="*/ 0 h 425088"/>
              <a:gd name="csX1" fmla="*/ 3066031 w 3239056"/>
              <a:gd name="csY1" fmla="*/ 0 h 425088"/>
              <a:gd name="csX2" fmla="*/ 3239056 w 3239056"/>
              <a:gd name="csY2" fmla="*/ 173025 h 425088"/>
              <a:gd name="csX3" fmla="*/ 3239056 w 3239056"/>
              <a:gd name="csY3" fmla="*/ 425088 h 425088"/>
              <a:gd name="csX4" fmla="*/ 0 w 3239056"/>
              <a:gd name="csY4" fmla="*/ 425088 h 425088"/>
              <a:gd name="csX5" fmla="*/ 0 w 3239056"/>
              <a:gd name="csY5" fmla="*/ 173025 h 425088"/>
              <a:gd name="csX6" fmla="*/ 173025 w 3239056"/>
              <a:gd name="csY6" fmla="*/ 0 h 4250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39056" h="425088">
                <a:moveTo>
                  <a:pt x="173025" y="0"/>
                </a:moveTo>
                <a:lnTo>
                  <a:pt x="3066031" y="0"/>
                </a:lnTo>
                <a:cubicBezTo>
                  <a:pt x="3161590" y="0"/>
                  <a:pt x="3239056" y="77466"/>
                  <a:pt x="3239056" y="173025"/>
                </a:cubicBezTo>
                <a:lnTo>
                  <a:pt x="3239056" y="425088"/>
                </a:lnTo>
                <a:lnTo>
                  <a:pt x="0" y="425088"/>
                </a:lnTo>
                <a:lnTo>
                  <a:pt x="0" y="173025"/>
                </a:lnTo>
                <a:cubicBezTo>
                  <a:pt x="0" y="77466"/>
                  <a:pt x="77466" y="0"/>
                  <a:pt x="173025" y="0"/>
                </a:cubicBezTo>
                <a:close/>
              </a:path>
            </a:pathLst>
          </a:custGeom>
          <a:solidFill>
            <a:srgbClr val="D44ED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5" name="フリーフォーム 54">
            <a:extLst>
              <a:ext uri="{FF2B5EF4-FFF2-40B4-BE49-F238E27FC236}">
                <a16:creationId xmlns:a16="http://schemas.microsoft.com/office/drawing/2014/main" id="{560DEB7E-238F-B3D8-A500-5B3F3F90F1AE}"/>
              </a:ext>
            </a:extLst>
          </p:cNvPr>
          <p:cNvSpPr/>
          <p:nvPr/>
        </p:nvSpPr>
        <p:spPr>
          <a:xfrm>
            <a:off x="8398802" y="3885600"/>
            <a:ext cx="3239056" cy="425088"/>
          </a:xfrm>
          <a:custGeom>
            <a:avLst/>
            <a:gdLst>
              <a:gd name="csX0" fmla="*/ 173025 w 3239056"/>
              <a:gd name="csY0" fmla="*/ 0 h 425088"/>
              <a:gd name="csX1" fmla="*/ 3066031 w 3239056"/>
              <a:gd name="csY1" fmla="*/ 0 h 425088"/>
              <a:gd name="csX2" fmla="*/ 3239056 w 3239056"/>
              <a:gd name="csY2" fmla="*/ 173025 h 425088"/>
              <a:gd name="csX3" fmla="*/ 3239056 w 3239056"/>
              <a:gd name="csY3" fmla="*/ 425088 h 425088"/>
              <a:gd name="csX4" fmla="*/ 0 w 3239056"/>
              <a:gd name="csY4" fmla="*/ 425088 h 425088"/>
              <a:gd name="csX5" fmla="*/ 0 w 3239056"/>
              <a:gd name="csY5" fmla="*/ 173025 h 425088"/>
              <a:gd name="csX6" fmla="*/ 173025 w 3239056"/>
              <a:gd name="csY6" fmla="*/ 0 h 4250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239056" h="425088">
                <a:moveTo>
                  <a:pt x="173025" y="0"/>
                </a:moveTo>
                <a:lnTo>
                  <a:pt x="3066031" y="0"/>
                </a:lnTo>
                <a:cubicBezTo>
                  <a:pt x="3161590" y="0"/>
                  <a:pt x="3239056" y="77466"/>
                  <a:pt x="3239056" y="173025"/>
                </a:cubicBezTo>
                <a:lnTo>
                  <a:pt x="3239056" y="425088"/>
                </a:lnTo>
                <a:lnTo>
                  <a:pt x="0" y="425088"/>
                </a:lnTo>
                <a:lnTo>
                  <a:pt x="0" y="173025"/>
                </a:lnTo>
                <a:cubicBezTo>
                  <a:pt x="0" y="77466"/>
                  <a:pt x="77466" y="0"/>
                  <a:pt x="173025" y="0"/>
                </a:cubicBezTo>
                <a:close/>
              </a:path>
            </a:pathLst>
          </a:custGeom>
          <a:solidFill>
            <a:srgbClr val="142FA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5" name="テキスト ボックス 34">
            <a:extLst>
              <a:ext uri="{FF2B5EF4-FFF2-40B4-BE49-F238E27FC236}">
                <a16:creationId xmlns:a16="http://schemas.microsoft.com/office/drawing/2014/main" id="{95E562A9-48D1-96EB-E2EB-038C18AB3549}"/>
              </a:ext>
            </a:extLst>
          </p:cNvPr>
          <p:cNvSpPr txBox="1"/>
          <p:nvPr/>
        </p:nvSpPr>
        <p:spPr>
          <a:xfrm>
            <a:off x="600996" y="3955188"/>
            <a:ext cx="3046027"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MAU (Monthly Active Users)</a:t>
            </a:r>
          </a:p>
        </p:txBody>
      </p:sp>
      <p:sp>
        <p:nvSpPr>
          <p:cNvPr id="8" name="テキスト ボックス 7">
            <a:extLst>
              <a:ext uri="{FF2B5EF4-FFF2-40B4-BE49-F238E27FC236}">
                <a16:creationId xmlns:a16="http://schemas.microsoft.com/office/drawing/2014/main" id="{2B370047-D3AB-6235-EAC9-FD7A1F133E99}"/>
              </a:ext>
            </a:extLst>
          </p:cNvPr>
          <p:cNvSpPr txBox="1"/>
          <p:nvPr/>
        </p:nvSpPr>
        <p:spPr>
          <a:xfrm>
            <a:off x="8605123" y="3975970"/>
            <a:ext cx="282641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Users Under the Age of 25</a:t>
            </a:r>
          </a:p>
        </p:txBody>
      </p:sp>
      <p:sp>
        <p:nvSpPr>
          <p:cNvPr id="33" name="テキスト ボックス 32">
            <a:extLst>
              <a:ext uri="{FF2B5EF4-FFF2-40B4-BE49-F238E27FC236}">
                <a16:creationId xmlns:a16="http://schemas.microsoft.com/office/drawing/2014/main" id="{19C9E3E8-A23D-14D9-EFB7-80E6463C70E6}"/>
              </a:ext>
            </a:extLst>
          </p:cNvPr>
          <p:cNvSpPr txBox="1"/>
          <p:nvPr/>
        </p:nvSpPr>
        <p:spPr>
          <a:xfrm>
            <a:off x="1298304" y="5394845"/>
            <a:ext cx="165141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Overseas ratio 90.5%</a:t>
            </a:r>
            <a:r>
              <a:rPr kumimoji="1" lang="en-US" altLang="ja-JP" sz="1000" b="0" i="0" u="none" strike="noStrike" kern="1200" cap="none" spc="0" normalizeH="0" baseline="30000" noProof="0" dirty="0">
                <a:ln>
                  <a:noFill/>
                </a:ln>
                <a:solidFill>
                  <a:srgbClr val="D44ED9"/>
                </a:solidFill>
                <a:effectLst/>
                <a:uLnTx/>
                <a:uFillTx/>
                <a:latin typeface="Poppins" pitchFamily="2" charset="0"/>
                <a:ea typeface="游ゴシック" panose="020B0400000000000000" pitchFamily="50" charset="-128"/>
                <a:cs typeface="Poppins" pitchFamily="2" charset="0"/>
              </a:rPr>
              <a:t>*2</a:t>
            </a:r>
          </a:p>
        </p:txBody>
      </p:sp>
    </p:spTree>
    <p:extLst>
      <p:ext uri="{BB962C8B-B14F-4D97-AF65-F5344CB8AC3E}">
        <p14:creationId xmlns:p14="http://schemas.microsoft.com/office/powerpoint/2010/main" val="2735246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a:extLst>
              <a:ext uri="{FF2B5EF4-FFF2-40B4-BE49-F238E27FC236}">
                <a16:creationId xmlns:a16="http://schemas.microsoft.com/office/drawing/2014/main" id="{858FC7A2-92BD-112E-6281-84537DD114E6}"/>
              </a:ext>
            </a:extLst>
          </p:cNvPr>
          <p:cNvSpPr/>
          <p:nvPr/>
        </p:nvSpPr>
        <p:spPr>
          <a:xfrm>
            <a:off x="561504" y="2162556"/>
            <a:ext cx="11060520" cy="4111244"/>
          </a:xfrm>
          <a:prstGeom prst="roundRect">
            <a:avLst>
              <a:gd name="adj" fmla="val 4176"/>
            </a:avLst>
          </a:prstGeom>
          <a:solidFill>
            <a:schemeClr val="bg1">
              <a:alpha val="70000"/>
            </a:schemeClr>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8" name="角丸四角形 17">
            <a:extLst>
              <a:ext uri="{FF2B5EF4-FFF2-40B4-BE49-F238E27FC236}">
                <a16:creationId xmlns:a16="http://schemas.microsoft.com/office/drawing/2014/main" id="{A4E9BEDC-0E7D-0733-0FBE-7F46D69CE2CD}"/>
              </a:ext>
            </a:extLst>
          </p:cNvPr>
          <p:cNvSpPr/>
          <p:nvPr/>
        </p:nvSpPr>
        <p:spPr>
          <a:xfrm>
            <a:off x="827432" y="3073400"/>
            <a:ext cx="2995200" cy="2925617"/>
          </a:xfrm>
          <a:prstGeom prst="roundRect">
            <a:avLst>
              <a:gd name="adj" fmla="val 5646"/>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5" name="フリーフォーム 34">
            <a:extLst>
              <a:ext uri="{FF2B5EF4-FFF2-40B4-BE49-F238E27FC236}">
                <a16:creationId xmlns:a16="http://schemas.microsoft.com/office/drawing/2014/main" id="{E9C3B17D-449E-995B-5061-BC293E97F156}"/>
              </a:ext>
            </a:extLst>
          </p:cNvPr>
          <p:cNvSpPr/>
          <p:nvPr/>
        </p:nvSpPr>
        <p:spPr>
          <a:xfrm>
            <a:off x="827432" y="3061848"/>
            <a:ext cx="2995200" cy="558334"/>
          </a:xfrm>
          <a:custGeom>
            <a:avLst/>
            <a:gdLst>
              <a:gd name="csX0" fmla="*/ 168390 w 2995200"/>
              <a:gd name="csY0" fmla="*/ 0 h 558334"/>
              <a:gd name="csX1" fmla="*/ 2826810 w 2995200"/>
              <a:gd name="csY1" fmla="*/ 0 h 558334"/>
              <a:gd name="csX2" fmla="*/ 2995200 w 2995200"/>
              <a:gd name="csY2" fmla="*/ 168390 h 558334"/>
              <a:gd name="csX3" fmla="*/ 2995200 w 2995200"/>
              <a:gd name="csY3" fmla="*/ 558334 h 558334"/>
              <a:gd name="csX4" fmla="*/ 0 w 2995200"/>
              <a:gd name="csY4" fmla="*/ 558334 h 558334"/>
              <a:gd name="csX5" fmla="*/ 0 w 2995200"/>
              <a:gd name="csY5" fmla="*/ 168390 h 558334"/>
              <a:gd name="csX6" fmla="*/ 168390 w 2995200"/>
              <a:gd name="csY6" fmla="*/ 0 h 5583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5200" h="558334">
                <a:moveTo>
                  <a:pt x="168390" y="0"/>
                </a:moveTo>
                <a:lnTo>
                  <a:pt x="2826810" y="0"/>
                </a:lnTo>
                <a:cubicBezTo>
                  <a:pt x="2919809" y="0"/>
                  <a:pt x="2995200" y="75391"/>
                  <a:pt x="2995200" y="168390"/>
                </a:cubicBezTo>
                <a:lnTo>
                  <a:pt x="2995200" y="558334"/>
                </a:lnTo>
                <a:lnTo>
                  <a:pt x="0" y="558334"/>
                </a:lnTo>
                <a:lnTo>
                  <a:pt x="0" y="168390"/>
                </a:lnTo>
                <a:cubicBezTo>
                  <a:pt x="0" y="75391"/>
                  <a:pt x="75391" y="0"/>
                  <a:pt x="168390" y="0"/>
                </a:cubicBezTo>
                <a:close/>
              </a:path>
            </a:pathLst>
          </a:custGeom>
          <a:solidFill>
            <a:srgbClr val="142FA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13" name="図 12" descr="挿絵 が含まれている画像&#10;&#10;AI 生成コンテンツは誤りを含む可能性があります。">
            <a:extLst>
              <a:ext uri="{FF2B5EF4-FFF2-40B4-BE49-F238E27FC236}">
                <a16:creationId xmlns:a16="http://schemas.microsoft.com/office/drawing/2014/main" id="{9C2A78D3-264B-C700-F6B9-92C09A6BE3AF}"/>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11724" y="2974613"/>
            <a:ext cx="576000" cy="3302400"/>
          </a:xfrm>
          <a:prstGeom prst="rect">
            <a:avLst/>
          </a:prstGeom>
        </p:spPr>
      </p:pic>
      <p:sp>
        <p:nvSpPr>
          <p:cNvPr id="20" name="角丸四角形 19">
            <a:extLst>
              <a:ext uri="{FF2B5EF4-FFF2-40B4-BE49-F238E27FC236}">
                <a16:creationId xmlns:a16="http://schemas.microsoft.com/office/drawing/2014/main" id="{4AB413DE-0B33-D5F4-AAD1-A9EFE115F343}"/>
              </a:ext>
            </a:extLst>
          </p:cNvPr>
          <p:cNvSpPr/>
          <p:nvPr/>
        </p:nvSpPr>
        <p:spPr>
          <a:xfrm>
            <a:off x="8368402" y="3065400"/>
            <a:ext cx="2996166" cy="2933617"/>
          </a:xfrm>
          <a:prstGeom prst="roundRect">
            <a:avLst>
              <a:gd name="adj" fmla="val 5646"/>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 name="角丸四角形 3">
            <a:extLst>
              <a:ext uri="{FF2B5EF4-FFF2-40B4-BE49-F238E27FC236}">
                <a16:creationId xmlns:a16="http://schemas.microsoft.com/office/drawing/2014/main" id="{1AA62CF3-1B6D-2DB8-A718-F7F0B4C6D3C6}"/>
              </a:ext>
            </a:extLst>
          </p:cNvPr>
          <p:cNvSpPr/>
          <p:nvPr/>
        </p:nvSpPr>
        <p:spPr>
          <a:xfrm>
            <a:off x="4597918" y="3065400"/>
            <a:ext cx="2996166" cy="2933617"/>
          </a:xfrm>
          <a:prstGeom prst="roundRect">
            <a:avLst>
              <a:gd name="adj" fmla="val 5646"/>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 name="テキスト プレースホルダー 1">
            <a:extLst>
              <a:ext uri="{FF2B5EF4-FFF2-40B4-BE49-F238E27FC236}">
                <a16:creationId xmlns:a16="http://schemas.microsoft.com/office/drawing/2014/main" id="{9FBFFB04-57E4-5948-A1AD-FC926FD39D18}"/>
              </a:ext>
            </a:extLst>
          </p:cNvPr>
          <p:cNvSpPr>
            <a:spLocks noGrp="1"/>
          </p:cNvSpPr>
          <p:nvPr>
            <p:ph type="body" sz="quarter" idx="12"/>
          </p:nvPr>
        </p:nvSpPr>
        <p:spPr/>
        <p:txBody>
          <a:bodyPr/>
          <a:lstStyle/>
          <a:p>
            <a:r>
              <a:rPr lang="en-US" altLang="ja-JP" dirty="0"/>
              <a:t>Market Opportunity</a:t>
            </a:r>
            <a:endParaRPr lang="ja-JP" altLang="en-US"/>
          </a:p>
        </p:txBody>
      </p:sp>
      <p:sp>
        <p:nvSpPr>
          <p:cNvPr id="3" name="タイトル 2">
            <a:extLst>
              <a:ext uri="{FF2B5EF4-FFF2-40B4-BE49-F238E27FC236}">
                <a16:creationId xmlns:a16="http://schemas.microsoft.com/office/drawing/2014/main" id="{49298537-1B09-AD54-7C9C-4415594EFFF4}"/>
              </a:ext>
            </a:extLst>
          </p:cNvPr>
          <p:cNvSpPr>
            <a:spLocks noGrp="1"/>
          </p:cNvSpPr>
          <p:nvPr>
            <p:ph type="ctrTitle"/>
          </p:nvPr>
        </p:nvSpPr>
        <p:spPr/>
        <p:txBody>
          <a:bodyPr/>
          <a:lstStyle/>
          <a:p>
            <a:pPr>
              <a:lnSpc>
                <a:spcPts val="3280"/>
              </a:lnSpc>
            </a:pPr>
            <a:r>
              <a:rPr lang="en-US" altLang="ja-JP" dirty="0"/>
              <a:t>A market-leading strategy centered on </a:t>
            </a:r>
            <a:r>
              <a:rPr lang="en-US" altLang="ja-JP" dirty="0">
                <a:solidFill>
                  <a:srgbClr val="C0FF00"/>
                </a:solidFill>
              </a:rPr>
              <a:t>Gen Alpha and Gen Z through mobile specialization</a:t>
            </a:r>
            <a:endParaRPr lang="ja-JP" altLang="en-US" sz="2650" dirty="0">
              <a:solidFill>
                <a:srgbClr val="C0FF00"/>
              </a:solidFill>
              <a:ea typeface="M PLUS 1p Medium" panose="020B0502020203020207"/>
            </a:endParaRPr>
          </a:p>
        </p:txBody>
      </p:sp>
      <p:sp>
        <p:nvSpPr>
          <p:cNvPr id="10" name="テキスト プレースホルダー 9">
            <a:extLst>
              <a:ext uri="{FF2B5EF4-FFF2-40B4-BE49-F238E27FC236}">
                <a16:creationId xmlns:a16="http://schemas.microsoft.com/office/drawing/2014/main" id="{C806E549-8D89-A246-B256-2D2CBC604A7C}"/>
              </a:ext>
            </a:extLst>
          </p:cNvPr>
          <p:cNvSpPr>
            <a:spLocks noGrp="1"/>
          </p:cNvSpPr>
          <p:nvPr>
            <p:ph type="body" sz="quarter" idx="14"/>
          </p:nvPr>
        </p:nvSpPr>
        <p:spPr>
          <a:xfrm>
            <a:off x="4386250" y="6310211"/>
            <a:ext cx="7248524" cy="444389"/>
          </a:xfrm>
        </p:spPr>
        <p:txBody>
          <a:bodyPr>
            <a:noAutofit/>
          </a:bodyPr>
          <a:lstStyle/>
          <a:p>
            <a:r>
              <a:rPr lang="en" altLang="ja-JP" dirty="0"/>
              <a:t>*1 </a:t>
            </a:r>
            <a:r>
              <a:rPr lang="en" altLang="ja-JP" dirty="0" err="1"/>
              <a:t>ibisPaint</a:t>
            </a:r>
            <a:r>
              <a:rPr lang="en" altLang="ja-JP" dirty="0"/>
              <a:t> user ratio under age 25 (January–November 2025). Data cover two countries, Japan and the United States, based on </a:t>
            </a:r>
            <a:r>
              <a:rPr lang="en" altLang="ja-JP" dirty="0" err="1"/>
              <a:t>data.ai</a:t>
            </a:r>
            <a:r>
              <a:rPr lang="en" altLang="ja-JP" dirty="0"/>
              <a:t> by Sensor Tower</a:t>
            </a:r>
          </a:p>
          <a:p>
            <a:pPr marL="193675" indent="-193675"/>
            <a:r>
              <a:rPr lang="en" altLang="ja-JP" dirty="0"/>
              <a:t>*2,3 Figures related to the global art app market (2035 market size: USD 2.36 billion; 2025–2035 CAGR: 12.4%) are based on independent research and estimates by Future Market Insights</a:t>
            </a:r>
          </a:p>
        </p:txBody>
      </p:sp>
      <p:sp>
        <p:nvSpPr>
          <p:cNvPr id="8" name="角丸四角形 7">
            <a:extLst>
              <a:ext uri="{FF2B5EF4-FFF2-40B4-BE49-F238E27FC236}">
                <a16:creationId xmlns:a16="http://schemas.microsoft.com/office/drawing/2014/main" id="{30B46FDB-E525-DE63-4802-5C8FCB38E48C}"/>
              </a:ext>
            </a:extLst>
          </p:cNvPr>
          <p:cNvSpPr/>
          <p:nvPr/>
        </p:nvSpPr>
        <p:spPr>
          <a:xfrm>
            <a:off x="561504" y="2162556"/>
            <a:ext cx="11060520" cy="4111244"/>
          </a:xfrm>
          <a:prstGeom prst="roundRect">
            <a:avLst>
              <a:gd name="adj" fmla="val 4176"/>
            </a:avLst>
          </a:prstGeom>
          <a:noFill/>
          <a:ln w="1270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9" name="図 8">
            <a:extLst>
              <a:ext uri="{FF2B5EF4-FFF2-40B4-BE49-F238E27FC236}">
                <a16:creationId xmlns:a16="http://schemas.microsoft.com/office/drawing/2014/main" id="{E061F3D3-58E8-6F25-AA77-C909E9A470D7}"/>
              </a:ext>
            </a:extLst>
          </p:cNvPr>
          <p:cNvPicPr>
            <a:picLocks noChangeAspect="1"/>
          </p:cNvPicPr>
          <p:nvPr/>
        </p:nvPicPr>
        <p:blipFill>
          <a:blip r:embed="rId4"/>
          <a:stretch>
            <a:fillRect/>
          </a:stretch>
        </p:blipFill>
        <p:spPr>
          <a:xfrm>
            <a:off x="5426075" y="1492631"/>
            <a:ext cx="1339850" cy="1339850"/>
          </a:xfrm>
          <a:prstGeom prst="rect">
            <a:avLst/>
          </a:prstGeom>
        </p:spPr>
      </p:pic>
      <p:sp>
        <p:nvSpPr>
          <p:cNvPr id="14" name="テキスト ボックス 13">
            <a:extLst>
              <a:ext uri="{FF2B5EF4-FFF2-40B4-BE49-F238E27FC236}">
                <a16:creationId xmlns:a16="http://schemas.microsoft.com/office/drawing/2014/main" id="{E09880F6-B744-B430-0F12-AE839B21934B}"/>
              </a:ext>
            </a:extLst>
          </p:cNvPr>
          <p:cNvSpPr txBox="1"/>
          <p:nvPr/>
        </p:nvSpPr>
        <p:spPr>
          <a:xfrm>
            <a:off x="1130372" y="3913868"/>
            <a:ext cx="2390287"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44</a:t>
            </a:r>
            <a:r>
              <a:rPr kumimoji="1" lang="en-US" altLang="ja-JP" sz="6000" b="0" i="0" u="none" strike="noStrike" kern="1200" cap="none" spc="-15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.1</a:t>
            </a:r>
            <a:r>
              <a:rPr kumimoji="1" lang="en-US" altLang="ja-JP" sz="32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3200" b="0" i="0" u="none" strike="noStrike" kern="1200" cap="none" spc="0" normalizeH="0" baseline="-300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23" name="フリーフォーム 22">
            <a:extLst>
              <a:ext uri="{FF2B5EF4-FFF2-40B4-BE49-F238E27FC236}">
                <a16:creationId xmlns:a16="http://schemas.microsoft.com/office/drawing/2014/main" id="{C38A0848-DE81-9385-B029-F279A0460CF6}"/>
              </a:ext>
            </a:extLst>
          </p:cNvPr>
          <p:cNvSpPr/>
          <p:nvPr/>
        </p:nvSpPr>
        <p:spPr>
          <a:xfrm flipV="1">
            <a:off x="827432" y="4868870"/>
            <a:ext cx="2996166" cy="1130147"/>
          </a:xfrm>
          <a:custGeom>
            <a:avLst/>
            <a:gdLst>
              <a:gd name="connsiteX0" fmla="*/ 0 w 2996166"/>
              <a:gd name="connsiteY0" fmla="*/ 1130147 h 1130147"/>
              <a:gd name="connsiteX1" fmla="*/ 2996166 w 2996166"/>
              <a:gd name="connsiteY1" fmla="*/ 1130147 h 1130147"/>
              <a:gd name="connsiteX2" fmla="*/ 2996166 w 2996166"/>
              <a:gd name="connsiteY2" fmla="*/ 144455 h 1130147"/>
              <a:gd name="connsiteX3" fmla="*/ 2851711 w 2996166"/>
              <a:gd name="connsiteY3" fmla="*/ 0 h 1130147"/>
              <a:gd name="connsiteX4" fmla="*/ 144455 w 2996166"/>
              <a:gd name="connsiteY4" fmla="*/ 0 h 1130147"/>
              <a:gd name="connsiteX5" fmla="*/ 0 w 2996166"/>
              <a:gd name="connsiteY5" fmla="*/ 144455 h 113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6166" h="1130147">
                <a:moveTo>
                  <a:pt x="0" y="1130147"/>
                </a:moveTo>
                <a:lnTo>
                  <a:pt x="2996166" y="1130147"/>
                </a:lnTo>
                <a:lnTo>
                  <a:pt x="2996166" y="144455"/>
                </a:lnTo>
                <a:cubicBezTo>
                  <a:pt x="2996166" y="64675"/>
                  <a:pt x="2931491" y="0"/>
                  <a:pt x="2851711" y="0"/>
                </a:cubicBezTo>
                <a:lnTo>
                  <a:pt x="144455" y="0"/>
                </a:lnTo>
                <a:cubicBezTo>
                  <a:pt x="64675" y="0"/>
                  <a:pt x="0" y="64675"/>
                  <a:pt x="0" y="144455"/>
                </a:cubicBezTo>
                <a:close/>
              </a:path>
            </a:pathLst>
          </a:custGeom>
          <a:blipFill dpi="0" rotWithShape="0">
            <a:blip r:embed="rId5"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6" name="テキスト ボックス 15">
            <a:extLst>
              <a:ext uri="{FF2B5EF4-FFF2-40B4-BE49-F238E27FC236}">
                <a16:creationId xmlns:a16="http://schemas.microsoft.com/office/drawing/2014/main" id="{4BEA9593-C6B0-8D0E-3B07-67DE484E597E}"/>
              </a:ext>
            </a:extLst>
          </p:cNvPr>
          <p:cNvSpPr txBox="1"/>
          <p:nvPr/>
        </p:nvSpPr>
        <p:spPr>
          <a:xfrm>
            <a:off x="1139935" y="3762296"/>
            <a:ext cx="237116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ibisPaint </a:t>
            </a: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U</a:t>
            </a: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ser </a:t>
            </a: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R</a:t>
            </a: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atio </a:t>
            </a: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U</a:t>
            </a: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nder 25</a:t>
            </a:r>
            <a:endParaRPr kumimoji="1" lang="ja-JP" altLang="en-US" sz="12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34" name="フリーフォーム 33">
            <a:extLst>
              <a:ext uri="{FF2B5EF4-FFF2-40B4-BE49-F238E27FC236}">
                <a16:creationId xmlns:a16="http://schemas.microsoft.com/office/drawing/2014/main" id="{B03A1AB3-EA1B-087D-78F3-0342EE63B68C}"/>
              </a:ext>
            </a:extLst>
          </p:cNvPr>
          <p:cNvSpPr/>
          <p:nvPr/>
        </p:nvSpPr>
        <p:spPr>
          <a:xfrm flipV="1">
            <a:off x="4597918" y="4868870"/>
            <a:ext cx="2996166" cy="1130147"/>
          </a:xfrm>
          <a:custGeom>
            <a:avLst/>
            <a:gdLst>
              <a:gd name="connsiteX0" fmla="*/ 0 w 2996166"/>
              <a:gd name="connsiteY0" fmla="*/ 1130147 h 1130147"/>
              <a:gd name="connsiteX1" fmla="*/ 2996166 w 2996166"/>
              <a:gd name="connsiteY1" fmla="*/ 1130147 h 1130147"/>
              <a:gd name="connsiteX2" fmla="*/ 2996166 w 2996166"/>
              <a:gd name="connsiteY2" fmla="*/ 144455 h 1130147"/>
              <a:gd name="connsiteX3" fmla="*/ 2851711 w 2996166"/>
              <a:gd name="connsiteY3" fmla="*/ 0 h 1130147"/>
              <a:gd name="connsiteX4" fmla="*/ 144455 w 2996166"/>
              <a:gd name="connsiteY4" fmla="*/ 0 h 1130147"/>
              <a:gd name="connsiteX5" fmla="*/ 0 w 2996166"/>
              <a:gd name="connsiteY5" fmla="*/ 144455 h 113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6166" h="1130147">
                <a:moveTo>
                  <a:pt x="0" y="1130147"/>
                </a:moveTo>
                <a:lnTo>
                  <a:pt x="2996166" y="1130147"/>
                </a:lnTo>
                <a:lnTo>
                  <a:pt x="2996166" y="144455"/>
                </a:lnTo>
                <a:cubicBezTo>
                  <a:pt x="2996166" y="64675"/>
                  <a:pt x="2931491" y="0"/>
                  <a:pt x="2851711" y="0"/>
                </a:cubicBezTo>
                <a:lnTo>
                  <a:pt x="144455" y="0"/>
                </a:lnTo>
                <a:cubicBezTo>
                  <a:pt x="64675" y="0"/>
                  <a:pt x="0" y="64675"/>
                  <a:pt x="0" y="144455"/>
                </a:cubicBezTo>
                <a:close/>
              </a:path>
            </a:pathLst>
          </a:custGeom>
          <a:blipFill dpi="0" rotWithShape="0">
            <a:blip r:embed="rId6"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9" name="テキスト ボックス 38">
            <a:extLst>
              <a:ext uri="{FF2B5EF4-FFF2-40B4-BE49-F238E27FC236}">
                <a16:creationId xmlns:a16="http://schemas.microsoft.com/office/drawing/2014/main" id="{22E9EF91-E6BB-01F6-EB1E-4BB975B3092D}"/>
              </a:ext>
            </a:extLst>
          </p:cNvPr>
          <p:cNvSpPr txBox="1"/>
          <p:nvPr/>
        </p:nvSpPr>
        <p:spPr>
          <a:xfrm>
            <a:off x="8725877" y="3913868"/>
            <a:ext cx="2390287"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0" b="0" i="0" u="none" strike="noStrike" kern="1200" cap="none" spc="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12.4</a:t>
            </a:r>
            <a:r>
              <a:rPr kumimoji="1" lang="en-US" altLang="ja-JP" sz="3200" b="0" i="0" u="none" strike="noStrike" kern="1200" cap="none" spc="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3200" b="0" i="0" u="none" strike="noStrike" kern="1200" cap="none" spc="0" normalizeH="0" baseline="-3000" noProof="0">
              <a:ln>
                <a:noFill/>
              </a:ln>
              <a:solidFill>
                <a:srgbClr val="00A7FF"/>
              </a:solidFill>
              <a:effectLst/>
              <a:uLnTx/>
              <a:uFillTx/>
              <a:latin typeface="Poppins SemiBold" pitchFamily="2" charset="0"/>
              <a:ea typeface="M PLUS 1p Medium" panose="020B0502020203020207" pitchFamily="34" charset="-128"/>
              <a:cs typeface="Poppins SemiBold" pitchFamily="2" charset="0"/>
            </a:endParaRPr>
          </a:p>
        </p:txBody>
      </p:sp>
      <p:sp>
        <p:nvSpPr>
          <p:cNvPr id="42" name="フリーフォーム 41">
            <a:extLst>
              <a:ext uri="{FF2B5EF4-FFF2-40B4-BE49-F238E27FC236}">
                <a16:creationId xmlns:a16="http://schemas.microsoft.com/office/drawing/2014/main" id="{FFB2C34E-7FD0-E504-9826-417F09D8B879}"/>
              </a:ext>
            </a:extLst>
          </p:cNvPr>
          <p:cNvSpPr/>
          <p:nvPr/>
        </p:nvSpPr>
        <p:spPr>
          <a:xfrm flipV="1">
            <a:off x="8368402" y="4868870"/>
            <a:ext cx="2996166" cy="1130147"/>
          </a:xfrm>
          <a:custGeom>
            <a:avLst/>
            <a:gdLst>
              <a:gd name="connsiteX0" fmla="*/ 0 w 2996166"/>
              <a:gd name="connsiteY0" fmla="*/ 1130147 h 1130147"/>
              <a:gd name="connsiteX1" fmla="*/ 2996166 w 2996166"/>
              <a:gd name="connsiteY1" fmla="*/ 1130147 h 1130147"/>
              <a:gd name="connsiteX2" fmla="*/ 2996166 w 2996166"/>
              <a:gd name="connsiteY2" fmla="*/ 144455 h 1130147"/>
              <a:gd name="connsiteX3" fmla="*/ 2851711 w 2996166"/>
              <a:gd name="connsiteY3" fmla="*/ 0 h 1130147"/>
              <a:gd name="connsiteX4" fmla="*/ 144455 w 2996166"/>
              <a:gd name="connsiteY4" fmla="*/ 0 h 1130147"/>
              <a:gd name="connsiteX5" fmla="*/ 0 w 2996166"/>
              <a:gd name="connsiteY5" fmla="*/ 144455 h 113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6166" h="1130147">
                <a:moveTo>
                  <a:pt x="0" y="1130147"/>
                </a:moveTo>
                <a:lnTo>
                  <a:pt x="2996166" y="1130147"/>
                </a:lnTo>
                <a:lnTo>
                  <a:pt x="2996166" y="144455"/>
                </a:lnTo>
                <a:cubicBezTo>
                  <a:pt x="2996166" y="64675"/>
                  <a:pt x="2931491" y="0"/>
                  <a:pt x="2851711" y="0"/>
                </a:cubicBezTo>
                <a:lnTo>
                  <a:pt x="144455" y="0"/>
                </a:lnTo>
                <a:cubicBezTo>
                  <a:pt x="64675" y="0"/>
                  <a:pt x="0" y="64675"/>
                  <a:pt x="0" y="144455"/>
                </a:cubicBezTo>
                <a:close/>
              </a:path>
            </a:pathLst>
          </a:custGeom>
          <a:blipFill dpi="0" rotWithShape="0">
            <a:blip r:embed="rId7"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6" name="テキスト ボックス 45">
            <a:extLst>
              <a:ext uri="{FF2B5EF4-FFF2-40B4-BE49-F238E27FC236}">
                <a16:creationId xmlns:a16="http://schemas.microsoft.com/office/drawing/2014/main" id="{82676AB8-AC65-854B-3E5E-B10B37EDC72D}"/>
              </a:ext>
            </a:extLst>
          </p:cNvPr>
          <p:cNvSpPr txBox="1"/>
          <p:nvPr/>
        </p:nvSpPr>
        <p:spPr>
          <a:xfrm>
            <a:off x="7751003" y="4122106"/>
            <a:ext cx="460482"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 </a:t>
            </a:r>
            <a:endParaRPr kumimoji="1" lang="ja-JP" altLang="en-US" sz="44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
        <p:nvSpPr>
          <p:cNvPr id="47" name="テキスト ボックス 46">
            <a:extLst>
              <a:ext uri="{FF2B5EF4-FFF2-40B4-BE49-F238E27FC236}">
                <a16:creationId xmlns:a16="http://schemas.microsoft.com/office/drawing/2014/main" id="{399F2985-01AE-736C-1F1B-3C3791C634ED}"/>
              </a:ext>
            </a:extLst>
          </p:cNvPr>
          <p:cNvSpPr txBox="1"/>
          <p:nvPr/>
        </p:nvSpPr>
        <p:spPr>
          <a:xfrm>
            <a:off x="3980517" y="4122106"/>
            <a:ext cx="460482"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 </a:t>
            </a:r>
            <a:endParaRPr kumimoji="1" lang="ja-JP" altLang="en-US" sz="4400" b="0" i="0" u="none" strike="noStrike" kern="1200" cap="none" spc="0" normalizeH="0" baseline="0" noProof="0">
              <a:ln>
                <a:noFill/>
              </a:ln>
              <a:solidFill>
                <a:prstClr val="black"/>
              </a:solidFill>
              <a:effectLst/>
              <a:uLnTx/>
              <a:uFillTx/>
              <a:latin typeface="Poppins" pitchFamily="2" charset="0"/>
              <a:ea typeface="游ゴシック" panose="020B0400000000000000" pitchFamily="50" charset="-128"/>
              <a:cs typeface="+mn-cs"/>
            </a:endParaRPr>
          </a:p>
        </p:txBody>
      </p:sp>
      <p:sp>
        <p:nvSpPr>
          <p:cNvPr id="50" name="テキスト ボックス 49">
            <a:extLst>
              <a:ext uri="{FF2B5EF4-FFF2-40B4-BE49-F238E27FC236}">
                <a16:creationId xmlns:a16="http://schemas.microsoft.com/office/drawing/2014/main" id="{D7D04E18-40D0-B499-F300-F95A45E4A42E}"/>
              </a:ext>
            </a:extLst>
          </p:cNvPr>
          <p:cNvSpPr txBox="1"/>
          <p:nvPr/>
        </p:nvSpPr>
        <p:spPr>
          <a:xfrm>
            <a:off x="10405181" y="4010771"/>
            <a:ext cx="44275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*3</a:t>
            </a:r>
            <a:endParaRPr kumimoji="1" lang="ja-JP" altLang="en-US" sz="1800" b="0" i="0" u="none" strike="noStrike" kern="1200" cap="none" spc="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endParaRPr>
          </a:p>
        </p:txBody>
      </p:sp>
      <p:sp>
        <p:nvSpPr>
          <p:cNvPr id="22" name="テキスト ボックス 21">
            <a:extLst>
              <a:ext uri="{FF2B5EF4-FFF2-40B4-BE49-F238E27FC236}">
                <a16:creationId xmlns:a16="http://schemas.microsoft.com/office/drawing/2014/main" id="{73647866-B538-F20A-9BFA-F122C0D01810}"/>
              </a:ext>
            </a:extLst>
          </p:cNvPr>
          <p:cNvSpPr txBox="1"/>
          <p:nvPr/>
        </p:nvSpPr>
        <p:spPr>
          <a:xfrm>
            <a:off x="4431694" y="3913868"/>
            <a:ext cx="3328612"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USD</a:t>
            </a:r>
            <a:r>
              <a:rPr kumimoji="1" lang="en-US" altLang="ja-JP" sz="6000" b="0" i="0" u="none" strike="noStrike" kern="1200" cap="none" spc="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2</a:t>
            </a:r>
            <a:r>
              <a:rPr kumimoji="1" lang="en-US" altLang="ja-JP" sz="6000" b="0" i="0" u="none" strike="noStrike" kern="1200" cap="none" spc="-15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.3</a:t>
            </a:r>
            <a:r>
              <a:rPr kumimoji="1" lang="en-US" altLang="ja-JP" sz="6000" b="0" i="0" u="none" strike="noStrike" kern="1200" cap="none" spc="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6</a:t>
            </a:r>
            <a:r>
              <a:rPr kumimoji="1" lang="en-US" altLang="ja-JP" sz="3200" b="0" i="0" u="none" strike="noStrike" kern="1200" cap="none" spc="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B</a:t>
            </a:r>
            <a:endParaRPr kumimoji="1" lang="ja-JP" altLang="en-US" sz="3200" b="0" i="0" u="none" strike="noStrike" kern="1200" cap="none" spc="0" normalizeH="0" baseline="-3000" noProof="0">
              <a:ln>
                <a:noFill/>
              </a:ln>
              <a:solidFill>
                <a:srgbClr val="D44ED9"/>
              </a:solidFill>
              <a:effectLst/>
              <a:uLnTx/>
              <a:uFillTx/>
              <a:latin typeface="Poppins SemiBold" pitchFamily="2" charset="0"/>
              <a:ea typeface="M PLUS 1p Medium" panose="020B0502020203020207" pitchFamily="34" charset="-128"/>
              <a:cs typeface="Poppins SemiBold" pitchFamily="2" charset="0"/>
            </a:endParaRPr>
          </a:p>
        </p:txBody>
      </p:sp>
      <p:sp>
        <p:nvSpPr>
          <p:cNvPr id="21" name="テキスト ボックス 20">
            <a:extLst>
              <a:ext uri="{FF2B5EF4-FFF2-40B4-BE49-F238E27FC236}">
                <a16:creationId xmlns:a16="http://schemas.microsoft.com/office/drawing/2014/main" id="{6B31C3FC-9E4A-43B5-CE9E-6F60AB8DD778}"/>
              </a:ext>
            </a:extLst>
          </p:cNvPr>
          <p:cNvSpPr txBox="1"/>
          <p:nvPr/>
        </p:nvSpPr>
        <p:spPr>
          <a:xfrm>
            <a:off x="4698823" y="3762296"/>
            <a:ext cx="279435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Global Art App Market Size (2035)</a:t>
            </a:r>
          </a:p>
        </p:txBody>
      </p:sp>
      <p:sp>
        <p:nvSpPr>
          <p:cNvPr id="24" name="テキスト ボックス 23">
            <a:extLst>
              <a:ext uri="{FF2B5EF4-FFF2-40B4-BE49-F238E27FC236}">
                <a16:creationId xmlns:a16="http://schemas.microsoft.com/office/drawing/2014/main" id="{8E2A8AB0-2DCA-9865-0176-0CD490F66EA3}"/>
              </a:ext>
            </a:extLst>
          </p:cNvPr>
          <p:cNvSpPr txBox="1"/>
          <p:nvPr/>
        </p:nvSpPr>
        <p:spPr>
          <a:xfrm>
            <a:off x="7024631" y="3989303"/>
            <a:ext cx="43794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rPr>
              <a:t>*2</a:t>
            </a:r>
            <a:endParaRPr kumimoji="1" lang="ja-JP" altLang="en-US" sz="1800" b="0" i="0" u="none" strike="noStrike" kern="1200" cap="none" spc="0" normalizeH="0" baseline="0" noProof="0" dirty="0">
              <a:ln>
                <a:noFill/>
              </a:ln>
              <a:solidFill>
                <a:srgbClr val="D44ED9"/>
              </a:solidFill>
              <a:effectLst/>
              <a:uLnTx/>
              <a:uFillTx/>
              <a:latin typeface="Poppins SemiBold" pitchFamily="2" charset="0"/>
              <a:ea typeface="M PLUS 1p Medium" panose="020B0502020203020207" pitchFamily="34" charset="-128"/>
              <a:cs typeface="Poppins SemiBold" pitchFamily="2" charset="0"/>
            </a:endParaRPr>
          </a:p>
        </p:txBody>
      </p:sp>
      <p:sp>
        <p:nvSpPr>
          <p:cNvPr id="25" name="テキスト ボックス 24">
            <a:extLst>
              <a:ext uri="{FF2B5EF4-FFF2-40B4-BE49-F238E27FC236}">
                <a16:creationId xmlns:a16="http://schemas.microsoft.com/office/drawing/2014/main" id="{B4AA97C7-0252-5DC4-8A24-F179885AF338}"/>
              </a:ext>
            </a:extLst>
          </p:cNvPr>
          <p:cNvSpPr txBox="1"/>
          <p:nvPr/>
        </p:nvSpPr>
        <p:spPr>
          <a:xfrm>
            <a:off x="8445357" y="3777685"/>
            <a:ext cx="288434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CAGR(2025–2035)</a:t>
            </a:r>
          </a:p>
        </p:txBody>
      </p:sp>
      <p:sp>
        <p:nvSpPr>
          <p:cNvPr id="27" name="テキスト ボックス 26">
            <a:extLst>
              <a:ext uri="{FF2B5EF4-FFF2-40B4-BE49-F238E27FC236}">
                <a16:creationId xmlns:a16="http://schemas.microsoft.com/office/drawing/2014/main" id="{DC769823-1B8F-E893-9217-814B4625631A}"/>
              </a:ext>
            </a:extLst>
          </p:cNvPr>
          <p:cNvSpPr txBox="1"/>
          <p:nvPr/>
        </p:nvSpPr>
        <p:spPr>
          <a:xfrm>
            <a:off x="942762" y="3088396"/>
            <a:ext cx="2765506" cy="497572"/>
          </a:xfrm>
          <a:prstGeom prst="rect">
            <a:avLst/>
          </a:prstGeom>
          <a:noFill/>
        </p:spPr>
        <p:txBody>
          <a:bodyPr wrap="square">
            <a:spAutoFit/>
          </a:bodyPr>
          <a:lstStyle/>
          <a:p>
            <a:pPr marL="0" marR="0" lvl="0" indent="0" algn="ctr" defTabSz="914400" rtl="0" eaLnBrk="1" fontAlgn="auto" latinLnBrk="0" hangingPunct="1">
              <a:lnSpc>
                <a:spcPts val="16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Expanding Creative Demand </a:t>
            </a:r>
          </a:p>
          <a:p>
            <a:pPr marL="0" marR="0" lvl="0" indent="0" algn="ctr" defTabSz="914400" rtl="0" eaLnBrk="1" fontAlgn="auto" latinLnBrk="0" hangingPunct="1">
              <a:lnSpc>
                <a:spcPts val="164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Among Gen Alpha and Gen Z</a:t>
            </a:r>
          </a:p>
        </p:txBody>
      </p:sp>
      <p:sp>
        <p:nvSpPr>
          <p:cNvPr id="37" name="フリーフォーム 36">
            <a:extLst>
              <a:ext uri="{FF2B5EF4-FFF2-40B4-BE49-F238E27FC236}">
                <a16:creationId xmlns:a16="http://schemas.microsoft.com/office/drawing/2014/main" id="{690B61C0-B0E0-8D65-1F1A-0739D1CB9F83}"/>
              </a:ext>
            </a:extLst>
          </p:cNvPr>
          <p:cNvSpPr/>
          <p:nvPr/>
        </p:nvSpPr>
        <p:spPr>
          <a:xfrm>
            <a:off x="4598400" y="3061848"/>
            <a:ext cx="2995200" cy="558334"/>
          </a:xfrm>
          <a:custGeom>
            <a:avLst/>
            <a:gdLst>
              <a:gd name="csX0" fmla="*/ 168390 w 2995200"/>
              <a:gd name="csY0" fmla="*/ 0 h 558334"/>
              <a:gd name="csX1" fmla="*/ 2826810 w 2995200"/>
              <a:gd name="csY1" fmla="*/ 0 h 558334"/>
              <a:gd name="csX2" fmla="*/ 2995200 w 2995200"/>
              <a:gd name="csY2" fmla="*/ 168390 h 558334"/>
              <a:gd name="csX3" fmla="*/ 2995200 w 2995200"/>
              <a:gd name="csY3" fmla="*/ 558334 h 558334"/>
              <a:gd name="csX4" fmla="*/ 0 w 2995200"/>
              <a:gd name="csY4" fmla="*/ 558334 h 558334"/>
              <a:gd name="csX5" fmla="*/ 0 w 2995200"/>
              <a:gd name="csY5" fmla="*/ 168390 h 558334"/>
              <a:gd name="csX6" fmla="*/ 168390 w 2995200"/>
              <a:gd name="csY6" fmla="*/ 0 h 5583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5200" h="558334">
                <a:moveTo>
                  <a:pt x="168390" y="0"/>
                </a:moveTo>
                <a:lnTo>
                  <a:pt x="2826810" y="0"/>
                </a:lnTo>
                <a:cubicBezTo>
                  <a:pt x="2919809" y="0"/>
                  <a:pt x="2995200" y="75391"/>
                  <a:pt x="2995200" y="168390"/>
                </a:cubicBezTo>
                <a:lnTo>
                  <a:pt x="2995200" y="558334"/>
                </a:lnTo>
                <a:lnTo>
                  <a:pt x="0" y="558334"/>
                </a:lnTo>
                <a:lnTo>
                  <a:pt x="0" y="168390"/>
                </a:lnTo>
                <a:cubicBezTo>
                  <a:pt x="0" y="75391"/>
                  <a:pt x="75391" y="0"/>
                  <a:pt x="168390" y="0"/>
                </a:cubicBezTo>
                <a:close/>
              </a:path>
            </a:pathLst>
          </a:custGeom>
          <a:solidFill>
            <a:srgbClr val="D44ED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2" name="テキスト ボックス 31">
            <a:extLst>
              <a:ext uri="{FF2B5EF4-FFF2-40B4-BE49-F238E27FC236}">
                <a16:creationId xmlns:a16="http://schemas.microsoft.com/office/drawing/2014/main" id="{5C263CE6-F61B-017E-E647-A6D6AA12E21D}"/>
              </a:ext>
            </a:extLst>
          </p:cNvPr>
          <p:cNvSpPr txBox="1"/>
          <p:nvPr/>
        </p:nvSpPr>
        <p:spPr>
          <a:xfrm>
            <a:off x="5266286" y="3210614"/>
            <a:ext cx="1659430"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4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Market Potential</a:t>
            </a:r>
            <a:endParaRPr kumimoji="1" lang="en-AU" altLang="ja-JP" sz="1400" b="0" i="0" u="none" strike="noStrike" kern="1200" cap="none" spc="0" normalizeH="0" baseline="0" noProof="0" dirty="0">
              <a:ln>
                <a:noFill/>
              </a:ln>
              <a:solidFill>
                <a:prstClr val="white"/>
              </a:solidFill>
              <a:effectLst/>
              <a:uLnTx/>
              <a:uFillTx/>
              <a:latin typeface="Poppins Medium" pitchFamily="2" charset="0"/>
              <a:ea typeface="Poppins Medium"/>
              <a:cs typeface="Poppins Medium" pitchFamily="2" charset="0"/>
              <a:sym typeface="Poppins Medium"/>
            </a:endParaRPr>
          </a:p>
        </p:txBody>
      </p:sp>
      <p:sp>
        <p:nvSpPr>
          <p:cNvPr id="40" name="フリーフォーム 39">
            <a:extLst>
              <a:ext uri="{FF2B5EF4-FFF2-40B4-BE49-F238E27FC236}">
                <a16:creationId xmlns:a16="http://schemas.microsoft.com/office/drawing/2014/main" id="{522FBA92-4A64-28E2-7C41-3046CD9D2E29}"/>
              </a:ext>
            </a:extLst>
          </p:cNvPr>
          <p:cNvSpPr/>
          <p:nvPr/>
        </p:nvSpPr>
        <p:spPr>
          <a:xfrm>
            <a:off x="8369368" y="3061848"/>
            <a:ext cx="2995200" cy="558334"/>
          </a:xfrm>
          <a:custGeom>
            <a:avLst/>
            <a:gdLst>
              <a:gd name="csX0" fmla="*/ 168390 w 2995200"/>
              <a:gd name="csY0" fmla="*/ 0 h 558334"/>
              <a:gd name="csX1" fmla="*/ 2826810 w 2995200"/>
              <a:gd name="csY1" fmla="*/ 0 h 558334"/>
              <a:gd name="csX2" fmla="*/ 2995200 w 2995200"/>
              <a:gd name="csY2" fmla="*/ 168390 h 558334"/>
              <a:gd name="csX3" fmla="*/ 2995200 w 2995200"/>
              <a:gd name="csY3" fmla="*/ 558334 h 558334"/>
              <a:gd name="csX4" fmla="*/ 0 w 2995200"/>
              <a:gd name="csY4" fmla="*/ 558334 h 558334"/>
              <a:gd name="csX5" fmla="*/ 0 w 2995200"/>
              <a:gd name="csY5" fmla="*/ 168390 h 558334"/>
              <a:gd name="csX6" fmla="*/ 168390 w 2995200"/>
              <a:gd name="csY6" fmla="*/ 0 h 5583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5200" h="558334">
                <a:moveTo>
                  <a:pt x="168390" y="0"/>
                </a:moveTo>
                <a:lnTo>
                  <a:pt x="2826810" y="0"/>
                </a:lnTo>
                <a:cubicBezTo>
                  <a:pt x="2919809" y="0"/>
                  <a:pt x="2995200" y="75391"/>
                  <a:pt x="2995200" y="168390"/>
                </a:cubicBezTo>
                <a:lnTo>
                  <a:pt x="2995200" y="558334"/>
                </a:lnTo>
                <a:lnTo>
                  <a:pt x="0" y="558334"/>
                </a:lnTo>
                <a:lnTo>
                  <a:pt x="0" y="168390"/>
                </a:lnTo>
                <a:cubicBezTo>
                  <a:pt x="0" y="75391"/>
                  <a:pt x="75391" y="0"/>
                  <a:pt x="168390" y="0"/>
                </a:cubicBezTo>
                <a:close/>
              </a:path>
            </a:pathLst>
          </a:custGeom>
          <a:solidFill>
            <a:srgbClr val="00A7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681623C2-4B65-2E4D-AEC9-38B0F0CE5E1F}"/>
              </a:ext>
            </a:extLst>
          </p:cNvPr>
          <p:cNvSpPr txBox="1"/>
          <p:nvPr/>
        </p:nvSpPr>
        <p:spPr>
          <a:xfrm>
            <a:off x="8850823" y="3210614"/>
            <a:ext cx="203132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4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High-Growth Market</a:t>
            </a:r>
          </a:p>
        </p:txBody>
      </p:sp>
      <p:sp>
        <p:nvSpPr>
          <p:cNvPr id="5" name="テキスト ボックス 4">
            <a:extLst>
              <a:ext uri="{FF2B5EF4-FFF2-40B4-BE49-F238E27FC236}">
                <a16:creationId xmlns:a16="http://schemas.microsoft.com/office/drawing/2014/main" id="{EA3413D2-DA40-0997-077D-AC847D7EB782}"/>
              </a:ext>
            </a:extLst>
          </p:cNvPr>
          <p:cNvSpPr txBox="1"/>
          <p:nvPr/>
        </p:nvSpPr>
        <p:spPr>
          <a:xfrm>
            <a:off x="2741338" y="3979910"/>
            <a:ext cx="59571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anose="00000700000000000000" pitchFamily="2" charset="0"/>
                <a:ea typeface="M PLUS 1p Medium" panose="020B0502020203020207" pitchFamily="34" charset="-128"/>
                <a:cs typeface="Poppins SemiBold" panose="00000700000000000000" pitchFamily="2" charset="0"/>
              </a:rPr>
              <a:t>*1</a:t>
            </a:r>
          </a:p>
        </p:txBody>
      </p:sp>
    </p:spTree>
    <p:extLst>
      <p:ext uri="{BB962C8B-B14F-4D97-AF65-F5344CB8AC3E}">
        <p14:creationId xmlns:p14="http://schemas.microsoft.com/office/powerpoint/2010/main" val="2755984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75BB4-B4EE-5F12-95F0-F4E94748FB22}"/>
            </a:ext>
          </a:extLst>
        </p:cNvPr>
        <p:cNvGrpSpPr/>
        <p:nvPr/>
      </p:nvGrpSpPr>
      <p:grpSpPr>
        <a:xfrm>
          <a:off x="0" y="0"/>
          <a:ext cx="0" cy="0"/>
          <a:chOff x="0" y="0"/>
          <a:chExt cx="0" cy="0"/>
        </a:xfrm>
      </p:grpSpPr>
      <p:sp>
        <p:nvSpPr>
          <p:cNvPr id="42" name="角丸四角形 41">
            <a:extLst>
              <a:ext uri="{FF2B5EF4-FFF2-40B4-BE49-F238E27FC236}">
                <a16:creationId xmlns:a16="http://schemas.microsoft.com/office/drawing/2014/main" id="{B18D293B-9C2E-A289-6408-5EEF739CE487}"/>
              </a:ext>
            </a:extLst>
          </p:cNvPr>
          <p:cNvSpPr/>
          <p:nvPr/>
        </p:nvSpPr>
        <p:spPr>
          <a:xfrm>
            <a:off x="6224647" y="4218138"/>
            <a:ext cx="5472826" cy="2076849"/>
          </a:xfrm>
          <a:prstGeom prst="roundRect">
            <a:avLst>
              <a:gd name="adj" fmla="val 8152"/>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rPr>
              <a:t>z</a:t>
            </a: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7" name="角丸四角形 16">
            <a:extLst>
              <a:ext uri="{FF2B5EF4-FFF2-40B4-BE49-F238E27FC236}">
                <a16:creationId xmlns:a16="http://schemas.microsoft.com/office/drawing/2014/main" id="{85472D31-2F3C-0D42-07AB-596EB5F2647A}"/>
              </a:ext>
            </a:extLst>
          </p:cNvPr>
          <p:cNvSpPr/>
          <p:nvPr/>
        </p:nvSpPr>
        <p:spPr>
          <a:xfrm>
            <a:off x="550862" y="1495092"/>
            <a:ext cx="5472826" cy="2076849"/>
          </a:xfrm>
          <a:prstGeom prst="roundRect">
            <a:avLst>
              <a:gd name="adj" fmla="val 8152"/>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rPr>
              <a:t>z</a:t>
            </a: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3" name="角丸四角形 22">
            <a:extLst>
              <a:ext uri="{FF2B5EF4-FFF2-40B4-BE49-F238E27FC236}">
                <a16:creationId xmlns:a16="http://schemas.microsoft.com/office/drawing/2014/main" id="{ACFEDEBE-ABF0-3E43-7972-F9AB57A8AEE4}"/>
              </a:ext>
            </a:extLst>
          </p:cNvPr>
          <p:cNvSpPr/>
          <p:nvPr/>
        </p:nvSpPr>
        <p:spPr>
          <a:xfrm>
            <a:off x="6224647" y="1495092"/>
            <a:ext cx="5472826" cy="2076849"/>
          </a:xfrm>
          <a:prstGeom prst="roundRect">
            <a:avLst>
              <a:gd name="adj" fmla="val 8152"/>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rPr>
              <a:t>z</a:t>
            </a: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6" name="角丸四角形 25">
            <a:extLst>
              <a:ext uri="{FF2B5EF4-FFF2-40B4-BE49-F238E27FC236}">
                <a16:creationId xmlns:a16="http://schemas.microsoft.com/office/drawing/2014/main" id="{412BB79F-6BDC-2794-6EFD-EB6F05755493}"/>
              </a:ext>
            </a:extLst>
          </p:cNvPr>
          <p:cNvSpPr/>
          <p:nvPr/>
        </p:nvSpPr>
        <p:spPr>
          <a:xfrm>
            <a:off x="550862" y="4218138"/>
            <a:ext cx="5472826" cy="2076849"/>
          </a:xfrm>
          <a:prstGeom prst="roundRect">
            <a:avLst>
              <a:gd name="adj" fmla="val 8152"/>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rPr>
              <a:t>z</a:t>
            </a: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 name="正方形/長方形 8">
            <a:extLst>
              <a:ext uri="{FF2B5EF4-FFF2-40B4-BE49-F238E27FC236}">
                <a16:creationId xmlns:a16="http://schemas.microsoft.com/office/drawing/2014/main" id="{CADF4DDF-37AD-FA69-35D1-7F405E2F3423}"/>
              </a:ext>
            </a:extLst>
          </p:cNvPr>
          <p:cNvSpPr/>
          <p:nvPr/>
        </p:nvSpPr>
        <p:spPr>
          <a:xfrm>
            <a:off x="-25515" y="3684494"/>
            <a:ext cx="12243031" cy="411687"/>
          </a:xfrm>
          <a:prstGeom prst="rect">
            <a:avLst/>
          </a:prstGeom>
          <a:gradFill>
            <a:gsLst>
              <a:gs pos="51000">
                <a:srgbClr val="7078EB"/>
              </a:gs>
              <a:gs pos="0">
                <a:srgbClr val="00A7FF"/>
              </a:gs>
              <a:gs pos="100000">
                <a:srgbClr val="D44ED9"/>
              </a:gs>
            </a:gsLst>
            <a:lin ang="0" scaled="0"/>
          </a:gra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 name="テキスト プレースホルダー 3">
            <a:extLst>
              <a:ext uri="{FF2B5EF4-FFF2-40B4-BE49-F238E27FC236}">
                <a16:creationId xmlns:a16="http://schemas.microsoft.com/office/drawing/2014/main" id="{588EEAF9-1B24-31E1-8250-E1662596FFED}"/>
              </a:ext>
            </a:extLst>
          </p:cNvPr>
          <p:cNvSpPr>
            <a:spLocks noGrp="1"/>
          </p:cNvSpPr>
          <p:nvPr>
            <p:ph type="body" sz="quarter" idx="12"/>
          </p:nvPr>
        </p:nvSpPr>
        <p:spPr/>
        <p:txBody>
          <a:bodyPr>
            <a:normAutofit/>
          </a:bodyPr>
          <a:lstStyle/>
          <a:p>
            <a:r>
              <a:rPr lang="en-US" altLang="ja-JP" sz="1300" dirty="0"/>
              <a:t>Strengths of ibisPaint (1)</a:t>
            </a:r>
            <a:endParaRPr kumimoji="1" lang="ja-JP" altLang="en-US" sz="1300" dirty="0"/>
          </a:p>
        </p:txBody>
      </p:sp>
      <p:sp>
        <p:nvSpPr>
          <p:cNvPr id="16" name="タイトル 2">
            <a:extLst>
              <a:ext uri="{FF2B5EF4-FFF2-40B4-BE49-F238E27FC236}">
                <a16:creationId xmlns:a16="http://schemas.microsoft.com/office/drawing/2014/main" id="{B4F2D73D-93BC-312D-FE4D-9264781E419C}"/>
              </a:ext>
            </a:extLst>
          </p:cNvPr>
          <p:cNvSpPr>
            <a:spLocks noGrp="1"/>
          </p:cNvSpPr>
          <p:nvPr>
            <p:ph type="ctrTitle"/>
          </p:nvPr>
        </p:nvSpPr>
        <p:spPr/>
        <p:txBody>
          <a:bodyPr/>
          <a:lstStyle/>
          <a:p>
            <a:pPr marL="228600" marR="0" lvl="0" indent="-228600" algn="ctr" defTabSz="914400" rtl="0" eaLnBrk="1" fontAlgn="auto" latinLnBrk="0" hangingPunct="1">
              <a:lnSpc>
                <a:spcPct val="100000"/>
              </a:lnSpc>
              <a:spcBef>
                <a:spcPts val="0"/>
              </a:spcBef>
              <a:spcAft>
                <a:spcPts val="0"/>
              </a:spcAft>
              <a:buClrTx/>
              <a:buSzPts val="1700"/>
              <a:buFont typeface="Arial" panose="020B0604020202020204" pitchFamily="34" charset="0"/>
              <a:buNone/>
              <a:tabLst/>
              <a:defRPr/>
            </a:pPr>
            <a:r>
              <a:rPr kumimoji="1" lang="en-US" altLang="ja-JP" sz="2650" b="1" u="none" strike="noStrike" kern="1200" cap="none" spc="0" normalizeH="0" baseline="0" noProof="0" dirty="0">
                <a:ln>
                  <a:noFill/>
                </a:ln>
                <a:solidFill>
                  <a:prstClr val="white"/>
                </a:solidFill>
                <a:effectLst/>
                <a:uLnTx/>
                <a:uFillTx/>
                <a:latin typeface="Poppins SemiBold" pitchFamily="2" charset="0"/>
                <a:cs typeface="Poppins SemiBold" pitchFamily="2" charset="0"/>
              </a:rPr>
              <a:t>Designing a seamless user experience </a:t>
            </a:r>
            <a:br>
              <a:rPr kumimoji="1" lang="en-US" altLang="ja-JP" sz="2650" b="1" u="none" strike="noStrike" kern="1200" cap="none" spc="0" normalizeH="0" baseline="0" noProof="0" dirty="0">
                <a:ln>
                  <a:noFill/>
                </a:ln>
                <a:solidFill>
                  <a:prstClr val="white"/>
                </a:solidFill>
                <a:effectLst/>
                <a:uLnTx/>
                <a:uFillTx/>
                <a:latin typeface="Poppins SemiBold" pitchFamily="2" charset="0"/>
                <a:cs typeface="Poppins SemiBold" pitchFamily="2" charset="0"/>
              </a:rPr>
            </a:br>
            <a:r>
              <a:rPr kumimoji="1" lang="en-US" altLang="ja-JP" sz="2650" b="1" u="none" strike="noStrike" kern="1200" cap="none" spc="0" normalizeH="0" baseline="0" noProof="0" dirty="0">
                <a:ln>
                  <a:noFill/>
                </a:ln>
                <a:solidFill>
                  <a:prstClr val="white"/>
                </a:solidFill>
                <a:effectLst/>
                <a:uLnTx/>
                <a:uFillTx/>
                <a:latin typeface="Poppins SemiBold" pitchFamily="2" charset="0"/>
                <a:cs typeface="Poppins SemiBold" pitchFamily="2" charset="0"/>
              </a:rPr>
              <a:t>to be the </a:t>
            </a:r>
            <a:r>
              <a:rPr kumimoji="1" lang="en-US" altLang="ja-JP" sz="2650" b="1" u="none" strike="noStrike" kern="1200" cap="none" spc="0" normalizeH="0" baseline="0" noProof="0" dirty="0">
                <a:ln>
                  <a:noFill/>
                </a:ln>
                <a:solidFill>
                  <a:srgbClr val="C0FF00"/>
                </a:solidFill>
                <a:effectLst/>
                <a:uLnTx/>
                <a:uFillTx/>
                <a:latin typeface="Poppins SemiBold" pitchFamily="2" charset="0"/>
                <a:cs typeface="Poppins SemiBold" pitchFamily="2" charset="0"/>
              </a:rPr>
              <a:t>first illustration app of choice </a:t>
            </a:r>
            <a:r>
              <a:rPr kumimoji="1" lang="en-US" altLang="ja-JP" sz="2650" b="1" u="none" strike="noStrike" kern="1200" cap="none" spc="0" normalizeH="0" baseline="0" noProof="0" dirty="0">
                <a:ln>
                  <a:noFill/>
                </a:ln>
                <a:solidFill>
                  <a:prstClr val="white"/>
                </a:solidFill>
                <a:effectLst/>
                <a:uLnTx/>
                <a:uFillTx/>
                <a:latin typeface="Poppins SemiBold" pitchFamily="2" charset="0"/>
                <a:cs typeface="Poppins SemiBold" pitchFamily="2" charset="0"/>
              </a:rPr>
              <a:t>for Gen Alpha and Gen Z</a:t>
            </a:r>
          </a:p>
        </p:txBody>
      </p:sp>
      <p:sp>
        <p:nvSpPr>
          <p:cNvPr id="12" name="テキスト プレースホルダー 11">
            <a:extLst>
              <a:ext uri="{FF2B5EF4-FFF2-40B4-BE49-F238E27FC236}">
                <a16:creationId xmlns:a16="http://schemas.microsoft.com/office/drawing/2014/main" id="{DFDFD6AA-8966-A17E-446C-677213CEC3E0}"/>
              </a:ext>
            </a:extLst>
          </p:cNvPr>
          <p:cNvSpPr>
            <a:spLocks noGrp="1"/>
          </p:cNvSpPr>
          <p:nvPr>
            <p:ph type="body" sz="quarter" idx="14"/>
          </p:nvPr>
        </p:nvSpPr>
        <p:spPr>
          <a:xfrm>
            <a:off x="7429267" y="6310211"/>
            <a:ext cx="6246813" cy="444389"/>
          </a:xfrm>
        </p:spPr>
        <p:txBody>
          <a:bodyPr/>
          <a:lstStyle/>
          <a:p>
            <a:r>
              <a:rPr lang="en" altLang="ja-JP" dirty="0"/>
              <a:t>* ibisPaint YouTube subscriber count and App Store ratings are as of January 19, 2026</a:t>
            </a:r>
          </a:p>
        </p:txBody>
      </p:sp>
      <p:sp>
        <p:nvSpPr>
          <p:cNvPr id="18" name="テキスト ボックス 17">
            <a:extLst>
              <a:ext uri="{FF2B5EF4-FFF2-40B4-BE49-F238E27FC236}">
                <a16:creationId xmlns:a16="http://schemas.microsoft.com/office/drawing/2014/main" id="{2FFA779A-3374-E031-9451-59DA884A110E}"/>
              </a:ext>
            </a:extLst>
          </p:cNvPr>
          <p:cNvSpPr txBox="1"/>
          <p:nvPr/>
        </p:nvSpPr>
        <p:spPr>
          <a:xfrm>
            <a:off x="163774" y="3745823"/>
            <a:ext cx="132126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Onboarding</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19" name="テキスト ボックス 18">
            <a:extLst>
              <a:ext uri="{FF2B5EF4-FFF2-40B4-BE49-F238E27FC236}">
                <a16:creationId xmlns:a16="http://schemas.microsoft.com/office/drawing/2014/main" id="{EF65D812-4731-9CB4-0565-8F985578A7F2}"/>
              </a:ext>
            </a:extLst>
          </p:cNvPr>
          <p:cNvSpPr txBox="1"/>
          <p:nvPr/>
        </p:nvSpPr>
        <p:spPr>
          <a:xfrm>
            <a:off x="10373971" y="3745823"/>
            <a:ext cx="1672257"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Continued use</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cxnSp>
        <p:nvCxnSpPr>
          <p:cNvPr id="24" name="直線矢印コネクタ 23">
            <a:extLst>
              <a:ext uri="{FF2B5EF4-FFF2-40B4-BE49-F238E27FC236}">
                <a16:creationId xmlns:a16="http://schemas.microsoft.com/office/drawing/2014/main" id="{A1449929-A71D-A968-F626-AB4A9D3218ED}"/>
              </a:ext>
            </a:extLst>
          </p:cNvPr>
          <p:cNvCxnSpPr>
            <a:cxnSpLocks/>
          </p:cNvCxnSpPr>
          <p:nvPr/>
        </p:nvCxnSpPr>
        <p:spPr>
          <a:xfrm>
            <a:off x="1405275" y="3890337"/>
            <a:ext cx="9161135" cy="0"/>
          </a:xfrm>
          <a:prstGeom prst="straightConnector1">
            <a:avLst/>
          </a:prstGeom>
          <a:ln w="50800">
            <a:solidFill>
              <a:schemeClr val="bg1"/>
            </a:solidFill>
            <a:tailEnd type="none"/>
          </a:ln>
        </p:spPr>
        <p:style>
          <a:lnRef idx="2">
            <a:schemeClr val="accent1"/>
          </a:lnRef>
          <a:fillRef idx="0">
            <a:schemeClr val="accent1"/>
          </a:fillRef>
          <a:effectRef idx="1">
            <a:schemeClr val="accent1"/>
          </a:effectRef>
          <a:fontRef idx="minor">
            <a:schemeClr val="tx1"/>
          </a:fontRef>
        </p:style>
      </p:cxnSp>
      <p:sp>
        <p:nvSpPr>
          <p:cNvPr id="28" name="三角形 27">
            <a:extLst>
              <a:ext uri="{FF2B5EF4-FFF2-40B4-BE49-F238E27FC236}">
                <a16:creationId xmlns:a16="http://schemas.microsoft.com/office/drawing/2014/main" id="{4440FA65-1F99-709D-AD41-E0E41D7C6798}"/>
              </a:ext>
            </a:extLst>
          </p:cNvPr>
          <p:cNvSpPr/>
          <p:nvPr/>
        </p:nvSpPr>
        <p:spPr>
          <a:xfrm rot="5400000">
            <a:off x="10515544" y="3821942"/>
            <a:ext cx="238522" cy="13679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5" name="テキスト ボックス 34">
            <a:extLst>
              <a:ext uri="{FF2B5EF4-FFF2-40B4-BE49-F238E27FC236}">
                <a16:creationId xmlns:a16="http://schemas.microsoft.com/office/drawing/2014/main" id="{68FF2E6A-7F5D-CB0A-A5AF-0D469B181284}"/>
              </a:ext>
            </a:extLst>
          </p:cNvPr>
          <p:cNvSpPr txBox="1"/>
          <p:nvPr/>
        </p:nvSpPr>
        <p:spPr>
          <a:xfrm>
            <a:off x="908808" y="2053198"/>
            <a:ext cx="256954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Basic Functions Are F</a:t>
            </a:r>
            <a:r>
              <a:rPr kumimoji="1" lang="ja-JP" altLang="ja-JP" sz="1200" b="0" i="0" u="none" strike="noStrike" kern="1200" cap="none" spc="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ree</a:t>
            </a:r>
            <a:endParaRPr kumimoji="1" lang="ja-JP" altLang="en-US" sz="120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endParaRPr>
          </a:p>
        </p:txBody>
      </p:sp>
      <p:sp>
        <p:nvSpPr>
          <p:cNvPr id="49" name="テキスト ボックス 48">
            <a:extLst>
              <a:ext uri="{FF2B5EF4-FFF2-40B4-BE49-F238E27FC236}">
                <a16:creationId xmlns:a16="http://schemas.microsoft.com/office/drawing/2014/main" id="{AA0D1D0A-4B5D-C84B-5661-78202E037721}"/>
              </a:ext>
            </a:extLst>
          </p:cNvPr>
          <p:cNvSpPr txBox="1"/>
          <p:nvPr/>
        </p:nvSpPr>
        <p:spPr>
          <a:xfrm>
            <a:off x="6560308" y="2091171"/>
            <a:ext cx="256954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ibisPaint YouTube </a:t>
            </a: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S</a:t>
            </a: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ubscribers</a:t>
            </a:r>
            <a:endParaRPr kumimoji="1" lang="ja-JP" altLang="en-US" sz="120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56" name="テキスト ボックス 55">
            <a:extLst>
              <a:ext uri="{FF2B5EF4-FFF2-40B4-BE49-F238E27FC236}">
                <a16:creationId xmlns:a16="http://schemas.microsoft.com/office/drawing/2014/main" id="{FE24192E-97C2-A392-996C-027E48FCC154}"/>
              </a:ext>
            </a:extLst>
          </p:cNvPr>
          <p:cNvSpPr txBox="1"/>
          <p:nvPr/>
        </p:nvSpPr>
        <p:spPr>
          <a:xfrm>
            <a:off x="523599" y="4741838"/>
            <a:ext cx="3323404" cy="526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PC-</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C</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lass </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A</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dvanced </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F</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eatures</a:t>
            </a:r>
            <a:endParaRPr kumimoji="1" lang="en-US" altLang="ja-JP" sz="1200" b="0" i="0" u="none" strike="noStrike" kern="1200" cap="none" spc="-1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Full-</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S</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cale </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C</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reation with a </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S</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ingle </a:t>
            </a:r>
            <a:r>
              <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F</a:t>
            </a:r>
            <a:r>
              <a:rPr kumimoji="1" lang="ja-JP" altLang="ja-JP" sz="1200" b="0" i="0" u="none" strike="noStrike" kern="1200" cap="none" spc="-10" normalizeH="0" baseline="0" noProof="0">
                <a:ln>
                  <a:noFill/>
                </a:ln>
                <a:solidFill>
                  <a:srgbClr val="00A7FF"/>
                </a:solidFill>
                <a:effectLst/>
                <a:uLnTx/>
                <a:uFillTx/>
                <a:latin typeface="Poppins Medium" pitchFamily="2" charset="0"/>
                <a:ea typeface="游ゴシック" panose="020B0400000000000000" pitchFamily="50" charset="-128"/>
                <a:cs typeface="Poppins Medium" pitchFamily="2" charset="0"/>
              </a:rPr>
              <a:t>inger</a:t>
            </a:r>
            <a:endParaRPr kumimoji="1" lang="en-US" altLang="ja-JP" sz="1200" b="0" i="0" u="none" strike="noStrike" kern="1200" cap="none" spc="-1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endParaRPr>
          </a:p>
        </p:txBody>
      </p:sp>
      <p:sp>
        <p:nvSpPr>
          <p:cNvPr id="63" name="テキスト ボックス 62">
            <a:extLst>
              <a:ext uri="{FF2B5EF4-FFF2-40B4-BE49-F238E27FC236}">
                <a16:creationId xmlns:a16="http://schemas.microsoft.com/office/drawing/2014/main" id="{2EB2717A-9158-B000-5ACE-A8A67191D26C}"/>
              </a:ext>
            </a:extLst>
          </p:cNvPr>
          <p:cNvSpPr txBox="1"/>
          <p:nvPr/>
        </p:nvSpPr>
        <p:spPr>
          <a:xfrm>
            <a:off x="6560308" y="4642022"/>
            <a:ext cx="256954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Top-</a:t>
            </a: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T</a:t>
            </a: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ier </a:t>
            </a: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A</a:t>
            </a: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pp </a:t>
            </a: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S</a:t>
            </a: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tore </a:t>
            </a:r>
            <a:r>
              <a:rPr kumimoji="1" lang="en-US"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R</a:t>
            </a:r>
            <a:r>
              <a:rPr kumimoji="1" lang="ja-JP" altLang="ja-JP" sz="12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atings</a:t>
            </a:r>
            <a:endParaRPr kumimoji="1" lang="ja-JP" altLang="en-US" sz="120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68" name="テキスト ボックス 67">
            <a:extLst>
              <a:ext uri="{FF2B5EF4-FFF2-40B4-BE49-F238E27FC236}">
                <a16:creationId xmlns:a16="http://schemas.microsoft.com/office/drawing/2014/main" id="{F77CAC5F-AC95-C5B4-37B3-9AF2ECDC6FAE}"/>
              </a:ext>
            </a:extLst>
          </p:cNvPr>
          <p:cNvSpPr txBox="1"/>
          <p:nvPr/>
        </p:nvSpPr>
        <p:spPr>
          <a:xfrm>
            <a:off x="6514613" y="2316057"/>
            <a:ext cx="266093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400" b="1"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3.0</a:t>
            </a:r>
            <a:r>
              <a:rPr kumimoji="1" lang="en-US" altLang="ja-JP" sz="6400" b="1" i="0" u="none" strike="noStrike" kern="1200" cap="none" spc="30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5</a:t>
            </a:r>
            <a:r>
              <a:rPr kumimoji="1" lang="en-US" altLang="ja-JP" sz="3600" b="1" i="0" u="none" strike="noStrike" kern="1200" cap="none" spc="-150" normalizeH="0" baseline="0" noProof="0" dirty="0">
                <a:ln>
                  <a:noFill/>
                </a:ln>
                <a:solidFill>
                  <a:srgbClr val="D44ED9"/>
                </a:solidFill>
                <a:effectLst/>
                <a:uLnTx/>
                <a:uFillTx/>
                <a:latin typeface="Poppins SemiBold" pitchFamily="2" charset="0"/>
                <a:ea typeface="游ゴシック" panose="020B0400000000000000" pitchFamily="50" charset="-128"/>
                <a:cs typeface="Poppins SemiBold" pitchFamily="2" charset="0"/>
              </a:rPr>
              <a:t>M</a:t>
            </a:r>
            <a:r>
              <a:rPr kumimoji="1" lang="ja-JP" altLang="ja-JP" sz="6600" b="0" i="0" u="none" strike="noStrike" kern="1200" cap="none" spc="-150" normalizeH="0" baseline="0" noProof="0" dirty="0">
                <a:ln>
                  <a:noFill/>
                </a:ln>
                <a:solidFill>
                  <a:prstClr val="black"/>
                </a:solidFill>
                <a:effectLst/>
                <a:uLnTx/>
                <a:uFillTx/>
                <a:latin typeface="Poppins" pitchFamily="2" charset="0"/>
                <a:ea typeface="游ゴシック" panose="020B0400000000000000" pitchFamily="50" charset="-128"/>
                <a:cs typeface="+mn-cs"/>
              </a:rPr>
              <a:t> </a:t>
            </a:r>
            <a:endParaRPr kumimoji="1" lang="ja-JP" altLang="en-US" sz="66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69" name="テキスト ボックス 68">
            <a:extLst>
              <a:ext uri="{FF2B5EF4-FFF2-40B4-BE49-F238E27FC236}">
                <a16:creationId xmlns:a16="http://schemas.microsoft.com/office/drawing/2014/main" id="{CDE6FBFC-BE56-365E-D24E-72D435ECF36C}"/>
              </a:ext>
            </a:extLst>
          </p:cNvPr>
          <p:cNvSpPr txBox="1"/>
          <p:nvPr/>
        </p:nvSpPr>
        <p:spPr>
          <a:xfrm>
            <a:off x="7445023" y="4856170"/>
            <a:ext cx="266093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8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4.7</a:t>
            </a:r>
            <a:endParaRPr kumimoji="1" lang="ja-JP" altLang="en-US" sz="54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71" name="テキスト ボックス 70">
            <a:extLst>
              <a:ext uri="{FF2B5EF4-FFF2-40B4-BE49-F238E27FC236}">
                <a16:creationId xmlns:a16="http://schemas.microsoft.com/office/drawing/2014/main" id="{1C0270CC-C169-977A-D18F-CA615A623905}"/>
              </a:ext>
            </a:extLst>
          </p:cNvPr>
          <p:cNvSpPr txBox="1"/>
          <p:nvPr/>
        </p:nvSpPr>
        <p:spPr>
          <a:xfrm>
            <a:off x="7445023" y="5472396"/>
            <a:ext cx="168830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48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4.6</a:t>
            </a:r>
            <a:endParaRPr kumimoji="1" lang="ja-JP" altLang="en-US" sz="54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72" name="テキスト ボックス 71">
            <a:extLst>
              <a:ext uri="{FF2B5EF4-FFF2-40B4-BE49-F238E27FC236}">
                <a16:creationId xmlns:a16="http://schemas.microsoft.com/office/drawing/2014/main" id="{858C8508-2715-C6C3-626A-24D1EAC131EC}"/>
              </a:ext>
            </a:extLst>
          </p:cNvPr>
          <p:cNvSpPr txBox="1"/>
          <p:nvPr/>
        </p:nvSpPr>
        <p:spPr>
          <a:xfrm>
            <a:off x="6516687" y="5177576"/>
            <a:ext cx="92833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rPr>
              <a:t>App Store</a:t>
            </a:r>
            <a:endParaRPr kumimoji="1" lang="ja-JP" altLang="en-US" sz="105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73" name="テキスト ボックス 72">
            <a:extLst>
              <a:ext uri="{FF2B5EF4-FFF2-40B4-BE49-F238E27FC236}">
                <a16:creationId xmlns:a16="http://schemas.microsoft.com/office/drawing/2014/main" id="{665B4652-F2D4-EEF2-A853-8519BDDBA462}"/>
              </a:ext>
            </a:extLst>
          </p:cNvPr>
          <p:cNvSpPr txBox="1"/>
          <p:nvPr/>
        </p:nvSpPr>
        <p:spPr>
          <a:xfrm>
            <a:off x="6516686" y="5750242"/>
            <a:ext cx="1238781"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rPr>
              <a:t>Google Play</a:t>
            </a:r>
            <a:endParaRPr kumimoji="1" lang="ja-JP" altLang="en-US" sz="105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20" name="フリーフォーム 19">
            <a:hlinkClick r:id="rId3"/>
            <a:extLst>
              <a:ext uri="{FF2B5EF4-FFF2-40B4-BE49-F238E27FC236}">
                <a16:creationId xmlns:a16="http://schemas.microsoft.com/office/drawing/2014/main" id="{6B7ACE33-621E-F757-0C00-76D8AC70AACE}"/>
              </a:ext>
            </a:extLst>
          </p:cNvPr>
          <p:cNvSpPr>
            <a:spLocks/>
          </p:cNvSpPr>
          <p:nvPr/>
        </p:nvSpPr>
        <p:spPr>
          <a:xfrm>
            <a:off x="3808904" y="4535017"/>
            <a:ext cx="2225425" cy="1759970"/>
          </a:xfrm>
          <a:custGeom>
            <a:avLst/>
            <a:gdLst>
              <a:gd name="csX0" fmla="*/ 0 w 2225425"/>
              <a:gd name="csY0" fmla="*/ 0 h 1759970"/>
              <a:gd name="csX1" fmla="*/ 2225425 w 2225425"/>
              <a:gd name="csY1" fmla="*/ 0 h 1759970"/>
              <a:gd name="csX2" fmla="*/ 2225425 w 2225425"/>
              <a:gd name="csY2" fmla="*/ 1622420 h 1759970"/>
              <a:gd name="csX3" fmla="*/ 2087875 w 2225425"/>
              <a:gd name="csY3" fmla="*/ 1759970 h 1759970"/>
              <a:gd name="csX4" fmla="*/ 0 w 2225425"/>
              <a:gd name="csY4" fmla="*/ 1759970 h 1759970"/>
            </a:gdLst>
            <a:ahLst/>
            <a:cxnLst>
              <a:cxn ang="0">
                <a:pos x="csX0" y="csY0"/>
              </a:cxn>
              <a:cxn ang="0">
                <a:pos x="csX1" y="csY1"/>
              </a:cxn>
              <a:cxn ang="0">
                <a:pos x="csX2" y="csY2"/>
              </a:cxn>
              <a:cxn ang="0">
                <a:pos x="csX3" y="csY3"/>
              </a:cxn>
              <a:cxn ang="0">
                <a:pos x="csX4" y="csY4"/>
              </a:cxn>
            </a:cxnLst>
            <a:rect l="l" t="t" r="r" b="b"/>
            <a:pathLst>
              <a:path w="2225425" h="1759970">
                <a:moveTo>
                  <a:pt x="0" y="0"/>
                </a:moveTo>
                <a:lnTo>
                  <a:pt x="2225425" y="0"/>
                </a:lnTo>
                <a:lnTo>
                  <a:pt x="2225425" y="1622420"/>
                </a:lnTo>
                <a:cubicBezTo>
                  <a:pt x="2225425" y="1698387"/>
                  <a:pt x="2163842" y="1759970"/>
                  <a:pt x="2087875" y="1759970"/>
                </a:cubicBezTo>
                <a:lnTo>
                  <a:pt x="0" y="1759970"/>
                </a:lnTo>
                <a:close/>
              </a:path>
            </a:pathLst>
          </a:custGeom>
          <a:blipFill>
            <a:blip r:embed="rId4"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1" name="フリーフォーム 20">
            <a:extLst>
              <a:ext uri="{FF2B5EF4-FFF2-40B4-BE49-F238E27FC236}">
                <a16:creationId xmlns:a16="http://schemas.microsoft.com/office/drawing/2014/main" id="{609C1D2F-E1B7-952B-FF21-15F6625FE1FA}"/>
              </a:ext>
            </a:extLst>
          </p:cNvPr>
          <p:cNvSpPr/>
          <p:nvPr/>
        </p:nvSpPr>
        <p:spPr>
          <a:xfrm>
            <a:off x="9472048" y="4535017"/>
            <a:ext cx="2225425" cy="1759970"/>
          </a:xfrm>
          <a:custGeom>
            <a:avLst/>
            <a:gdLst>
              <a:gd name="csX0" fmla="*/ 0 w 2225425"/>
              <a:gd name="csY0" fmla="*/ 0 h 1759970"/>
              <a:gd name="csX1" fmla="*/ 2225425 w 2225425"/>
              <a:gd name="csY1" fmla="*/ 0 h 1759970"/>
              <a:gd name="csX2" fmla="*/ 2225425 w 2225425"/>
              <a:gd name="csY2" fmla="*/ 1622420 h 1759970"/>
              <a:gd name="csX3" fmla="*/ 2087875 w 2225425"/>
              <a:gd name="csY3" fmla="*/ 1759970 h 1759970"/>
              <a:gd name="csX4" fmla="*/ 0 w 2225425"/>
              <a:gd name="csY4" fmla="*/ 1759970 h 1759970"/>
            </a:gdLst>
            <a:ahLst/>
            <a:cxnLst>
              <a:cxn ang="0">
                <a:pos x="csX0" y="csY0"/>
              </a:cxn>
              <a:cxn ang="0">
                <a:pos x="csX1" y="csY1"/>
              </a:cxn>
              <a:cxn ang="0">
                <a:pos x="csX2" y="csY2"/>
              </a:cxn>
              <a:cxn ang="0">
                <a:pos x="csX3" y="csY3"/>
              </a:cxn>
              <a:cxn ang="0">
                <a:pos x="csX4" y="csY4"/>
              </a:cxn>
            </a:cxnLst>
            <a:rect l="l" t="t" r="r" b="b"/>
            <a:pathLst>
              <a:path w="2225425" h="1759970">
                <a:moveTo>
                  <a:pt x="0" y="0"/>
                </a:moveTo>
                <a:lnTo>
                  <a:pt x="2225425" y="0"/>
                </a:lnTo>
                <a:lnTo>
                  <a:pt x="2225425" y="1622420"/>
                </a:lnTo>
                <a:cubicBezTo>
                  <a:pt x="2225425" y="1698387"/>
                  <a:pt x="2163842" y="1759970"/>
                  <a:pt x="2087875" y="1759970"/>
                </a:cubicBezTo>
                <a:lnTo>
                  <a:pt x="0" y="1759970"/>
                </a:lnTo>
                <a:close/>
              </a:path>
            </a:pathLst>
          </a:custGeom>
          <a:blipFill>
            <a:blip r:embed="rId5"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2" name="フリーフォーム 21">
            <a:extLst>
              <a:ext uri="{FF2B5EF4-FFF2-40B4-BE49-F238E27FC236}">
                <a16:creationId xmlns:a16="http://schemas.microsoft.com/office/drawing/2014/main" id="{00BB806D-A258-79D4-9391-7E2FFCB47B20}"/>
              </a:ext>
            </a:extLst>
          </p:cNvPr>
          <p:cNvSpPr/>
          <p:nvPr/>
        </p:nvSpPr>
        <p:spPr>
          <a:xfrm>
            <a:off x="9472048" y="1805264"/>
            <a:ext cx="2225425" cy="1759970"/>
          </a:xfrm>
          <a:custGeom>
            <a:avLst/>
            <a:gdLst>
              <a:gd name="csX0" fmla="*/ 0 w 2225425"/>
              <a:gd name="csY0" fmla="*/ 0 h 1759970"/>
              <a:gd name="csX1" fmla="*/ 2225425 w 2225425"/>
              <a:gd name="csY1" fmla="*/ 0 h 1759970"/>
              <a:gd name="csX2" fmla="*/ 2225425 w 2225425"/>
              <a:gd name="csY2" fmla="*/ 1622420 h 1759970"/>
              <a:gd name="csX3" fmla="*/ 2087875 w 2225425"/>
              <a:gd name="csY3" fmla="*/ 1759970 h 1759970"/>
              <a:gd name="csX4" fmla="*/ 0 w 2225425"/>
              <a:gd name="csY4" fmla="*/ 1759970 h 1759970"/>
            </a:gdLst>
            <a:ahLst/>
            <a:cxnLst>
              <a:cxn ang="0">
                <a:pos x="csX0" y="csY0"/>
              </a:cxn>
              <a:cxn ang="0">
                <a:pos x="csX1" y="csY1"/>
              </a:cxn>
              <a:cxn ang="0">
                <a:pos x="csX2" y="csY2"/>
              </a:cxn>
              <a:cxn ang="0">
                <a:pos x="csX3" y="csY3"/>
              </a:cxn>
              <a:cxn ang="0">
                <a:pos x="csX4" y="csY4"/>
              </a:cxn>
            </a:cxnLst>
            <a:rect l="l" t="t" r="r" b="b"/>
            <a:pathLst>
              <a:path w="2225425" h="1759970">
                <a:moveTo>
                  <a:pt x="0" y="0"/>
                </a:moveTo>
                <a:lnTo>
                  <a:pt x="2225425" y="0"/>
                </a:lnTo>
                <a:lnTo>
                  <a:pt x="2225425" y="1622420"/>
                </a:lnTo>
                <a:cubicBezTo>
                  <a:pt x="2225425" y="1698387"/>
                  <a:pt x="2163842" y="1759970"/>
                  <a:pt x="2087875" y="1759970"/>
                </a:cubicBezTo>
                <a:lnTo>
                  <a:pt x="0" y="1759970"/>
                </a:lnTo>
                <a:close/>
              </a:path>
            </a:pathLst>
          </a:custGeom>
          <a:blipFill>
            <a:blip r:embed="rId6"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pSp>
        <p:nvGrpSpPr>
          <p:cNvPr id="11" name="グループ化 10">
            <a:extLst>
              <a:ext uri="{FF2B5EF4-FFF2-40B4-BE49-F238E27FC236}">
                <a16:creationId xmlns:a16="http://schemas.microsoft.com/office/drawing/2014/main" id="{C0D75282-60DE-8D5B-AF6A-A0745C346E82}"/>
              </a:ext>
            </a:extLst>
          </p:cNvPr>
          <p:cNvGrpSpPr/>
          <p:nvPr/>
        </p:nvGrpSpPr>
        <p:grpSpPr>
          <a:xfrm>
            <a:off x="8406546" y="5708856"/>
            <a:ext cx="685843" cy="523220"/>
            <a:chOff x="8440407" y="5669348"/>
            <a:chExt cx="685843" cy="523220"/>
          </a:xfrm>
        </p:grpSpPr>
        <p:sp>
          <p:nvSpPr>
            <p:cNvPr id="8" name="テキスト ボックス 7">
              <a:extLst>
                <a:ext uri="{FF2B5EF4-FFF2-40B4-BE49-F238E27FC236}">
                  <a16:creationId xmlns:a16="http://schemas.microsoft.com/office/drawing/2014/main" id="{9E6379D7-97C4-2800-2B54-B4884A08C85F}"/>
                </a:ext>
              </a:extLst>
            </p:cNvPr>
            <p:cNvSpPr txBox="1"/>
            <p:nvPr/>
          </p:nvSpPr>
          <p:spPr>
            <a:xfrm>
              <a:off x="8440407" y="5743913"/>
              <a:ext cx="5531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cs typeface="Poppins" pitchFamily="2" charset="0"/>
                </a:rPr>
                <a:t>/</a:t>
              </a:r>
              <a:endParaRPr kumimoji="1" lang="ja-JP" altLang="en-US" sz="18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10" name="テキスト ボックス 9">
              <a:extLst>
                <a:ext uri="{FF2B5EF4-FFF2-40B4-BE49-F238E27FC236}">
                  <a16:creationId xmlns:a16="http://schemas.microsoft.com/office/drawing/2014/main" id="{905F41C0-B7C4-A3C5-BD30-BB5B12C1160A}"/>
                </a:ext>
              </a:extLst>
            </p:cNvPr>
            <p:cNvSpPr txBox="1"/>
            <p:nvPr/>
          </p:nvSpPr>
          <p:spPr>
            <a:xfrm>
              <a:off x="8573095" y="5669348"/>
              <a:ext cx="55315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5</a:t>
              </a:r>
              <a:endParaRPr kumimoji="1" lang="ja-JP" altLang="en-US" sz="32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grpSp>
      <p:grpSp>
        <p:nvGrpSpPr>
          <p:cNvPr id="13" name="グループ化 12">
            <a:extLst>
              <a:ext uri="{FF2B5EF4-FFF2-40B4-BE49-F238E27FC236}">
                <a16:creationId xmlns:a16="http://schemas.microsoft.com/office/drawing/2014/main" id="{DC4CAE0D-93C2-0737-7594-775F4A9DBD3D}"/>
              </a:ext>
            </a:extLst>
          </p:cNvPr>
          <p:cNvGrpSpPr/>
          <p:nvPr/>
        </p:nvGrpSpPr>
        <p:grpSpPr>
          <a:xfrm>
            <a:off x="8406546" y="5082323"/>
            <a:ext cx="685843" cy="523220"/>
            <a:chOff x="8440407" y="5669348"/>
            <a:chExt cx="685843" cy="523220"/>
          </a:xfrm>
        </p:grpSpPr>
        <p:sp>
          <p:nvSpPr>
            <p:cNvPr id="14" name="テキスト ボックス 13">
              <a:extLst>
                <a:ext uri="{FF2B5EF4-FFF2-40B4-BE49-F238E27FC236}">
                  <a16:creationId xmlns:a16="http://schemas.microsoft.com/office/drawing/2014/main" id="{45C90D9D-7432-3134-AAF5-41269DE6205C}"/>
                </a:ext>
              </a:extLst>
            </p:cNvPr>
            <p:cNvSpPr txBox="1"/>
            <p:nvPr/>
          </p:nvSpPr>
          <p:spPr>
            <a:xfrm>
              <a:off x="8440407" y="5743913"/>
              <a:ext cx="5531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cs typeface="Poppins" pitchFamily="2" charset="0"/>
                </a:rPr>
                <a:t>/</a:t>
              </a:r>
              <a:endParaRPr kumimoji="1" lang="ja-JP" altLang="en-US" sz="18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15" name="テキスト ボックス 14">
              <a:extLst>
                <a:ext uri="{FF2B5EF4-FFF2-40B4-BE49-F238E27FC236}">
                  <a16:creationId xmlns:a16="http://schemas.microsoft.com/office/drawing/2014/main" id="{058F73CF-D417-45E9-DC5D-AE09ED9E5933}"/>
                </a:ext>
              </a:extLst>
            </p:cNvPr>
            <p:cNvSpPr txBox="1"/>
            <p:nvPr/>
          </p:nvSpPr>
          <p:spPr>
            <a:xfrm>
              <a:off x="8573095" y="5669348"/>
              <a:ext cx="55315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5</a:t>
              </a:r>
              <a:endParaRPr kumimoji="1" lang="ja-JP" altLang="en-US" sz="32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grpSp>
      <p:sp>
        <p:nvSpPr>
          <p:cNvPr id="27" name="テキスト ボックス 26">
            <a:extLst>
              <a:ext uri="{FF2B5EF4-FFF2-40B4-BE49-F238E27FC236}">
                <a16:creationId xmlns:a16="http://schemas.microsoft.com/office/drawing/2014/main" id="{0827C86E-F119-69D5-4268-1CA478847AD6}"/>
              </a:ext>
            </a:extLst>
          </p:cNvPr>
          <p:cNvSpPr txBox="1"/>
          <p:nvPr/>
        </p:nvSpPr>
        <p:spPr>
          <a:xfrm>
            <a:off x="3022563" y="6309222"/>
            <a:ext cx="3072061" cy="230832"/>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1" lang="ja-JP" altLang="ja-JP" sz="9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Poppins" pitchFamily="2" charset="0"/>
              </a:rPr>
              <a:t>Click the image to view the demo video</a:t>
            </a:r>
            <a:endParaRPr kumimoji="0" lang="ja-JP" altLang="en-US" sz="9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2" name="テキスト ボックス 1">
            <a:extLst>
              <a:ext uri="{FF2B5EF4-FFF2-40B4-BE49-F238E27FC236}">
                <a16:creationId xmlns:a16="http://schemas.microsoft.com/office/drawing/2014/main" id="{728E5ADF-FB02-F670-6CA5-AAA80DE9D2A0}"/>
              </a:ext>
            </a:extLst>
          </p:cNvPr>
          <p:cNvSpPr txBox="1"/>
          <p:nvPr/>
        </p:nvSpPr>
        <p:spPr>
          <a:xfrm>
            <a:off x="595507" y="5236600"/>
            <a:ext cx="3185160"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200" b="1" i="0" u="none" strike="noStrike" kern="1200" cap="none" spc="0" normalizeH="0" baseline="0" noProof="0">
                <a:ln>
                  <a:noFill/>
                </a:ln>
                <a:solidFill>
                  <a:srgbClr val="00A7FF"/>
                </a:solidFill>
                <a:effectLst/>
                <a:uLnTx/>
                <a:uFillTx/>
                <a:latin typeface="Poppins SemiBold" pitchFamily="2" charset="0"/>
                <a:ea typeface="游ゴシック" panose="020B0400000000000000" pitchFamily="50" charset="-128"/>
                <a:cs typeface="Poppins SemiBold" pitchFamily="2" charset="0"/>
              </a:rPr>
              <a:t>Highly optimized mobile-first design</a:t>
            </a:r>
          </a:p>
        </p:txBody>
      </p:sp>
      <p:sp>
        <p:nvSpPr>
          <p:cNvPr id="3" name="テキスト ボックス 2">
            <a:extLst>
              <a:ext uri="{FF2B5EF4-FFF2-40B4-BE49-F238E27FC236}">
                <a16:creationId xmlns:a16="http://schemas.microsoft.com/office/drawing/2014/main" id="{EA23678F-E4E3-C8C2-1868-1E27DEBDC106}"/>
              </a:ext>
            </a:extLst>
          </p:cNvPr>
          <p:cNvSpPr txBox="1"/>
          <p:nvPr/>
        </p:nvSpPr>
        <p:spPr>
          <a:xfrm>
            <a:off x="595507" y="2394514"/>
            <a:ext cx="3185160" cy="981038"/>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1" lang="en-US" altLang="ja-JP" sz="3500" b="1" i="0" u="none" strike="noStrike" kern="1200" cap="none" spc="0" normalizeH="0" baseline="0" noProof="0">
                <a:ln>
                  <a:noFill/>
                </a:ln>
                <a:solidFill>
                  <a:srgbClr val="00A7FF"/>
                </a:solidFill>
                <a:effectLst/>
                <a:uLnTx/>
                <a:uFillTx/>
                <a:latin typeface="Poppins SemiBold" pitchFamily="2" charset="0"/>
                <a:ea typeface="游ゴシック" panose="020B0400000000000000" pitchFamily="50" charset="-128"/>
                <a:cs typeface="Poppins SemiBold" pitchFamily="2" charset="0"/>
              </a:rPr>
              <a:t>Freemium</a:t>
            </a:r>
          </a:p>
          <a:p>
            <a:pPr marL="0" marR="0" lvl="0" indent="0" algn="ctr" defTabSz="914400" rtl="0" eaLnBrk="1" fontAlgn="auto" latinLnBrk="0" hangingPunct="1">
              <a:lnSpc>
                <a:spcPct val="80000"/>
              </a:lnSpc>
              <a:spcBef>
                <a:spcPts val="0"/>
              </a:spcBef>
              <a:spcAft>
                <a:spcPts val="0"/>
              </a:spcAft>
              <a:buClrTx/>
              <a:buSzTx/>
              <a:buFontTx/>
              <a:buNone/>
              <a:tabLst/>
              <a:defRPr/>
            </a:pPr>
            <a:r>
              <a:rPr kumimoji="1" lang="en-US" altLang="ja-JP" sz="3500" b="1" i="0" u="none" strike="noStrike" kern="1200" cap="none" spc="0" normalizeH="0" baseline="0" noProof="0">
                <a:ln>
                  <a:noFill/>
                </a:ln>
                <a:solidFill>
                  <a:srgbClr val="00A7FF"/>
                </a:solidFill>
                <a:effectLst/>
                <a:uLnTx/>
                <a:uFillTx/>
                <a:latin typeface="Poppins SemiBold" pitchFamily="2" charset="0"/>
                <a:ea typeface="游ゴシック" panose="020B0400000000000000" pitchFamily="50" charset="-128"/>
                <a:cs typeface="Poppins SemiBold" pitchFamily="2" charset="0"/>
              </a:rPr>
              <a:t>model</a:t>
            </a:r>
          </a:p>
        </p:txBody>
      </p:sp>
      <p:sp>
        <p:nvSpPr>
          <p:cNvPr id="36" name="フリーフォーム 35">
            <a:extLst>
              <a:ext uri="{FF2B5EF4-FFF2-40B4-BE49-F238E27FC236}">
                <a16:creationId xmlns:a16="http://schemas.microsoft.com/office/drawing/2014/main" id="{E0A2D90C-94EF-23C4-F8BB-96953679D592}"/>
              </a:ext>
            </a:extLst>
          </p:cNvPr>
          <p:cNvSpPr/>
          <p:nvPr/>
        </p:nvSpPr>
        <p:spPr>
          <a:xfrm>
            <a:off x="550862" y="4218138"/>
            <a:ext cx="5472826" cy="321325"/>
          </a:xfrm>
          <a:custGeom>
            <a:avLst/>
            <a:gdLst>
              <a:gd name="csX0" fmla="*/ 169305 w 5472826"/>
              <a:gd name="csY0" fmla="*/ 0 h 321325"/>
              <a:gd name="csX1" fmla="*/ 5303521 w 5472826"/>
              <a:gd name="csY1" fmla="*/ 0 h 321325"/>
              <a:gd name="csX2" fmla="*/ 5472826 w 5472826"/>
              <a:gd name="csY2" fmla="*/ 169305 h 321325"/>
              <a:gd name="csX3" fmla="*/ 5472826 w 5472826"/>
              <a:gd name="csY3" fmla="*/ 321325 h 321325"/>
              <a:gd name="csX4" fmla="*/ 0 w 5472826"/>
              <a:gd name="csY4" fmla="*/ 321325 h 321325"/>
              <a:gd name="csX5" fmla="*/ 0 w 5472826"/>
              <a:gd name="csY5" fmla="*/ 169305 h 321325"/>
              <a:gd name="csX6" fmla="*/ 169305 w 5472826"/>
              <a:gd name="csY6" fmla="*/ 0 h 3213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72826" h="321325">
                <a:moveTo>
                  <a:pt x="169305" y="0"/>
                </a:moveTo>
                <a:lnTo>
                  <a:pt x="5303521" y="0"/>
                </a:lnTo>
                <a:cubicBezTo>
                  <a:pt x="5397026" y="0"/>
                  <a:pt x="5472826" y="75800"/>
                  <a:pt x="5472826" y="169305"/>
                </a:cubicBezTo>
                <a:lnTo>
                  <a:pt x="5472826" y="321325"/>
                </a:lnTo>
                <a:lnTo>
                  <a:pt x="0" y="321325"/>
                </a:lnTo>
                <a:lnTo>
                  <a:pt x="0" y="169305"/>
                </a:lnTo>
                <a:cubicBezTo>
                  <a:pt x="0" y="75800"/>
                  <a:pt x="75800" y="0"/>
                  <a:pt x="169305" y="0"/>
                </a:cubicBezTo>
                <a:close/>
              </a:path>
            </a:pathLst>
          </a:cu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0" name="フリーフォーム 39">
            <a:extLst>
              <a:ext uri="{FF2B5EF4-FFF2-40B4-BE49-F238E27FC236}">
                <a16:creationId xmlns:a16="http://schemas.microsoft.com/office/drawing/2014/main" id="{EB6B060C-194C-5B3A-E80F-70788184F6CE}"/>
              </a:ext>
            </a:extLst>
          </p:cNvPr>
          <p:cNvSpPr/>
          <p:nvPr/>
        </p:nvSpPr>
        <p:spPr>
          <a:xfrm>
            <a:off x="6224647" y="1495092"/>
            <a:ext cx="5472826" cy="321325"/>
          </a:xfrm>
          <a:custGeom>
            <a:avLst/>
            <a:gdLst>
              <a:gd name="csX0" fmla="*/ 169305 w 5472826"/>
              <a:gd name="csY0" fmla="*/ 0 h 321325"/>
              <a:gd name="csX1" fmla="*/ 5303521 w 5472826"/>
              <a:gd name="csY1" fmla="*/ 0 h 321325"/>
              <a:gd name="csX2" fmla="*/ 5472826 w 5472826"/>
              <a:gd name="csY2" fmla="*/ 169305 h 321325"/>
              <a:gd name="csX3" fmla="*/ 5472826 w 5472826"/>
              <a:gd name="csY3" fmla="*/ 321325 h 321325"/>
              <a:gd name="csX4" fmla="*/ 0 w 5472826"/>
              <a:gd name="csY4" fmla="*/ 321325 h 321325"/>
              <a:gd name="csX5" fmla="*/ 0 w 5472826"/>
              <a:gd name="csY5" fmla="*/ 169305 h 321325"/>
              <a:gd name="csX6" fmla="*/ 169305 w 5472826"/>
              <a:gd name="csY6" fmla="*/ 0 h 3213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72826" h="321325">
                <a:moveTo>
                  <a:pt x="169305" y="0"/>
                </a:moveTo>
                <a:lnTo>
                  <a:pt x="5303521" y="0"/>
                </a:lnTo>
                <a:cubicBezTo>
                  <a:pt x="5397026" y="0"/>
                  <a:pt x="5472826" y="75800"/>
                  <a:pt x="5472826" y="169305"/>
                </a:cubicBezTo>
                <a:lnTo>
                  <a:pt x="5472826" y="321325"/>
                </a:lnTo>
                <a:lnTo>
                  <a:pt x="0" y="321325"/>
                </a:lnTo>
                <a:lnTo>
                  <a:pt x="0" y="169305"/>
                </a:lnTo>
                <a:cubicBezTo>
                  <a:pt x="0" y="75800"/>
                  <a:pt x="75800" y="0"/>
                  <a:pt x="169305" y="0"/>
                </a:cubicBezTo>
                <a:close/>
              </a:path>
            </a:pathLst>
          </a:cu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53" name="テキスト ボックス 52">
            <a:extLst>
              <a:ext uri="{FF2B5EF4-FFF2-40B4-BE49-F238E27FC236}">
                <a16:creationId xmlns:a16="http://schemas.microsoft.com/office/drawing/2014/main" id="{72E4D0A3-71E5-2468-562D-ED9716289A07}"/>
              </a:ext>
            </a:extLst>
          </p:cNvPr>
          <p:cNvSpPr txBox="1"/>
          <p:nvPr/>
        </p:nvSpPr>
        <p:spPr>
          <a:xfrm>
            <a:off x="6557830" y="1516893"/>
            <a:ext cx="480646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Content that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D</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rives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G</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rowth and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Continued Use</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60" name="テキスト ボックス 59">
            <a:extLst>
              <a:ext uri="{FF2B5EF4-FFF2-40B4-BE49-F238E27FC236}">
                <a16:creationId xmlns:a16="http://schemas.microsoft.com/office/drawing/2014/main" id="{2E2EDA09-9531-C8C0-D514-6BF7B6894A32}"/>
              </a:ext>
            </a:extLst>
          </p:cNvPr>
          <p:cNvSpPr txBox="1"/>
          <p:nvPr/>
        </p:nvSpPr>
        <p:spPr>
          <a:xfrm>
            <a:off x="1705335" y="4246647"/>
            <a:ext cx="318516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Superior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U</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sability</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41" name="フリーフォーム 40">
            <a:extLst>
              <a:ext uri="{FF2B5EF4-FFF2-40B4-BE49-F238E27FC236}">
                <a16:creationId xmlns:a16="http://schemas.microsoft.com/office/drawing/2014/main" id="{808B0667-8949-F956-050C-5C24332464AF}"/>
              </a:ext>
            </a:extLst>
          </p:cNvPr>
          <p:cNvSpPr/>
          <p:nvPr/>
        </p:nvSpPr>
        <p:spPr>
          <a:xfrm>
            <a:off x="6224647" y="4218138"/>
            <a:ext cx="5472826" cy="321325"/>
          </a:xfrm>
          <a:custGeom>
            <a:avLst/>
            <a:gdLst>
              <a:gd name="csX0" fmla="*/ 169305 w 5472826"/>
              <a:gd name="csY0" fmla="*/ 0 h 321325"/>
              <a:gd name="csX1" fmla="*/ 5303521 w 5472826"/>
              <a:gd name="csY1" fmla="*/ 0 h 321325"/>
              <a:gd name="csX2" fmla="*/ 5472826 w 5472826"/>
              <a:gd name="csY2" fmla="*/ 169305 h 321325"/>
              <a:gd name="csX3" fmla="*/ 5472826 w 5472826"/>
              <a:gd name="csY3" fmla="*/ 321325 h 321325"/>
              <a:gd name="csX4" fmla="*/ 0 w 5472826"/>
              <a:gd name="csY4" fmla="*/ 321325 h 321325"/>
              <a:gd name="csX5" fmla="*/ 0 w 5472826"/>
              <a:gd name="csY5" fmla="*/ 169305 h 321325"/>
              <a:gd name="csX6" fmla="*/ 169305 w 5472826"/>
              <a:gd name="csY6" fmla="*/ 0 h 3213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72826" h="321325">
                <a:moveTo>
                  <a:pt x="169305" y="0"/>
                </a:moveTo>
                <a:lnTo>
                  <a:pt x="5303521" y="0"/>
                </a:lnTo>
                <a:cubicBezTo>
                  <a:pt x="5397026" y="0"/>
                  <a:pt x="5472826" y="75800"/>
                  <a:pt x="5472826" y="169305"/>
                </a:cubicBezTo>
                <a:lnTo>
                  <a:pt x="5472826" y="321325"/>
                </a:lnTo>
                <a:lnTo>
                  <a:pt x="0" y="321325"/>
                </a:lnTo>
                <a:lnTo>
                  <a:pt x="0" y="169305"/>
                </a:lnTo>
                <a:cubicBezTo>
                  <a:pt x="0" y="75800"/>
                  <a:pt x="75800" y="0"/>
                  <a:pt x="169305" y="0"/>
                </a:cubicBezTo>
                <a:close/>
              </a:path>
            </a:pathLst>
          </a:cu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67" name="テキスト ボックス 66">
            <a:extLst>
              <a:ext uri="{FF2B5EF4-FFF2-40B4-BE49-F238E27FC236}">
                <a16:creationId xmlns:a16="http://schemas.microsoft.com/office/drawing/2014/main" id="{53FD6482-8CFD-00F2-E3C6-ADFB156D23D1}"/>
              </a:ext>
            </a:extLst>
          </p:cNvPr>
          <p:cNvSpPr txBox="1"/>
          <p:nvPr/>
        </p:nvSpPr>
        <p:spPr>
          <a:xfrm>
            <a:off x="6557830" y="4246647"/>
            <a:ext cx="480646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Rapid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U</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pdates and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S</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trong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C</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ustomer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L</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oyalty</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43" name="フリーフォーム 42">
            <a:hlinkClick r:id="rId3"/>
            <a:extLst>
              <a:ext uri="{FF2B5EF4-FFF2-40B4-BE49-F238E27FC236}">
                <a16:creationId xmlns:a16="http://schemas.microsoft.com/office/drawing/2014/main" id="{EA7B4DAB-8777-F2AA-13E4-90CE45C3C5C0}"/>
              </a:ext>
            </a:extLst>
          </p:cNvPr>
          <p:cNvSpPr>
            <a:spLocks/>
          </p:cNvSpPr>
          <p:nvPr/>
        </p:nvSpPr>
        <p:spPr>
          <a:xfrm>
            <a:off x="3798263" y="1811971"/>
            <a:ext cx="2225425" cy="1759970"/>
          </a:xfrm>
          <a:custGeom>
            <a:avLst/>
            <a:gdLst>
              <a:gd name="csX0" fmla="*/ 0 w 2225425"/>
              <a:gd name="csY0" fmla="*/ 0 h 1759970"/>
              <a:gd name="csX1" fmla="*/ 2225425 w 2225425"/>
              <a:gd name="csY1" fmla="*/ 0 h 1759970"/>
              <a:gd name="csX2" fmla="*/ 2225425 w 2225425"/>
              <a:gd name="csY2" fmla="*/ 1622420 h 1759970"/>
              <a:gd name="csX3" fmla="*/ 2087875 w 2225425"/>
              <a:gd name="csY3" fmla="*/ 1759970 h 1759970"/>
              <a:gd name="csX4" fmla="*/ 0 w 2225425"/>
              <a:gd name="csY4" fmla="*/ 1759970 h 1759970"/>
            </a:gdLst>
            <a:ahLst/>
            <a:cxnLst>
              <a:cxn ang="0">
                <a:pos x="csX0" y="csY0"/>
              </a:cxn>
              <a:cxn ang="0">
                <a:pos x="csX1" y="csY1"/>
              </a:cxn>
              <a:cxn ang="0">
                <a:pos x="csX2" y="csY2"/>
              </a:cxn>
              <a:cxn ang="0">
                <a:pos x="csX3" y="csY3"/>
              </a:cxn>
              <a:cxn ang="0">
                <a:pos x="csX4" y="csY4"/>
              </a:cxn>
            </a:cxnLst>
            <a:rect l="l" t="t" r="r" b="b"/>
            <a:pathLst>
              <a:path w="2225425" h="1759970">
                <a:moveTo>
                  <a:pt x="0" y="0"/>
                </a:moveTo>
                <a:lnTo>
                  <a:pt x="2225425" y="0"/>
                </a:lnTo>
                <a:lnTo>
                  <a:pt x="2225425" y="1622420"/>
                </a:lnTo>
                <a:cubicBezTo>
                  <a:pt x="2225425" y="1698387"/>
                  <a:pt x="2163842" y="1759970"/>
                  <a:pt x="2087875" y="1759970"/>
                </a:cubicBezTo>
                <a:lnTo>
                  <a:pt x="0" y="1759970"/>
                </a:lnTo>
                <a:close/>
              </a:path>
            </a:pathLst>
          </a:custGeom>
          <a:blipFill dpi="0" rotWithShape="1">
            <a:blip r:embed="rId7"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7" name="フリーフォーム 36">
            <a:extLst>
              <a:ext uri="{FF2B5EF4-FFF2-40B4-BE49-F238E27FC236}">
                <a16:creationId xmlns:a16="http://schemas.microsoft.com/office/drawing/2014/main" id="{7AE0344A-5421-9C29-330F-CFA72C089E3E}"/>
              </a:ext>
            </a:extLst>
          </p:cNvPr>
          <p:cNvSpPr/>
          <p:nvPr/>
        </p:nvSpPr>
        <p:spPr>
          <a:xfrm>
            <a:off x="550862" y="1495092"/>
            <a:ext cx="5472826" cy="321325"/>
          </a:xfrm>
          <a:custGeom>
            <a:avLst/>
            <a:gdLst>
              <a:gd name="csX0" fmla="*/ 169305 w 5472826"/>
              <a:gd name="csY0" fmla="*/ 0 h 321325"/>
              <a:gd name="csX1" fmla="*/ 5303521 w 5472826"/>
              <a:gd name="csY1" fmla="*/ 0 h 321325"/>
              <a:gd name="csX2" fmla="*/ 5472826 w 5472826"/>
              <a:gd name="csY2" fmla="*/ 169305 h 321325"/>
              <a:gd name="csX3" fmla="*/ 5472826 w 5472826"/>
              <a:gd name="csY3" fmla="*/ 321325 h 321325"/>
              <a:gd name="csX4" fmla="*/ 0 w 5472826"/>
              <a:gd name="csY4" fmla="*/ 321325 h 321325"/>
              <a:gd name="csX5" fmla="*/ 0 w 5472826"/>
              <a:gd name="csY5" fmla="*/ 169305 h 321325"/>
              <a:gd name="csX6" fmla="*/ 169305 w 5472826"/>
              <a:gd name="csY6" fmla="*/ 0 h 3213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72826" h="321325">
                <a:moveTo>
                  <a:pt x="169305" y="0"/>
                </a:moveTo>
                <a:lnTo>
                  <a:pt x="5303521" y="0"/>
                </a:lnTo>
                <a:cubicBezTo>
                  <a:pt x="5397026" y="0"/>
                  <a:pt x="5472826" y="75800"/>
                  <a:pt x="5472826" y="169305"/>
                </a:cubicBezTo>
                <a:lnTo>
                  <a:pt x="5472826" y="321325"/>
                </a:lnTo>
                <a:lnTo>
                  <a:pt x="0" y="321325"/>
                </a:lnTo>
                <a:lnTo>
                  <a:pt x="0" y="169305"/>
                </a:lnTo>
                <a:cubicBezTo>
                  <a:pt x="0" y="75800"/>
                  <a:pt x="75800" y="0"/>
                  <a:pt x="169305" y="0"/>
                </a:cubicBezTo>
                <a:close/>
              </a:path>
            </a:pathLst>
          </a:cu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34" name="テキスト ボックス 33">
            <a:extLst>
              <a:ext uri="{FF2B5EF4-FFF2-40B4-BE49-F238E27FC236}">
                <a16:creationId xmlns:a16="http://schemas.microsoft.com/office/drawing/2014/main" id="{CB089930-2373-94B3-6F7A-94F25ECE9EEF}"/>
              </a:ext>
            </a:extLst>
          </p:cNvPr>
          <p:cNvSpPr txBox="1"/>
          <p:nvPr/>
        </p:nvSpPr>
        <p:spPr>
          <a:xfrm>
            <a:off x="1705335" y="1516894"/>
            <a:ext cx="318516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Easy to </a:t>
            </a:r>
            <a:r>
              <a:rPr kumimoji="1" lang="en-US" altLang="ja-JP" sz="12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S</a:t>
            </a: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tart</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Tree>
    <p:extLst>
      <p:ext uri="{BB962C8B-B14F-4D97-AF65-F5344CB8AC3E}">
        <p14:creationId xmlns:p14="http://schemas.microsoft.com/office/powerpoint/2010/main" val="2147157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角丸四角形 112">
            <a:extLst>
              <a:ext uri="{FF2B5EF4-FFF2-40B4-BE49-F238E27FC236}">
                <a16:creationId xmlns:a16="http://schemas.microsoft.com/office/drawing/2014/main" id="{276CCCF3-DC88-4FC7-ADF9-1CEDB384BDD0}"/>
              </a:ext>
            </a:extLst>
          </p:cNvPr>
          <p:cNvSpPr/>
          <p:nvPr/>
        </p:nvSpPr>
        <p:spPr>
          <a:xfrm>
            <a:off x="550862" y="1521219"/>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pSp>
        <p:nvGrpSpPr>
          <p:cNvPr id="133" name="グループ化 132">
            <a:extLst>
              <a:ext uri="{FF2B5EF4-FFF2-40B4-BE49-F238E27FC236}">
                <a16:creationId xmlns:a16="http://schemas.microsoft.com/office/drawing/2014/main" id="{0C67F42C-0123-07C6-A2FC-CEA4678E3301}"/>
              </a:ext>
            </a:extLst>
          </p:cNvPr>
          <p:cNvGrpSpPr/>
          <p:nvPr/>
        </p:nvGrpSpPr>
        <p:grpSpPr>
          <a:xfrm>
            <a:off x="846578" y="2897964"/>
            <a:ext cx="6344803" cy="3117600"/>
            <a:chOff x="846578" y="2897964"/>
            <a:chExt cx="6344803" cy="3117600"/>
          </a:xfrm>
        </p:grpSpPr>
        <p:pic>
          <p:nvPicPr>
            <p:cNvPr id="151" name="図 150">
              <a:extLst>
                <a:ext uri="{FF2B5EF4-FFF2-40B4-BE49-F238E27FC236}">
                  <a16:creationId xmlns:a16="http://schemas.microsoft.com/office/drawing/2014/main" id="{7007FB01-64E7-95D8-5A25-A32E19A4A7F4}"/>
                </a:ext>
              </a:extLst>
            </p:cNvPr>
            <p:cNvPicPr>
              <a:picLocks noChangeAspect="1"/>
            </p:cNvPicPr>
            <p:nvPr/>
          </p:nvPicPr>
          <p:blipFill>
            <a:blip r:embed="rId3"/>
            <a:stretch>
              <a:fillRect/>
            </a:stretch>
          </p:blipFill>
          <p:spPr>
            <a:xfrm>
              <a:off x="846578" y="2897964"/>
              <a:ext cx="6344803" cy="3117600"/>
            </a:xfrm>
            <a:prstGeom prst="rect">
              <a:avLst/>
            </a:prstGeom>
          </p:spPr>
        </p:pic>
        <p:sp>
          <p:nvSpPr>
            <p:cNvPr id="132" name="円/楕円 131">
              <a:extLst>
                <a:ext uri="{FF2B5EF4-FFF2-40B4-BE49-F238E27FC236}">
                  <a16:creationId xmlns:a16="http://schemas.microsoft.com/office/drawing/2014/main" id="{3B480365-A637-DF64-5308-DC2AD59A8F9F}"/>
                </a:ext>
              </a:extLst>
            </p:cNvPr>
            <p:cNvSpPr/>
            <p:nvPr/>
          </p:nvSpPr>
          <p:spPr>
            <a:xfrm>
              <a:off x="6709201" y="3731781"/>
              <a:ext cx="270571" cy="2705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grpSp>
      <p:pic>
        <p:nvPicPr>
          <p:cNvPr id="33" name="図 32">
            <a:extLst>
              <a:ext uri="{FF2B5EF4-FFF2-40B4-BE49-F238E27FC236}">
                <a16:creationId xmlns:a16="http://schemas.microsoft.com/office/drawing/2014/main" id="{27678FE2-D73E-9571-E2E6-3727B70492E4}"/>
              </a:ext>
            </a:extLst>
          </p:cNvPr>
          <p:cNvPicPr>
            <a:picLocks noChangeAspect="1"/>
          </p:cNvPicPr>
          <p:nvPr/>
        </p:nvPicPr>
        <p:blipFill>
          <a:blip r:embed="rId4"/>
          <a:stretch>
            <a:fillRect/>
          </a:stretch>
        </p:blipFill>
        <p:spPr>
          <a:xfrm>
            <a:off x="8293627" y="1773760"/>
            <a:ext cx="2720306" cy="1154416"/>
          </a:xfrm>
          <a:prstGeom prst="rect">
            <a:avLst/>
          </a:prstGeom>
        </p:spPr>
      </p:pic>
      <p:graphicFrame>
        <p:nvGraphicFramePr>
          <p:cNvPr id="30" name="グラフ 29">
            <a:extLst>
              <a:ext uri="{FF2B5EF4-FFF2-40B4-BE49-F238E27FC236}">
                <a16:creationId xmlns:a16="http://schemas.microsoft.com/office/drawing/2014/main" id="{484C3FC2-D97D-827B-BD63-EB60B269882D}"/>
              </a:ext>
            </a:extLst>
          </p:cNvPr>
          <p:cNvGraphicFramePr/>
          <p:nvPr>
            <p:extLst>
              <p:ext uri="{D42A27DB-BD31-4B8C-83A1-F6EECF244321}">
                <p14:modId xmlns:p14="http://schemas.microsoft.com/office/powerpoint/2010/main" val="3130383045"/>
              </p:ext>
            </p:extLst>
          </p:nvPr>
        </p:nvGraphicFramePr>
        <p:xfrm>
          <a:off x="7682008" y="2014695"/>
          <a:ext cx="3785045" cy="2143258"/>
        </p:xfrm>
        <a:graphic>
          <a:graphicData uri="http://schemas.openxmlformats.org/drawingml/2006/chart">
            <c:chart xmlns:c="http://schemas.openxmlformats.org/drawingml/2006/chart" xmlns:r="http://schemas.openxmlformats.org/officeDocument/2006/relationships" r:id="rId5"/>
          </a:graphicData>
        </a:graphic>
      </p:graphicFrame>
      <p:sp>
        <p:nvSpPr>
          <p:cNvPr id="22" name="正方形/長方形 21">
            <a:extLst>
              <a:ext uri="{FF2B5EF4-FFF2-40B4-BE49-F238E27FC236}">
                <a16:creationId xmlns:a16="http://schemas.microsoft.com/office/drawing/2014/main" id="{D9A8B7A4-60B8-F866-B619-3FF222734497}"/>
              </a:ext>
            </a:extLst>
          </p:cNvPr>
          <p:cNvSpPr/>
          <p:nvPr/>
        </p:nvSpPr>
        <p:spPr>
          <a:xfrm>
            <a:off x="10826401" y="2329803"/>
            <a:ext cx="384602" cy="126882"/>
          </a:xfrm>
          <a:prstGeom prst="rect">
            <a:avLst/>
          </a:prstGeom>
          <a:gradFill>
            <a:gsLst>
              <a:gs pos="2000">
                <a:schemeClr val="bg1">
                  <a:alpha val="0"/>
                </a:schemeClr>
              </a:gs>
              <a:gs pos="40000">
                <a:srgbClr val="FFFFFF">
                  <a:alpha val="71952"/>
                </a:srgbClr>
              </a:gs>
              <a:gs pos="75000">
                <a:schemeClr val="bg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graphicFrame>
        <p:nvGraphicFramePr>
          <p:cNvPr id="37" name="グラフ 36">
            <a:extLst>
              <a:ext uri="{FF2B5EF4-FFF2-40B4-BE49-F238E27FC236}">
                <a16:creationId xmlns:a16="http://schemas.microsoft.com/office/drawing/2014/main" id="{797CDCCF-2A68-58FD-BA7B-6A73FB196A51}"/>
              </a:ext>
            </a:extLst>
          </p:cNvPr>
          <p:cNvGraphicFramePr/>
          <p:nvPr>
            <p:extLst>
              <p:ext uri="{D42A27DB-BD31-4B8C-83A1-F6EECF244321}">
                <p14:modId xmlns:p14="http://schemas.microsoft.com/office/powerpoint/2010/main" val="2972990071"/>
              </p:ext>
            </p:extLst>
          </p:nvPr>
        </p:nvGraphicFramePr>
        <p:xfrm>
          <a:off x="9866065" y="3813045"/>
          <a:ext cx="1505747" cy="2399391"/>
        </p:xfrm>
        <a:graphic>
          <a:graphicData uri="http://schemas.openxmlformats.org/drawingml/2006/chart">
            <c:chart xmlns:c="http://schemas.openxmlformats.org/drawingml/2006/chart" xmlns:r="http://schemas.openxmlformats.org/officeDocument/2006/relationships" r:id="rId6"/>
          </a:graphicData>
        </a:graphic>
      </p:graphicFrame>
      <p:pic>
        <p:nvPicPr>
          <p:cNvPr id="99" name="図 98" descr="アイコン&#10;&#10;AI 生成コンテンツは誤りを含む可能性があります。">
            <a:extLst>
              <a:ext uri="{FF2B5EF4-FFF2-40B4-BE49-F238E27FC236}">
                <a16:creationId xmlns:a16="http://schemas.microsoft.com/office/drawing/2014/main" id="{CA292D4F-B809-CA72-676D-1090F33A7584}"/>
              </a:ext>
            </a:extLst>
          </p:cNvPr>
          <p:cNvPicPr>
            <a:picLocks noGrp="1" noRot="1" noChangeAspect="1" noMove="1" noResize="1" noEditPoints="1" noAdjustHandles="1" noChangeArrowheads="1" noChangeShapeType="1" noCrop="1"/>
          </p:cNvPicPr>
          <p:nvPr/>
        </p:nvPicPr>
        <p:blipFill>
          <a:blip r:embed="rId7" cstate="email">
            <a:extLst>
              <a:ext uri="{28A0092B-C50C-407E-A947-70E740481C1C}">
                <a14:useLocalDpi xmlns:a14="http://schemas.microsoft.com/office/drawing/2010/main"/>
              </a:ext>
            </a:extLst>
          </a:blip>
          <a:stretch>
            <a:fillRect/>
          </a:stretch>
        </p:blipFill>
        <p:spPr>
          <a:xfrm>
            <a:off x="-11724" y="1681536"/>
            <a:ext cx="576000" cy="4595477"/>
          </a:xfrm>
          <a:prstGeom prst="rect">
            <a:avLst/>
          </a:prstGeom>
        </p:spPr>
      </p:pic>
      <p:graphicFrame>
        <p:nvGraphicFramePr>
          <p:cNvPr id="19" name="グラフ 18">
            <a:extLst>
              <a:ext uri="{FF2B5EF4-FFF2-40B4-BE49-F238E27FC236}">
                <a16:creationId xmlns:a16="http://schemas.microsoft.com/office/drawing/2014/main" id="{91D30295-13BC-693C-0EF3-383244846633}"/>
              </a:ext>
            </a:extLst>
          </p:cNvPr>
          <p:cNvGraphicFramePr/>
          <p:nvPr>
            <p:extLst>
              <p:ext uri="{D42A27DB-BD31-4B8C-83A1-F6EECF244321}">
                <p14:modId xmlns:p14="http://schemas.microsoft.com/office/powerpoint/2010/main" val="4123970228"/>
              </p:ext>
            </p:extLst>
          </p:nvPr>
        </p:nvGraphicFramePr>
        <p:xfrm>
          <a:off x="7808909" y="3813045"/>
          <a:ext cx="1505747" cy="2399391"/>
        </p:xfrm>
        <a:graphic>
          <a:graphicData uri="http://schemas.openxmlformats.org/drawingml/2006/chart">
            <c:chart xmlns:c="http://schemas.openxmlformats.org/drawingml/2006/chart" xmlns:r="http://schemas.openxmlformats.org/officeDocument/2006/relationships" r:id="rId8"/>
          </a:graphicData>
        </a:graphic>
      </p:graphicFrame>
      <p:sp>
        <p:nvSpPr>
          <p:cNvPr id="44" name="テキスト ボックス 43">
            <a:extLst>
              <a:ext uri="{FF2B5EF4-FFF2-40B4-BE49-F238E27FC236}">
                <a16:creationId xmlns:a16="http://schemas.microsoft.com/office/drawing/2014/main" id="{D63D4A6A-450A-82DD-59BE-B668F7584D1B}"/>
              </a:ext>
            </a:extLst>
          </p:cNvPr>
          <p:cNvSpPr txBox="1"/>
          <p:nvPr/>
        </p:nvSpPr>
        <p:spPr>
          <a:xfrm>
            <a:off x="10107736" y="4663563"/>
            <a:ext cx="102240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88</a:t>
            </a:r>
            <a:r>
              <a:rPr kumimoji="1" lang="en-US" altLang="ja-JP" sz="2400" b="0" i="0" u="none" strike="noStrike" kern="1200" cap="none" spc="-15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a:t>
            </a:r>
            <a:r>
              <a:rPr kumimoji="1" lang="en-US" altLang="ja-JP" sz="2400" b="0" i="0" u="none" strike="noStrike" kern="1200" cap="none" spc="-30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7 </a:t>
            </a:r>
            <a:r>
              <a:rPr kumimoji="1" lang="en-US" altLang="ja-JP" sz="1600" b="0" i="0" u="none" strike="noStrike" kern="1200" cap="none" spc="0" normalizeH="0" baseline="0" noProof="0" dirty="0">
                <a:ln>
                  <a:noFill/>
                </a:ln>
                <a:solidFill>
                  <a:srgbClr val="00A7FF"/>
                </a:solidFill>
                <a:effectLst/>
                <a:uLnTx/>
                <a:uFillTx/>
                <a:latin typeface="Poppins" pitchFamily="2" charset="0"/>
                <a:ea typeface="M PLUS 1p" panose="020B0502020203020207" pitchFamily="34" charset="-128"/>
                <a:cs typeface="Poppins" pitchFamily="2" charset="0"/>
              </a:rPr>
              <a:t>%</a:t>
            </a:r>
            <a:endParaRPr kumimoji="1" lang="ja-JP" altLang="en-US" sz="1200" b="0" i="0" u="none" strike="noStrike" kern="1200" cap="none" spc="0" normalizeH="0" baseline="-3000" noProof="0" dirty="0">
              <a:ln>
                <a:noFill/>
              </a:ln>
              <a:solidFill>
                <a:srgbClr val="00A7FF"/>
              </a:solidFill>
              <a:effectLst/>
              <a:uLnTx/>
              <a:uFillTx/>
              <a:latin typeface="Poppins" pitchFamily="2" charset="0"/>
              <a:ea typeface="M PLUS 1p" panose="020B0502020203020207" pitchFamily="34" charset="-128"/>
              <a:cs typeface="Poppins" pitchFamily="2" charset="0"/>
            </a:endParaRPr>
          </a:p>
        </p:txBody>
      </p:sp>
      <p:sp>
        <p:nvSpPr>
          <p:cNvPr id="47" name="テキスト ボックス 46">
            <a:extLst>
              <a:ext uri="{FF2B5EF4-FFF2-40B4-BE49-F238E27FC236}">
                <a16:creationId xmlns:a16="http://schemas.microsoft.com/office/drawing/2014/main" id="{A5B8C383-F07E-587D-FA96-5805EB86A90F}"/>
              </a:ext>
            </a:extLst>
          </p:cNvPr>
          <p:cNvSpPr txBox="1"/>
          <p:nvPr/>
        </p:nvSpPr>
        <p:spPr>
          <a:xfrm>
            <a:off x="10121846" y="4975109"/>
            <a:ext cx="99418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800" b="0" i="0" u="none" strike="noStrike" kern="1200" cap="none" spc="0" normalizeH="0" baseline="0" noProof="0">
                <a:ln>
                  <a:noFill/>
                </a:ln>
                <a:solidFill>
                  <a:srgbClr val="142FA4"/>
                </a:solidFill>
                <a:effectLst/>
                <a:uLnTx/>
                <a:uFillTx/>
                <a:latin typeface="Poppins Light" pitchFamily="2" charset="0"/>
                <a:ea typeface="游ゴシック" panose="020B0400000000000000" pitchFamily="50" charset="-128"/>
                <a:cs typeface="Poppins Light" pitchFamily="2" charset="0"/>
              </a:rPr>
              <a:t>as of </a:t>
            </a:r>
            <a:endParaRPr kumimoji="1" lang="en-US" altLang="ja-JP" sz="800" b="0" i="0" u="none" strike="noStrike" kern="1200" cap="none" spc="0" normalizeH="0" baseline="0" noProof="0" dirty="0">
              <a:ln>
                <a:noFill/>
              </a:ln>
              <a:solidFill>
                <a:srgbClr val="142FA4"/>
              </a:solidFill>
              <a:effectLst/>
              <a:uLnTx/>
              <a:uFillTx/>
              <a:latin typeface="Poppins Light" pitchFamily="2" charset="0"/>
              <a:ea typeface="游ゴシック" panose="020B0400000000000000" pitchFamily="50" charset="-128"/>
              <a:cs typeface="Poppins Light"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800" b="0" i="0" u="none" strike="noStrike" kern="1200" cap="none" spc="0" normalizeH="0" baseline="0" noProof="0">
                <a:ln>
                  <a:noFill/>
                </a:ln>
                <a:solidFill>
                  <a:srgbClr val="142FA4"/>
                </a:solidFill>
                <a:effectLst/>
                <a:uLnTx/>
                <a:uFillTx/>
                <a:latin typeface="Poppins Light" pitchFamily="2" charset="0"/>
                <a:ea typeface="游ゴシック" panose="020B0400000000000000" pitchFamily="50" charset="-128"/>
                <a:cs typeface="Poppins Light" pitchFamily="2" charset="0"/>
              </a:rPr>
              <a:t>December 2025</a:t>
            </a:r>
            <a:endParaRPr kumimoji="1" lang="ja-JP" altLang="en-US" sz="8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4" name="テキスト プレースホルダー 3">
            <a:extLst>
              <a:ext uri="{FF2B5EF4-FFF2-40B4-BE49-F238E27FC236}">
                <a16:creationId xmlns:a16="http://schemas.microsoft.com/office/drawing/2014/main" id="{274359CC-64B7-DD7F-768E-4A82CB9F1179}"/>
              </a:ext>
            </a:extLst>
          </p:cNvPr>
          <p:cNvSpPr>
            <a:spLocks noGrp="1"/>
          </p:cNvSpPr>
          <p:nvPr>
            <p:ph type="body" sz="quarter" idx="12"/>
          </p:nvPr>
        </p:nvSpPr>
        <p:spPr/>
        <p:txBody>
          <a:bodyPr/>
          <a:lstStyle/>
          <a:p>
            <a:r>
              <a:rPr lang="en-US" altLang="ja-JP" dirty="0"/>
              <a:t>Strengths of ibisPaint (2)</a:t>
            </a:r>
            <a:endParaRPr kumimoji="1" lang="ja-JP" altLang="en-US" dirty="0"/>
          </a:p>
        </p:txBody>
      </p:sp>
      <p:sp>
        <p:nvSpPr>
          <p:cNvPr id="15" name="タイトル 14">
            <a:extLst>
              <a:ext uri="{FF2B5EF4-FFF2-40B4-BE49-F238E27FC236}">
                <a16:creationId xmlns:a16="http://schemas.microsoft.com/office/drawing/2014/main" id="{CE4B46CD-6685-DAE5-D9CD-04B6894CCA56}"/>
              </a:ext>
            </a:extLst>
          </p:cNvPr>
          <p:cNvSpPr>
            <a:spLocks noGrp="1"/>
          </p:cNvSpPr>
          <p:nvPr>
            <p:ph type="ctrTitle"/>
          </p:nvPr>
        </p:nvSpPr>
        <p:spPr/>
        <p:txBody>
          <a:bodyPr/>
          <a:lstStyle/>
          <a:p>
            <a:r>
              <a:rPr lang="en" altLang="ja-JP" dirty="0"/>
              <a:t>Driven by global marketing and passionate users, </a:t>
            </a:r>
            <a:br>
              <a:rPr lang="en" altLang="ja-JP" dirty="0"/>
            </a:br>
            <a:r>
              <a:rPr lang="en" altLang="ja-JP" dirty="0"/>
              <a:t>we have built </a:t>
            </a:r>
            <a:r>
              <a:rPr lang="en" altLang="ja-JP" dirty="0">
                <a:solidFill>
                  <a:srgbClr val="C0FF00"/>
                </a:solidFill>
              </a:rPr>
              <a:t>one of the world’s largest user bases</a:t>
            </a:r>
            <a:endParaRPr lang="ja-JP" altLang="en-US" dirty="0">
              <a:solidFill>
                <a:srgbClr val="C0FF00"/>
              </a:solidFill>
            </a:endParaRPr>
          </a:p>
        </p:txBody>
      </p:sp>
      <p:sp>
        <p:nvSpPr>
          <p:cNvPr id="17" name="テキスト プレースホルダー 16">
            <a:extLst>
              <a:ext uri="{FF2B5EF4-FFF2-40B4-BE49-F238E27FC236}">
                <a16:creationId xmlns:a16="http://schemas.microsoft.com/office/drawing/2014/main" id="{619389F7-FE7D-3375-B9DB-A298B9D7A4B7}"/>
              </a:ext>
            </a:extLst>
          </p:cNvPr>
          <p:cNvSpPr>
            <a:spLocks noGrp="1"/>
          </p:cNvSpPr>
          <p:nvPr>
            <p:ph type="body" sz="quarter" idx="14"/>
          </p:nvPr>
        </p:nvSpPr>
        <p:spPr>
          <a:xfrm>
            <a:off x="3418959" y="6310211"/>
            <a:ext cx="8005310" cy="444389"/>
          </a:xfrm>
        </p:spPr>
        <p:txBody>
          <a:bodyPr>
            <a:normAutofit/>
          </a:bodyPr>
          <a:lstStyle/>
          <a:p>
            <a:r>
              <a:rPr lang="en" altLang="ja-JP" dirty="0"/>
              <a:t>*1 As data by country for Huawei downloads is unavailable, they are attributed to China for convenience. Source: Company research *2 January–December 2025, global basis, Monthly Active Users (MAU). Source: Company research *3 Share of active users across all age groups (January–November 2025), global basis, Monthly Active Users (MAU). Source: </a:t>
            </a:r>
            <a:r>
              <a:rPr lang="en" altLang="ja-JP" dirty="0" err="1"/>
              <a:t>data.ai</a:t>
            </a:r>
            <a:r>
              <a:rPr lang="en" altLang="ja-JP" dirty="0"/>
              <a:t> by Sensor Tower. The comparison covers five leading applications considered by the Company to be its direct global competitors</a:t>
            </a:r>
          </a:p>
        </p:txBody>
      </p:sp>
      <p:cxnSp>
        <p:nvCxnSpPr>
          <p:cNvPr id="13" name="直線コネクタ 12">
            <a:extLst>
              <a:ext uri="{FF2B5EF4-FFF2-40B4-BE49-F238E27FC236}">
                <a16:creationId xmlns:a16="http://schemas.microsoft.com/office/drawing/2014/main" id="{3B5F2D71-3C5B-CA47-2ECB-DB466FB0E6FC}"/>
              </a:ext>
            </a:extLst>
          </p:cNvPr>
          <p:cNvCxnSpPr>
            <a:cxnSpLocks/>
          </p:cNvCxnSpPr>
          <p:nvPr/>
        </p:nvCxnSpPr>
        <p:spPr>
          <a:xfrm>
            <a:off x="7526694"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959C75D9-56C7-7899-50FF-6FB809FBCCC7}"/>
              </a:ext>
            </a:extLst>
          </p:cNvPr>
          <p:cNvCxnSpPr>
            <a:cxnSpLocks/>
          </p:cNvCxnSpPr>
          <p:nvPr/>
        </p:nvCxnSpPr>
        <p:spPr>
          <a:xfrm flipH="1">
            <a:off x="7761319" y="3709463"/>
            <a:ext cx="3653744"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B3FFFD19-D2CC-0DD8-AF01-DBF06BF30E92}"/>
              </a:ext>
            </a:extLst>
          </p:cNvPr>
          <p:cNvCxnSpPr>
            <a:cxnSpLocks/>
          </p:cNvCxnSpPr>
          <p:nvPr/>
        </p:nvCxnSpPr>
        <p:spPr>
          <a:xfrm>
            <a:off x="9588191" y="3874718"/>
            <a:ext cx="0" cy="2158337"/>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6047807F-B702-DA64-43AA-0C4BFBEC09B1}"/>
              </a:ext>
            </a:extLst>
          </p:cNvPr>
          <p:cNvSpPr txBox="1"/>
          <p:nvPr/>
        </p:nvSpPr>
        <p:spPr>
          <a:xfrm>
            <a:off x="2831530" y="1919252"/>
            <a:ext cx="1675459"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a:t>
            </a:r>
            <a:r>
              <a:rPr kumimoji="1" lang="ja-JP" altLang="ja-JP" sz="10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as of December 2025</a:t>
            </a:r>
            <a:r>
              <a:rPr kumimoji="1" lang="en-US" altLang="ja-JP" sz="10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a:t>
            </a:r>
            <a:endParaRPr kumimoji="1" lang="ja-JP" altLang="en-US" sz="10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36" name="テキスト ボックス 35">
            <a:extLst>
              <a:ext uri="{FF2B5EF4-FFF2-40B4-BE49-F238E27FC236}">
                <a16:creationId xmlns:a16="http://schemas.microsoft.com/office/drawing/2014/main" id="{2224F225-ABDE-0284-BFD3-C6FF724B436B}"/>
              </a:ext>
            </a:extLst>
          </p:cNvPr>
          <p:cNvSpPr txBox="1"/>
          <p:nvPr/>
        </p:nvSpPr>
        <p:spPr>
          <a:xfrm>
            <a:off x="8046240" y="4663563"/>
            <a:ext cx="102240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15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90.</a:t>
            </a:r>
            <a:r>
              <a:rPr kumimoji="1" lang="en-US" altLang="ja-JP" sz="2400" b="0" i="0" u="none" strike="noStrike" kern="1200" cap="none" spc="-300" normalizeH="0" baseline="0" noProof="0" dirty="0">
                <a:ln>
                  <a:noFill/>
                </a:ln>
                <a:solidFill>
                  <a:srgbClr val="00A7FF"/>
                </a:solidFill>
                <a:effectLst/>
                <a:uLnTx/>
                <a:uFillTx/>
                <a:latin typeface="Poppins SemiBold" pitchFamily="2" charset="0"/>
                <a:ea typeface="M PLUS 1p Medium" panose="020B0502020203020207" pitchFamily="34" charset="-128"/>
                <a:cs typeface="Poppins SemiBold" pitchFamily="2" charset="0"/>
              </a:rPr>
              <a:t>5 </a:t>
            </a:r>
            <a:r>
              <a:rPr kumimoji="1" lang="en-US" altLang="ja-JP" sz="1600" b="0" i="0" u="none" strike="noStrike" kern="1200" cap="none" spc="0" normalizeH="0" baseline="0" noProof="0" dirty="0">
                <a:ln>
                  <a:noFill/>
                </a:ln>
                <a:solidFill>
                  <a:srgbClr val="00A7FF"/>
                </a:solidFill>
                <a:effectLst/>
                <a:uLnTx/>
                <a:uFillTx/>
                <a:latin typeface="Poppins" pitchFamily="2" charset="0"/>
                <a:ea typeface="M PLUS 1p" panose="020B0502020203020207" pitchFamily="34" charset="-128"/>
                <a:cs typeface="Poppins" pitchFamily="2" charset="0"/>
              </a:rPr>
              <a:t>%</a:t>
            </a:r>
            <a:endParaRPr kumimoji="1" lang="ja-JP" altLang="en-US" sz="1200" b="0" i="0" u="none" strike="noStrike" kern="1200" cap="none" spc="0" normalizeH="0" baseline="-3000" noProof="0" dirty="0">
              <a:ln>
                <a:noFill/>
              </a:ln>
              <a:solidFill>
                <a:srgbClr val="00A7FF"/>
              </a:solidFill>
              <a:effectLst/>
              <a:uLnTx/>
              <a:uFillTx/>
              <a:latin typeface="Poppins" pitchFamily="2" charset="0"/>
              <a:ea typeface="M PLUS 1p" panose="020B0502020203020207" pitchFamily="34" charset="-128"/>
              <a:cs typeface="Poppins" pitchFamily="2" charset="0"/>
            </a:endParaRPr>
          </a:p>
        </p:txBody>
      </p:sp>
      <p:sp>
        <p:nvSpPr>
          <p:cNvPr id="68" name="テキスト ボックス 67">
            <a:extLst>
              <a:ext uri="{FF2B5EF4-FFF2-40B4-BE49-F238E27FC236}">
                <a16:creationId xmlns:a16="http://schemas.microsoft.com/office/drawing/2014/main" id="{6258D544-5527-11BC-ED54-01525B2FC330}"/>
              </a:ext>
            </a:extLst>
          </p:cNvPr>
          <p:cNvSpPr txBox="1"/>
          <p:nvPr/>
        </p:nvSpPr>
        <p:spPr>
          <a:xfrm>
            <a:off x="8197577" y="5688325"/>
            <a:ext cx="862650" cy="38100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Overseas</a:t>
            </a: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Japan</a:t>
            </a:r>
          </a:p>
        </p:txBody>
      </p:sp>
      <p:grpSp>
        <p:nvGrpSpPr>
          <p:cNvPr id="39" name="グループ化 38">
            <a:extLst>
              <a:ext uri="{FF2B5EF4-FFF2-40B4-BE49-F238E27FC236}">
                <a16:creationId xmlns:a16="http://schemas.microsoft.com/office/drawing/2014/main" id="{CD46A1F7-3517-810B-BEDE-298791B0D8EF}"/>
              </a:ext>
            </a:extLst>
          </p:cNvPr>
          <p:cNvGrpSpPr/>
          <p:nvPr/>
        </p:nvGrpSpPr>
        <p:grpSpPr>
          <a:xfrm>
            <a:off x="5899998" y="1795837"/>
            <a:ext cx="1363158" cy="1228354"/>
            <a:chOff x="6157525" y="2281481"/>
            <a:chExt cx="1363158" cy="1228354"/>
          </a:xfrm>
        </p:grpSpPr>
        <p:sp>
          <p:nvSpPr>
            <p:cNvPr id="7" name="円/楕円 6">
              <a:extLst>
                <a:ext uri="{FF2B5EF4-FFF2-40B4-BE49-F238E27FC236}">
                  <a16:creationId xmlns:a16="http://schemas.microsoft.com/office/drawing/2014/main" id="{6E5916F3-2503-3CEA-D649-C8EFF0C43812}"/>
                </a:ext>
              </a:extLst>
            </p:cNvPr>
            <p:cNvSpPr/>
            <p:nvPr/>
          </p:nvSpPr>
          <p:spPr>
            <a:xfrm>
              <a:off x="6224927" y="2281481"/>
              <a:ext cx="1228354" cy="1228354"/>
            </a:xfrm>
            <a:prstGeom prst="ellipse">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pSp>
          <p:nvGrpSpPr>
            <p:cNvPr id="21" name="グループ化 20">
              <a:extLst>
                <a:ext uri="{FF2B5EF4-FFF2-40B4-BE49-F238E27FC236}">
                  <a16:creationId xmlns:a16="http://schemas.microsoft.com/office/drawing/2014/main" id="{18134E5D-68EE-8D99-0D2E-2D62ED0EAC2C}"/>
                </a:ext>
              </a:extLst>
            </p:cNvPr>
            <p:cNvGrpSpPr/>
            <p:nvPr/>
          </p:nvGrpSpPr>
          <p:grpSpPr>
            <a:xfrm>
              <a:off x="6157525" y="2506006"/>
              <a:ext cx="1363158" cy="973621"/>
              <a:chOff x="6157525" y="2297656"/>
              <a:chExt cx="1363158" cy="973621"/>
            </a:xfrm>
          </p:grpSpPr>
          <p:sp>
            <p:nvSpPr>
              <p:cNvPr id="8" name="テキスト ボックス 7">
                <a:extLst>
                  <a:ext uri="{FF2B5EF4-FFF2-40B4-BE49-F238E27FC236}">
                    <a16:creationId xmlns:a16="http://schemas.microsoft.com/office/drawing/2014/main" id="{00243F47-5AE2-E5B8-AC3E-30BA9AE97D3B}"/>
                  </a:ext>
                </a:extLst>
              </p:cNvPr>
              <p:cNvSpPr txBox="1"/>
              <p:nvPr/>
            </p:nvSpPr>
            <p:spPr>
              <a:xfrm>
                <a:off x="6363805" y="2501194"/>
                <a:ext cx="964348" cy="770083"/>
              </a:xfrm>
              <a:prstGeom prst="rect">
                <a:avLst/>
              </a:prstGeom>
              <a:noFill/>
            </p:spPr>
            <p:txBody>
              <a:bodyPr wrap="square" rtlCol="0">
                <a:spAutoFit/>
              </a:bodyPr>
              <a:lstStyle/>
              <a:p>
                <a:pPr marL="0" marR="0" lvl="0" indent="0" algn="ctr" defTabSz="914400" rtl="0" eaLnBrk="1" fontAlgn="auto" latinLnBrk="0" hangingPunct="1">
                  <a:lnSpc>
                    <a:spcPts val="174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OVER</a:t>
                </a:r>
              </a:p>
              <a:p>
                <a:pPr marL="0" marR="0" lvl="0" indent="0" algn="ctr" defTabSz="914400" rtl="0" eaLnBrk="1" fontAlgn="auto" latinLnBrk="0" hangingPunct="1">
                  <a:lnSpc>
                    <a:spcPts val="1500"/>
                  </a:lnSpc>
                  <a:spcBef>
                    <a:spcPts val="0"/>
                  </a:spcBef>
                  <a:spcAft>
                    <a:spcPts val="0"/>
                  </a:spcAft>
                  <a:buClrTx/>
                  <a:buSzTx/>
                  <a:buFontTx/>
                  <a:buNone/>
                  <a:tabLst/>
                  <a:defRPr/>
                </a:pPr>
                <a:r>
                  <a:rPr kumimoji="1" lang="en-US" altLang="ja-JP" sz="32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 200</a:t>
                </a:r>
                <a:endParaRPr kumimoji="1" lang="ja-JP" altLang="en-US" sz="16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20" name="テキスト ボックス 19">
                <a:extLst>
                  <a:ext uri="{FF2B5EF4-FFF2-40B4-BE49-F238E27FC236}">
                    <a16:creationId xmlns:a16="http://schemas.microsoft.com/office/drawing/2014/main" id="{CCE7B906-5CC1-B8D0-E108-074A12F4ADAE}"/>
                  </a:ext>
                </a:extLst>
              </p:cNvPr>
              <p:cNvSpPr txBox="1"/>
              <p:nvPr/>
            </p:nvSpPr>
            <p:spPr>
              <a:xfrm>
                <a:off x="6157525" y="2297656"/>
                <a:ext cx="136315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7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Countries and regions where ibisPaint is used</a:t>
                </a:r>
                <a:endParaRPr kumimoji="1" lang="en-US" altLang="ja-JP" sz="7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grpSp>
      </p:grpSp>
      <p:sp>
        <p:nvSpPr>
          <p:cNvPr id="70" name="テキスト ボックス 69">
            <a:extLst>
              <a:ext uri="{FF2B5EF4-FFF2-40B4-BE49-F238E27FC236}">
                <a16:creationId xmlns:a16="http://schemas.microsoft.com/office/drawing/2014/main" id="{B71345CB-ED4D-0521-F46D-C492AED394F0}"/>
              </a:ext>
            </a:extLst>
          </p:cNvPr>
          <p:cNvSpPr txBox="1"/>
          <p:nvPr/>
        </p:nvSpPr>
        <p:spPr>
          <a:xfrm>
            <a:off x="7966990" y="2224807"/>
            <a:ext cx="899605" cy="38100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Overseas</a:t>
            </a:r>
            <a:r>
              <a:rPr kumimoji="1" lang="ja-JP" altLang="en-US" sz="80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　</a:t>
            </a:r>
            <a:endParaRPr kumimoji="1" lang="en-US" altLang="ja-JP" sz="80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ja-JP" altLang="en-US"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Japan</a:t>
            </a:r>
          </a:p>
        </p:txBody>
      </p:sp>
      <p:sp>
        <p:nvSpPr>
          <p:cNvPr id="100" name="テキスト ボックス 99">
            <a:extLst>
              <a:ext uri="{FF2B5EF4-FFF2-40B4-BE49-F238E27FC236}">
                <a16:creationId xmlns:a16="http://schemas.microsoft.com/office/drawing/2014/main" id="{A5545409-D07D-B3C8-6E95-BD3011D8DFF8}"/>
              </a:ext>
            </a:extLst>
          </p:cNvPr>
          <p:cNvSpPr txBox="1"/>
          <p:nvPr/>
        </p:nvSpPr>
        <p:spPr>
          <a:xfrm>
            <a:off x="9839425" y="5657197"/>
            <a:ext cx="1892062" cy="48628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ibisPaint</a:t>
            </a:r>
          </a:p>
          <a:p>
            <a:pPr marL="130175" marR="0" lvl="0" indent="-130175"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Total of Direct Competitor Painting Apps</a:t>
            </a:r>
            <a:endPar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103" name="テキスト ボックス 102">
            <a:extLst>
              <a:ext uri="{FF2B5EF4-FFF2-40B4-BE49-F238E27FC236}">
                <a16:creationId xmlns:a16="http://schemas.microsoft.com/office/drawing/2014/main" id="{511E8085-C34F-838A-FF45-F03748322F27}"/>
              </a:ext>
            </a:extLst>
          </p:cNvPr>
          <p:cNvSpPr txBox="1"/>
          <p:nvPr/>
        </p:nvSpPr>
        <p:spPr>
          <a:xfrm>
            <a:off x="7528704" y="2002971"/>
            <a:ext cx="1435008"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(millions of downloads)</a:t>
            </a:r>
            <a:endParaRPr kumimoji="1" lang="ja-JP" altLang="en-US" sz="8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71" name="テキスト ボックス 70">
            <a:extLst>
              <a:ext uri="{FF2B5EF4-FFF2-40B4-BE49-F238E27FC236}">
                <a16:creationId xmlns:a16="http://schemas.microsoft.com/office/drawing/2014/main" id="{2731D4CC-5878-2DAB-7648-8842B38E5BD7}"/>
              </a:ext>
            </a:extLst>
          </p:cNvPr>
          <p:cNvSpPr txBox="1"/>
          <p:nvPr/>
        </p:nvSpPr>
        <p:spPr>
          <a:xfrm>
            <a:off x="8060856" y="4975109"/>
            <a:ext cx="99418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800" b="0" i="0" u="none" strike="noStrike" kern="1200" cap="none" spc="0" normalizeH="0" baseline="0" noProof="0">
                <a:ln>
                  <a:noFill/>
                </a:ln>
                <a:solidFill>
                  <a:srgbClr val="142FA4"/>
                </a:solidFill>
                <a:effectLst/>
                <a:uLnTx/>
                <a:uFillTx/>
                <a:latin typeface="Poppins Light" pitchFamily="2" charset="0"/>
                <a:ea typeface="游ゴシック" panose="020B0400000000000000" pitchFamily="50" charset="-128"/>
                <a:cs typeface="Poppins Light" pitchFamily="2" charset="0"/>
              </a:rPr>
              <a:t>as of </a:t>
            </a:r>
            <a:endParaRPr kumimoji="1" lang="en-US" altLang="ja-JP" sz="800" b="0" i="0" u="none" strike="noStrike" kern="1200" cap="none" spc="0" normalizeH="0" baseline="0" noProof="0" dirty="0">
              <a:ln>
                <a:noFill/>
              </a:ln>
              <a:solidFill>
                <a:srgbClr val="142FA4"/>
              </a:solidFill>
              <a:effectLst/>
              <a:uLnTx/>
              <a:uFillTx/>
              <a:latin typeface="Poppins Light" pitchFamily="2" charset="0"/>
              <a:ea typeface="游ゴシック" panose="020B0400000000000000" pitchFamily="50" charset="-128"/>
              <a:cs typeface="Poppins Light"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800" b="0" i="0" u="none" strike="noStrike" kern="1200" cap="none" spc="0" normalizeH="0" baseline="0" noProof="0">
                <a:ln>
                  <a:noFill/>
                </a:ln>
                <a:solidFill>
                  <a:srgbClr val="142FA4"/>
                </a:solidFill>
                <a:effectLst/>
                <a:uLnTx/>
                <a:uFillTx/>
                <a:latin typeface="Poppins Light" pitchFamily="2" charset="0"/>
                <a:ea typeface="游ゴシック" panose="020B0400000000000000" pitchFamily="50" charset="-128"/>
                <a:cs typeface="Poppins Light" pitchFamily="2" charset="0"/>
              </a:rPr>
              <a:t>December 2025</a:t>
            </a:r>
            <a:endParaRPr kumimoji="1" lang="ja-JP" altLang="en-US" sz="8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cxnSp>
        <p:nvCxnSpPr>
          <p:cNvPr id="42" name="直線コネクタ 41">
            <a:extLst>
              <a:ext uri="{FF2B5EF4-FFF2-40B4-BE49-F238E27FC236}">
                <a16:creationId xmlns:a16="http://schemas.microsoft.com/office/drawing/2014/main" id="{FF7FA84C-C55B-10F0-DF18-6958C097ED0A}"/>
              </a:ext>
            </a:extLst>
          </p:cNvPr>
          <p:cNvCxnSpPr>
            <a:cxnSpLocks/>
          </p:cNvCxnSpPr>
          <p:nvPr/>
        </p:nvCxnSpPr>
        <p:spPr>
          <a:xfrm>
            <a:off x="5613693" y="4601482"/>
            <a:ext cx="0" cy="521827"/>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52" name="直線コネクタ 51">
            <a:extLst>
              <a:ext uri="{FF2B5EF4-FFF2-40B4-BE49-F238E27FC236}">
                <a16:creationId xmlns:a16="http://schemas.microsoft.com/office/drawing/2014/main" id="{78E69056-4568-566A-4B1C-1ED49183560D}"/>
              </a:ext>
            </a:extLst>
          </p:cNvPr>
          <p:cNvCxnSpPr>
            <a:cxnSpLocks/>
          </p:cNvCxnSpPr>
          <p:nvPr/>
        </p:nvCxnSpPr>
        <p:spPr>
          <a:xfrm flipH="1">
            <a:off x="5971142" y="4638385"/>
            <a:ext cx="40708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77" name="角丸四角形 76">
            <a:extLst>
              <a:ext uri="{FF2B5EF4-FFF2-40B4-BE49-F238E27FC236}">
                <a16:creationId xmlns:a16="http://schemas.microsoft.com/office/drawing/2014/main" id="{1E4A3340-7905-537B-7150-40EC6F99CAC3}"/>
              </a:ext>
            </a:extLst>
          </p:cNvPr>
          <p:cNvSpPr/>
          <p:nvPr/>
        </p:nvSpPr>
        <p:spPr>
          <a:xfrm>
            <a:off x="5254127" y="3470510"/>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78" name="図 77">
            <a:extLst>
              <a:ext uri="{FF2B5EF4-FFF2-40B4-BE49-F238E27FC236}">
                <a16:creationId xmlns:a16="http://schemas.microsoft.com/office/drawing/2014/main" id="{811EFDD1-1A26-6F85-51FE-CBDB0AC25A26}"/>
              </a:ext>
            </a:extLst>
          </p:cNvPr>
          <p:cNvPicPr>
            <a:picLocks noChangeAspect="1"/>
          </p:cNvPicPr>
          <p:nvPr/>
        </p:nvPicPr>
        <p:blipFill>
          <a:blip r:embed="rId9"/>
          <a:stretch>
            <a:fillRect/>
          </a:stretch>
        </p:blipFill>
        <p:spPr>
          <a:xfrm>
            <a:off x="5220384" y="3499465"/>
            <a:ext cx="367897" cy="259200"/>
          </a:xfrm>
          <a:prstGeom prst="rect">
            <a:avLst/>
          </a:prstGeom>
        </p:spPr>
      </p:pic>
      <p:sp>
        <p:nvSpPr>
          <p:cNvPr id="85" name="テキスト ボックス 84">
            <a:extLst>
              <a:ext uri="{FF2B5EF4-FFF2-40B4-BE49-F238E27FC236}">
                <a16:creationId xmlns:a16="http://schemas.microsoft.com/office/drawing/2014/main" id="{745E7179-1FDE-C6E9-707C-0585E06DA2C0}"/>
              </a:ext>
            </a:extLst>
          </p:cNvPr>
          <p:cNvSpPr txBox="1"/>
          <p:nvPr/>
        </p:nvSpPr>
        <p:spPr>
          <a:xfrm>
            <a:off x="5488726" y="3485116"/>
            <a:ext cx="80398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39.05</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86" name="角丸四角形 85">
            <a:extLst>
              <a:ext uri="{FF2B5EF4-FFF2-40B4-BE49-F238E27FC236}">
                <a16:creationId xmlns:a16="http://schemas.microsoft.com/office/drawing/2014/main" id="{70E4A3B9-AB80-2349-894F-ABEE9224D7C7}"/>
              </a:ext>
            </a:extLst>
          </p:cNvPr>
          <p:cNvSpPr/>
          <p:nvPr/>
        </p:nvSpPr>
        <p:spPr>
          <a:xfrm>
            <a:off x="6311952" y="4472533"/>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87" name="図 86">
            <a:extLst>
              <a:ext uri="{FF2B5EF4-FFF2-40B4-BE49-F238E27FC236}">
                <a16:creationId xmlns:a16="http://schemas.microsoft.com/office/drawing/2014/main" id="{2DC3A011-C749-5EA8-9421-704C2D4FCD86}"/>
              </a:ext>
            </a:extLst>
          </p:cNvPr>
          <p:cNvPicPr>
            <a:picLocks noChangeAspect="1"/>
          </p:cNvPicPr>
          <p:nvPr/>
        </p:nvPicPr>
        <p:blipFill>
          <a:blip r:embed="rId10"/>
          <a:stretch>
            <a:fillRect/>
          </a:stretch>
        </p:blipFill>
        <p:spPr>
          <a:xfrm>
            <a:off x="6344373" y="4501488"/>
            <a:ext cx="498891" cy="259200"/>
          </a:xfrm>
          <a:prstGeom prst="rect">
            <a:avLst/>
          </a:prstGeom>
        </p:spPr>
      </p:pic>
      <p:sp>
        <p:nvSpPr>
          <p:cNvPr id="88" name="テキスト ボックス 87">
            <a:extLst>
              <a:ext uri="{FF2B5EF4-FFF2-40B4-BE49-F238E27FC236}">
                <a16:creationId xmlns:a16="http://schemas.microsoft.com/office/drawing/2014/main" id="{FE156FC1-C0B8-F04A-BBF2-BCD03AE1E116}"/>
              </a:ext>
            </a:extLst>
          </p:cNvPr>
          <p:cNvSpPr txBox="1"/>
          <p:nvPr/>
        </p:nvSpPr>
        <p:spPr>
          <a:xfrm>
            <a:off x="6546552" y="4487139"/>
            <a:ext cx="75429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21.69</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90" name="角丸四角形 89">
            <a:extLst>
              <a:ext uri="{FF2B5EF4-FFF2-40B4-BE49-F238E27FC236}">
                <a16:creationId xmlns:a16="http://schemas.microsoft.com/office/drawing/2014/main" id="{899E9337-748A-35F1-057F-A37FA67BA845}"/>
              </a:ext>
            </a:extLst>
          </p:cNvPr>
          <p:cNvSpPr/>
          <p:nvPr/>
        </p:nvSpPr>
        <p:spPr>
          <a:xfrm>
            <a:off x="6310273" y="4856398"/>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91" name="図 90">
            <a:extLst>
              <a:ext uri="{FF2B5EF4-FFF2-40B4-BE49-F238E27FC236}">
                <a16:creationId xmlns:a16="http://schemas.microsoft.com/office/drawing/2014/main" id="{1D8F15BB-3AC4-A73F-310A-5C7469A8C6A8}"/>
              </a:ext>
            </a:extLst>
          </p:cNvPr>
          <p:cNvPicPr>
            <a:picLocks noChangeAspect="1"/>
          </p:cNvPicPr>
          <p:nvPr/>
        </p:nvPicPr>
        <p:blipFill>
          <a:blip r:embed="rId11"/>
          <a:stretch>
            <a:fillRect/>
          </a:stretch>
        </p:blipFill>
        <p:spPr>
          <a:xfrm>
            <a:off x="6292714" y="4885353"/>
            <a:ext cx="367897" cy="259200"/>
          </a:xfrm>
          <a:prstGeom prst="rect">
            <a:avLst/>
          </a:prstGeom>
        </p:spPr>
      </p:pic>
      <p:sp>
        <p:nvSpPr>
          <p:cNvPr id="92" name="テキスト ボックス 91">
            <a:extLst>
              <a:ext uri="{FF2B5EF4-FFF2-40B4-BE49-F238E27FC236}">
                <a16:creationId xmlns:a16="http://schemas.microsoft.com/office/drawing/2014/main" id="{B61E948A-9E71-FB3D-1D74-22ACD3C1CBD1}"/>
              </a:ext>
            </a:extLst>
          </p:cNvPr>
          <p:cNvSpPr txBox="1"/>
          <p:nvPr/>
        </p:nvSpPr>
        <p:spPr>
          <a:xfrm>
            <a:off x="6544872" y="4871004"/>
            <a:ext cx="82417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3</a:t>
            </a:r>
            <a:r>
              <a:rPr kumimoji="1" lang="en-US" altLang="ja-JP" sz="1400" b="1" i="0" u="none" strike="noStrike" kern="1200" cap="none" spc="-15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6</a:t>
            </a: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.68</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95" name="角丸四角形 94">
            <a:extLst>
              <a:ext uri="{FF2B5EF4-FFF2-40B4-BE49-F238E27FC236}">
                <a16:creationId xmlns:a16="http://schemas.microsoft.com/office/drawing/2014/main" id="{D0476A1E-1BF7-AB32-81A3-026FEEA55CDE}"/>
              </a:ext>
            </a:extLst>
          </p:cNvPr>
          <p:cNvSpPr/>
          <p:nvPr/>
        </p:nvSpPr>
        <p:spPr>
          <a:xfrm>
            <a:off x="4517384" y="4683816"/>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96" name="角丸四角形 95">
            <a:extLst>
              <a:ext uri="{FF2B5EF4-FFF2-40B4-BE49-F238E27FC236}">
                <a16:creationId xmlns:a16="http://schemas.microsoft.com/office/drawing/2014/main" id="{BA53003C-0153-DE1E-947B-76D060C323F8}"/>
              </a:ext>
            </a:extLst>
          </p:cNvPr>
          <p:cNvSpPr/>
          <p:nvPr/>
        </p:nvSpPr>
        <p:spPr>
          <a:xfrm>
            <a:off x="5019079" y="5075480"/>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97" name="図 96">
            <a:extLst>
              <a:ext uri="{FF2B5EF4-FFF2-40B4-BE49-F238E27FC236}">
                <a16:creationId xmlns:a16="http://schemas.microsoft.com/office/drawing/2014/main" id="{CB247A54-A07E-A77D-6D43-1BB75AC4DC24}"/>
              </a:ext>
            </a:extLst>
          </p:cNvPr>
          <p:cNvPicPr>
            <a:picLocks noChangeAspect="1"/>
          </p:cNvPicPr>
          <p:nvPr/>
        </p:nvPicPr>
        <p:blipFill>
          <a:blip r:embed="rId12"/>
          <a:stretch>
            <a:fillRect/>
          </a:stretch>
        </p:blipFill>
        <p:spPr>
          <a:xfrm>
            <a:off x="5001520" y="5104435"/>
            <a:ext cx="367897" cy="259200"/>
          </a:xfrm>
          <a:prstGeom prst="rect">
            <a:avLst/>
          </a:prstGeom>
        </p:spPr>
      </p:pic>
      <p:pic>
        <p:nvPicPr>
          <p:cNvPr id="98" name="図 97">
            <a:extLst>
              <a:ext uri="{FF2B5EF4-FFF2-40B4-BE49-F238E27FC236}">
                <a16:creationId xmlns:a16="http://schemas.microsoft.com/office/drawing/2014/main" id="{57240324-8AB1-C04F-0108-FCA9216DAAD5}"/>
              </a:ext>
            </a:extLst>
          </p:cNvPr>
          <p:cNvPicPr>
            <a:picLocks noChangeAspect="1"/>
          </p:cNvPicPr>
          <p:nvPr/>
        </p:nvPicPr>
        <p:blipFill>
          <a:blip r:embed="rId13"/>
          <a:srcRect l="23883" t="11362" r="23394" b="10438"/>
          <a:stretch>
            <a:fillRect/>
          </a:stretch>
        </p:blipFill>
        <p:spPr>
          <a:xfrm>
            <a:off x="4549804" y="4712771"/>
            <a:ext cx="261416" cy="259200"/>
          </a:xfrm>
          <a:prstGeom prst="rect">
            <a:avLst/>
          </a:prstGeom>
        </p:spPr>
      </p:pic>
      <p:sp>
        <p:nvSpPr>
          <p:cNvPr id="107" name="テキスト ボックス 106">
            <a:extLst>
              <a:ext uri="{FF2B5EF4-FFF2-40B4-BE49-F238E27FC236}">
                <a16:creationId xmlns:a16="http://schemas.microsoft.com/office/drawing/2014/main" id="{7A82A4B8-11A5-9CAE-8843-12D219B50F46}"/>
              </a:ext>
            </a:extLst>
          </p:cNvPr>
          <p:cNvSpPr txBox="1"/>
          <p:nvPr/>
        </p:nvSpPr>
        <p:spPr>
          <a:xfrm>
            <a:off x="5253678" y="5090086"/>
            <a:ext cx="75429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24.77</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109" name="テキスト ボックス 108">
            <a:extLst>
              <a:ext uri="{FF2B5EF4-FFF2-40B4-BE49-F238E27FC236}">
                <a16:creationId xmlns:a16="http://schemas.microsoft.com/office/drawing/2014/main" id="{EE48726D-589B-F881-C6F3-AD1AA3D5FD65}"/>
              </a:ext>
            </a:extLst>
          </p:cNvPr>
          <p:cNvSpPr txBox="1"/>
          <p:nvPr/>
        </p:nvSpPr>
        <p:spPr>
          <a:xfrm>
            <a:off x="4751983" y="4698422"/>
            <a:ext cx="75429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22.41</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112" name="角丸四角形 111">
            <a:extLst>
              <a:ext uri="{FF2B5EF4-FFF2-40B4-BE49-F238E27FC236}">
                <a16:creationId xmlns:a16="http://schemas.microsoft.com/office/drawing/2014/main" id="{2A79C4E2-1E9C-2D76-BBA7-C3D9684B21F4}"/>
              </a:ext>
            </a:extLst>
          </p:cNvPr>
          <p:cNvSpPr/>
          <p:nvPr/>
        </p:nvSpPr>
        <p:spPr>
          <a:xfrm>
            <a:off x="6323205" y="4102940"/>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114" name="図 113">
            <a:extLst>
              <a:ext uri="{FF2B5EF4-FFF2-40B4-BE49-F238E27FC236}">
                <a16:creationId xmlns:a16="http://schemas.microsoft.com/office/drawing/2014/main" id="{CCA80C5D-4211-34CA-5C4A-DE6C210CA773}"/>
              </a:ext>
            </a:extLst>
          </p:cNvPr>
          <p:cNvPicPr>
            <a:picLocks noChangeAspect="1"/>
          </p:cNvPicPr>
          <p:nvPr/>
        </p:nvPicPr>
        <p:blipFill>
          <a:blip r:embed="rId14"/>
          <a:stretch>
            <a:fillRect/>
          </a:stretch>
        </p:blipFill>
        <p:spPr>
          <a:xfrm>
            <a:off x="6305646" y="4131895"/>
            <a:ext cx="365109" cy="259200"/>
          </a:xfrm>
          <a:prstGeom prst="rect">
            <a:avLst/>
          </a:prstGeom>
        </p:spPr>
      </p:pic>
      <p:sp>
        <p:nvSpPr>
          <p:cNvPr id="116" name="テキスト ボックス 115">
            <a:extLst>
              <a:ext uri="{FF2B5EF4-FFF2-40B4-BE49-F238E27FC236}">
                <a16:creationId xmlns:a16="http://schemas.microsoft.com/office/drawing/2014/main" id="{8BD1E11B-96AE-C6ED-AF7D-593B9BE7A33C}"/>
              </a:ext>
            </a:extLst>
          </p:cNvPr>
          <p:cNvSpPr txBox="1"/>
          <p:nvPr/>
        </p:nvSpPr>
        <p:spPr>
          <a:xfrm>
            <a:off x="6557804" y="4117546"/>
            <a:ext cx="75429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31.84</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117" name="円/楕円 116">
            <a:extLst>
              <a:ext uri="{FF2B5EF4-FFF2-40B4-BE49-F238E27FC236}">
                <a16:creationId xmlns:a16="http://schemas.microsoft.com/office/drawing/2014/main" id="{DD929BC8-A0C7-1C14-4C0A-95483AD23007}"/>
              </a:ext>
            </a:extLst>
          </p:cNvPr>
          <p:cNvSpPr/>
          <p:nvPr/>
        </p:nvSpPr>
        <p:spPr>
          <a:xfrm>
            <a:off x="866301" y="4682015"/>
            <a:ext cx="1228354" cy="1228354"/>
          </a:xfrm>
          <a:prstGeom prst="ellipse">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18" name="テキスト ボックス 117">
            <a:extLst>
              <a:ext uri="{FF2B5EF4-FFF2-40B4-BE49-F238E27FC236}">
                <a16:creationId xmlns:a16="http://schemas.microsoft.com/office/drawing/2014/main" id="{FA811EAD-25F4-6C61-6415-B40BD633DBDD}"/>
              </a:ext>
            </a:extLst>
          </p:cNvPr>
          <p:cNvSpPr txBox="1"/>
          <p:nvPr/>
        </p:nvSpPr>
        <p:spPr>
          <a:xfrm>
            <a:off x="883849" y="5397863"/>
            <a:ext cx="1193257" cy="294311"/>
          </a:xfrm>
          <a:prstGeom prst="rect">
            <a:avLst/>
          </a:prstGeom>
          <a:noFill/>
        </p:spPr>
        <p:txBody>
          <a:bodyPr wrap="square" rtlCol="0">
            <a:spAutoFit/>
          </a:bodyPr>
          <a:lstStyle/>
          <a:p>
            <a:pPr marL="0" marR="0" lvl="0" indent="0" algn="ctr" defTabSz="914400" rtl="0" eaLnBrk="1" fontAlgn="auto" latinLnBrk="0" hangingPunct="1">
              <a:lnSpc>
                <a:spcPts val="174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Languages</a:t>
            </a:r>
            <a:endParaRPr kumimoji="1" lang="ja-JP" altLang="en-US" sz="10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119" name="テキスト ボックス 118">
            <a:extLst>
              <a:ext uri="{FF2B5EF4-FFF2-40B4-BE49-F238E27FC236}">
                <a16:creationId xmlns:a16="http://schemas.microsoft.com/office/drawing/2014/main" id="{C3914F3E-6898-5E39-4433-F1D36561106F}"/>
              </a:ext>
            </a:extLst>
          </p:cNvPr>
          <p:cNvSpPr txBox="1"/>
          <p:nvPr/>
        </p:nvSpPr>
        <p:spPr>
          <a:xfrm>
            <a:off x="798899" y="4858093"/>
            <a:ext cx="136315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rPr>
              <a:t>Supported in </a:t>
            </a:r>
          </a:p>
        </p:txBody>
      </p:sp>
      <p:pic>
        <p:nvPicPr>
          <p:cNvPr id="5" name="グラフィックス 4">
            <a:extLst>
              <a:ext uri="{FF2B5EF4-FFF2-40B4-BE49-F238E27FC236}">
                <a16:creationId xmlns:a16="http://schemas.microsoft.com/office/drawing/2014/main" id="{CEAD7FBD-3A78-BE9C-A50E-868064FA85F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047901" y="5345246"/>
            <a:ext cx="235158" cy="157236"/>
          </a:xfrm>
          <a:prstGeom prst="rect">
            <a:avLst/>
          </a:prstGeom>
        </p:spPr>
      </p:pic>
      <p:grpSp>
        <p:nvGrpSpPr>
          <p:cNvPr id="9" name="グループ化 8">
            <a:extLst>
              <a:ext uri="{FF2B5EF4-FFF2-40B4-BE49-F238E27FC236}">
                <a16:creationId xmlns:a16="http://schemas.microsoft.com/office/drawing/2014/main" id="{85677367-C69C-FA48-5232-62D557CC2C85}"/>
              </a:ext>
            </a:extLst>
          </p:cNvPr>
          <p:cNvGrpSpPr/>
          <p:nvPr/>
        </p:nvGrpSpPr>
        <p:grpSpPr>
          <a:xfrm>
            <a:off x="2962814" y="5455176"/>
            <a:ext cx="623411" cy="369332"/>
            <a:chOff x="2962814" y="5455176"/>
            <a:chExt cx="623411" cy="369332"/>
          </a:xfrm>
        </p:grpSpPr>
        <p:sp>
          <p:nvSpPr>
            <p:cNvPr id="10" name="テキスト ボックス 9">
              <a:extLst>
                <a:ext uri="{FF2B5EF4-FFF2-40B4-BE49-F238E27FC236}">
                  <a16:creationId xmlns:a16="http://schemas.microsoft.com/office/drawing/2014/main" id="{D77DF420-04D1-3F91-8BF4-87396C98F6F5}"/>
                </a:ext>
              </a:extLst>
            </p:cNvPr>
            <p:cNvSpPr txBox="1"/>
            <p:nvPr/>
          </p:nvSpPr>
          <p:spPr>
            <a:xfrm>
              <a:off x="2962814" y="5455176"/>
              <a:ext cx="277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1</a:t>
              </a:r>
              <a:endParaRPr kumimoji="1" lang="ja-JP" altLang="en-US" sz="36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11" name="テキスト ボックス 10">
              <a:extLst>
                <a:ext uri="{FF2B5EF4-FFF2-40B4-BE49-F238E27FC236}">
                  <a16:creationId xmlns:a16="http://schemas.microsoft.com/office/drawing/2014/main" id="{31719195-C314-FD6D-FCB1-A9CBF4EA9A89}"/>
                </a:ext>
              </a:extLst>
            </p:cNvPr>
            <p:cNvSpPr txBox="1"/>
            <p:nvPr/>
          </p:nvSpPr>
          <p:spPr>
            <a:xfrm>
              <a:off x="3055075" y="5545744"/>
              <a:ext cx="53115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st.</a:t>
              </a:r>
              <a:endParaRPr kumimoji="1" lang="ja-JP" altLang="en-US" sz="9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endParaRPr>
            </a:p>
          </p:txBody>
        </p:sp>
      </p:grpSp>
      <p:cxnSp>
        <p:nvCxnSpPr>
          <p:cNvPr id="14" name="直線コネクタ 13">
            <a:extLst>
              <a:ext uri="{FF2B5EF4-FFF2-40B4-BE49-F238E27FC236}">
                <a16:creationId xmlns:a16="http://schemas.microsoft.com/office/drawing/2014/main" id="{63622D0B-64E9-2C27-4206-1E2D9C0E90F5}"/>
              </a:ext>
            </a:extLst>
          </p:cNvPr>
          <p:cNvCxnSpPr>
            <a:cxnSpLocks/>
          </p:cNvCxnSpPr>
          <p:nvPr/>
        </p:nvCxnSpPr>
        <p:spPr>
          <a:xfrm flipH="1">
            <a:off x="3068879" y="5162507"/>
            <a:ext cx="712162"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24" name="グラフィックス 23">
            <a:extLst>
              <a:ext uri="{FF2B5EF4-FFF2-40B4-BE49-F238E27FC236}">
                <a16:creationId xmlns:a16="http://schemas.microsoft.com/office/drawing/2014/main" id="{52BA9082-D995-739C-9DED-49866E2AA80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2675" y="4046024"/>
            <a:ext cx="235158" cy="157236"/>
          </a:xfrm>
          <a:prstGeom prst="rect">
            <a:avLst/>
          </a:prstGeom>
        </p:spPr>
      </p:pic>
      <p:grpSp>
        <p:nvGrpSpPr>
          <p:cNvPr id="25" name="グループ化 24">
            <a:extLst>
              <a:ext uri="{FF2B5EF4-FFF2-40B4-BE49-F238E27FC236}">
                <a16:creationId xmlns:a16="http://schemas.microsoft.com/office/drawing/2014/main" id="{C712AFEE-1C9E-FB1A-8D17-49E48FDE11CC}"/>
              </a:ext>
            </a:extLst>
          </p:cNvPr>
          <p:cNvGrpSpPr/>
          <p:nvPr/>
        </p:nvGrpSpPr>
        <p:grpSpPr>
          <a:xfrm>
            <a:off x="586902" y="4155954"/>
            <a:ext cx="675247" cy="369332"/>
            <a:chOff x="586902" y="4155954"/>
            <a:chExt cx="675247" cy="369332"/>
          </a:xfrm>
        </p:grpSpPr>
        <p:sp>
          <p:nvSpPr>
            <p:cNvPr id="26" name="テキスト ボックス 25">
              <a:extLst>
                <a:ext uri="{FF2B5EF4-FFF2-40B4-BE49-F238E27FC236}">
                  <a16:creationId xmlns:a16="http://schemas.microsoft.com/office/drawing/2014/main" id="{A71386CF-2D9A-CBCA-4C41-31678B76F925}"/>
                </a:ext>
              </a:extLst>
            </p:cNvPr>
            <p:cNvSpPr txBox="1"/>
            <p:nvPr/>
          </p:nvSpPr>
          <p:spPr>
            <a:xfrm>
              <a:off x="586902" y="4155954"/>
              <a:ext cx="277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2</a:t>
              </a:r>
              <a:endParaRPr kumimoji="1" lang="ja-JP" altLang="en-US" sz="3600" b="0" i="0" u="none" strike="noStrike" kern="1200" cap="none" spc="0" normalizeH="0" baseline="0" noProof="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27" name="テキスト ボックス 26">
              <a:extLst>
                <a:ext uri="{FF2B5EF4-FFF2-40B4-BE49-F238E27FC236}">
                  <a16:creationId xmlns:a16="http://schemas.microsoft.com/office/drawing/2014/main" id="{41AF5A0E-3BFF-300C-0274-D47690514C43}"/>
                </a:ext>
              </a:extLst>
            </p:cNvPr>
            <p:cNvSpPr txBox="1"/>
            <p:nvPr/>
          </p:nvSpPr>
          <p:spPr>
            <a:xfrm>
              <a:off x="730999" y="4246522"/>
              <a:ext cx="53115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nd.</a:t>
              </a:r>
              <a:endParaRPr kumimoji="1" lang="ja-JP" altLang="en-US" sz="9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endParaRPr>
            </a:p>
          </p:txBody>
        </p:sp>
      </p:grpSp>
      <p:cxnSp>
        <p:nvCxnSpPr>
          <p:cNvPr id="28" name="直線コネクタ 27">
            <a:extLst>
              <a:ext uri="{FF2B5EF4-FFF2-40B4-BE49-F238E27FC236}">
                <a16:creationId xmlns:a16="http://schemas.microsoft.com/office/drawing/2014/main" id="{B5C35B47-5FB7-772F-B400-8C498BB760F1}"/>
              </a:ext>
            </a:extLst>
          </p:cNvPr>
          <p:cNvCxnSpPr>
            <a:cxnSpLocks/>
          </p:cNvCxnSpPr>
          <p:nvPr/>
        </p:nvCxnSpPr>
        <p:spPr>
          <a:xfrm>
            <a:off x="1128321" y="3452158"/>
            <a:ext cx="0" cy="736705"/>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4FC3E65C-6A80-0DF9-7FE7-13C3B3B6E0AC}"/>
              </a:ext>
            </a:extLst>
          </p:cNvPr>
          <p:cNvCxnSpPr>
            <a:cxnSpLocks/>
          </p:cNvCxnSpPr>
          <p:nvPr/>
        </p:nvCxnSpPr>
        <p:spPr>
          <a:xfrm>
            <a:off x="3777178" y="5167289"/>
            <a:ext cx="0" cy="44493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46" name="グラフィックス 45">
            <a:extLst>
              <a:ext uri="{FF2B5EF4-FFF2-40B4-BE49-F238E27FC236}">
                <a16:creationId xmlns:a16="http://schemas.microsoft.com/office/drawing/2014/main" id="{A5E23FDC-F5C0-D1E2-FFA1-FAAC3C2BA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900412" y="3731992"/>
            <a:ext cx="235158" cy="157236"/>
          </a:xfrm>
          <a:prstGeom prst="rect">
            <a:avLst/>
          </a:prstGeom>
        </p:spPr>
      </p:pic>
      <p:grpSp>
        <p:nvGrpSpPr>
          <p:cNvPr id="48" name="グループ化 47">
            <a:extLst>
              <a:ext uri="{FF2B5EF4-FFF2-40B4-BE49-F238E27FC236}">
                <a16:creationId xmlns:a16="http://schemas.microsoft.com/office/drawing/2014/main" id="{CD2B0108-7D87-ED7C-AD50-AB9C2B4AC07E}"/>
              </a:ext>
            </a:extLst>
          </p:cNvPr>
          <p:cNvGrpSpPr/>
          <p:nvPr/>
        </p:nvGrpSpPr>
        <p:grpSpPr>
          <a:xfrm>
            <a:off x="2785967" y="3841922"/>
            <a:ext cx="676500" cy="369332"/>
            <a:chOff x="3122834" y="5125120"/>
            <a:chExt cx="676500" cy="369332"/>
          </a:xfrm>
        </p:grpSpPr>
        <p:sp>
          <p:nvSpPr>
            <p:cNvPr id="49" name="テキスト ボックス 48">
              <a:extLst>
                <a:ext uri="{FF2B5EF4-FFF2-40B4-BE49-F238E27FC236}">
                  <a16:creationId xmlns:a16="http://schemas.microsoft.com/office/drawing/2014/main" id="{7BA9269D-9EE8-EB02-D642-18CA6B5A79ED}"/>
                </a:ext>
              </a:extLst>
            </p:cNvPr>
            <p:cNvSpPr txBox="1"/>
            <p:nvPr/>
          </p:nvSpPr>
          <p:spPr>
            <a:xfrm>
              <a:off x="3122834" y="5125120"/>
              <a:ext cx="277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3</a:t>
              </a:r>
              <a:endParaRPr kumimoji="1" lang="ja-JP" altLang="en-US" sz="36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50" name="テキスト ボックス 49">
              <a:extLst>
                <a:ext uri="{FF2B5EF4-FFF2-40B4-BE49-F238E27FC236}">
                  <a16:creationId xmlns:a16="http://schemas.microsoft.com/office/drawing/2014/main" id="{1D08D0FE-078B-8E87-6182-2863266DC218}"/>
                </a:ext>
              </a:extLst>
            </p:cNvPr>
            <p:cNvSpPr txBox="1"/>
            <p:nvPr/>
          </p:nvSpPr>
          <p:spPr>
            <a:xfrm>
              <a:off x="3268185" y="5215688"/>
              <a:ext cx="531149"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rd.</a:t>
              </a:r>
              <a:endParaRPr kumimoji="1" lang="ja-JP" altLang="en-US" sz="9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endParaRPr>
            </a:p>
          </p:txBody>
        </p:sp>
      </p:grpSp>
      <p:sp>
        <p:nvSpPr>
          <p:cNvPr id="53" name="角丸四角形 52">
            <a:extLst>
              <a:ext uri="{FF2B5EF4-FFF2-40B4-BE49-F238E27FC236}">
                <a16:creationId xmlns:a16="http://schemas.microsoft.com/office/drawing/2014/main" id="{0657E330-95B2-2774-E742-6BF26343F9F1}"/>
              </a:ext>
            </a:extLst>
          </p:cNvPr>
          <p:cNvSpPr/>
          <p:nvPr/>
        </p:nvSpPr>
        <p:spPr>
          <a:xfrm>
            <a:off x="3147279" y="3791556"/>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pic>
        <p:nvPicPr>
          <p:cNvPr id="54" name="図 53">
            <a:extLst>
              <a:ext uri="{FF2B5EF4-FFF2-40B4-BE49-F238E27FC236}">
                <a16:creationId xmlns:a16="http://schemas.microsoft.com/office/drawing/2014/main" id="{3045996A-55F3-8383-AD83-8DA422E68703}"/>
              </a:ext>
            </a:extLst>
          </p:cNvPr>
          <p:cNvPicPr>
            <a:picLocks noChangeAspect="1"/>
          </p:cNvPicPr>
          <p:nvPr/>
        </p:nvPicPr>
        <p:blipFill>
          <a:blip r:embed="rId16"/>
          <a:stretch>
            <a:fillRect/>
          </a:stretch>
        </p:blipFill>
        <p:spPr>
          <a:xfrm>
            <a:off x="3113536" y="3820511"/>
            <a:ext cx="390966" cy="260644"/>
          </a:xfrm>
          <a:prstGeom prst="rect">
            <a:avLst/>
          </a:prstGeom>
        </p:spPr>
      </p:pic>
      <p:sp>
        <p:nvSpPr>
          <p:cNvPr id="55" name="テキスト ボックス 54">
            <a:extLst>
              <a:ext uri="{FF2B5EF4-FFF2-40B4-BE49-F238E27FC236}">
                <a16:creationId xmlns:a16="http://schemas.microsoft.com/office/drawing/2014/main" id="{B855A031-12D9-9D69-5325-DEF4EE970A5B}"/>
              </a:ext>
            </a:extLst>
          </p:cNvPr>
          <p:cNvSpPr txBox="1"/>
          <p:nvPr/>
        </p:nvSpPr>
        <p:spPr>
          <a:xfrm>
            <a:off x="3360106" y="3806162"/>
            <a:ext cx="82658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43.46</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58" name="角丸四角形 57">
            <a:extLst>
              <a:ext uri="{FF2B5EF4-FFF2-40B4-BE49-F238E27FC236}">
                <a16:creationId xmlns:a16="http://schemas.microsoft.com/office/drawing/2014/main" id="{43A4BEAB-6483-E0A6-E594-33CDED9FB149}"/>
              </a:ext>
            </a:extLst>
          </p:cNvPr>
          <p:cNvSpPr/>
          <p:nvPr/>
        </p:nvSpPr>
        <p:spPr>
          <a:xfrm>
            <a:off x="984725" y="4108705"/>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59" name="テキスト ボックス 58">
            <a:extLst>
              <a:ext uri="{FF2B5EF4-FFF2-40B4-BE49-F238E27FC236}">
                <a16:creationId xmlns:a16="http://schemas.microsoft.com/office/drawing/2014/main" id="{7C35AB09-5903-02EF-0D95-D2E7AFAFB6F9}"/>
              </a:ext>
            </a:extLst>
          </p:cNvPr>
          <p:cNvSpPr txBox="1"/>
          <p:nvPr/>
        </p:nvSpPr>
        <p:spPr>
          <a:xfrm>
            <a:off x="1197552" y="4123311"/>
            <a:ext cx="82422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47.46</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pic>
        <p:nvPicPr>
          <p:cNvPr id="60" name="図 59">
            <a:extLst>
              <a:ext uri="{FF2B5EF4-FFF2-40B4-BE49-F238E27FC236}">
                <a16:creationId xmlns:a16="http://schemas.microsoft.com/office/drawing/2014/main" id="{50B8F3A3-9022-2A41-9F9E-D11EDDFA031A}"/>
              </a:ext>
            </a:extLst>
          </p:cNvPr>
          <p:cNvPicPr>
            <a:picLocks noChangeAspect="1"/>
          </p:cNvPicPr>
          <p:nvPr/>
        </p:nvPicPr>
        <p:blipFill>
          <a:blip r:embed="rId17"/>
          <a:stretch>
            <a:fillRect/>
          </a:stretch>
        </p:blipFill>
        <p:spPr>
          <a:xfrm>
            <a:off x="959074" y="4137660"/>
            <a:ext cx="465446" cy="259200"/>
          </a:xfrm>
          <a:prstGeom prst="rect">
            <a:avLst/>
          </a:prstGeom>
        </p:spPr>
      </p:pic>
      <p:sp>
        <p:nvSpPr>
          <p:cNvPr id="56" name="角丸四角形 55">
            <a:extLst>
              <a:ext uri="{FF2B5EF4-FFF2-40B4-BE49-F238E27FC236}">
                <a16:creationId xmlns:a16="http://schemas.microsoft.com/office/drawing/2014/main" id="{7B108E16-7451-709E-D991-0EA544056F7A}"/>
              </a:ext>
            </a:extLst>
          </p:cNvPr>
          <p:cNvSpPr/>
          <p:nvPr/>
        </p:nvSpPr>
        <p:spPr>
          <a:xfrm>
            <a:off x="3313516" y="5401494"/>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pic>
        <p:nvPicPr>
          <p:cNvPr id="57" name="図 56">
            <a:extLst>
              <a:ext uri="{FF2B5EF4-FFF2-40B4-BE49-F238E27FC236}">
                <a16:creationId xmlns:a16="http://schemas.microsoft.com/office/drawing/2014/main" id="{C2CE8574-4975-C527-F59E-8D213894E401}"/>
              </a:ext>
            </a:extLst>
          </p:cNvPr>
          <p:cNvPicPr>
            <a:picLocks noChangeAspect="1"/>
          </p:cNvPicPr>
          <p:nvPr/>
        </p:nvPicPr>
        <p:blipFill>
          <a:blip r:embed="rId18"/>
          <a:stretch>
            <a:fillRect/>
          </a:stretch>
        </p:blipFill>
        <p:spPr>
          <a:xfrm>
            <a:off x="3304049" y="5430449"/>
            <a:ext cx="351174" cy="259200"/>
          </a:xfrm>
          <a:prstGeom prst="rect">
            <a:avLst/>
          </a:prstGeom>
        </p:spPr>
      </p:pic>
      <p:sp>
        <p:nvSpPr>
          <p:cNvPr id="61" name="テキスト ボックス 60">
            <a:extLst>
              <a:ext uri="{FF2B5EF4-FFF2-40B4-BE49-F238E27FC236}">
                <a16:creationId xmlns:a16="http://schemas.microsoft.com/office/drawing/2014/main" id="{7D71C7D2-4038-5907-84E1-94D2D1221765}"/>
              </a:ext>
            </a:extLst>
          </p:cNvPr>
          <p:cNvSpPr txBox="1"/>
          <p:nvPr/>
        </p:nvSpPr>
        <p:spPr>
          <a:xfrm>
            <a:off x="3526343" y="5416100"/>
            <a:ext cx="83882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48.48</a:t>
            </a:r>
            <a:r>
              <a:rPr kumimoji="1" lang="en-US" altLang="ja-JP" sz="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83" name="テキスト ボックス 82">
            <a:extLst>
              <a:ext uri="{FF2B5EF4-FFF2-40B4-BE49-F238E27FC236}">
                <a16:creationId xmlns:a16="http://schemas.microsoft.com/office/drawing/2014/main" id="{21053D01-F36A-5638-1A19-EF3ADB04E1CA}"/>
              </a:ext>
            </a:extLst>
          </p:cNvPr>
          <p:cNvSpPr txBox="1"/>
          <p:nvPr/>
        </p:nvSpPr>
        <p:spPr>
          <a:xfrm>
            <a:off x="8696983" y="4776574"/>
            <a:ext cx="542626" cy="3077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10000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*2</a:t>
            </a:r>
            <a:endParaRPr kumimoji="1" lang="ja-JP" altLang="en-US" sz="1400" b="0" i="0" u="none" strike="noStrike" kern="1200" cap="none" spc="0" normalizeH="0" baseline="0" noProof="0">
              <a:ln>
                <a:noFill/>
              </a:ln>
              <a:solidFill>
                <a:srgbClr val="00A7FF"/>
              </a:solidFill>
              <a:effectLst/>
              <a:uLnTx/>
              <a:uFillTx/>
              <a:latin typeface="Poppins" pitchFamily="2" charset="0"/>
              <a:ea typeface="游ゴシック" panose="020B0400000000000000" pitchFamily="50" charset="-128"/>
            </a:endParaRPr>
          </a:p>
        </p:txBody>
      </p:sp>
      <p:sp>
        <p:nvSpPr>
          <p:cNvPr id="120" name="テキスト ボックス 119">
            <a:extLst>
              <a:ext uri="{FF2B5EF4-FFF2-40B4-BE49-F238E27FC236}">
                <a16:creationId xmlns:a16="http://schemas.microsoft.com/office/drawing/2014/main" id="{6104A31B-EC26-53CC-64C9-FAE10F29CAB7}"/>
              </a:ext>
            </a:extLst>
          </p:cNvPr>
          <p:cNvSpPr txBox="1"/>
          <p:nvPr/>
        </p:nvSpPr>
        <p:spPr>
          <a:xfrm>
            <a:off x="10769901" y="4776574"/>
            <a:ext cx="542626" cy="30777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10000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*3</a:t>
            </a:r>
            <a:endParaRPr kumimoji="1" lang="ja-JP" altLang="en-US" sz="1400" b="0" i="0" u="none" strike="noStrike" kern="1200" cap="none" spc="0" normalizeH="0" baseline="0" noProof="0">
              <a:ln>
                <a:noFill/>
              </a:ln>
              <a:solidFill>
                <a:srgbClr val="00A7FF"/>
              </a:solidFill>
              <a:effectLst/>
              <a:uLnTx/>
              <a:uFillTx/>
              <a:latin typeface="Poppins" pitchFamily="2" charset="0"/>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826AC072-0CE5-BD6B-B977-06549D8961A8}"/>
              </a:ext>
            </a:extLst>
          </p:cNvPr>
          <p:cNvSpPr txBox="1"/>
          <p:nvPr/>
        </p:nvSpPr>
        <p:spPr>
          <a:xfrm>
            <a:off x="1184838" y="5006199"/>
            <a:ext cx="65618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3200" b="1"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19</a:t>
            </a:r>
            <a:endParaRPr kumimoji="1" lang="ja-JP" altLang="en-US" sz="3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endParaRPr>
          </a:p>
        </p:txBody>
      </p:sp>
      <p:sp>
        <p:nvSpPr>
          <p:cNvPr id="152" name="角丸四角形 151">
            <a:extLst>
              <a:ext uri="{FF2B5EF4-FFF2-40B4-BE49-F238E27FC236}">
                <a16:creationId xmlns:a16="http://schemas.microsoft.com/office/drawing/2014/main" id="{C94B6C0F-476B-E4A1-C7A9-CC70FDB80C21}"/>
              </a:ext>
            </a:extLst>
          </p:cNvPr>
          <p:cNvSpPr/>
          <p:nvPr/>
        </p:nvSpPr>
        <p:spPr>
          <a:xfrm>
            <a:off x="5052500" y="4111027"/>
            <a:ext cx="972000" cy="314279"/>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kern="1200" cap="none" spc="0" normalizeH="0" baseline="0" noProof="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sp>
        <p:nvSpPr>
          <p:cNvPr id="153" name="テキスト ボックス 152">
            <a:extLst>
              <a:ext uri="{FF2B5EF4-FFF2-40B4-BE49-F238E27FC236}">
                <a16:creationId xmlns:a16="http://schemas.microsoft.com/office/drawing/2014/main" id="{FD7CA583-71CE-94FA-241F-F5BC2F2522E0}"/>
              </a:ext>
            </a:extLst>
          </p:cNvPr>
          <p:cNvSpPr txBox="1"/>
          <p:nvPr/>
        </p:nvSpPr>
        <p:spPr>
          <a:xfrm>
            <a:off x="5287099" y="4125633"/>
            <a:ext cx="82575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24.00</a:t>
            </a:r>
            <a:r>
              <a:rPr kumimoji="1" lang="en-US" altLang="ja-JP" sz="8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M</a:t>
            </a:r>
            <a:endParaRPr kumimoji="1" lang="ja-JP" altLang="en-US" sz="1200" b="1" i="0" u="none" strike="noStrike" kern="1200" cap="none" spc="0" normalizeH="0" baseline="0" noProof="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pic>
        <p:nvPicPr>
          <p:cNvPr id="154" name="図 153">
            <a:extLst>
              <a:ext uri="{FF2B5EF4-FFF2-40B4-BE49-F238E27FC236}">
                <a16:creationId xmlns:a16="http://schemas.microsoft.com/office/drawing/2014/main" id="{594D32A2-759C-F455-E98D-3DD9C16149CD}"/>
              </a:ext>
            </a:extLst>
          </p:cNvPr>
          <p:cNvPicPr>
            <a:picLocks noChangeAspect="1"/>
          </p:cNvPicPr>
          <p:nvPr/>
        </p:nvPicPr>
        <p:blipFill>
          <a:blip r:embed="rId19"/>
          <a:stretch>
            <a:fillRect/>
          </a:stretch>
        </p:blipFill>
        <p:spPr>
          <a:xfrm>
            <a:off x="5085941" y="4139982"/>
            <a:ext cx="371032" cy="255600"/>
          </a:xfrm>
          <a:prstGeom prst="rect">
            <a:avLst/>
          </a:prstGeom>
        </p:spPr>
      </p:pic>
      <p:sp>
        <p:nvSpPr>
          <p:cNvPr id="34" name="円/楕円 33">
            <a:extLst>
              <a:ext uri="{FF2B5EF4-FFF2-40B4-BE49-F238E27FC236}">
                <a16:creationId xmlns:a16="http://schemas.microsoft.com/office/drawing/2014/main" id="{65D09306-6F81-2C0A-72F9-54C10804B9C0}"/>
              </a:ext>
            </a:extLst>
          </p:cNvPr>
          <p:cNvSpPr/>
          <p:nvPr/>
        </p:nvSpPr>
        <p:spPr>
          <a:xfrm>
            <a:off x="9652346" y="2291766"/>
            <a:ext cx="534874" cy="534874"/>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38" name="円/楕円 37">
            <a:extLst>
              <a:ext uri="{FF2B5EF4-FFF2-40B4-BE49-F238E27FC236}">
                <a16:creationId xmlns:a16="http://schemas.microsoft.com/office/drawing/2014/main" id="{09110CD0-BBA3-6AA6-5808-E2AD79DECA4E}"/>
              </a:ext>
            </a:extLst>
          </p:cNvPr>
          <p:cNvSpPr/>
          <p:nvPr/>
        </p:nvSpPr>
        <p:spPr>
          <a:xfrm>
            <a:off x="8734069" y="2624632"/>
            <a:ext cx="534874" cy="534874"/>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40" name="円/楕円 39">
            <a:extLst>
              <a:ext uri="{FF2B5EF4-FFF2-40B4-BE49-F238E27FC236}">
                <a16:creationId xmlns:a16="http://schemas.microsoft.com/office/drawing/2014/main" id="{EFABDE9D-5163-DD0C-2691-6AD410417B12}"/>
              </a:ext>
            </a:extLst>
          </p:cNvPr>
          <p:cNvSpPr/>
          <p:nvPr/>
        </p:nvSpPr>
        <p:spPr>
          <a:xfrm>
            <a:off x="10367992" y="1979833"/>
            <a:ext cx="534874" cy="534874"/>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81" name="テキスト ボックス 80">
            <a:extLst>
              <a:ext uri="{FF2B5EF4-FFF2-40B4-BE49-F238E27FC236}">
                <a16:creationId xmlns:a16="http://schemas.microsoft.com/office/drawing/2014/main" id="{CA2F3D83-AA24-4481-B95E-45A7312E4664}"/>
              </a:ext>
            </a:extLst>
          </p:cNvPr>
          <p:cNvSpPr txBox="1"/>
          <p:nvPr/>
        </p:nvSpPr>
        <p:spPr>
          <a:xfrm>
            <a:off x="10243148" y="2087505"/>
            <a:ext cx="782267" cy="379591"/>
          </a:xfrm>
          <a:prstGeom prst="rect">
            <a:avLst/>
          </a:prstGeom>
          <a:noFill/>
        </p:spPr>
        <p:txBody>
          <a:bodyPr wrap="square" rtlCol="0">
            <a:spAutoFit/>
          </a:bodyPr>
          <a:lstStyle/>
          <a:p>
            <a:pPr marL="0" marR="0" lvl="0" indent="0" algn="ctr" defTabSz="914400" rtl="0" eaLnBrk="1" fontAlgn="auto" latinLnBrk="0" hangingPunct="1">
              <a:lnSpc>
                <a:spcPct val="40000"/>
              </a:lnSpc>
              <a:spcBef>
                <a:spcPts val="800"/>
              </a:spcBef>
              <a:spcAft>
                <a:spcPts val="0"/>
              </a:spcAft>
              <a:buClrTx/>
              <a:buSzTx/>
              <a:buFontTx/>
              <a:buNone/>
              <a:tabLst/>
              <a:defRPr/>
            </a:pPr>
            <a:r>
              <a:rPr kumimoji="1" lang="en-AU" altLang="ja-JP" sz="8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rPr>
              <a:t>Exceeded</a:t>
            </a:r>
            <a:endParaRPr kumimoji="1" lang="en-US"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ctr" defTabSz="914400" rtl="0" eaLnBrk="1" fontAlgn="auto" latinLnBrk="0" hangingPunct="1">
              <a:lnSpc>
                <a:spcPct val="40000"/>
              </a:lnSpc>
              <a:spcBef>
                <a:spcPts val="80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500</a:t>
            </a:r>
            <a:r>
              <a:rPr kumimoji="1" lang="en-US" altLang="ja-JP" sz="9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r>
              <a:rPr kumimoji="1" lang="ja-JP"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 </a:t>
            </a:r>
            <a:endParaRPr kumimoji="1" lang="ja-JP" altLang="en-US"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106" name="テキスト ボックス 105">
            <a:extLst>
              <a:ext uri="{FF2B5EF4-FFF2-40B4-BE49-F238E27FC236}">
                <a16:creationId xmlns:a16="http://schemas.microsoft.com/office/drawing/2014/main" id="{D69281A4-C187-0D56-B83D-F5ABF0F837B6}"/>
              </a:ext>
            </a:extLst>
          </p:cNvPr>
          <p:cNvSpPr txBox="1"/>
          <p:nvPr/>
        </p:nvSpPr>
        <p:spPr>
          <a:xfrm>
            <a:off x="9529764" y="2399438"/>
            <a:ext cx="782267" cy="379591"/>
          </a:xfrm>
          <a:prstGeom prst="rect">
            <a:avLst/>
          </a:prstGeom>
          <a:noFill/>
        </p:spPr>
        <p:txBody>
          <a:bodyPr wrap="square" rtlCol="0">
            <a:spAutoFit/>
          </a:bodyPr>
          <a:lstStyle/>
          <a:p>
            <a:pPr marL="0" marR="0" lvl="0" indent="0" algn="ctr" defTabSz="914400" rtl="0" eaLnBrk="1" fontAlgn="auto" latinLnBrk="0" hangingPunct="1">
              <a:lnSpc>
                <a:spcPct val="40000"/>
              </a:lnSpc>
              <a:spcBef>
                <a:spcPts val="800"/>
              </a:spcBef>
              <a:spcAft>
                <a:spcPts val="0"/>
              </a:spcAft>
              <a:buClrTx/>
              <a:buSzTx/>
              <a:buFontTx/>
              <a:buNone/>
              <a:tabLst/>
              <a:defRPr/>
            </a:pPr>
            <a:r>
              <a:rPr kumimoji="1" lang="en-AU" altLang="ja-JP" sz="8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rPr>
              <a:t>Exceeded</a:t>
            </a:r>
            <a:endParaRPr kumimoji="1" lang="en-US"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ctr" defTabSz="914400" rtl="0" eaLnBrk="1" fontAlgn="auto" latinLnBrk="0" hangingPunct="1">
              <a:lnSpc>
                <a:spcPct val="40000"/>
              </a:lnSpc>
              <a:spcBef>
                <a:spcPts val="80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300</a:t>
            </a:r>
            <a:r>
              <a:rPr kumimoji="1" lang="en-US" altLang="ja-JP" sz="9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r>
              <a:rPr kumimoji="1" lang="ja-JP"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 </a:t>
            </a:r>
            <a:endParaRPr kumimoji="1" lang="ja-JP" altLang="en-US"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111" name="テキスト ボックス 110">
            <a:extLst>
              <a:ext uri="{FF2B5EF4-FFF2-40B4-BE49-F238E27FC236}">
                <a16:creationId xmlns:a16="http://schemas.microsoft.com/office/drawing/2014/main" id="{489F84EF-29DC-44F3-E802-ACD3F7F3EE9C}"/>
              </a:ext>
            </a:extLst>
          </p:cNvPr>
          <p:cNvSpPr txBox="1"/>
          <p:nvPr/>
        </p:nvSpPr>
        <p:spPr>
          <a:xfrm>
            <a:off x="8610989" y="2736322"/>
            <a:ext cx="782267" cy="379591"/>
          </a:xfrm>
          <a:prstGeom prst="rect">
            <a:avLst/>
          </a:prstGeom>
          <a:noFill/>
        </p:spPr>
        <p:txBody>
          <a:bodyPr wrap="square" rtlCol="0">
            <a:spAutoFit/>
          </a:bodyPr>
          <a:lstStyle/>
          <a:p>
            <a:pPr marL="0" marR="0" lvl="0" indent="0" algn="ctr" defTabSz="914400" rtl="0" eaLnBrk="1" fontAlgn="auto" latinLnBrk="0" hangingPunct="1">
              <a:lnSpc>
                <a:spcPct val="40000"/>
              </a:lnSpc>
              <a:spcBef>
                <a:spcPts val="800"/>
              </a:spcBef>
              <a:spcAft>
                <a:spcPts val="0"/>
              </a:spcAft>
              <a:buClrTx/>
              <a:buSzTx/>
              <a:buFontTx/>
              <a:buNone/>
              <a:tabLst/>
              <a:defRPr/>
            </a:pPr>
            <a:r>
              <a:rPr kumimoji="1" lang="en-AU" altLang="ja-JP" sz="8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rPr>
              <a:t>Exceeded</a:t>
            </a:r>
            <a:endParaRPr kumimoji="1" lang="en-US"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ctr" defTabSz="914400" rtl="0" eaLnBrk="1" fontAlgn="auto" latinLnBrk="0" hangingPunct="1">
              <a:lnSpc>
                <a:spcPct val="40000"/>
              </a:lnSpc>
              <a:spcBef>
                <a:spcPts val="80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100</a:t>
            </a:r>
            <a:r>
              <a:rPr kumimoji="1" lang="en-US" altLang="ja-JP" sz="9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r>
              <a:rPr kumimoji="1" lang="ja-JP"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 </a:t>
            </a:r>
            <a:endParaRPr kumimoji="1" lang="ja-JP" altLang="en-US"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156" name="テキスト ボックス 155">
            <a:extLst>
              <a:ext uri="{FF2B5EF4-FFF2-40B4-BE49-F238E27FC236}">
                <a16:creationId xmlns:a16="http://schemas.microsoft.com/office/drawing/2014/main" id="{EFD911F1-062D-4D11-BF56-C954DD249CC1}"/>
              </a:ext>
            </a:extLst>
          </p:cNvPr>
          <p:cNvSpPr txBox="1"/>
          <p:nvPr/>
        </p:nvSpPr>
        <p:spPr>
          <a:xfrm>
            <a:off x="1392301" y="1736224"/>
            <a:ext cx="4438715"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Cumulative Downloads by Major Countries and Regions</a:t>
            </a:r>
            <a:r>
              <a:rPr kumimoji="1" lang="en-US" altLang="ja-JP" sz="1200" b="0" i="0" u="none" strike="noStrike" kern="1200" cap="none" spc="0" normalizeH="0" baseline="3000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*1</a:t>
            </a:r>
          </a:p>
        </p:txBody>
      </p:sp>
      <p:sp>
        <p:nvSpPr>
          <p:cNvPr id="157" name="テキスト ボックス 156">
            <a:extLst>
              <a:ext uri="{FF2B5EF4-FFF2-40B4-BE49-F238E27FC236}">
                <a16:creationId xmlns:a16="http://schemas.microsoft.com/office/drawing/2014/main" id="{46C20D41-7434-0842-DDDA-8EF8A7C1D9AD}"/>
              </a:ext>
            </a:extLst>
          </p:cNvPr>
          <p:cNvSpPr txBox="1"/>
          <p:nvPr/>
        </p:nvSpPr>
        <p:spPr>
          <a:xfrm>
            <a:off x="8263940" y="1736224"/>
            <a:ext cx="2348399"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Cumulative Global Downloads</a:t>
            </a:r>
          </a:p>
        </p:txBody>
      </p:sp>
      <p:sp>
        <p:nvSpPr>
          <p:cNvPr id="158" name="テキスト ボックス 157">
            <a:extLst>
              <a:ext uri="{FF2B5EF4-FFF2-40B4-BE49-F238E27FC236}">
                <a16:creationId xmlns:a16="http://schemas.microsoft.com/office/drawing/2014/main" id="{05A2B479-5ED2-0DF8-D2F0-7E7D0749DD22}"/>
              </a:ext>
            </a:extLst>
          </p:cNvPr>
          <p:cNvSpPr txBox="1"/>
          <p:nvPr/>
        </p:nvSpPr>
        <p:spPr>
          <a:xfrm>
            <a:off x="9046205" y="1947239"/>
            <a:ext cx="783869"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Over Time</a:t>
            </a:r>
          </a:p>
        </p:txBody>
      </p:sp>
      <p:sp>
        <p:nvSpPr>
          <p:cNvPr id="159" name="テキスト ボックス 158">
            <a:extLst>
              <a:ext uri="{FF2B5EF4-FFF2-40B4-BE49-F238E27FC236}">
                <a16:creationId xmlns:a16="http://schemas.microsoft.com/office/drawing/2014/main" id="{83E1DA1E-9DC1-6C92-034B-0C431F5B9B8F}"/>
              </a:ext>
            </a:extLst>
          </p:cNvPr>
          <p:cNvSpPr txBox="1"/>
          <p:nvPr/>
        </p:nvSpPr>
        <p:spPr>
          <a:xfrm>
            <a:off x="9926175" y="3852939"/>
            <a:ext cx="1376980"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Global User Share</a:t>
            </a:r>
          </a:p>
        </p:txBody>
      </p:sp>
      <p:sp>
        <p:nvSpPr>
          <p:cNvPr id="160" name="テキスト ボックス 159">
            <a:extLst>
              <a:ext uri="{FF2B5EF4-FFF2-40B4-BE49-F238E27FC236}">
                <a16:creationId xmlns:a16="http://schemas.microsoft.com/office/drawing/2014/main" id="{BD5000BE-57BE-857B-DD99-1E9914B4098C}"/>
              </a:ext>
            </a:extLst>
          </p:cNvPr>
          <p:cNvSpPr txBox="1"/>
          <p:nvPr/>
        </p:nvSpPr>
        <p:spPr>
          <a:xfrm>
            <a:off x="7845710" y="3852939"/>
            <a:ext cx="1423467"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MAU Composition:</a:t>
            </a:r>
          </a:p>
        </p:txBody>
      </p:sp>
      <p:sp>
        <p:nvSpPr>
          <p:cNvPr id="161" name="テキスト ボックス 160">
            <a:extLst>
              <a:ext uri="{FF2B5EF4-FFF2-40B4-BE49-F238E27FC236}">
                <a16:creationId xmlns:a16="http://schemas.microsoft.com/office/drawing/2014/main" id="{FB415FCB-D579-952C-8BB9-EF846C01BC47}"/>
              </a:ext>
            </a:extLst>
          </p:cNvPr>
          <p:cNvSpPr txBox="1"/>
          <p:nvPr/>
        </p:nvSpPr>
        <p:spPr>
          <a:xfrm>
            <a:off x="7740552" y="4027452"/>
            <a:ext cx="1633781"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(Japan and Overseas)</a:t>
            </a:r>
          </a:p>
        </p:txBody>
      </p:sp>
    </p:spTree>
    <p:extLst>
      <p:ext uri="{BB962C8B-B14F-4D97-AF65-F5344CB8AC3E}">
        <p14:creationId xmlns:p14="http://schemas.microsoft.com/office/powerpoint/2010/main" val="3816446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角丸四角形 65">
            <a:extLst>
              <a:ext uri="{FF2B5EF4-FFF2-40B4-BE49-F238E27FC236}">
                <a16:creationId xmlns:a16="http://schemas.microsoft.com/office/drawing/2014/main" id="{091459D9-BB97-EEC1-A560-47FA422FF59F}"/>
              </a:ext>
            </a:extLst>
          </p:cNvPr>
          <p:cNvSpPr/>
          <p:nvPr/>
        </p:nvSpPr>
        <p:spPr>
          <a:xfrm>
            <a:off x="550862" y="1495092"/>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9" name="テキスト ボックス 58">
            <a:extLst>
              <a:ext uri="{FF2B5EF4-FFF2-40B4-BE49-F238E27FC236}">
                <a16:creationId xmlns:a16="http://schemas.microsoft.com/office/drawing/2014/main" id="{9844C535-A166-02F1-A237-CAFDE9295B7D}"/>
              </a:ext>
            </a:extLst>
          </p:cNvPr>
          <p:cNvSpPr txBox="1"/>
          <p:nvPr/>
        </p:nvSpPr>
        <p:spPr>
          <a:xfrm>
            <a:off x="7724669" y="3081320"/>
            <a:ext cx="184161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12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 </a:t>
            </a:r>
            <a:r>
              <a:rPr kumimoji="1" lang="en-US" altLang="ja-JP" sz="36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2.83</a:t>
            </a: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B</a:t>
            </a:r>
            <a:endParaRPr kumimoji="1" lang="ja-JP" altLang="en-US"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graphicFrame>
        <p:nvGraphicFramePr>
          <p:cNvPr id="39" name="グラフ 38">
            <a:extLst>
              <a:ext uri="{FF2B5EF4-FFF2-40B4-BE49-F238E27FC236}">
                <a16:creationId xmlns:a16="http://schemas.microsoft.com/office/drawing/2014/main" id="{60733D62-634C-3B47-D980-D5D2ECCBDF1D}"/>
              </a:ext>
            </a:extLst>
          </p:cNvPr>
          <p:cNvGraphicFramePr/>
          <p:nvPr>
            <p:extLst>
              <p:ext uri="{D42A27DB-BD31-4B8C-83A1-F6EECF244321}">
                <p14:modId xmlns:p14="http://schemas.microsoft.com/office/powerpoint/2010/main" val="708160917"/>
              </p:ext>
            </p:extLst>
          </p:nvPr>
        </p:nvGraphicFramePr>
        <p:xfrm>
          <a:off x="7558832" y="2121855"/>
          <a:ext cx="2176918" cy="2509354"/>
        </p:xfrm>
        <a:graphic>
          <a:graphicData uri="http://schemas.openxmlformats.org/drawingml/2006/chart">
            <c:chart xmlns:c="http://schemas.openxmlformats.org/drawingml/2006/chart" xmlns:r="http://schemas.openxmlformats.org/officeDocument/2006/relationships" r:id="rId3"/>
          </a:graphicData>
        </a:graphic>
      </p:graphicFrame>
      <p:pic>
        <p:nvPicPr>
          <p:cNvPr id="40" name="図 39">
            <a:extLst>
              <a:ext uri="{FF2B5EF4-FFF2-40B4-BE49-F238E27FC236}">
                <a16:creationId xmlns:a16="http://schemas.microsoft.com/office/drawing/2014/main" id="{A5C9C573-1755-C853-B308-525F3A5A4F8E}"/>
              </a:ext>
            </a:extLst>
          </p:cNvPr>
          <p:cNvPicPr>
            <a:picLocks noChangeAspect="1"/>
          </p:cNvPicPr>
          <p:nvPr/>
        </p:nvPicPr>
        <p:blipFill>
          <a:blip r:embed="rId4"/>
          <a:stretch>
            <a:fillRect/>
          </a:stretch>
        </p:blipFill>
        <p:spPr>
          <a:xfrm>
            <a:off x="9609834" y="2431487"/>
            <a:ext cx="1823616" cy="1336146"/>
          </a:xfrm>
          <a:prstGeom prst="rect">
            <a:avLst/>
          </a:prstGeom>
        </p:spPr>
      </p:pic>
      <p:sp>
        <p:nvSpPr>
          <p:cNvPr id="41" name="角丸四角形 40">
            <a:extLst>
              <a:ext uri="{FF2B5EF4-FFF2-40B4-BE49-F238E27FC236}">
                <a16:creationId xmlns:a16="http://schemas.microsoft.com/office/drawing/2014/main" id="{5C3D6450-7230-D9FD-0233-5E97BEF9D512}"/>
              </a:ext>
            </a:extLst>
          </p:cNvPr>
          <p:cNvSpPr/>
          <p:nvPr/>
        </p:nvSpPr>
        <p:spPr>
          <a:xfrm>
            <a:off x="10264509" y="2334744"/>
            <a:ext cx="601080" cy="222264"/>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ARPU</a:t>
            </a:r>
            <a:endParaRPr kumimoji="1" lang="ja-JP" altLang="en-US"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endParaRPr>
          </a:p>
        </p:txBody>
      </p:sp>
      <p:sp>
        <p:nvSpPr>
          <p:cNvPr id="68" name="フリーフォーム 67">
            <a:extLst>
              <a:ext uri="{FF2B5EF4-FFF2-40B4-BE49-F238E27FC236}">
                <a16:creationId xmlns:a16="http://schemas.microsoft.com/office/drawing/2014/main" id="{4B94BEC1-3689-36E1-546F-0B27A985EC37}"/>
              </a:ext>
            </a:extLst>
          </p:cNvPr>
          <p:cNvSpPr/>
          <p:nvPr/>
        </p:nvSpPr>
        <p:spPr>
          <a:xfrm rot="16200000">
            <a:off x="10492592" y="5016455"/>
            <a:ext cx="958949" cy="1085063"/>
          </a:xfrm>
          <a:custGeom>
            <a:avLst/>
            <a:gdLst>
              <a:gd name="connsiteX0" fmla="*/ 958949 w 958949"/>
              <a:gd name="connsiteY0" fmla="*/ 605589 h 1085063"/>
              <a:gd name="connsiteX1" fmla="*/ 479475 w 958949"/>
              <a:gd name="connsiteY1" fmla="*/ 1085063 h 1085063"/>
              <a:gd name="connsiteX2" fmla="*/ 0 w 958949"/>
              <a:gd name="connsiteY2" fmla="*/ 605589 h 1085063"/>
              <a:gd name="connsiteX3" fmla="*/ 382844 w 958949"/>
              <a:gd name="connsiteY3" fmla="*/ 135856 h 1085063"/>
              <a:gd name="connsiteX4" fmla="*/ 401786 w 958949"/>
              <a:gd name="connsiteY4" fmla="*/ 133947 h 1085063"/>
              <a:gd name="connsiteX5" fmla="*/ 479475 w 958949"/>
              <a:gd name="connsiteY5" fmla="*/ 0 h 1085063"/>
              <a:gd name="connsiteX6" fmla="*/ 557165 w 958949"/>
              <a:gd name="connsiteY6" fmla="*/ 133947 h 1085063"/>
              <a:gd name="connsiteX7" fmla="*/ 576105 w 958949"/>
              <a:gd name="connsiteY7" fmla="*/ 135856 h 1085063"/>
              <a:gd name="connsiteX8" fmla="*/ 958949 w 958949"/>
              <a:gd name="connsiteY8" fmla="*/ 605589 h 108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8949" h="1085063">
                <a:moveTo>
                  <a:pt x="958949" y="605589"/>
                </a:moveTo>
                <a:cubicBezTo>
                  <a:pt x="958949" y="870395"/>
                  <a:pt x="744281" y="1085063"/>
                  <a:pt x="479475" y="1085063"/>
                </a:cubicBezTo>
                <a:cubicBezTo>
                  <a:pt x="214668" y="1085063"/>
                  <a:pt x="0" y="870395"/>
                  <a:pt x="0" y="605589"/>
                </a:cubicBezTo>
                <a:cubicBezTo>
                  <a:pt x="0" y="373884"/>
                  <a:pt x="164355" y="180565"/>
                  <a:pt x="382844" y="135856"/>
                </a:cubicBezTo>
                <a:lnTo>
                  <a:pt x="401786" y="133947"/>
                </a:lnTo>
                <a:lnTo>
                  <a:pt x="479475" y="0"/>
                </a:lnTo>
                <a:lnTo>
                  <a:pt x="557165" y="133947"/>
                </a:lnTo>
                <a:lnTo>
                  <a:pt x="576105" y="135856"/>
                </a:lnTo>
                <a:cubicBezTo>
                  <a:pt x="794594" y="180565"/>
                  <a:pt x="958949" y="373884"/>
                  <a:pt x="958949" y="605589"/>
                </a:cubicBezTo>
                <a:close/>
              </a:path>
            </a:pathLst>
          </a:cu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21" name="図 20">
            <a:extLst>
              <a:ext uri="{FF2B5EF4-FFF2-40B4-BE49-F238E27FC236}">
                <a16:creationId xmlns:a16="http://schemas.microsoft.com/office/drawing/2014/main" id="{26CF42A1-DFA0-0EDA-06C1-844EC37E2D07}"/>
              </a:ext>
            </a:extLst>
          </p:cNvPr>
          <p:cNvPicPr>
            <a:picLocks noChangeAspect="1"/>
          </p:cNvPicPr>
          <p:nvPr/>
        </p:nvPicPr>
        <p:blipFill>
          <a:blip r:embed="rId5"/>
          <a:stretch>
            <a:fillRect/>
          </a:stretch>
        </p:blipFill>
        <p:spPr>
          <a:xfrm>
            <a:off x="1105218" y="2110569"/>
            <a:ext cx="5925517" cy="3995234"/>
          </a:xfrm>
          <a:prstGeom prst="rect">
            <a:avLst/>
          </a:prstGeom>
        </p:spPr>
      </p:pic>
      <p:sp>
        <p:nvSpPr>
          <p:cNvPr id="4" name="テキスト プレースホルダー 3">
            <a:extLst>
              <a:ext uri="{FF2B5EF4-FFF2-40B4-BE49-F238E27FC236}">
                <a16:creationId xmlns:a16="http://schemas.microsoft.com/office/drawing/2014/main" id="{EB837EC3-A528-9A46-340A-633FC5589D25}"/>
              </a:ext>
            </a:extLst>
          </p:cNvPr>
          <p:cNvSpPr>
            <a:spLocks noGrp="1"/>
          </p:cNvSpPr>
          <p:nvPr>
            <p:ph type="body" sz="quarter" idx="12"/>
          </p:nvPr>
        </p:nvSpPr>
        <p:spPr/>
        <p:txBody>
          <a:bodyPr/>
          <a:lstStyle/>
          <a:p>
            <a:r>
              <a:rPr lang="en-US" altLang="ja-JP" dirty="0"/>
              <a:t>Strengths of ibisPaint</a:t>
            </a:r>
            <a:r>
              <a:rPr lang="ja-JP" altLang="en-US" dirty="0"/>
              <a:t> </a:t>
            </a:r>
            <a:r>
              <a:rPr lang="en-US" altLang="ja-JP" dirty="0"/>
              <a:t>(3)</a:t>
            </a:r>
            <a:endParaRPr kumimoji="1" lang="ja-JP" altLang="en-US" dirty="0"/>
          </a:p>
        </p:txBody>
      </p:sp>
      <p:sp>
        <p:nvSpPr>
          <p:cNvPr id="3" name="タイトル 2">
            <a:extLst>
              <a:ext uri="{FF2B5EF4-FFF2-40B4-BE49-F238E27FC236}">
                <a16:creationId xmlns:a16="http://schemas.microsoft.com/office/drawing/2014/main" id="{4EB58177-AC43-16B2-CA95-F24D80C2F78C}"/>
              </a:ext>
            </a:extLst>
          </p:cNvPr>
          <p:cNvSpPr>
            <a:spLocks noGrp="1"/>
          </p:cNvSpPr>
          <p:nvPr>
            <p:ph type="ctrTitle"/>
          </p:nvPr>
        </p:nvSpPr>
        <p:spPr>
          <a:xfrm>
            <a:off x="610273" y="590695"/>
            <a:ext cx="10971455" cy="622579"/>
          </a:xfrm>
        </p:spPr>
        <p:txBody>
          <a:bodyPr/>
          <a:lstStyle/>
          <a:p>
            <a:pPr>
              <a:lnSpc>
                <a:spcPct val="100000"/>
              </a:lnSpc>
            </a:pPr>
            <a:br>
              <a:rPr lang="en-US" altLang="ja-JP" sz="2650" b="1" dirty="0">
                <a:solidFill>
                  <a:prstClr val="white"/>
                </a:solidFill>
                <a:latin typeface="Poppins SemiBold" pitchFamily="2" charset="0"/>
                <a:cs typeface="Poppins SemiBold" pitchFamily="2" charset="0"/>
              </a:rPr>
            </a:br>
            <a:r>
              <a:rPr lang="en-US" altLang="ja-JP" sz="1600" b="1" dirty="0">
                <a:solidFill>
                  <a:prstClr val="white"/>
                </a:solidFill>
                <a:latin typeface="Poppins SemiBold" pitchFamily="2" charset="0"/>
                <a:cs typeface="Poppins SemiBold" pitchFamily="2" charset="0"/>
              </a:rPr>
              <a:t>Through advanced technology and a lean, elite team,</a:t>
            </a:r>
            <a:br>
              <a:rPr lang="en-US" altLang="ja-JP" sz="1600" b="1" dirty="0">
                <a:solidFill>
                  <a:prstClr val="white"/>
                </a:solidFill>
                <a:latin typeface="Poppins SemiBold" pitchFamily="2" charset="0"/>
                <a:cs typeface="Poppins SemiBold" pitchFamily="2" charset="0"/>
              </a:rPr>
            </a:br>
            <a:r>
              <a:rPr lang="en-US" altLang="ja-JP" sz="2650" b="1" dirty="0">
                <a:solidFill>
                  <a:srgbClr val="C0FF00"/>
                </a:solidFill>
                <a:latin typeface="Poppins SemiBold" pitchFamily="2" charset="0"/>
                <a:cs typeface="Poppins SemiBold" pitchFamily="2" charset="0"/>
              </a:rPr>
              <a:t>we maximize efficiency and generate a high-margin model</a:t>
            </a:r>
            <a:br>
              <a:rPr lang="ja-JP" altLang="ja-JP" sz="2650" b="1" dirty="0">
                <a:latin typeface="Poppins SemiBold" pitchFamily="2" charset="0"/>
                <a:cs typeface="Poppins SemiBold" pitchFamily="2" charset="0"/>
              </a:rPr>
            </a:br>
            <a:r>
              <a:rPr lang="ja-JP" altLang="ja-JP" sz="1800" b="1" dirty="0">
                <a:latin typeface="Poppins SemiBold" pitchFamily="2" charset="0"/>
                <a:cs typeface="Poppins SemiBold" pitchFamily="2" charset="0"/>
              </a:rPr>
              <a:t>  </a:t>
            </a:r>
            <a:endParaRPr lang="ja-JP" altLang="en-US" sz="1800" b="1" dirty="0">
              <a:latin typeface="Poppins SemiBold" pitchFamily="2" charset="0"/>
              <a:cs typeface="Poppins SemiBold" pitchFamily="2" charset="0"/>
            </a:endParaRPr>
          </a:p>
        </p:txBody>
      </p:sp>
      <p:cxnSp>
        <p:nvCxnSpPr>
          <p:cNvPr id="17" name="直線コネクタ 16">
            <a:extLst>
              <a:ext uri="{FF2B5EF4-FFF2-40B4-BE49-F238E27FC236}">
                <a16:creationId xmlns:a16="http://schemas.microsoft.com/office/drawing/2014/main" id="{1FEC7D98-33E9-C288-2227-B34352C7A7C5}"/>
              </a:ext>
            </a:extLst>
          </p:cNvPr>
          <p:cNvCxnSpPr>
            <a:cxnSpLocks/>
          </p:cNvCxnSpPr>
          <p:nvPr/>
        </p:nvCxnSpPr>
        <p:spPr>
          <a:xfrm>
            <a:off x="7472785"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2" name="角丸四角形 21">
            <a:extLst>
              <a:ext uri="{FF2B5EF4-FFF2-40B4-BE49-F238E27FC236}">
                <a16:creationId xmlns:a16="http://schemas.microsoft.com/office/drawing/2014/main" id="{D7A39433-946D-6ECC-C94C-8C72D30B77CF}"/>
              </a:ext>
            </a:extLst>
          </p:cNvPr>
          <p:cNvSpPr/>
          <p:nvPr/>
        </p:nvSpPr>
        <p:spPr>
          <a:xfrm>
            <a:off x="2237169" y="2447082"/>
            <a:ext cx="3625030" cy="271373"/>
          </a:xfrm>
          <a:prstGeom prst="roundRect">
            <a:avLst>
              <a:gd name="adj" fmla="val 50000"/>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Diversified monetization and continued use</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24" name="角丸四角形 23">
            <a:extLst>
              <a:ext uri="{FF2B5EF4-FFF2-40B4-BE49-F238E27FC236}">
                <a16:creationId xmlns:a16="http://schemas.microsoft.com/office/drawing/2014/main" id="{0F42EE9A-693E-F5EE-CBB7-838E0DCB8476}"/>
              </a:ext>
            </a:extLst>
          </p:cNvPr>
          <p:cNvSpPr/>
          <p:nvPr/>
        </p:nvSpPr>
        <p:spPr>
          <a:xfrm>
            <a:off x="564276" y="4826831"/>
            <a:ext cx="1273226" cy="385538"/>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Low-cost user acquisition</a:t>
            </a:r>
            <a:endParaRPr kumimoji="1" lang="ja-JP" altLang="en-US" sz="12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5" name="角丸四角形 24">
            <a:extLst>
              <a:ext uri="{FF2B5EF4-FFF2-40B4-BE49-F238E27FC236}">
                <a16:creationId xmlns:a16="http://schemas.microsoft.com/office/drawing/2014/main" id="{35E23300-255B-BA99-3BB4-374C5A771E0C}"/>
              </a:ext>
            </a:extLst>
          </p:cNvPr>
          <p:cNvSpPr/>
          <p:nvPr/>
        </p:nvSpPr>
        <p:spPr>
          <a:xfrm>
            <a:off x="677896" y="3359622"/>
            <a:ext cx="2037805" cy="528096"/>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Promoting conversion through </a:t>
            </a: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our own advertising for free</a:t>
            </a:r>
            <a:endParaRPr kumimoji="1" lang="ja-JP" altLang="en-US" sz="12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6" name="角丸四角形 25">
            <a:extLst>
              <a:ext uri="{FF2B5EF4-FFF2-40B4-BE49-F238E27FC236}">
                <a16:creationId xmlns:a16="http://schemas.microsoft.com/office/drawing/2014/main" id="{FACC9053-F46F-8831-C6AA-41A43388E272}"/>
              </a:ext>
            </a:extLst>
          </p:cNvPr>
          <p:cNvSpPr/>
          <p:nvPr/>
        </p:nvSpPr>
        <p:spPr>
          <a:xfrm>
            <a:off x="5478057" y="3611936"/>
            <a:ext cx="1980000" cy="367338"/>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Organic growth through word of mouth</a:t>
            </a:r>
            <a:endParaRPr kumimoji="1" lang="ja-JP" altLang="en-US" sz="12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7" name="角丸四角形 26">
            <a:extLst>
              <a:ext uri="{FF2B5EF4-FFF2-40B4-BE49-F238E27FC236}">
                <a16:creationId xmlns:a16="http://schemas.microsoft.com/office/drawing/2014/main" id="{CA0DA0A4-9A86-E90E-30BC-3775115C4E86}"/>
              </a:ext>
            </a:extLst>
          </p:cNvPr>
          <p:cNvSpPr/>
          <p:nvPr/>
        </p:nvSpPr>
        <p:spPr>
          <a:xfrm>
            <a:off x="3098513" y="2983849"/>
            <a:ext cx="1938926" cy="37281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rPr>
              <a:t>Paid users</a:t>
            </a:r>
            <a:endParaRPr kumimoji="1" lang="ja-JP" altLang="en-US" sz="20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29" name="角丸四角形 28">
            <a:extLst>
              <a:ext uri="{FF2B5EF4-FFF2-40B4-BE49-F238E27FC236}">
                <a16:creationId xmlns:a16="http://schemas.microsoft.com/office/drawing/2014/main" id="{B3C97C3A-C7AB-36A5-ED14-713687C39308}"/>
              </a:ext>
            </a:extLst>
          </p:cNvPr>
          <p:cNvSpPr/>
          <p:nvPr/>
        </p:nvSpPr>
        <p:spPr>
          <a:xfrm>
            <a:off x="2845513" y="3324778"/>
            <a:ext cx="2461014" cy="37281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(Subscriptions Billing + </a:t>
            </a:r>
            <a:br>
              <a:rPr kumimoji="1" lang="en-US" altLang="ja-JP" sz="105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br>
            <a:r>
              <a:rPr kumimoji="1" lang="en-US" altLang="ja-JP" sz="105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One-Time Purchase Apps)</a:t>
            </a:r>
            <a:endParaRPr kumimoji="1" lang="ja-JP" altLang="en-US" sz="105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30" name="角丸四角形 29">
            <a:extLst>
              <a:ext uri="{FF2B5EF4-FFF2-40B4-BE49-F238E27FC236}">
                <a16:creationId xmlns:a16="http://schemas.microsoft.com/office/drawing/2014/main" id="{8B182F56-5C8D-6D60-96C0-777CEFECA4DC}"/>
              </a:ext>
            </a:extLst>
          </p:cNvPr>
          <p:cNvSpPr/>
          <p:nvPr/>
        </p:nvSpPr>
        <p:spPr>
          <a:xfrm>
            <a:off x="2759994" y="4184149"/>
            <a:ext cx="2615965" cy="47944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Free app active users</a:t>
            </a:r>
            <a:endParaRPr kumimoji="1" lang="ja-JP" altLang="en-US" sz="20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32" name="角丸四角形 31">
            <a:extLst>
              <a:ext uri="{FF2B5EF4-FFF2-40B4-BE49-F238E27FC236}">
                <a16:creationId xmlns:a16="http://schemas.microsoft.com/office/drawing/2014/main" id="{55568765-B62C-EC0A-AEE1-ACC1FCF355EE}"/>
              </a:ext>
            </a:extLst>
          </p:cNvPr>
          <p:cNvSpPr/>
          <p:nvPr/>
        </p:nvSpPr>
        <p:spPr>
          <a:xfrm>
            <a:off x="3117367" y="3772561"/>
            <a:ext cx="1980000" cy="244512"/>
          </a:xfrm>
          <a:prstGeom prst="roundRect">
            <a:avLst>
              <a:gd name="adj" fmla="val 50000"/>
            </a:avLst>
          </a:prstGeom>
          <a:solidFill>
            <a:srgbClr val="142FA4"/>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rPr>
              <a:t>Conversion to paid plans</a:t>
            </a:r>
            <a:endParaRPr kumimoji="1" lang="ja-JP" altLang="en-US" sz="105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33" name="角丸四角形 32">
            <a:extLst>
              <a:ext uri="{FF2B5EF4-FFF2-40B4-BE49-F238E27FC236}">
                <a16:creationId xmlns:a16="http://schemas.microsoft.com/office/drawing/2014/main" id="{5D153D21-34BC-D686-45BC-C7A3E8B15B88}"/>
              </a:ext>
            </a:extLst>
          </p:cNvPr>
          <p:cNvSpPr/>
          <p:nvPr/>
        </p:nvSpPr>
        <p:spPr>
          <a:xfrm>
            <a:off x="3257975" y="4867498"/>
            <a:ext cx="1620000" cy="244512"/>
          </a:xfrm>
          <a:prstGeom prst="roundRect">
            <a:avLst>
              <a:gd name="adj" fmla="val 50000"/>
            </a:avLst>
          </a:prstGeom>
          <a:solidFill>
            <a:srgbClr val="142FA4"/>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rPr>
              <a:t>Free Access</a:t>
            </a:r>
            <a:endParaRPr kumimoji="1" lang="ja-JP" altLang="en-US" sz="105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34" name="角丸四角形 33">
            <a:extLst>
              <a:ext uri="{FF2B5EF4-FFF2-40B4-BE49-F238E27FC236}">
                <a16:creationId xmlns:a16="http://schemas.microsoft.com/office/drawing/2014/main" id="{184E3A9F-220F-C977-1512-63FAEA4436E3}"/>
              </a:ext>
            </a:extLst>
          </p:cNvPr>
          <p:cNvSpPr/>
          <p:nvPr/>
        </p:nvSpPr>
        <p:spPr>
          <a:xfrm>
            <a:off x="8164491" y="2041175"/>
            <a:ext cx="2807576" cy="208800"/>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Sales Breakdown of the Mobile Segment</a:t>
            </a:r>
            <a:endParaRPr kumimoji="1" lang="ja-JP" altLang="en-US" sz="10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cxnSp>
        <p:nvCxnSpPr>
          <p:cNvPr id="35" name="直線コネクタ 34">
            <a:extLst>
              <a:ext uri="{FF2B5EF4-FFF2-40B4-BE49-F238E27FC236}">
                <a16:creationId xmlns:a16="http://schemas.microsoft.com/office/drawing/2014/main" id="{70952514-F79D-F9C5-50B8-BBAF816EC859}"/>
              </a:ext>
            </a:extLst>
          </p:cNvPr>
          <p:cNvCxnSpPr>
            <a:cxnSpLocks/>
          </p:cNvCxnSpPr>
          <p:nvPr/>
        </p:nvCxnSpPr>
        <p:spPr>
          <a:xfrm flipH="1">
            <a:off x="7728162" y="4492372"/>
            <a:ext cx="3657600"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44" name="正方形/長方形 43">
            <a:extLst>
              <a:ext uri="{FF2B5EF4-FFF2-40B4-BE49-F238E27FC236}">
                <a16:creationId xmlns:a16="http://schemas.microsoft.com/office/drawing/2014/main" id="{17653F4D-B02C-8908-611C-D235215F4376}"/>
              </a:ext>
            </a:extLst>
          </p:cNvPr>
          <p:cNvSpPr/>
          <p:nvPr/>
        </p:nvSpPr>
        <p:spPr>
          <a:xfrm>
            <a:off x="10815144" y="2578547"/>
            <a:ext cx="467805" cy="899184"/>
          </a:xfrm>
          <a:prstGeom prst="rect">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6" name="テキスト ボックス 45">
            <a:extLst>
              <a:ext uri="{FF2B5EF4-FFF2-40B4-BE49-F238E27FC236}">
                <a16:creationId xmlns:a16="http://schemas.microsoft.com/office/drawing/2014/main" id="{93BFD36A-A725-BB32-B9EB-71E222E0269F}"/>
              </a:ext>
            </a:extLst>
          </p:cNvPr>
          <p:cNvSpPr txBox="1"/>
          <p:nvPr/>
        </p:nvSpPr>
        <p:spPr>
          <a:xfrm>
            <a:off x="9511001" y="3850618"/>
            <a:ext cx="2176918" cy="547586"/>
          </a:xfrm>
          <a:prstGeom prst="rect">
            <a:avLst/>
          </a:prstGeom>
          <a:noFill/>
        </p:spPr>
        <p:txBody>
          <a:bodyPr wrap="square" rtlCol="0">
            <a:spAutoFit/>
          </a:bodyPr>
          <a:lstStyle/>
          <a:p>
            <a:pPr marL="0" marR="0" lvl="0" indent="0" algn="l" defTabSz="914400" rtl="0" eaLnBrk="1" fontAlgn="auto" latinLnBrk="0" hangingPunct="1">
              <a:lnSpc>
                <a:spcPts val="1150"/>
              </a:lnSpc>
              <a:spcBef>
                <a:spcPts val="0"/>
              </a:spcBef>
              <a:spcAft>
                <a:spcPts val="0"/>
              </a:spcAft>
              <a:buClrTx/>
              <a:buSzTx/>
              <a:buFontTx/>
              <a:buNone/>
              <a:tabLst/>
              <a:defRPr/>
            </a:pPr>
            <a:r>
              <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85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a:t>
            </a:r>
            <a:r>
              <a:rPr kumimoji="1" lang="en-US" altLang="ja-JP"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Subscription Billing</a:t>
            </a:r>
            <a:r>
              <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(42.5%)</a:t>
            </a:r>
            <a:endPar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ts val="1150"/>
              </a:lnSpc>
              <a:spcBef>
                <a:spcPts val="0"/>
              </a:spcBef>
              <a:spcAft>
                <a:spcPts val="0"/>
              </a:spcAft>
              <a:buClrTx/>
              <a:buSzTx/>
              <a:buFontTx/>
              <a:buNone/>
              <a:tabLst/>
              <a:defRPr/>
            </a:pPr>
            <a:r>
              <a:rPr kumimoji="1" lang="ja-JP" altLang="en-US" sz="850" b="0" i="0" u="none" strike="noStrike" kern="1200" cap="none" spc="0" normalizeH="0" baseline="0" noProof="0" dirty="0">
                <a:ln>
                  <a:noFill/>
                </a:ln>
                <a:solidFill>
                  <a:srgbClr val="4168E6"/>
                </a:solidFill>
                <a:effectLst/>
                <a:uLnTx/>
                <a:uFillTx/>
                <a:latin typeface="Poppins Medium" pitchFamily="2" charset="0"/>
                <a:ea typeface="M PLUS 1p Medium" panose="020B0502020203020207" pitchFamily="34" charset="-128"/>
                <a:cs typeface="Poppins Medium" pitchFamily="2" charset="0"/>
              </a:rPr>
              <a:t>■</a:t>
            </a:r>
            <a:r>
              <a:rPr kumimoji="1" lang="ja-JP" altLang="en-US" sz="850" b="0" i="0" u="none" strike="noStrike" kern="1200" cap="none" spc="0" normalizeH="0" baseline="0" noProof="0" dirty="0">
                <a:ln>
                  <a:noFill/>
                </a:ln>
                <a:solidFill>
                  <a:srgbClr val="63C8FF"/>
                </a:solidFill>
                <a:effectLst/>
                <a:uLnTx/>
                <a:uFillTx/>
                <a:latin typeface="Poppins Medium" pitchFamily="2" charset="0"/>
                <a:ea typeface="M PLUS 1p Medium" panose="020B0502020203020207" pitchFamily="34" charset="-128"/>
                <a:cs typeface="Poppins Medium" pitchFamily="2" charset="0"/>
              </a:rPr>
              <a:t> </a:t>
            </a:r>
            <a:r>
              <a:rPr kumimoji="1" lang="en-US" altLang="ja-JP"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One-Time Purchase App</a:t>
            </a:r>
            <a:r>
              <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(9.6%)</a:t>
            </a:r>
            <a:endPar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ts val="1150"/>
              </a:lnSpc>
              <a:spcBef>
                <a:spcPts val="0"/>
              </a:spcBef>
              <a:spcAft>
                <a:spcPts val="0"/>
              </a:spcAft>
              <a:buClrTx/>
              <a:buSzTx/>
              <a:buFontTx/>
              <a:buNone/>
              <a:tabLst/>
              <a:defRPr/>
            </a:pPr>
            <a:r>
              <a:rPr kumimoji="1" lang="ja-JP" altLang="en-US" sz="850" b="0" i="0" u="none" strike="noStrike" kern="1200" cap="none" spc="0" normalizeH="0" baseline="0" noProof="0" dirty="0">
                <a:ln>
                  <a:noFill/>
                </a:ln>
                <a:solidFill>
                  <a:srgbClr val="A1BFFF"/>
                </a:solidFill>
                <a:effectLst/>
                <a:uLnTx/>
                <a:uFillTx/>
                <a:latin typeface="Poppins Medium" pitchFamily="2" charset="0"/>
                <a:ea typeface="M PLUS 1p Medium" panose="020B0502020203020207" pitchFamily="34" charset="-128"/>
                <a:cs typeface="Poppins Medium" pitchFamily="2" charset="0"/>
              </a:rPr>
              <a:t>■</a:t>
            </a:r>
            <a:r>
              <a:rPr kumimoji="1" lang="en-US" altLang="ja-JP" sz="850" b="0" i="0" u="none" strike="noStrike" kern="1200" cap="none" spc="0" normalizeH="0" baseline="0" noProof="0" dirty="0">
                <a:ln>
                  <a:noFill/>
                </a:ln>
                <a:solidFill>
                  <a:srgbClr val="A1DEFF"/>
                </a:solidFill>
                <a:effectLst/>
                <a:uLnTx/>
                <a:uFillTx/>
                <a:latin typeface="Poppins Medium" pitchFamily="2" charset="0"/>
                <a:ea typeface="M PLUS 1p Medium" panose="020B0502020203020207" pitchFamily="34" charset="-128"/>
                <a:cs typeface="Poppins Medium" pitchFamily="2" charset="0"/>
              </a:rPr>
              <a:t> </a:t>
            </a:r>
            <a:r>
              <a:rPr kumimoji="1" lang="en-US" altLang="ja-JP"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In-App Advertising</a:t>
            </a:r>
            <a:r>
              <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(47.7%)</a:t>
            </a:r>
            <a:endParaRPr kumimoji="1" lang="ja-JP" altLang="en-US" sz="85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53" name="テキスト ボックス 52">
            <a:extLst>
              <a:ext uri="{FF2B5EF4-FFF2-40B4-BE49-F238E27FC236}">
                <a16:creationId xmlns:a16="http://schemas.microsoft.com/office/drawing/2014/main" id="{60DDA10D-855B-A18A-78C2-2C66BFBF8DD1}"/>
              </a:ext>
            </a:extLst>
          </p:cNvPr>
          <p:cNvSpPr txBox="1"/>
          <p:nvPr/>
        </p:nvSpPr>
        <p:spPr>
          <a:xfrm>
            <a:off x="10648820" y="3464986"/>
            <a:ext cx="83388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Subscription</a:t>
            </a:r>
            <a:b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b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Billing</a:t>
            </a:r>
            <a:endParaRPr kumimoji="1" lang="ja-JP" altLang="en-US"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54" name="テキスト ボックス 53">
            <a:extLst>
              <a:ext uri="{FF2B5EF4-FFF2-40B4-BE49-F238E27FC236}">
                <a16:creationId xmlns:a16="http://schemas.microsoft.com/office/drawing/2014/main" id="{396FD5D4-D529-249C-C685-E858F7D25C09}"/>
              </a:ext>
            </a:extLst>
          </p:cNvPr>
          <p:cNvSpPr txBox="1"/>
          <p:nvPr/>
        </p:nvSpPr>
        <p:spPr>
          <a:xfrm>
            <a:off x="9847441" y="3478532"/>
            <a:ext cx="771365" cy="302647"/>
          </a:xfrm>
          <a:prstGeom prst="rect">
            <a:avLst/>
          </a:prstGeom>
          <a:noFill/>
        </p:spPr>
        <p:txBody>
          <a:bodyPr wrap="none" rtlCol="0">
            <a:spAutoFit/>
          </a:bodyPr>
          <a:lstStyle/>
          <a:p>
            <a:pPr marL="0" marR="0" lvl="0" indent="0" algn="ctr" defTabSz="914400" rtl="0" eaLnBrk="1" fontAlgn="auto" latinLnBrk="0" hangingPunct="1">
              <a:lnSpc>
                <a:spcPts val="76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In-App </a:t>
            </a:r>
          </a:p>
          <a:p>
            <a:pPr marL="0" marR="0" lvl="0" indent="0" algn="ctr" defTabSz="914400" rtl="0" eaLnBrk="1" fontAlgn="auto" latinLnBrk="0" hangingPunct="1">
              <a:lnSpc>
                <a:spcPts val="76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Advertising</a:t>
            </a:r>
            <a:endPar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56" name="テキスト ボックス 55">
            <a:extLst>
              <a:ext uri="{FF2B5EF4-FFF2-40B4-BE49-F238E27FC236}">
                <a16:creationId xmlns:a16="http://schemas.microsoft.com/office/drawing/2014/main" id="{FD064C77-A647-17F9-1618-18BBAF40DB03}"/>
              </a:ext>
            </a:extLst>
          </p:cNvPr>
          <p:cNvSpPr txBox="1"/>
          <p:nvPr/>
        </p:nvSpPr>
        <p:spPr>
          <a:xfrm>
            <a:off x="10619740" y="2933745"/>
            <a:ext cx="864832" cy="218393"/>
          </a:xfrm>
          <a:prstGeom prst="rect">
            <a:avLst/>
          </a:prstGeom>
          <a:noFill/>
        </p:spPr>
        <p:txBody>
          <a:bodyPr wrap="square" rtlCol="0">
            <a:spAutoFit/>
          </a:bodyPr>
          <a:lstStyle/>
          <a:p>
            <a:pPr marL="0" marR="0" lvl="0" indent="0" algn="ctr" defTabSz="914400" rtl="0" eaLnBrk="1" fontAlgn="auto" latinLnBrk="0" hangingPunct="1">
              <a:lnSpc>
                <a:spcPts val="94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a:t>
            </a:r>
            <a:r>
              <a:rPr kumimoji="1" lang="en-US" altLang="ja-JP" sz="11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321.4</a:t>
            </a:r>
          </a:p>
        </p:txBody>
      </p:sp>
      <p:sp>
        <p:nvSpPr>
          <p:cNvPr id="60" name="テキスト ボックス 59">
            <a:extLst>
              <a:ext uri="{FF2B5EF4-FFF2-40B4-BE49-F238E27FC236}">
                <a16:creationId xmlns:a16="http://schemas.microsoft.com/office/drawing/2014/main" id="{03628438-2E92-2A38-6619-07BC14B5788D}"/>
              </a:ext>
            </a:extLst>
          </p:cNvPr>
          <p:cNvSpPr txBox="1"/>
          <p:nvPr/>
        </p:nvSpPr>
        <p:spPr>
          <a:xfrm>
            <a:off x="8008445" y="3592761"/>
            <a:ext cx="1261858"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FY2025</a:t>
            </a:r>
            <a:endParaRPr kumimoji="1" lang="ja-JP" altLang="en-US"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61" name="テキスト ボックス 60">
            <a:extLst>
              <a:ext uri="{FF2B5EF4-FFF2-40B4-BE49-F238E27FC236}">
                <a16:creationId xmlns:a16="http://schemas.microsoft.com/office/drawing/2014/main" id="{2E288598-A854-CF14-319E-346139A027F5}"/>
              </a:ext>
            </a:extLst>
          </p:cNvPr>
          <p:cNvSpPr txBox="1"/>
          <p:nvPr/>
        </p:nvSpPr>
        <p:spPr>
          <a:xfrm>
            <a:off x="8305670" y="5421727"/>
            <a:ext cx="250258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6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 </a:t>
            </a:r>
            <a:r>
              <a:rPr kumimoji="1" lang="en-US" altLang="ja-JP" sz="20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36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70.56</a:t>
            </a:r>
            <a:r>
              <a:rPr kumimoji="1" lang="en-US" altLang="ja-JP" sz="20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M</a:t>
            </a:r>
            <a:endParaRPr kumimoji="1" lang="ja-JP" altLang="en-US" sz="1800" b="0" i="0" u="none" strike="noStrike" kern="1200" cap="none" spc="-15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64" name="テキスト ボックス 63">
            <a:extLst>
              <a:ext uri="{FF2B5EF4-FFF2-40B4-BE49-F238E27FC236}">
                <a16:creationId xmlns:a16="http://schemas.microsoft.com/office/drawing/2014/main" id="{1C901C88-DEFE-4AFF-63E4-F14B2D9F6103}"/>
              </a:ext>
            </a:extLst>
          </p:cNvPr>
          <p:cNvSpPr txBox="1"/>
          <p:nvPr/>
        </p:nvSpPr>
        <p:spPr>
          <a:xfrm>
            <a:off x="8730302" y="5296186"/>
            <a:ext cx="165332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as of December 202</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4</a:t>
            </a:r>
            <a:endParaRPr kumimoji="1" lang="ja-JP" altLang="en-US" sz="10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65" name="テキスト ボックス 64">
            <a:extLst>
              <a:ext uri="{FF2B5EF4-FFF2-40B4-BE49-F238E27FC236}">
                <a16:creationId xmlns:a16="http://schemas.microsoft.com/office/drawing/2014/main" id="{3BE88B26-7D98-1015-9D63-2051D29F99D6}"/>
              </a:ext>
            </a:extLst>
          </p:cNvPr>
          <p:cNvSpPr txBox="1"/>
          <p:nvPr/>
        </p:nvSpPr>
        <p:spPr>
          <a:xfrm>
            <a:off x="8278952" y="5926924"/>
            <a:ext cx="255602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a:t>
            </a:r>
            <a:r>
              <a:rPr kumimoji="1" lang="ja-JP" altLang="ja-JP" sz="10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Mobile Segment </a:t>
            </a:r>
            <a:r>
              <a:rPr kumimoji="1" lang="en-US" altLang="ja-JP" sz="10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Employees B</a:t>
            </a:r>
            <a:r>
              <a:rPr kumimoji="1" lang="ja-JP" altLang="ja-JP" sz="10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asis</a:t>
            </a:r>
            <a:r>
              <a:rPr kumimoji="1" lang="en-US" altLang="ja-JP" sz="10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a:t>
            </a:r>
            <a:endParaRPr kumimoji="1" lang="ja-JP" altLang="en-US"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5" name="コンテンツ プレースホルダー 1">
            <a:extLst>
              <a:ext uri="{FF2B5EF4-FFF2-40B4-BE49-F238E27FC236}">
                <a16:creationId xmlns:a16="http://schemas.microsoft.com/office/drawing/2014/main" id="{8D59C2B4-5C84-528F-97E0-358BE448FE89}"/>
              </a:ext>
            </a:extLst>
          </p:cNvPr>
          <p:cNvSpPr txBox="1">
            <a:spLocks/>
          </p:cNvSpPr>
          <p:nvPr/>
        </p:nvSpPr>
        <p:spPr>
          <a:xfrm>
            <a:off x="3990516" y="6343983"/>
            <a:ext cx="7469188" cy="401392"/>
          </a:xfrm>
          <a:prstGeom prst="rect">
            <a:avLst/>
          </a:prstGeom>
        </p:spPr>
        <p:txBody>
          <a:bodyPr vert="horz" wrap="square" lIns="91440" tIns="45720" rIns="91440" bIns="45720" rtlCol="0" anchor="b" anchorCtr="0">
            <a:sp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88900" marR="0" lvl="0" indent="-88900" algn="l" defTabSz="914400" rtl="0" eaLnBrk="1" fontAlgn="auto" latinLnBrk="0" hangingPunct="1">
              <a:lnSpc>
                <a:spcPts val="82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*1 The sales figures shown at the center of the "Sales Breakdown of the Mobile Segment" pie chart include “Miscellaneous." The figures in parentheses represent the percentage of the sales mentioned earlier *2 "Sales Per Employee" is calculated by dividing Mobile Segment sales by the number of employees, excluding temporary employees. Comparisons with Company C are based on the same calculation method applied to Company C’s comparable businesses</a:t>
            </a:r>
            <a:endParaRPr kumimoji="1" lang="ja-JP" altLang="en-US" sz="7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cxnSp>
        <p:nvCxnSpPr>
          <p:cNvPr id="8" name="直線矢印コネクタ 7">
            <a:extLst>
              <a:ext uri="{FF2B5EF4-FFF2-40B4-BE49-F238E27FC236}">
                <a16:creationId xmlns:a16="http://schemas.microsoft.com/office/drawing/2014/main" id="{836865F2-915B-C0CC-E35E-7A085A14AE8A}"/>
              </a:ext>
            </a:extLst>
          </p:cNvPr>
          <p:cNvCxnSpPr>
            <a:cxnSpLocks/>
          </p:cNvCxnSpPr>
          <p:nvPr/>
        </p:nvCxnSpPr>
        <p:spPr>
          <a:xfrm flipV="1">
            <a:off x="10177655" y="2621397"/>
            <a:ext cx="599783" cy="637489"/>
          </a:xfrm>
          <a:prstGeom prst="straightConnector1">
            <a:avLst/>
          </a:prstGeom>
          <a:ln w="25400">
            <a:solidFill>
              <a:srgbClr val="142FA4"/>
            </a:solidFill>
            <a:tailEnd type="triangle"/>
          </a:ln>
        </p:spPr>
        <p:style>
          <a:lnRef idx="2">
            <a:schemeClr val="accent1"/>
          </a:lnRef>
          <a:fillRef idx="0">
            <a:schemeClr val="accent1"/>
          </a:fillRef>
          <a:effectRef idx="1">
            <a:schemeClr val="accent1"/>
          </a:effectRef>
          <a:fontRef idx="minor">
            <a:schemeClr val="tx1"/>
          </a:fontRef>
        </p:style>
      </p:cxnSp>
      <p:grpSp>
        <p:nvGrpSpPr>
          <p:cNvPr id="7" name="グループ化 6">
            <a:extLst>
              <a:ext uri="{FF2B5EF4-FFF2-40B4-BE49-F238E27FC236}">
                <a16:creationId xmlns:a16="http://schemas.microsoft.com/office/drawing/2014/main" id="{C5876EDC-3B6B-7A42-1F1B-2CDDEC8B72B7}"/>
              </a:ext>
            </a:extLst>
          </p:cNvPr>
          <p:cNvGrpSpPr/>
          <p:nvPr/>
        </p:nvGrpSpPr>
        <p:grpSpPr>
          <a:xfrm>
            <a:off x="9789306" y="2603682"/>
            <a:ext cx="1182761" cy="637489"/>
            <a:chOff x="10391311" y="2673680"/>
            <a:chExt cx="1119583" cy="603437"/>
          </a:xfrm>
        </p:grpSpPr>
        <p:sp>
          <p:nvSpPr>
            <p:cNvPr id="57" name="円/楕円 56">
              <a:extLst>
                <a:ext uri="{FF2B5EF4-FFF2-40B4-BE49-F238E27FC236}">
                  <a16:creationId xmlns:a16="http://schemas.microsoft.com/office/drawing/2014/main" id="{53B13F9D-E06B-4EA1-5420-B002B7C8D872}"/>
                </a:ext>
              </a:extLst>
            </p:cNvPr>
            <p:cNvSpPr/>
            <p:nvPr/>
          </p:nvSpPr>
          <p:spPr>
            <a:xfrm>
              <a:off x="10670955" y="2673680"/>
              <a:ext cx="603437" cy="603437"/>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8" name="テキスト ボックス 57">
              <a:extLst>
                <a:ext uri="{FF2B5EF4-FFF2-40B4-BE49-F238E27FC236}">
                  <a16:creationId xmlns:a16="http://schemas.microsoft.com/office/drawing/2014/main" id="{A1F996B7-525D-5F12-D512-9ABEBD48E8BA}"/>
                </a:ext>
              </a:extLst>
            </p:cNvPr>
            <p:cNvSpPr txBox="1"/>
            <p:nvPr/>
          </p:nvSpPr>
          <p:spPr>
            <a:xfrm>
              <a:off x="10391311" y="2897139"/>
              <a:ext cx="1119583" cy="269486"/>
            </a:xfrm>
            <a:prstGeom prst="rect">
              <a:avLst/>
            </a:prstGeom>
            <a:noFill/>
          </p:spPr>
          <p:txBody>
            <a:bodyPr wrap="squar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 </a:t>
              </a: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17.1</a:t>
              </a:r>
              <a:r>
                <a:rPr kumimoji="1" lang="en-US" altLang="ja-JP" sz="1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X</a:t>
              </a:r>
              <a:endParaRPr kumimoji="1" lang="ja-JP" altLang="en-US" sz="1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grpSp>
      <p:sp>
        <p:nvSpPr>
          <p:cNvPr id="23" name="正方形/長方形 22">
            <a:extLst>
              <a:ext uri="{FF2B5EF4-FFF2-40B4-BE49-F238E27FC236}">
                <a16:creationId xmlns:a16="http://schemas.microsoft.com/office/drawing/2014/main" id="{440A4F19-9BED-9923-A4F3-D827ED4C6C75}"/>
              </a:ext>
            </a:extLst>
          </p:cNvPr>
          <p:cNvSpPr/>
          <p:nvPr/>
        </p:nvSpPr>
        <p:spPr>
          <a:xfrm>
            <a:off x="9989782" y="3297258"/>
            <a:ext cx="467805" cy="180473"/>
          </a:xfrm>
          <a:prstGeom prst="rect">
            <a:avLst/>
          </a:prstGeom>
          <a:solidFill>
            <a:srgbClr val="A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cxnSp>
        <p:nvCxnSpPr>
          <p:cNvPr id="36" name="直線コネクタ 35">
            <a:extLst>
              <a:ext uri="{FF2B5EF4-FFF2-40B4-BE49-F238E27FC236}">
                <a16:creationId xmlns:a16="http://schemas.microsoft.com/office/drawing/2014/main" id="{98A550C5-1E9E-86FC-ACBE-1F462A124E3F}"/>
              </a:ext>
            </a:extLst>
          </p:cNvPr>
          <p:cNvCxnSpPr>
            <a:cxnSpLocks/>
          </p:cNvCxnSpPr>
          <p:nvPr/>
        </p:nvCxnSpPr>
        <p:spPr>
          <a:xfrm flipH="1">
            <a:off x="9964930" y="3477731"/>
            <a:ext cx="1355725"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55" name="テキスト ボックス 54">
            <a:extLst>
              <a:ext uri="{FF2B5EF4-FFF2-40B4-BE49-F238E27FC236}">
                <a16:creationId xmlns:a16="http://schemas.microsoft.com/office/drawing/2014/main" id="{658FD5C8-4F3B-80C3-599E-970D981CDC66}"/>
              </a:ext>
            </a:extLst>
          </p:cNvPr>
          <p:cNvSpPr txBox="1"/>
          <p:nvPr/>
        </p:nvSpPr>
        <p:spPr>
          <a:xfrm>
            <a:off x="9790491" y="3306182"/>
            <a:ext cx="864832" cy="221214"/>
          </a:xfrm>
          <a:prstGeom prst="rect">
            <a:avLst/>
          </a:prstGeom>
          <a:noFill/>
        </p:spPr>
        <p:txBody>
          <a:bodyPr wrap="square" rtlCol="0">
            <a:spAutoFit/>
          </a:bodyPr>
          <a:lstStyle/>
          <a:p>
            <a:pPr marL="0" marR="0" lvl="0" indent="0" algn="ctr" defTabSz="914400" rtl="0" eaLnBrk="1" fontAlgn="auto" latinLnBrk="0" hangingPunct="1">
              <a:lnSpc>
                <a:spcPts val="94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11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18.7</a:t>
            </a:r>
            <a:endParaRPr kumimoji="1" lang="ja-JP" altLang="en-US" sz="11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62" name="テキスト ボックス 61">
            <a:extLst>
              <a:ext uri="{FF2B5EF4-FFF2-40B4-BE49-F238E27FC236}">
                <a16:creationId xmlns:a16="http://schemas.microsoft.com/office/drawing/2014/main" id="{87B31220-5BBA-57B6-8048-5D07DD1BB13B}"/>
              </a:ext>
            </a:extLst>
          </p:cNvPr>
          <p:cNvSpPr txBox="1"/>
          <p:nvPr/>
        </p:nvSpPr>
        <p:spPr>
          <a:xfrm>
            <a:off x="10501927" y="5175827"/>
            <a:ext cx="1097187" cy="7412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2.0</a:t>
            </a:r>
            <a:r>
              <a:rPr kumimoji="1" lang="en-US" altLang="ja-JP" sz="10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X</a:t>
            </a:r>
          </a:p>
          <a:p>
            <a:pPr marL="0" marR="0" lvl="0" indent="0" algn="ctr" defTabSz="914400" rtl="0" eaLnBrk="1" fontAlgn="auto" latinLnBrk="0" hangingPunct="1">
              <a:lnSpc>
                <a:spcPts val="800"/>
              </a:lnSpc>
              <a:spcBef>
                <a:spcPts val="0"/>
              </a:spcBef>
              <a:spcAft>
                <a:spcPts val="0"/>
              </a:spcAft>
              <a:buClrTx/>
              <a:buSzTx/>
              <a:buFontTx/>
              <a:buNone/>
              <a:tabLst/>
              <a:defRPr/>
            </a:pPr>
            <a:r>
              <a:rPr kumimoji="1" lang="ja-JP" altLang="ja-JP" sz="10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that of Company C</a:t>
            </a:r>
            <a:endParaRPr kumimoji="1" lang="ja-JP" altLang="en-US" sz="10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endParaRPr>
          </a:p>
        </p:txBody>
      </p:sp>
      <p:pic>
        <p:nvPicPr>
          <p:cNvPr id="12" name="図 11" descr="アイコン&#10;&#10;AI 生成コンテンツは誤りを含む可能性があります。">
            <a:extLst>
              <a:ext uri="{FF2B5EF4-FFF2-40B4-BE49-F238E27FC236}">
                <a16:creationId xmlns:a16="http://schemas.microsoft.com/office/drawing/2014/main" id="{0B890536-9A24-F867-BAB1-76F9D79BEE34}"/>
              </a:ext>
            </a:extLst>
          </p:cNvPr>
          <p:cNvPicPr>
            <a:picLocks noGrp="1" noRot="1" noChangeAspect="1" noMove="1" noResize="1" noEditPoints="1" noAdjustHandles="1" noChangeArrowheads="1" noChangeShapeType="1" noCrop="1"/>
          </p:cNvPicPr>
          <p:nvPr/>
        </p:nvPicPr>
        <p:blipFill>
          <a:blip r:embed="rId6" cstate="email">
            <a:extLst>
              <a:ext uri="{28A0092B-C50C-407E-A947-70E740481C1C}">
                <a14:useLocalDpi xmlns:a14="http://schemas.microsoft.com/office/drawing/2010/main"/>
              </a:ext>
            </a:extLst>
          </a:blip>
          <a:stretch>
            <a:fillRect/>
          </a:stretch>
        </p:blipFill>
        <p:spPr>
          <a:xfrm>
            <a:off x="-11724" y="1681536"/>
            <a:ext cx="576000" cy="4595477"/>
          </a:xfrm>
          <a:prstGeom prst="rect">
            <a:avLst/>
          </a:prstGeom>
        </p:spPr>
      </p:pic>
      <p:sp>
        <p:nvSpPr>
          <p:cNvPr id="2" name="角丸四角形 1">
            <a:extLst>
              <a:ext uri="{FF2B5EF4-FFF2-40B4-BE49-F238E27FC236}">
                <a16:creationId xmlns:a16="http://schemas.microsoft.com/office/drawing/2014/main" id="{35615465-FE54-8B82-A398-65DA80D4C8D1}"/>
              </a:ext>
            </a:extLst>
          </p:cNvPr>
          <p:cNvSpPr/>
          <p:nvPr/>
        </p:nvSpPr>
        <p:spPr>
          <a:xfrm>
            <a:off x="2759994" y="5266991"/>
            <a:ext cx="2615965" cy="479449"/>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Potential users</a:t>
            </a:r>
          </a:p>
        </p:txBody>
      </p:sp>
      <p:sp>
        <p:nvSpPr>
          <p:cNvPr id="45" name="テキスト ボックス 44">
            <a:extLst>
              <a:ext uri="{FF2B5EF4-FFF2-40B4-BE49-F238E27FC236}">
                <a16:creationId xmlns:a16="http://schemas.microsoft.com/office/drawing/2014/main" id="{AAB71E6C-BAC6-E194-3855-F3A2372781B3}"/>
              </a:ext>
            </a:extLst>
          </p:cNvPr>
          <p:cNvSpPr txBox="1"/>
          <p:nvPr/>
        </p:nvSpPr>
        <p:spPr>
          <a:xfrm>
            <a:off x="1924233" y="1736224"/>
            <a:ext cx="4183838"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An ecosystem that efficiently monetizes our user base</a:t>
            </a:r>
          </a:p>
        </p:txBody>
      </p:sp>
      <p:sp>
        <p:nvSpPr>
          <p:cNvPr id="47" name="テキスト ボックス 46">
            <a:extLst>
              <a:ext uri="{FF2B5EF4-FFF2-40B4-BE49-F238E27FC236}">
                <a16:creationId xmlns:a16="http://schemas.microsoft.com/office/drawing/2014/main" id="{14ED6A09-514B-B329-E123-3F9E0885EE29}"/>
              </a:ext>
            </a:extLst>
          </p:cNvPr>
          <p:cNvSpPr txBox="1"/>
          <p:nvPr/>
        </p:nvSpPr>
        <p:spPr>
          <a:xfrm>
            <a:off x="8192806" y="1736224"/>
            <a:ext cx="2728311"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A stable, diversified sales structure</a:t>
            </a:r>
          </a:p>
        </p:txBody>
      </p:sp>
      <p:sp>
        <p:nvSpPr>
          <p:cNvPr id="49" name="テキスト ボックス 48">
            <a:extLst>
              <a:ext uri="{FF2B5EF4-FFF2-40B4-BE49-F238E27FC236}">
                <a16:creationId xmlns:a16="http://schemas.microsoft.com/office/drawing/2014/main" id="{8FA768E0-FB65-1C44-D198-3DB0BFF66AB4}"/>
              </a:ext>
            </a:extLst>
          </p:cNvPr>
          <p:cNvSpPr txBox="1"/>
          <p:nvPr/>
        </p:nvSpPr>
        <p:spPr>
          <a:xfrm>
            <a:off x="8397190" y="4682970"/>
            <a:ext cx="2319545"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Industry-leading productivity </a:t>
            </a:r>
          </a:p>
        </p:txBody>
      </p:sp>
      <p:sp>
        <p:nvSpPr>
          <p:cNvPr id="52" name="角丸四角形 51">
            <a:extLst>
              <a:ext uri="{FF2B5EF4-FFF2-40B4-BE49-F238E27FC236}">
                <a16:creationId xmlns:a16="http://schemas.microsoft.com/office/drawing/2014/main" id="{A26D913C-F444-A6A0-14F3-72CC5ECA6F75}"/>
              </a:ext>
            </a:extLst>
          </p:cNvPr>
          <p:cNvSpPr/>
          <p:nvPr/>
        </p:nvSpPr>
        <p:spPr>
          <a:xfrm>
            <a:off x="8807817" y="4987953"/>
            <a:ext cx="1498291" cy="208800"/>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rPr>
              <a:t>Sales Per Employee </a:t>
            </a:r>
          </a:p>
        </p:txBody>
      </p:sp>
      <p:sp>
        <p:nvSpPr>
          <p:cNvPr id="6" name="テキスト ボックス 5">
            <a:extLst>
              <a:ext uri="{FF2B5EF4-FFF2-40B4-BE49-F238E27FC236}">
                <a16:creationId xmlns:a16="http://schemas.microsoft.com/office/drawing/2014/main" id="{BB840269-946B-0D50-D389-F6D7DC0A1C03}"/>
              </a:ext>
            </a:extLst>
          </p:cNvPr>
          <p:cNvSpPr txBox="1"/>
          <p:nvPr/>
        </p:nvSpPr>
        <p:spPr>
          <a:xfrm>
            <a:off x="8909871" y="3077480"/>
            <a:ext cx="59571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SemiBold" panose="00000700000000000000" pitchFamily="2" charset="0"/>
                <a:ea typeface="M PLUS 1p Medium" panose="020B0502020203020207" pitchFamily="34" charset="-128"/>
                <a:cs typeface="Poppins SemiBold" panose="00000700000000000000" pitchFamily="2" charset="0"/>
              </a:rPr>
              <a:t>*1</a:t>
            </a:r>
          </a:p>
        </p:txBody>
      </p:sp>
      <p:sp>
        <p:nvSpPr>
          <p:cNvPr id="9" name="テキスト ボックス 8">
            <a:extLst>
              <a:ext uri="{FF2B5EF4-FFF2-40B4-BE49-F238E27FC236}">
                <a16:creationId xmlns:a16="http://schemas.microsoft.com/office/drawing/2014/main" id="{247ABEBD-5414-00CE-74F5-9D65C8A25D2F}"/>
              </a:ext>
            </a:extLst>
          </p:cNvPr>
          <p:cNvSpPr txBox="1"/>
          <p:nvPr/>
        </p:nvSpPr>
        <p:spPr>
          <a:xfrm>
            <a:off x="9956947" y="5441062"/>
            <a:ext cx="595711"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142FA4"/>
                </a:solidFill>
                <a:effectLst/>
                <a:uLnTx/>
                <a:uFillTx/>
                <a:latin typeface="Poppins SemiBold" panose="00000700000000000000" pitchFamily="2" charset="0"/>
                <a:ea typeface="M PLUS 1p Medium" panose="020B0502020203020207" pitchFamily="34" charset="-128"/>
                <a:cs typeface="Poppins SemiBold" panose="00000700000000000000" pitchFamily="2" charset="0"/>
              </a:rPr>
              <a:t>*2</a:t>
            </a:r>
          </a:p>
        </p:txBody>
      </p:sp>
    </p:spTree>
    <p:extLst>
      <p:ext uri="{BB962C8B-B14F-4D97-AF65-F5344CB8AC3E}">
        <p14:creationId xmlns:p14="http://schemas.microsoft.com/office/powerpoint/2010/main" val="1746148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E99CEEC-4A94-FE74-2426-8C2A5CA2D9AA}"/>
              </a:ext>
            </a:extLst>
          </p:cNvPr>
          <p:cNvGrpSpPr/>
          <p:nvPr/>
        </p:nvGrpSpPr>
        <p:grpSpPr>
          <a:xfrm>
            <a:off x="553504" y="1490662"/>
            <a:ext cx="11084993" cy="4795039"/>
            <a:chOff x="553504" y="1490662"/>
            <a:chExt cx="11084993" cy="4795039"/>
          </a:xfrm>
        </p:grpSpPr>
        <p:sp>
          <p:nvSpPr>
            <p:cNvPr id="25" name="角丸四角形 24">
              <a:extLst>
                <a:ext uri="{FF2B5EF4-FFF2-40B4-BE49-F238E27FC236}">
                  <a16:creationId xmlns:a16="http://schemas.microsoft.com/office/drawing/2014/main" id="{7ED940EA-A91E-CCD1-8697-18AA382F1B57}"/>
                </a:ext>
              </a:extLst>
            </p:cNvPr>
            <p:cNvSpPr/>
            <p:nvPr/>
          </p:nvSpPr>
          <p:spPr>
            <a:xfrm>
              <a:off x="6237821" y="1490662"/>
              <a:ext cx="5400675" cy="4795039"/>
            </a:xfrm>
            <a:prstGeom prst="roundRect">
              <a:avLst>
                <a:gd name="adj" fmla="val 351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0" name="角丸四角形 19">
              <a:extLst>
                <a:ext uri="{FF2B5EF4-FFF2-40B4-BE49-F238E27FC236}">
                  <a16:creationId xmlns:a16="http://schemas.microsoft.com/office/drawing/2014/main" id="{EFCA94A8-1E86-FCDD-6AF6-3B1F213C3F81}"/>
                </a:ext>
              </a:extLst>
            </p:cNvPr>
            <p:cNvSpPr/>
            <p:nvPr/>
          </p:nvSpPr>
          <p:spPr>
            <a:xfrm>
              <a:off x="553504" y="1490662"/>
              <a:ext cx="5400675" cy="4795039"/>
            </a:xfrm>
            <a:prstGeom prst="roundRect">
              <a:avLst>
                <a:gd name="adj" fmla="val 351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9" name="フリーフォーム 28">
              <a:extLst>
                <a:ext uri="{FF2B5EF4-FFF2-40B4-BE49-F238E27FC236}">
                  <a16:creationId xmlns:a16="http://schemas.microsoft.com/office/drawing/2014/main" id="{8CE08586-911F-DD7E-D30C-820DC7FAF1D2}"/>
                </a:ext>
              </a:extLst>
            </p:cNvPr>
            <p:cNvSpPr/>
            <p:nvPr/>
          </p:nvSpPr>
          <p:spPr>
            <a:xfrm>
              <a:off x="6237821" y="1490662"/>
              <a:ext cx="5400676" cy="522288"/>
            </a:xfrm>
            <a:custGeom>
              <a:avLst/>
              <a:gdLst>
                <a:gd name="csX0" fmla="*/ 168450 w 5400676"/>
                <a:gd name="csY0" fmla="*/ 0 h 522288"/>
                <a:gd name="csX1" fmla="*/ 5232224 w 5400676"/>
                <a:gd name="csY1" fmla="*/ 0 h 522288"/>
                <a:gd name="csX2" fmla="*/ 5400676 w 5400676"/>
                <a:gd name="csY2" fmla="*/ 168450 h 522288"/>
                <a:gd name="csX3" fmla="*/ 5400676 w 5400676"/>
                <a:gd name="csY3" fmla="*/ 522288 h 522288"/>
                <a:gd name="csX4" fmla="*/ 0 w 5400676"/>
                <a:gd name="csY4" fmla="*/ 522288 h 522288"/>
                <a:gd name="csX5" fmla="*/ 0 w 5400676"/>
                <a:gd name="csY5" fmla="*/ 168450 h 522288"/>
                <a:gd name="csX6" fmla="*/ 168450 w 5400676"/>
                <a:gd name="csY6" fmla="*/ 0 h 522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00676" h="522288">
                  <a:moveTo>
                    <a:pt x="168450" y="0"/>
                  </a:moveTo>
                  <a:lnTo>
                    <a:pt x="5232224" y="0"/>
                  </a:lnTo>
                  <a:cubicBezTo>
                    <a:pt x="5325256" y="0"/>
                    <a:pt x="5400676" y="75418"/>
                    <a:pt x="5400676" y="168450"/>
                  </a:cubicBezTo>
                  <a:lnTo>
                    <a:pt x="5400676" y="522288"/>
                  </a:lnTo>
                  <a:lnTo>
                    <a:pt x="0" y="522288"/>
                  </a:lnTo>
                  <a:lnTo>
                    <a:pt x="0" y="168450"/>
                  </a:lnTo>
                  <a:cubicBezTo>
                    <a:pt x="0" y="75418"/>
                    <a:pt x="75418" y="0"/>
                    <a:pt x="168450" y="0"/>
                  </a:cubicBezTo>
                  <a:close/>
                </a:path>
              </a:pathLst>
            </a:custGeom>
            <a:solidFill>
              <a:srgbClr val="D44ED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2" name="フリーフォーム 41">
              <a:extLst>
                <a:ext uri="{FF2B5EF4-FFF2-40B4-BE49-F238E27FC236}">
                  <a16:creationId xmlns:a16="http://schemas.microsoft.com/office/drawing/2014/main" id="{D840097D-6162-A856-D28C-BA310E4F5B55}"/>
                </a:ext>
              </a:extLst>
            </p:cNvPr>
            <p:cNvSpPr/>
            <p:nvPr/>
          </p:nvSpPr>
          <p:spPr>
            <a:xfrm>
              <a:off x="553504" y="1490662"/>
              <a:ext cx="5400676" cy="522288"/>
            </a:xfrm>
            <a:custGeom>
              <a:avLst/>
              <a:gdLst>
                <a:gd name="csX0" fmla="*/ 168450 w 5400676"/>
                <a:gd name="csY0" fmla="*/ 0 h 522288"/>
                <a:gd name="csX1" fmla="*/ 5232224 w 5400676"/>
                <a:gd name="csY1" fmla="*/ 0 h 522288"/>
                <a:gd name="csX2" fmla="*/ 5400676 w 5400676"/>
                <a:gd name="csY2" fmla="*/ 168450 h 522288"/>
                <a:gd name="csX3" fmla="*/ 5400676 w 5400676"/>
                <a:gd name="csY3" fmla="*/ 522288 h 522288"/>
                <a:gd name="csX4" fmla="*/ 0 w 5400676"/>
                <a:gd name="csY4" fmla="*/ 522288 h 522288"/>
                <a:gd name="csX5" fmla="*/ 0 w 5400676"/>
                <a:gd name="csY5" fmla="*/ 168450 h 522288"/>
                <a:gd name="csX6" fmla="*/ 168450 w 5400676"/>
                <a:gd name="csY6" fmla="*/ 0 h 522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00676" h="522288">
                  <a:moveTo>
                    <a:pt x="168450" y="0"/>
                  </a:moveTo>
                  <a:lnTo>
                    <a:pt x="5232224" y="0"/>
                  </a:lnTo>
                  <a:cubicBezTo>
                    <a:pt x="5325256" y="0"/>
                    <a:pt x="5400676" y="75418"/>
                    <a:pt x="5400676" y="168450"/>
                  </a:cubicBezTo>
                  <a:lnTo>
                    <a:pt x="5400676" y="522288"/>
                  </a:lnTo>
                  <a:lnTo>
                    <a:pt x="0" y="522288"/>
                  </a:lnTo>
                  <a:lnTo>
                    <a:pt x="0" y="168450"/>
                  </a:lnTo>
                  <a:cubicBezTo>
                    <a:pt x="0" y="75418"/>
                    <a:pt x="75418" y="0"/>
                    <a:pt x="168450" y="0"/>
                  </a:cubicBezTo>
                  <a:close/>
                </a:path>
              </a:pathLst>
            </a:custGeom>
            <a:solidFill>
              <a:srgbClr val="142FA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pSp>
      <p:pic>
        <p:nvPicPr>
          <p:cNvPr id="7" name="図 6">
            <a:extLst>
              <a:ext uri="{FF2B5EF4-FFF2-40B4-BE49-F238E27FC236}">
                <a16:creationId xmlns:a16="http://schemas.microsoft.com/office/drawing/2014/main" id="{63E93630-C518-470F-C8A6-5DF67A9FE2F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237819" y="2012949"/>
            <a:ext cx="5400676" cy="1713923"/>
          </a:xfrm>
          <a:prstGeom prst="rect">
            <a:avLst/>
          </a:prstGeom>
        </p:spPr>
      </p:pic>
      <p:sp>
        <p:nvSpPr>
          <p:cNvPr id="3" name="テキスト プレースホルダー 2">
            <a:extLst>
              <a:ext uri="{FF2B5EF4-FFF2-40B4-BE49-F238E27FC236}">
                <a16:creationId xmlns:a16="http://schemas.microsoft.com/office/drawing/2014/main" id="{1990C2D2-310F-7D82-119E-A831A5BF91CB}"/>
              </a:ext>
            </a:extLst>
          </p:cNvPr>
          <p:cNvSpPr>
            <a:spLocks noGrp="1"/>
          </p:cNvSpPr>
          <p:nvPr>
            <p:ph type="body" sz="quarter" idx="12"/>
          </p:nvPr>
        </p:nvSpPr>
        <p:spPr/>
        <p:txBody>
          <a:bodyPr>
            <a:normAutofit/>
          </a:bodyPr>
          <a:lstStyle/>
          <a:p>
            <a:r>
              <a:rPr lang="en-US" altLang="ja-JP" dirty="0"/>
              <a:t>Two Segments Driving the Expansion of the Mobile Segment</a:t>
            </a:r>
            <a:endParaRPr lang="ja-JP" altLang="en-US" dirty="0"/>
          </a:p>
        </p:txBody>
      </p:sp>
      <p:sp>
        <p:nvSpPr>
          <p:cNvPr id="18" name="タイトル 17">
            <a:extLst>
              <a:ext uri="{FF2B5EF4-FFF2-40B4-BE49-F238E27FC236}">
                <a16:creationId xmlns:a16="http://schemas.microsoft.com/office/drawing/2014/main" id="{AA3D8E0F-593E-549C-0D8E-719400493946}"/>
              </a:ext>
            </a:extLst>
          </p:cNvPr>
          <p:cNvSpPr>
            <a:spLocks noGrp="1"/>
          </p:cNvSpPr>
          <p:nvPr>
            <p:ph type="ctrTitle"/>
          </p:nvPr>
        </p:nvSpPr>
        <p:spPr/>
        <p:txBody>
          <a:bodyPr/>
          <a:lstStyle/>
          <a:p>
            <a:pPr>
              <a:lnSpc>
                <a:spcPct val="100000"/>
              </a:lnSpc>
            </a:pPr>
            <a:r>
              <a:rPr lang="en-US" altLang="ja-JP" dirty="0"/>
              <a:t>Delivering </a:t>
            </a:r>
            <a:r>
              <a:rPr lang="en-US" altLang="ja-JP" dirty="0">
                <a:solidFill>
                  <a:srgbClr val="C0FF00"/>
                </a:solidFill>
              </a:rPr>
              <a:t>ibis’s technological value </a:t>
            </a:r>
            <a:r>
              <a:rPr lang="en-US" altLang="ja-JP" dirty="0"/>
              <a:t>to the</a:t>
            </a:r>
            <a:br>
              <a:rPr lang="en-US" altLang="ja-JP" dirty="0"/>
            </a:br>
            <a:r>
              <a:rPr lang="en-US" altLang="ja-JP" dirty="0"/>
              <a:t>world through mobile innovation</a:t>
            </a:r>
          </a:p>
        </p:txBody>
      </p:sp>
      <p:sp>
        <p:nvSpPr>
          <p:cNvPr id="2" name="テキスト プレースホルダー 1">
            <a:extLst>
              <a:ext uri="{FF2B5EF4-FFF2-40B4-BE49-F238E27FC236}">
                <a16:creationId xmlns:a16="http://schemas.microsoft.com/office/drawing/2014/main" id="{12E89A57-4B9E-082E-2855-70F63218A119}"/>
              </a:ext>
            </a:extLst>
          </p:cNvPr>
          <p:cNvSpPr>
            <a:spLocks noGrp="1"/>
          </p:cNvSpPr>
          <p:nvPr>
            <p:ph type="body" sz="quarter" idx="14"/>
          </p:nvPr>
        </p:nvSpPr>
        <p:spPr>
          <a:xfrm>
            <a:off x="6559943" y="6310211"/>
            <a:ext cx="6246813" cy="444389"/>
          </a:xfrm>
        </p:spPr>
        <p:txBody>
          <a:bodyPr/>
          <a:lstStyle/>
          <a:p>
            <a:r>
              <a:rPr lang="en" altLang="ja-JP" dirty="0"/>
              <a:t>* For convenience, the sales breakdown chart for </a:t>
            </a:r>
            <a:r>
              <a:rPr lang="en" altLang="ja-JP" dirty="0" err="1"/>
              <a:t>Voisona</a:t>
            </a:r>
            <a:r>
              <a:rPr lang="en" altLang="ja-JP" dirty="0"/>
              <a:t> includes sales from </a:t>
            </a:r>
            <a:r>
              <a:rPr lang="en" altLang="ja-JP" dirty="0" err="1"/>
              <a:t>CeVIO</a:t>
            </a:r>
            <a:r>
              <a:rPr lang="en" altLang="ja-JP" dirty="0"/>
              <a:t>, which operates in</a:t>
            </a:r>
          </a:p>
          <a:p>
            <a:r>
              <a:rPr lang="en" altLang="ja-JP" dirty="0"/>
              <a:t>   the same B2C area, as well as sales from the production of voice libraries for both </a:t>
            </a:r>
            <a:r>
              <a:rPr lang="en" altLang="ja-JP" dirty="0" err="1"/>
              <a:t>VoiSona</a:t>
            </a:r>
            <a:r>
              <a:rPr lang="en" altLang="ja-JP" dirty="0"/>
              <a:t> and </a:t>
            </a:r>
            <a:r>
              <a:rPr lang="en" altLang="ja-JP" dirty="0" err="1"/>
              <a:t>CeVIO</a:t>
            </a:r>
            <a:r>
              <a:rPr lang="en" altLang="ja-JP" dirty="0"/>
              <a:t> </a:t>
            </a:r>
          </a:p>
        </p:txBody>
      </p:sp>
      <p:pic>
        <p:nvPicPr>
          <p:cNvPr id="15" name="図 14" descr="人, 屋内, 男, テーブル が含まれている画像&#10;&#10;AI 生成コンテンツは誤りを含む可能性があります。">
            <a:extLst>
              <a:ext uri="{FF2B5EF4-FFF2-40B4-BE49-F238E27FC236}">
                <a16:creationId xmlns:a16="http://schemas.microsoft.com/office/drawing/2014/main" id="{6CFD9F75-3064-DC84-AB56-D0DF77EEC9A1}"/>
              </a:ext>
            </a:extLst>
          </p:cNvPr>
          <p:cNvPicPr>
            <a:picLocks noChangeAspect="1"/>
          </p:cNvPicPr>
          <p:nvPr/>
        </p:nvPicPr>
        <p:blipFill>
          <a:blip r:embed="rId4" cstate="email">
            <a:alphaModFix/>
            <a:extLst>
              <a:ext uri="{28A0092B-C50C-407E-A947-70E740481C1C}">
                <a14:useLocalDpi xmlns:a14="http://schemas.microsoft.com/office/drawing/2010/main"/>
              </a:ext>
            </a:extLst>
          </a:blip>
          <a:srcRect/>
          <a:stretch>
            <a:fillRect/>
          </a:stretch>
        </p:blipFill>
        <p:spPr>
          <a:xfrm>
            <a:off x="553502" y="2012950"/>
            <a:ext cx="5400676" cy="1713923"/>
          </a:xfrm>
          <a:prstGeom prst="rect">
            <a:avLst/>
          </a:prstGeom>
          <a:effectLst>
            <a:glow>
              <a:schemeClr val="accent1"/>
            </a:glow>
          </a:effectLst>
        </p:spPr>
      </p:pic>
      <p:graphicFrame>
        <p:nvGraphicFramePr>
          <p:cNvPr id="13" name="グラフ 12">
            <a:extLst>
              <a:ext uri="{FF2B5EF4-FFF2-40B4-BE49-F238E27FC236}">
                <a16:creationId xmlns:a16="http://schemas.microsoft.com/office/drawing/2014/main" id="{837EAEFA-EE47-6413-EA8D-1AB3C3183EAE}"/>
              </a:ext>
            </a:extLst>
          </p:cNvPr>
          <p:cNvGraphicFramePr/>
          <p:nvPr>
            <p:extLst>
              <p:ext uri="{D42A27DB-BD31-4B8C-83A1-F6EECF244321}">
                <p14:modId xmlns:p14="http://schemas.microsoft.com/office/powerpoint/2010/main" val="2307476292"/>
              </p:ext>
            </p:extLst>
          </p:nvPr>
        </p:nvGraphicFramePr>
        <p:xfrm>
          <a:off x="821383" y="3359725"/>
          <a:ext cx="2176918" cy="2509354"/>
        </p:xfrm>
        <a:graphic>
          <a:graphicData uri="http://schemas.openxmlformats.org/drawingml/2006/chart">
            <c:chart xmlns:c="http://schemas.openxmlformats.org/drawingml/2006/chart" xmlns:r="http://schemas.openxmlformats.org/officeDocument/2006/relationships" r:id="rId5"/>
          </a:graphicData>
        </a:graphic>
      </p:graphicFrame>
      <p:sp>
        <p:nvSpPr>
          <p:cNvPr id="16" name="角丸四角形 15">
            <a:extLst>
              <a:ext uri="{FF2B5EF4-FFF2-40B4-BE49-F238E27FC236}">
                <a16:creationId xmlns:a16="http://schemas.microsoft.com/office/drawing/2014/main" id="{FC61561F-81E1-966A-C4E3-63DF2F960AA0}"/>
              </a:ext>
            </a:extLst>
          </p:cNvPr>
          <p:cNvSpPr/>
          <p:nvPr/>
        </p:nvSpPr>
        <p:spPr>
          <a:xfrm>
            <a:off x="3587883" y="3886025"/>
            <a:ext cx="1771511"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Stable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G</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rowth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B</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usiness</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cxnSp>
        <p:nvCxnSpPr>
          <p:cNvPr id="17" name="直線コネクタ 16">
            <a:extLst>
              <a:ext uri="{FF2B5EF4-FFF2-40B4-BE49-F238E27FC236}">
                <a16:creationId xmlns:a16="http://schemas.microsoft.com/office/drawing/2014/main" id="{23FDFF24-43C5-6380-E06E-34E1292D8C0E}"/>
              </a:ext>
            </a:extLst>
          </p:cNvPr>
          <p:cNvCxnSpPr>
            <a:cxnSpLocks/>
          </p:cNvCxnSpPr>
          <p:nvPr/>
        </p:nvCxnSpPr>
        <p:spPr>
          <a:xfrm flipH="1">
            <a:off x="3246958" y="5158462"/>
            <a:ext cx="2453360"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9" name="角丸四角形 18">
            <a:extLst>
              <a:ext uri="{FF2B5EF4-FFF2-40B4-BE49-F238E27FC236}">
                <a16:creationId xmlns:a16="http://schemas.microsoft.com/office/drawing/2014/main" id="{F80D6F62-46E3-5E9D-DF2E-3670F356CA65}"/>
              </a:ext>
            </a:extLst>
          </p:cNvPr>
          <p:cNvSpPr/>
          <p:nvPr/>
        </p:nvSpPr>
        <p:spPr>
          <a:xfrm>
            <a:off x="3883127" y="5355015"/>
            <a:ext cx="1181023"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Client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P</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ortfolio</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2" name="テキスト ボックス 21">
            <a:extLst>
              <a:ext uri="{FF2B5EF4-FFF2-40B4-BE49-F238E27FC236}">
                <a16:creationId xmlns:a16="http://schemas.microsoft.com/office/drawing/2014/main" id="{801343AD-1E6D-F9E3-6238-71B3F55FA467}"/>
              </a:ext>
            </a:extLst>
          </p:cNvPr>
          <p:cNvSpPr txBox="1"/>
          <p:nvPr/>
        </p:nvSpPr>
        <p:spPr>
          <a:xfrm>
            <a:off x="1013412" y="4310169"/>
            <a:ext cx="172300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36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2</a:t>
            </a:r>
            <a:r>
              <a:rPr kumimoji="1" lang="en-US" altLang="ja-JP" sz="36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.05</a:t>
            </a:r>
            <a:r>
              <a:rPr kumimoji="1" lang="en-US" altLang="ja-JP" sz="20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B</a:t>
            </a:r>
            <a:endParaRPr kumimoji="1" lang="ja-JP" altLang="en-US" sz="1800" b="0" i="0" u="none" strike="noStrike" kern="1200" cap="none" spc="-15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23" name="テキスト ボックス 22">
            <a:extLst>
              <a:ext uri="{FF2B5EF4-FFF2-40B4-BE49-F238E27FC236}">
                <a16:creationId xmlns:a16="http://schemas.microsoft.com/office/drawing/2014/main" id="{8F952253-D10B-B70A-92F9-577903B77630}"/>
              </a:ext>
            </a:extLst>
          </p:cNvPr>
          <p:cNvSpPr txBox="1"/>
          <p:nvPr/>
        </p:nvSpPr>
        <p:spPr>
          <a:xfrm>
            <a:off x="1278913" y="4840189"/>
            <a:ext cx="1261858"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FY2025</a:t>
            </a:r>
            <a:endParaRPr kumimoji="1" lang="ja-JP" altLang="en-US" sz="10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24" name="テキスト ボックス 23">
            <a:extLst>
              <a:ext uri="{FF2B5EF4-FFF2-40B4-BE49-F238E27FC236}">
                <a16:creationId xmlns:a16="http://schemas.microsoft.com/office/drawing/2014/main" id="{4EBE86F6-00C1-C80D-49BE-D2FD179E6064}"/>
              </a:ext>
            </a:extLst>
          </p:cNvPr>
          <p:cNvSpPr txBox="1"/>
          <p:nvPr/>
        </p:nvSpPr>
        <p:spPr>
          <a:xfrm>
            <a:off x="888641" y="5672198"/>
            <a:ext cx="2809542" cy="41710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
                <a:srgbClr val="142FA4"/>
              </a:buClr>
              <a:buSzTx/>
              <a:buFontTx/>
              <a:buNone/>
              <a:tabLst/>
              <a:defRPr/>
            </a:pPr>
            <a:r>
              <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Contract Development</a:t>
            </a:r>
            <a:r>
              <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(26.1%)</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ct val="120000"/>
              </a:lnSpc>
              <a:spcBef>
                <a:spcPts val="0"/>
              </a:spcBef>
              <a:spcAft>
                <a:spcPts val="0"/>
              </a:spcAft>
              <a:buClr>
                <a:srgbClr val="A1BFFF"/>
              </a:buClr>
              <a:buSzTx/>
              <a:buFontTx/>
              <a:buNone/>
              <a:tabLst/>
              <a:defRPr/>
            </a:pPr>
            <a:r>
              <a:rPr kumimoji="1" lang="ja-JP" altLang="en-US" sz="900" b="0" i="0" u="none" strike="noStrike" kern="1200" cap="none" spc="0" normalizeH="0" baseline="0" noProof="0" dirty="0">
                <a:ln>
                  <a:noFill/>
                </a:ln>
                <a:solidFill>
                  <a:srgbClr val="A1BFFF"/>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A1BFFF"/>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IT Engineer Dispatch</a:t>
            </a:r>
            <a:r>
              <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(73.9%)</a:t>
            </a:r>
          </a:p>
        </p:txBody>
      </p:sp>
      <p:graphicFrame>
        <p:nvGraphicFramePr>
          <p:cNvPr id="35" name="グラフ 34">
            <a:extLst>
              <a:ext uri="{FF2B5EF4-FFF2-40B4-BE49-F238E27FC236}">
                <a16:creationId xmlns:a16="http://schemas.microsoft.com/office/drawing/2014/main" id="{1D3FCBA3-C2B3-7D1E-3AFB-CACA3BB46A65}"/>
              </a:ext>
            </a:extLst>
          </p:cNvPr>
          <p:cNvGraphicFramePr/>
          <p:nvPr>
            <p:extLst>
              <p:ext uri="{D42A27DB-BD31-4B8C-83A1-F6EECF244321}">
                <p14:modId xmlns:p14="http://schemas.microsoft.com/office/powerpoint/2010/main" val="3987634061"/>
              </p:ext>
            </p:extLst>
          </p:nvPr>
        </p:nvGraphicFramePr>
        <p:xfrm>
          <a:off x="6505700" y="3359725"/>
          <a:ext cx="2176918" cy="2509354"/>
        </p:xfrm>
        <a:graphic>
          <a:graphicData uri="http://schemas.openxmlformats.org/drawingml/2006/chart">
            <c:chart xmlns:c="http://schemas.openxmlformats.org/drawingml/2006/chart" xmlns:r="http://schemas.openxmlformats.org/officeDocument/2006/relationships" r:id="rId6"/>
          </a:graphicData>
        </a:graphic>
      </p:graphicFrame>
      <p:sp>
        <p:nvSpPr>
          <p:cNvPr id="36" name="角丸四角形 35">
            <a:extLst>
              <a:ext uri="{FF2B5EF4-FFF2-40B4-BE49-F238E27FC236}">
                <a16:creationId xmlns:a16="http://schemas.microsoft.com/office/drawing/2014/main" id="{66B068C6-58EA-E0DC-E253-24B7C650442A}"/>
              </a:ext>
            </a:extLst>
          </p:cNvPr>
          <p:cNvSpPr/>
          <p:nvPr/>
        </p:nvSpPr>
        <p:spPr>
          <a:xfrm>
            <a:off x="9397580" y="3886025"/>
            <a:ext cx="1728000"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New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G</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rowth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B</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usiness</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cxnSp>
        <p:nvCxnSpPr>
          <p:cNvPr id="37" name="直線コネクタ 36">
            <a:extLst>
              <a:ext uri="{FF2B5EF4-FFF2-40B4-BE49-F238E27FC236}">
                <a16:creationId xmlns:a16="http://schemas.microsoft.com/office/drawing/2014/main" id="{84684010-6364-F25D-A463-FD61490CBBCE}"/>
              </a:ext>
            </a:extLst>
          </p:cNvPr>
          <p:cNvCxnSpPr>
            <a:cxnSpLocks/>
          </p:cNvCxnSpPr>
          <p:nvPr/>
        </p:nvCxnSpPr>
        <p:spPr>
          <a:xfrm flipH="1">
            <a:off x="8931275" y="4988183"/>
            <a:ext cx="2453360"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6DFE141C-E026-A646-DD7F-F03576951E43}"/>
              </a:ext>
            </a:extLst>
          </p:cNvPr>
          <p:cNvSpPr txBox="1"/>
          <p:nvPr/>
        </p:nvSpPr>
        <p:spPr>
          <a:xfrm>
            <a:off x="6698515" y="4317434"/>
            <a:ext cx="170561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a:t>
            </a:r>
            <a:r>
              <a:rPr kumimoji="1" lang="en-US" altLang="ja-JP" sz="36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0.</a:t>
            </a:r>
            <a:r>
              <a:rPr kumimoji="1" lang="en-US" altLang="ja-JP" sz="36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1</a:t>
            </a:r>
            <a:r>
              <a:rPr kumimoji="1" lang="en-US" altLang="ja-JP" sz="36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1</a:t>
            </a:r>
            <a:r>
              <a:rPr kumimoji="1" lang="en-US" altLang="ja-JP" sz="20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B</a:t>
            </a:r>
            <a:endParaRPr kumimoji="1" lang="ja-JP" altLang="en-US" sz="1800" b="0" i="0" u="none" strike="noStrike" kern="1200" cap="none" spc="-15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endParaRPr>
          </a:p>
        </p:txBody>
      </p:sp>
      <p:sp>
        <p:nvSpPr>
          <p:cNvPr id="40" name="テキスト ボックス 39">
            <a:extLst>
              <a:ext uri="{FF2B5EF4-FFF2-40B4-BE49-F238E27FC236}">
                <a16:creationId xmlns:a16="http://schemas.microsoft.com/office/drawing/2014/main" id="{31140ECC-7749-7FA8-A816-6A7D7494BD10}"/>
              </a:ext>
            </a:extLst>
          </p:cNvPr>
          <p:cNvSpPr txBox="1"/>
          <p:nvPr/>
        </p:nvSpPr>
        <p:spPr>
          <a:xfrm>
            <a:off x="6963230" y="4840189"/>
            <a:ext cx="1261858"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cs typeface="Poppins" pitchFamily="2" charset="0"/>
              </a:rPr>
              <a:t>FY2025</a:t>
            </a:r>
            <a:endParaRPr kumimoji="1" lang="ja-JP" altLang="en-US" sz="10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cs typeface="Poppins" pitchFamily="2" charset="0"/>
            </a:endParaRPr>
          </a:p>
        </p:txBody>
      </p:sp>
      <p:sp>
        <p:nvSpPr>
          <p:cNvPr id="41" name="テキスト ボックス 40">
            <a:extLst>
              <a:ext uri="{FF2B5EF4-FFF2-40B4-BE49-F238E27FC236}">
                <a16:creationId xmlns:a16="http://schemas.microsoft.com/office/drawing/2014/main" id="{FA2152FD-BEF4-7CB8-D623-D7F82E608027}"/>
              </a:ext>
            </a:extLst>
          </p:cNvPr>
          <p:cNvSpPr txBox="1"/>
          <p:nvPr/>
        </p:nvSpPr>
        <p:spPr>
          <a:xfrm>
            <a:off x="6705700" y="5672198"/>
            <a:ext cx="2101857" cy="41537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
                <a:srgbClr val="D44ED9"/>
              </a:buClr>
              <a:buSzTx/>
              <a:buFontTx/>
              <a:buNone/>
              <a:tabLst/>
              <a:defRPr/>
            </a:pPr>
            <a:r>
              <a:rPr kumimoji="1" lang="ja-JP" altLang="en-US" sz="90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FDA6FF"/>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err="1">
                <a:ln>
                  <a:noFill/>
                </a:ln>
                <a:solidFill>
                  <a:srgbClr val="142FA4"/>
                </a:solidFill>
                <a:effectLst/>
                <a:uLnTx/>
                <a:uFillTx/>
                <a:latin typeface="Poppins Medium" pitchFamily="2" charset="0"/>
                <a:ea typeface="M PLUS 1p Medium" panose="020B0502020203020207" pitchFamily="34" charset="-128"/>
                <a:cs typeface="Poppins Medium" pitchFamily="2" charset="0"/>
              </a:rPr>
              <a:t>VoiSona</a:t>
            </a:r>
            <a:r>
              <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(78.1%)</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a:p>
            <a:pPr marL="0" marR="0" lvl="0" indent="0" algn="l" defTabSz="914400" rtl="0" eaLnBrk="1" fontAlgn="auto" latinLnBrk="0" hangingPunct="1">
              <a:lnSpc>
                <a:spcPct val="120000"/>
              </a:lnSpc>
              <a:spcBef>
                <a:spcPts val="0"/>
              </a:spcBef>
              <a:spcAft>
                <a:spcPts val="0"/>
              </a:spcAft>
              <a:buClr>
                <a:srgbClr val="FDA6FF"/>
              </a:buClr>
              <a:buSzTx/>
              <a:buFontTx/>
              <a:buNone/>
              <a:tabLst/>
              <a:defRPr/>
            </a:pPr>
            <a:r>
              <a:rPr kumimoji="1" lang="ja-JP" altLang="en-US" sz="900" b="0" i="0" u="none" strike="noStrike" kern="1200" cap="none" spc="0" normalizeH="0" baseline="0" noProof="0" dirty="0">
                <a:ln>
                  <a:noFill/>
                </a:ln>
                <a:solidFill>
                  <a:srgbClr val="FDA6FF"/>
                </a:solidFill>
                <a:effectLst/>
                <a:uLnTx/>
                <a:uFillTx/>
                <a:latin typeface="Poppins Medium" pitchFamily="2" charset="0"/>
                <a:ea typeface="M PLUS 1p Medium" panose="020B0502020203020207" pitchFamily="34" charset="-128"/>
                <a:cs typeface="Poppins Medium" pitchFamily="2" charset="0"/>
              </a:rPr>
              <a:t>■</a:t>
            </a:r>
            <a:r>
              <a:rPr kumimoji="1" lang="en-US" altLang="ja-JP" sz="900" b="0" i="0" u="none" strike="noStrike" kern="1200" cap="none" spc="0" normalizeH="0" baseline="0" noProof="0" dirty="0">
                <a:ln>
                  <a:noFill/>
                </a:ln>
                <a:solidFill>
                  <a:srgbClr val="FDA6FF"/>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Contract Development</a:t>
            </a:r>
            <a:r>
              <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(21.9%)</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46" name="テキスト ボックス 45">
            <a:extLst>
              <a:ext uri="{FF2B5EF4-FFF2-40B4-BE49-F238E27FC236}">
                <a16:creationId xmlns:a16="http://schemas.microsoft.com/office/drawing/2014/main" id="{D9701C4D-19A2-7AB1-6958-CDC1A03BC45A}"/>
              </a:ext>
            </a:extLst>
          </p:cNvPr>
          <p:cNvSpPr txBox="1"/>
          <p:nvPr/>
        </p:nvSpPr>
        <p:spPr>
          <a:xfrm>
            <a:off x="8843855" y="4148097"/>
            <a:ext cx="2656021" cy="749821"/>
          </a:xfrm>
          <a:prstGeom prst="rect">
            <a:avLst/>
          </a:prstGeom>
          <a:noFill/>
        </p:spPr>
        <p:txBody>
          <a:bodyPr wrap="square" rtlCol="0">
            <a:spAutoFit/>
          </a:bodyPr>
          <a:lstStyle/>
          <a:p>
            <a:pPr marL="0" marR="0" lvl="0" indent="0" algn="l" defTabSz="914400" rtl="0" eaLnBrk="1" fontAlgn="auto" latinLnBrk="0" hangingPunct="1">
              <a:lnSpc>
                <a:spcPts val="1280"/>
              </a:lnSpc>
              <a:spcBef>
                <a:spcPts val="0"/>
              </a:spcBef>
              <a:spcAft>
                <a:spcPts val="0"/>
              </a:spcAft>
              <a:buClrTx/>
              <a:buSzTx/>
              <a:buFontTx/>
              <a:buNone/>
              <a:tabLst/>
              <a:defRPr/>
            </a:pPr>
            <a:r>
              <a:rPr kumimoji="1" lang="ja-JP"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Leveraging the voice-synthesis technology of our subsidiary Techno-Speech</a:t>
            </a:r>
            <a:r>
              <a:rPr kumimoji="1" lang="en-US"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 Inc.</a:t>
            </a:r>
            <a:r>
              <a:rPr kumimoji="1" lang="ja-JP"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a:t>
            </a:r>
            <a:r>
              <a:rPr kumimoji="1" lang="en-US"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 </a:t>
            </a:r>
            <a:r>
              <a:rPr kumimoji="1" lang="ja-JP"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we provide </a:t>
            </a:r>
            <a:r>
              <a:rPr kumimoji="1" lang="en-US"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an AI Singing Voice Synthesis App “VoiSona” </a:t>
            </a:r>
            <a:r>
              <a:rPr kumimoji="1" lang="ja-JP" altLang="ja-JP" sz="900" b="0" i="0" u="none" strike="noStrike" kern="1200" cap="none" spc="0" normalizeH="0" baseline="0" noProof="0" dirty="0">
                <a:ln>
                  <a:noFill/>
                </a:ln>
                <a:solidFill>
                  <a:srgbClr val="D44ED9"/>
                </a:solidFill>
                <a:effectLst/>
                <a:uLnTx/>
                <a:uFillTx/>
                <a:latin typeface="Poppins" pitchFamily="2" charset="0"/>
                <a:ea typeface="游ゴシック" panose="020B0400000000000000" pitchFamily="50" charset="-128"/>
                <a:cs typeface="Poppins" pitchFamily="2" charset="0"/>
              </a:rPr>
              <a:t>and aim for global expansion.</a:t>
            </a:r>
            <a:endParaRPr kumimoji="1" lang="ja-JP" altLang="en-US" sz="900" b="0" i="0" u="none" strike="noStrike" kern="1200" cap="none" spc="0" normalizeH="0" baseline="0" noProof="0" dirty="0">
              <a:ln>
                <a:noFill/>
              </a:ln>
              <a:solidFill>
                <a:srgbClr val="D44ED9"/>
              </a:solidFill>
              <a:effectLst/>
              <a:uLnTx/>
              <a:uFillTx/>
              <a:latin typeface="Poppins" pitchFamily="2" charset="0"/>
              <a:ea typeface="M PLUS 1p" panose="020B0502020203020207" pitchFamily="34" charset="-128"/>
              <a:cs typeface="Poppins" pitchFamily="2" charset="0"/>
            </a:endParaRPr>
          </a:p>
        </p:txBody>
      </p:sp>
      <p:pic>
        <p:nvPicPr>
          <p:cNvPr id="14" name="図 13" descr="挿絵 が含まれている画像&#10;&#10;AI 生成コンテンツは誤りを含む可能性があります。">
            <a:extLst>
              <a:ext uri="{FF2B5EF4-FFF2-40B4-BE49-F238E27FC236}">
                <a16:creationId xmlns:a16="http://schemas.microsoft.com/office/drawing/2014/main" id="{1D790C96-82C1-EB9E-8CA0-9A7172147C9E}"/>
              </a:ext>
            </a:extLst>
          </p:cNvPr>
          <p:cNvPicPr>
            <a:picLocks noGrp="1" noRot="1" noChangeAspect="1" noMove="1" noResize="1" noEditPoints="1" noAdjustHandles="1" noChangeArrowheads="1" noChangeShapeType="1" noCrop="1"/>
          </p:cNvPicPr>
          <p:nvPr/>
        </p:nvPicPr>
        <p:blipFill>
          <a:blip r:embed="rId7" cstate="email">
            <a:extLst>
              <a:ext uri="{28A0092B-C50C-407E-A947-70E740481C1C}">
                <a14:useLocalDpi xmlns:a14="http://schemas.microsoft.com/office/drawing/2010/main"/>
              </a:ext>
            </a:extLst>
          </a:blip>
          <a:stretch>
            <a:fillRect/>
          </a:stretch>
        </p:blipFill>
        <p:spPr>
          <a:xfrm>
            <a:off x="-11724" y="2288838"/>
            <a:ext cx="576000" cy="3988175"/>
          </a:xfrm>
          <a:prstGeom prst="rect">
            <a:avLst/>
          </a:prstGeom>
        </p:spPr>
      </p:pic>
      <p:sp>
        <p:nvSpPr>
          <p:cNvPr id="6" name="テキスト ボックス 5">
            <a:extLst>
              <a:ext uri="{FF2B5EF4-FFF2-40B4-BE49-F238E27FC236}">
                <a16:creationId xmlns:a16="http://schemas.microsoft.com/office/drawing/2014/main" id="{4735A399-BB45-8716-4A9F-F1FB58B9BD5C}"/>
              </a:ext>
            </a:extLst>
          </p:cNvPr>
          <p:cNvSpPr txBox="1"/>
          <p:nvPr/>
        </p:nvSpPr>
        <p:spPr>
          <a:xfrm>
            <a:off x="3183179" y="4148097"/>
            <a:ext cx="2672235" cy="918841"/>
          </a:xfrm>
          <a:prstGeom prst="rect">
            <a:avLst/>
          </a:prstGeom>
          <a:noFill/>
        </p:spPr>
        <p:txBody>
          <a:bodyPr wrap="square" rtlCol="0">
            <a:spAutoFit/>
          </a:bodyPr>
          <a:lstStyle/>
          <a:p>
            <a:pPr marL="0" marR="0" lvl="0" indent="0" algn="l" defTabSz="914400" rtl="0" eaLnBrk="1" fontAlgn="auto" latinLnBrk="0" hangingPunct="1">
              <a:lnSpc>
                <a:spcPts val="1280"/>
              </a:lnSpc>
              <a:spcBef>
                <a:spcPts val="0"/>
              </a:spcBef>
              <a:spcAft>
                <a:spcPts val="0"/>
              </a:spcAft>
              <a:buClrTx/>
              <a:buSzTx/>
              <a:buFontTx/>
              <a:buNone/>
              <a:tabLst/>
              <a:defRPr/>
            </a:pP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Provides mobile-app development for domestic companies,</a:t>
            </a:r>
            <a:r>
              <a:rPr kumimoji="1" lang="en-US" altLang="ja-JP" sz="9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a:t>
            </a: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supporting implementation across all devices.</a:t>
            </a:r>
            <a:r>
              <a:rPr kumimoji="1" lang="en-US" altLang="ja-JP" sz="9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 </a:t>
            </a: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Strong expertise in cloud server </a:t>
            </a:r>
            <a:r>
              <a:rPr kumimoji="1" lang="en-US" altLang="ja-JP" sz="9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construction</a:t>
            </a:r>
            <a:r>
              <a:rPr kumimoji="1" lang="ja-JP" altLang="ja-JP" sz="9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Poppins" pitchFamily="2" charset="0"/>
              </a:rPr>
              <a:t> and migration.</a:t>
            </a:r>
            <a:endParaRPr kumimoji="1" lang="ja-JP" altLang="en-US" sz="9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grpSp>
        <p:nvGrpSpPr>
          <p:cNvPr id="56" name="グループ化 55">
            <a:extLst>
              <a:ext uri="{FF2B5EF4-FFF2-40B4-BE49-F238E27FC236}">
                <a16:creationId xmlns:a16="http://schemas.microsoft.com/office/drawing/2014/main" id="{F41F135E-5935-9D56-CC92-F493C9CDFB30}"/>
              </a:ext>
            </a:extLst>
          </p:cNvPr>
          <p:cNvGrpSpPr>
            <a:grpSpLocks noChangeAspect="1"/>
          </p:cNvGrpSpPr>
          <p:nvPr/>
        </p:nvGrpSpPr>
        <p:grpSpPr>
          <a:xfrm>
            <a:off x="3645810" y="5709617"/>
            <a:ext cx="1655657" cy="396000"/>
            <a:chOff x="3451633" y="5494506"/>
            <a:chExt cx="2048252" cy="489901"/>
          </a:xfrm>
        </p:grpSpPr>
        <p:pic>
          <p:nvPicPr>
            <p:cNvPr id="57" name="図 56">
              <a:extLst>
                <a:ext uri="{FF2B5EF4-FFF2-40B4-BE49-F238E27FC236}">
                  <a16:creationId xmlns:a16="http://schemas.microsoft.com/office/drawing/2014/main" id="{77B29321-3426-4195-710C-D48BD0C282C0}"/>
                </a:ext>
              </a:extLst>
            </p:cNvPr>
            <p:cNvPicPr>
              <a:picLocks noChangeAspect="1"/>
            </p:cNvPicPr>
            <p:nvPr/>
          </p:nvPicPr>
          <p:blipFill>
            <a:blip r:embed="rId8"/>
            <a:stretch>
              <a:fillRect/>
            </a:stretch>
          </p:blipFill>
          <p:spPr>
            <a:xfrm>
              <a:off x="3671306" y="5496642"/>
              <a:ext cx="477502" cy="152801"/>
            </a:xfrm>
            <a:prstGeom prst="rect">
              <a:avLst/>
            </a:prstGeom>
          </p:spPr>
        </p:pic>
        <p:pic>
          <p:nvPicPr>
            <p:cNvPr id="58" name="図 57">
              <a:extLst>
                <a:ext uri="{FF2B5EF4-FFF2-40B4-BE49-F238E27FC236}">
                  <a16:creationId xmlns:a16="http://schemas.microsoft.com/office/drawing/2014/main" id="{5E80519E-225D-83FB-28BB-A956D2A25681}"/>
                </a:ext>
              </a:extLst>
            </p:cNvPr>
            <p:cNvPicPr>
              <a:picLocks noChangeAspect="1"/>
            </p:cNvPicPr>
            <p:nvPr/>
          </p:nvPicPr>
          <p:blipFill>
            <a:blip r:embed="rId9"/>
            <a:stretch>
              <a:fillRect/>
            </a:stretch>
          </p:blipFill>
          <p:spPr>
            <a:xfrm>
              <a:off x="4307862" y="5494506"/>
              <a:ext cx="1095071" cy="133701"/>
            </a:xfrm>
            <a:prstGeom prst="rect">
              <a:avLst/>
            </a:prstGeom>
          </p:spPr>
        </p:pic>
        <p:pic>
          <p:nvPicPr>
            <p:cNvPr id="59" name="図 58">
              <a:extLst>
                <a:ext uri="{FF2B5EF4-FFF2-40B4-BE49-F238E27FC236}">
                  <a16:creationId xmlns:a16="http://schemas.microsoft.com/office/drawing/2014/main" id="{5F2EE1C5-BFC5-5FA5-37E1-1A0BFFDE4B86}"/>
                </a:ext>
              </a:extLst>
            </p:cNvPr>
            <p:cNvPicPr>
              <a:picLocks noChangeAspect="1"/>
            </p:cNvPicPr>
            <p:nvPr/>
          </p:nvPicPr>
          <p:blipFill>
            <a:blip r:embed="rId10"/>
            <a:stretch>
              <a:fillRect/>
            </a:stretch>
          </p:blipFill>
          <p:spPr>
            <a:xfrm>
              <a:off x="3451633" y="5794488"/>
              <a:ext cx="808570" cy="165534"/>
            </a:xfrm>
            <a:prstGeom prst="rect">
              <a:avLst/>
            </a:prstGeom>
          </p:spPr>
        </p:pic>
        <p:pic>
          <p:nvPicPr>
            <p:cNvPr id="60" name="図 59">
              <a:extLst>
                <a:ext uri="{FF2B5EF4-FFF2-40B4-BE49-F238E27FC236}">
                  <a16:creationId xmlns:a16="http://schemas.microsoft.com/office/drawing/2014/main" id="{8D6164F1-CC71-4DD4-014C-A16097E9AF15}"/>
                </a:ext>
              </a:extLst>
            </p:cNvPr>
            <p:cNvPicPr>
              <a:picLocks noChangeAspect="1"/>
            </p:cNvPicPr>
            <p:nvPr/>
          </p:nvPicPr>
          <p:blipFill>
            <a:blip r:embed="rId11"/>
            <a:stretch>
              <a:fillRect/>
            </a:stretch>
          </p:blipFill>
          <p:spPr>
            <a:xfrm>
              <a:off x="4392080" y="5799773"/>
              <a:ext cx="1107805" cy="184634"/>
            </a:xfrm>
            <a:prstGeom prst="rect">
              <a:avLst/>
            </a:prstGeom>
          </p:spPr>
        </p:pic>
      </p:grpSp>
      <p:grpSp>
        <p:nvGrpSpPr>
          <p:cNvPr id="61" name="グループ化 60">
            <a:extLst>
              <a:ext uri="{FF2B5EF4-FFF2-40B4-BE49-F238E27FC236}">
                <a16:creationId xmlns:a16="http://schemas.microsoft.com/office/drawing/2014/main" id="{07FAD872-54C3-A051-13E4-B1AC7F463B7D}"/>
              </a:ext>
            </a:extLst>
          </p:cNvPr>
          <p:cNvGrpSpPr/>
          <p:nvPr/>
        </p:nvGrpSpPr>
        <p:grpSpPr>
          <a:xfrm>
            <a:off x="9162948" y="5500677"/>
            <a:ext cx="2037221" cy="609228"/>
            <a:chOff x="8922399" y="5373822"/>
            <a:chExt cx="2461416" cy="736083"/>
          </a:xfrm>
        </p:grpSpPr>
        <p:pic>
          <p:nvPicPr>
            <p:cNvPr id="62" name="図 61">
              <a:extLst>
                <a:ext uri="{FF2B5EF4-FFF2-40B4-BE49-F238E27FC236}">
                  <a16:creationId xmlns:a16="http://schemas.microsoft.com/office/drawing/2014/main" id="{F594A8F0-46A7-6091-EEDC-851B7CCF4D13}"/>
                </a:ext>
              </a:extLst>
            </p:cNvPr>
            <p:cNvPicPr>
              <a:picLocks noChangeAspect="1"/>
            </p:cNvPicPr>
            <p:nvPr/>
          </p:nvPicPr>
          <p:blipFill>
            <a:blip r:embed="rId12"/>
            <a:stretch>
              <a:fillRect/>
            </a:stretch>
          </p:blipFill>
          <p:spPr>
            <a:xfrm>
              <a:off x="8922399" y="5373822"/>
              <a:ext cx="887707" cy="172432"/>
            </a:xfrm>
            <a:prstGeom prst="rect">
              <a:avLst/>
            </a:prstGeom>
          </p:spPr>
        </p:pic>
        <p:pic>
          <p:nvPicPr>
            <p:cNvPr id="63" name="図 62">
              <a:extLst>
                <a:ext uri="{FF2B5EF4-FFF2-40B4-BE49-F238E27FC236}">
                  <a16:creationId xmlns:a16="http://schemas.microsoft.com/office/drawing/2014/main" id="{B32CC146-B38A-B471-D2EC-F64B5E1A6755}"/>
                </a:ext>
              </a:extLst>
            </p:cNvPr>
            <p:cNvPicPr>
              <a:picLocks noChangeAspect="1"/>
            </p:cNvPicPr>
            <p:nvPr/>
          </p:nvPicPr>
          <p:blipFill>
            <a:blip r:embed="rId13"/>
            <a:stretch>
              <a:fillRect/>
            </a:stretch>
          </p:blipFill>
          <p:spPr>
            <a:xfrm>
              <a:off x="9892862" y="5377184"/>
              <a:ext cx="766366" cy="127728"/>
            </a:xfrm>
            <a:prstGeom prst="rect">
              <a:avLst/>
            </a:prstGeom>
          </p:spPr>
        </p:pic>
        <p:pic>
          <p:nvPicPr>
            <p:cNvPr id="64" name="図 63">
              <a:extLst>
                <a:ext uri="{FF2B5EF4-FFF2-40B4-BE49-F238E27FC236}">
                  <a16:creationId xmlns:a16="http://schemas.microsoft.com/office/drawing/2014/main" id="{D5EDDCAA-D943-B378-5699-163C15044E6E}"/>
                </a:ext>
              </a:extLst>
            </p:cNvPr>
            <p:cNvPicPr>
              <a:picLocks noChangeAspect="1"/>
            </p:cNvPicPr>
            <p:nvPr/>
          </p:nvPicPr>
          <p:blipFill>
            <a:blip r:embed="rId14"/>
            <a:stretch>
              <a:fillRect/>
            </a:stretch>
          </p:blipFill>
          <p:spPr>
            <a:xfrm>
              <a:off x="10757859" y="5383582"/>
              <a:ext cx="606706" cy="121341"/>
            </a:xfrm>
            <a:prstGeom prst="rect">
              <a:avLst/>
            </a:prstGeom>
          </p:spPr>
        </p:pic>
        <p:pic>
          <p:nvPicPr>
            <p:cNvPr id="65" name="図 64">
              <a:extLst>
                <a:ext uri="{FF2B5EF4-FFF2-40B4-BE49-F238E27FC236}">
                  <a16:creationId xmlns:a16="http://schemas.microsoft.com/office/drawing/2014/main" id="{8F33505B-EEFA-4ECB-1726-C1768624ACB0}"/>
                </a:ext>
              </a:extLst>
            </p:cNvPr>
            <p:cNvPicPr>
              <a:picLocks noChangeAspect="1"/>
            </p:cNvPicPr>
            <p:nvPr/>
          </p:nvPicPr>
          <p:blipFill>
            <a:blip r:embed="rId15"/>
            <a:stretch>
              <a:fillRect/>
            </a:stretch>
          </p:blipFill>
          <p:spPr>
            <a:xfrm>
              <a:off x="8933333" y="5674366"/>
              <a:ext cx="881321" cy="127728"/>
            </a:xfrm>
            <a:prstGeom prst="rect">
              <a:avLst/>
            </a:prstGeom>
          </p:spPr>
        </p:pic>
        <p:pic>
          <p:nvPicPr>
            <p:cNvPr id="66" name="図 65">
              <a:extLst>
                <a:ext uri="{FF2B5EF4-FFF2-40B4-BE49-F238E27FC236}">
                  <a16:creationId xmlns:a16="http://schemas.microsoft.com/office/drawing/2014/main" id="{4360289F-F6D2-2147-51F2-989998ABE8FA}"/>
                </a:ext>
              </a:extLst>
            </p:cNvPr>
            <p:cNvPicPr>
              <a:picLocks noChangeAspect="1"/>
            </p:cNvPicPr>
            <p:nvPr/>
          </p:nvPicPr>
          <p:blipFill>
            <a:blip r:embed="rId16"/>
            <a:stretch>
              <a:fillRect/>
            </a:stretch>
          </p:blipFill>
          <p:spPr>
            <a:xfrm>
              <a:off x="9952546" y="5659558"/>
              <a:ext cx="651411" cy="140500"/>
            </a:xfrm>
            <a:prstGeom prst="rect">
              <a:avLst/>
            </a:prstGeom>
          </p:spPr>
        </p:pic>
        <p:pic>
          <p:nvPicPr>
            <p:cNvPr id="67" name="図 66">
              <a:extLst>
                <a:ext uri="{FF2B5EF4-FFF2-40B4-BE49-F238E27FC236}">
                  <a16:creationId xmlns:a16="http://schemas.microsoft.com/office/drawing/2014/main" id="{2EDCCDF5-4D40-7994-55C5-CAAE262CA3C9}"/>
                </a:ext>
              </a:extLst>
            </p:cNvPr>
            <p:cNvPicPr>
              <a:picLocks noChangeAspect="1"/>
            </p:cNvPicPr>
            <p:nvPr/>
          </p:nvPicPr>
          <p:blipFill>
            <a:blip r:embed="rId17"/>
            <a:stretch>
              <a:fillRect/>
            </a:stretch>
          </p:blipFill>
          <p:spPr>
            <a:xfrm>
              <a:off x="10706858" y="5670039"/>
              <a:ext cx="676957" cy="127728"/>
            </a:xfrm>
            <a:prstGeom prst="rect">
              <a:avLst/>
            </a:prstGeom>
          </p:spPr>
        </p:pic>
        <p:pic>
          <p:nvPicPr>
            <p:cNvPr id="68" name="図 67">
              <a:extLst>
                <a:ext uri="{FF2B5EF4-FFF2-40B4-BE49-F238E27FC236}">
                  <a16:creationId xmlns:a16="http://schemas.microsoft.com/office/drawing/2014/main" id="{1445D5B5-DB72-8C5B-069C-CB522C19B52C}"/>
                </a:ext>
              </a:extLst>
            </p:cNvPr>
            <p:cNvPicPr>
              <a:picLocks noChangeAspect="1"/>
            </p:cNvPicPr>
            <p:nvPr/>
          </p:nvPicPr>
          <p:blipFill>
            <a:blip r:embed="rId18"/>
            <a:srcRect l="25206" t="67159" r="30284" b="16132"/>
            <a:stretch>
              <a:fillRect/>
            </a:stretch>
          </p:blipFill>
          <p:spPr>
            <a:xfrm>
              <a:off x="9383255" y="5927902"/>
              <a:ext cx="787400" cy="166468"/>
            </a:xfrm>
            <a:prstGeom prst="rect">
              <a:avLst/>
            </a:prstGeom>
          </p:spPr>
        </p:pic>
        <p:pic>
          <p:nvPicPr>
            <p:cNvPr id="69" name="図 68">
              <a:extLst>
                <a:ext uri="{FF2B5EF4-FFF2-40B4-BE49-F238E27FC236}">
                  <a16:creationId xmlns:a16="http://schemas.microsoft.com/office/drawing/2014/main" id="{A6637474-17EF-AA5B-0290-17ADDB9F2CA0}"/>
                </a:ext>
              </a:extLst>
            </p:cNvPr>
            <p:cNvPicPr>
              <a:picLocks noChangeAspect="1"/>
            </p:cNvPicPr>
            <p:nvPr/>
          </p:nvPicPr>
          <p:blipFill>
            <a:blip r:embed="rId19"/>
            <a:stretch>
              <a:fillRect/>
            </a:stretch>
          </p:blipFill>
          <p:spPr>
            <a:xfrm>
              <a:off x="10266015" y="5924700"/>
              <a:ext cx="811071" cy="185205"/>
            </a:xfrm>
            <a:prstGeom prst="rect">
              <a:avLst/>
            </a:prstGeom>
          </p:spPr>
        </p:pic>
      </p:grpSp>
      <p:sp>
        <p:nvSpPr>
          <p:cNvPr id="44" name="テキスト ボックス 43">
            <a:extLst>
              <a:ext uri="{FF2B5EF4-FFF2-40B4-BE49-F238E27FC236}">
                <a16:creationId xmlns:a16="http://schemas.microsoft.com/office/drawing/2014/main" id="{49516F6A-FE27-73D8-7789-B208C7AA40E3}"/>
              </a:ext>
            </a:extLst>
          </p:cNvPr>
          <p:cNvSpPr txBox="1"/>
          <p:nvPr/>
        </p:nvSpPr>
        <p:spPr>
          <a:xfrm>
            <a:off x="6463243" y="1577030"/>
            <a:ext cx="494982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rPr>
              <a:t>AI Singing Voice Synthesis Segment</a:t>
            </a:r>
            <a:endParaRPr kumimoji="1" lang="ja-JP" altLang="en-US" sz="1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45" name="テキスト ボックス 44">
            <a:extLst>
              <a:ext uri="{FF2B5EF4-FFF2-40B4-BE49-F238E27FC236}">
                <a16:creationId xmlns:a16="http://schemas.microsoft.com/office/drawing/2014/main" id="{47034197-208D-2843-CBBD-CC7110EE1733}"/>
              </a:ext>
            </a:extLst>
          </p:cNvPr>
          <p:cNvSpPr txBox="1"/>
          <p:nvPr/>
        </p:nvSpPr>
        <p:spPr>
          <a:xfrm>
            <a:off x="778926" y="1577030"/>
            <a:ext cx="494982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rPr>
              <a:t>Solutions Segment</a:t>
            </a:r>
          </a:p>
        </p:txBody>
      </p:sp>
      <p:sp>
        <p:nvSpPr>
          <p:cNvPr id="50" name="角丸四角形 49">
            <a:extLst>
              <a:ext uri="{FF2B5EF4-FFF2-40B4-BE49-F238E27FC236}">
                <a16:creationId xmlns:a16="http://schemas.microsoft.com/office/drawing/2014/main" id="{136AB65C-F2D0-6694-6A71-6022F61342E3}"/>
              </a:ext>
            </a:extLst>
          </p:cNvPr>
          <p:cNvSpPr/>
          <p:nvPr/>
        </p:nvSpPr>
        <p:spPr>
          <a:xfrm>
            <a:off x="9567444" y="5184736"/>
            <a:ext cx="1181023"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Client </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P</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ortfolio</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Tree>
    <p:extLst>
      <p:ext uri="{BB962C8B-B14F-4D97-AF65-F5344CB8AC3E}">
        <p14:creationId xmlns:p14="http://schemas.microsoft.com/office/powerpoint/2010/main" val="2579887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角丸四角形 35">
            <a:extLst>
              <a:ext uri="{FF2B5EF4-FFF2-40B4-BE49-F238E27FC236}">
                <a16:creationId xmlns:a16="http://schemas.microsoft.com/office/drawing/2014/main" id="{E900DEC5-4F20-06C8-3BCF-E0EA31361D81}"/>
              </a:ext>
            </a:extLst>
          </p:cNvPr>
          <p:cNvSpPr/>
          <p:nvPr/>
        </p:nvSpPr>
        <p:spPr>
          <a:xfrm>
            <a:off x="550862" y="1495092"/>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aphicFrame>
        <p:nvGraphicFramePr>
          <p:cNvPr id="8" name="グラフ 7">
            <a:extLst>
              <a:ext uri="{FF2B5EF4-FFF2-40B4-BE49-F238E27FC236}">
                <a16:creationId xmlns:a16="http://schemas.microsoft.com/office/drawing/2014/main" id="{E957557C-5141-2CA5-476D-E744608FD75B}"/>
              </a:ext>
            </a:extLst>
          </p:cNvPr>
          <p:cNvGraphicFramePr/>
          <p:nvPr>
            <p:extLst>
              <p:ext uri="{D42A27DB-BD31-4B8C-83A1-F6EECF244321}">
                <p14:modId xmlns:p14="http://schemas.microsoft.com/office/powerpoint/2010/main" val="2013213409"/>
              </p:ext>
            </p:extLst>
          </p:nvPr>
        </p:nvGraphicFramePr>
        <p:xfrm>
          <a:off x="934274" y="1707143"/>
          <a:ext cx="7630387" cy="4541967"/>
        </p:xfrm>
        <a:graphic>
          <a:graphicData uri="http://schemas.openxmlformats.org/drawingml/2006/chart">
            <c:chart xmlns:c="http://schemas.openxmlformats.org/drawingml/2006/chart" xmlns:r="http://schemas.openxmlformats.org/officeDocument/2006/relationships" r:id="rId3"/>
          </a:graphicData>
        </a:graphic>
      </p:graphicFrame>
      <p:sp>
        <p:nvSpPr>
          <p:cNvPr id="51" name="右矢印 50">
            <a:extLst>
              <a:ext uri="{FF2B5EF4-FFF2-40B4-BE49-F238E27FC236}">
                <a16:creationId xmlns:a16="http://schemas.microsoft.com/office/drawing/2014/main" id="{2DEDD748-3C28-C955-860A-45B54EBD7703}"/>
              </a:ext>
            </a:extLst>
          </p:cNvPr>
          <p:cNvSpPr/>
          <p:nvPr/>
        </p:nvSpPr>
        <p:spPr>
          <a:xfrm>
            <a:off x="4553853" y="5855977"/>
            <a:ext cx="3685267" cy="249142"/>
          </a:xfrm>
          <a:prstGeom prst="rightArrow">
            <a:avLst>
              <a:gd name="adj1" fmla="val 100000"/>
              <a:gd name="adj2" fmla="val 28947"/>
            </a:avLst>
          </a:prstGeom>
          <a:solidFill>
            <a:srgbClr val="C0FF00"/>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52" name="右矢印 51">
            <a:extLst>
              <a:ext uri="{FF2B5EF4-FFF2-40B4-BE49-F238E27FC236}">
                <a16:creationId xmlns:a16="http://schemas.microsoft.com/office/drawing/2014/main" id="{00CB3E1D-EBC3-B5CA-B844-F11A789848FC}"/>
              </a:ext>
            </a:extLst>
          </p:cNvPr>
          <p:cNvSpPr/>
          <p:nvPr/>
        </p:nvSpPr>
        <p:spPr>
          <a:xfrm>
            <a:off x="2674763" y="5855977"/>
            <a:ext cx="3505827" cy="249142"/>
          </a:xfrm>
          <a:prstGeom prst="rightArrow">
            <a:avLst>
              <a:gd name="adj1" fmla="val 100000"/>
              <a:gd name="adj2" fmla="val 28947"/>
            </a:avLst>
          </a:prstGeom>
          <a:solidFill>
            <a:srgbClr val="00A7FF"/>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1200" cap="none" spc="0" normalizeH="0" baseline="0" noProof="0">
              <a:ln>
                <a:noFill/>
              </a:ln>
              <a:solidFill>
                <a:prstClr val="white"/>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53" name="右矢印 52">
            <a:extLst>
              <a:ext uri="{FF2B5EF4-FFF2-40B4-BE49-F238E27FC236}">
                <a16:creationId xmlns:a16="http://schemas.microsoft.com/office/drawing/2014/main" id="{13523D01-F25F-0913-9989-8410AE67A367}"/>
              </a:ext>
            </a:extLst>
          </p:cNvPr>
          <p:cNvSpPr/>
          <p:nvPr/>
        </p:nvSpPr>
        <p:spPr>
          <a:xfrm>
            <a:off x="1215234" y="5855977"/>
            <a:ext cx="3207541" cy="249142"/>
          </a:xfrm>
          <a:prstGeom prst="rightArrow">
            <a:avLst>
              <a:gd name="adj1" fmla="val 100000"/>
              <a:gd name="adj2" fmla="val 28947"/>
            </a:avLst>
          </a:prstGeom>
          <a:solidFill>
            <a:srgbClr val="142FA4"/>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30" name="テキスト ボックス 29">
            <a:extLst>
              <a:ext uri="{FF2B5EF4-FFF2-40B4-BE49-F238E27FC236}">
                <a16:creationId xmlns:a16="http://schemas.microsoft.com/office/drawing/2014/main" id="{8EB9E0CC-4CE5-34DF-2365-563D72D59242}"/>
              </a:ext>
            </a:extLst>
          </p:cNvPr>
          <p:cNvSpPr txBox="1"/>
          <p:nvPr/>
        </p:nvSpPr>
        <p:spPr>
          <a:xfrm>
            <a:off x="1436699" y="2520296"/>
            <a:ext cx="2816797" cy="913968"/>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
                <a:srgbClr val="FDA6FF"/>
              </a:buClr>
              <a:buSzTx/>
              <a:buFontTx/>
              <a:buNone/>
              <a:tabLst/>
              <a:defRPr/>
            </a:pPr>
            <a:r>
              <a:rPr kumimoji="1" lang="ja-JP" altLang="en-US" sz="900" b="0" i="0" u="none" strike="noStrike" kern="1200" cap="none" spc="0" normalizeH="0" baseline="0" noProof="0" dirty="0">
                <a:ln>
                  <a:noFill/>
                </a:ln>
                <a:solidFill>
                  <a:srgbClr val="FDA6FF"/>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M&amp;A Activities</a:t>
            </a:r>
          </a:p>
          <a:p>
            <a:pPr marL="0" marR="0" lvl="0" indent="0" algn="l" defTabSz="914400" rtl="0" eaLnBrk="1" fontAlgn="auto" latinLnBrk="0" hangingPunct="1">
              <a:lnSpc>
                <a:spcPct val="120000"/>
              </a:lnSpc>
              <a:spcBef>
                <a:spcPts val="0"/>
              </a:spcBef>
              <a:spcAft>
                <a:spcPts val="0"/>
              </a:spcAft>
              <a:buClr>
                <a:srgbClr val="D44ED9"/>
              </a:buClr>
              <a:buSzTx/>
              <a:buFontTx/>
              <a:buNone/>
              <a:tabLst/>
              <a:defRPr/>
            </a:pPr>
            <a:r>
              <a:rPr kumimoji="1" lang="ja-JP" altLang="en-US" sz="90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AI Singing Voice Synthesis Segment</a:t>
            </a:r>
          </a:p>
          <a:p>
            <a:pPr marL="0" marR="0" lvl="0" indent="0" algn="l" defTabSz="914400" rtl="0" eaLnBrk="1" fontAlgn="auto" latinLnBrk="0" hangingPunct="1">
              <a:lnSpc>
                <a:spcPct val="120000"/>
              </a:lnSpc>
              <a:spcBef>
                <a:spcPts val="0"/>
              </a:spcBef>
              <a:spcAft>
                <a:spcPts val="0"/>
              </a:spcAft>
              <a:buClr>
                <a:srgbClr val="00A7FF"/>
              </a:buClr>
              <a:buSzTx/>
              <a:buFontTx/>
              <a:buNone/>
              <a:tabLst/>
              <a:defRPr/>
            </a:pPr>
            <a:r>
              <a:rPr kumimoji="1" lang="en-US" altLang="ja-JP" sz="9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Mobile Segment (Subscription Billing)</a:t>
            </a:r>
          </a:p>
          <a:p>
            <a:pPr marL="0" marR="0" lvl="0" indent="0" algn="l" defTabSz="914400" rtl="0" eaLnBrk="1" fontAlgn="auto" latinLnBrk="0" hangingPunct="1">
              <a:lnSpc>
                <a:spcPct val="120000"/>
              </a:lnSpc>
              <a:spcBef>
                <a:spcPts val="0"/>
              </a:spcBef>
              <a:spcAft>
                <a:spcPts val="0"/>
              </a:spcAft>
              <a:buClr>
                <a:srgbClr val="A1DEFF"/>
              </a:buClr>
              <a:buSzTx/>
              <a:buFontTx/>
              <a:buNone/>
              <a:tabLst/>
              <a:defRPr/>
            </a:pPr>
            <a:r>
              <a:rPr kumimoji="1" lang="en-US" altLang="ja-JP" sz="900" b="0" i="0" u="none" strike="noStrike" kern="1200" cap="none" spc="0" normalizeH="0" baseline="0" noProof="0" dirty="0">
                <a:ln>
                  <a:noFill/>
                </a:ln>
                <a:solidFill>
                  <a:srgbClr val="A1DEFF"/>
                </a:solidFill>
                <a:effectLst/>
                <a:uLnTx/>
                <a:uFillTx/>
                <a:latin typeface="Poppins Medium" pitchFamily="2" charset="0"/>
                <a:ea typeface="M PLUS 1p Medium" panose="020B0502020203020207" pitchFamily="34" charset="-128"/>
                <a:cs typeface="Poppins Medium" pitchFamily="2" charset="0"/>
              </a:rPr>
              <a:t>■ </a:t>
            </a: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Mobile Segment (Non-Subscription Billing)</a:t>
            </a: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Solutions Segment</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64" name="テキスト ボックス 63">
            <a:extLst>
              <a:ext uri="{FF2B5EF4-FFF2-40B4-BE49-F238E27FC236}">
                <a16:creationId xmlns:a16="http://schemas.microsoft.com/office/drawing/2014/main" id="{20410101-F84E-630D-C82A-F3DBD2553608}"/>
              </a:ext>
            </a:extLst>
          </p:cNvPr>
          <p:cNvSpPr txBox="1"/>
          <p:nvPr/>
        </p:nvSpPr>
        <p:spPr>
          <a:xfrm>
            <a:off x="9407982" y="2434764"/>
            <a:ext cx="1678121"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15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a:t>
            </a:r>
            <a:r>
              <a:rPr kumimoji="1" lang="en-US" altLang="ja-JP" sz="4000" b="0" i="0" u="none" strike="noStrike" kern="1200" cap="none" spc="-15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15.0</a:t>
            </a:r>
            <a:r>
              <a:rPr kumimoji="1" lang="en-US" altLang="ja-JP" sz="2800" b="0" i="0" u="none" strike="noStrike" kern="1200" cap="none" spc="-15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B</a:t>
            </a:r>
            <a:r>
              <a:rPr kumimoji="1" lang="en-US" altLang="ja-JP" sz="2000" b="0" i="0" u="none" strike="noStrike" kern="1200" cap="none" spc="-150" normalizeH="0" baseline="0" noProof="0">
                <a:ln>
                  <a:noFill/>
                </a:ln>
                <a:solidFill>
                  <a:srgbClr val="FF0000"/>
                </a:solidFill>
                <a:effectLst/>
                <a:uLnTx/>
                <a:uFillTx/>
                <a:latin typeface="Poppins SemiBold" pitchFamily="2" charset="0"/>
                <a:ea typeface="M PLUS 1p Medium" panose="020B0502020203020207" pitchFamily="34" charset="-128"/>
                <a:cs typeface="Poppins SemiBold" pitchFamily="2" charset="0"/>
              </a:rPr>
              <a:t> </a:t>
            </a:r>
            <a:endParaRPr kumimoji="1" lang="ja-JP" altLang="en-US" sz="2000" b="0" i="0" u="none" strike="noStrike" kern="1200" cap="none" spc="-150" normalizeH="0" baseline="-3000" noProof="0">
              <a:ln>
                <a:noFill/>
              </a:ln>
              <a:solidFill>
                <a:srgbClr val="FF0000"/>
              </a:solidFill>
              <a:effectLst/>
              <a:uLnTx/>
              <a:uFillTx/>
              <a:latin typeface="Poppins" pitchFamily="2" charset="0"/>
              <a:ea typeface="M PLUS 1p" panose="020B0502020203020207" pitchFamily="34" charset="-128"/>
              <a:cs typeface="Poppins" pitchFamily="2" charset="0"/>
            </a:endParaRPr>
          </a:p>
        </p:txBody>
      </p:sp>
      <p:sp>
        <p:nvSpPr>
          <p:cNvPr id="28" name="正方形/長方形 27">
            <a:extLst>
              <a:ext uri="{FF2B5EF4-FFF2-40B4-BE49-F238E27FC236}">
                <a16:creationId xmlns:a16="http://schemas.microsoft.com/office/drawing/2014/main" id="{531CB2D6-BF54-DA6F-82D0-D21FA37E2F6D}"/>
              </a:ext>
            </a:extLst>
          </p:cNvPr>
          <p:cNvSpPr/>
          <p:nvPr/>
        </p:nvSpPr>
        <p:spPr>
          <a:xfrm rot="10800000">
            <a:off x="7146855" y="1974866"/>
            <a:ext cx="1241861" cy="730210"/>
          </a:xfrm>
          <a:prstGeom prst="rect">
            <a:avLst/>
          </a:prstGeom>
          <a:gradFill>
            <a:gsLst>
              <a:gs pos="31000">
                <a:srgbClr val="FFFFFF">
                  <a:alpha val="37000"/>
                </a:srgbClr>
              </a:gs>
              <a:gs pos="20000">
                <a:schemeClr val="bg1">
                  <a:alpha val="0"/>
                </a:schemeClr>
              </a:gs>
              <a:gs pos="50000">
                <a:srgbClr val="FFFFFF">
                  <a:alpha val="89000"/>
                </a:srgbClr>
              </a:gs>
              <a:gs pos="42000">
                <a:srgbClr val="FFFFFF">
                  <a:alpha val="75000"/>
                </a:srgbClr>
              </a:gs>
              <a:gs pos="58000">
                <a:srgbClr val="FFFFF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pic>
        <p:nvPicPr>
          <p:cNvPr id="29" name="図 28">
            <a:extLst>
              <a:ext uri="{FF2B5EF4-FFF2-40B4-BE49-F238E27FC236}">
                <a16:creationId xmlns:a16="http://schemas.microsoft.com/office/drawing/2014/main" id="{9A7F2A17-AFB6-40B6-7033-41202C22676F}"/>
              </a:ext>
            </a:extLst>
          </p:cNvPr>
          <p:cNvPicPr>
            <a:picLocks noChangeAspect="1"/>
          </p:cNvPicPr>
          <p:nvPr/>
        </p:nvPicPr>
        <p:blipFill>
          <a:blip r:embed="rId4"/>
          <a:stretch>
            <a:fillRect/>
          </a:stretch>
        </p:blipFill>
        <p:spPr>
          <a:xfrm rot="20859661">
            <a:off x="4317045" y="2399630"/>
            <a:ext cx="3272363" cy="2284210"/>
          </a:xfrm>
          <a:prstGeom prst="rect">
            <a:avLst/>
          </a:prstGeom>
        </p:spPr>
      </p:pic>
      <p:pic>
        <p:nvPicPr>
          <p:cNvPr id="39" name="図 38" descr="挿絵, 時計, 記号 が含まれている画像&#10;&#10;AI 生成コンテンツは誤りを含む可能性があります。">
            <a:extLst>
              <a:ext uri="{FF2B5EF4-FFF2-40B4-BE49-F238E27FC236}">
                <a16:creationId xmlns:a16="http://schemas.microsoft.com/office/drawing/2014/main" id="{A13B884A-41C9-282F-CF2C-F6371024D5CB}"/>
              </a:ext>
            </a:extLst>
          </p:cNvPr>
          <p:cNvPicPr>
            <a:picLocks noGrp="1" noRot="1" noChangeAspect="1" noMove="1" noResize="1" noEditPoints="1" noAdjustHandles="1" noChangeArrowheads="1" noChangeShapeType="1" noCrop="1"/>
          </p:cNvPicPr>
          <p:nvPr/>
        </p:nvPicPr>
        <p:blipFill>
          <a:blip r:embed="rId5" cstate="email">
            <a:extLst>
              <a:ext uri="{28A0092B-C50C-407E-A947-70E740481C1C}">
                <a14:useLocalDpi xmlns:a14="http://schemas.microsoft.com/office/drawing/2010/main"/>
              </a:ext>
            </a:extLst>
          </a:blip>
          <a:stretch>
            <a:fillRect/>
          </a:stretch>
        </p:blipFill>
        <p:spPr>
          <a:xfrm>
            <a:off x="-11724" y="2201188"/>
            <a:ext cx="576000" cy="4075825"/>
          </a:xfrm>
          <a:prstGeom prst="rect">
            <a:avLst/>
          </a:prstGeom>
        </p:spPr>
      </p:pic>
      <p:sp>
        <p:nvSpPr>
          <p:cNvPr id="3" name="テキスト プレースホルダー 2">
            <a:extLst>
              <a:ext uri="{FF2B5EF4-FFF2-40B4-BE49-F238E27FC236}">
                <a16:creationId xmlns:a16="http://schemas.microsoft.com/office/drawing/2014/main" id="{A271D45A-3F6A-B146-8DB9-903B3A553A2C}"/>
              </a:ext>
            </a:extLst>
          </p:cNvPr>
          <p:cNvSpPr>
            <a:spLocks noGrp="1"/>
          </p:cNvSpPr>
          <p:nvPr>
            <p:ph type="body" sz="quarter" idx="12"/>
          </p:nvPr>
        </p:nvSpPr>
        <p:spPr/>
        <p:txBody>
          <a:bodyPr/>
          <a:lstStyle/>
          <a:p>
            <a:r>
              <a:rPr lang="en-US" altLang="ja-JP"/>
              <a:t>Overview of Growth Strategy</a:t>
            </a:r>
            <a:endParaRPr lang="ja-JP" altLang="en-US"/>
          </a:p>
        </p:txBody>
      </p:sp>
      <p:sp>
        <p:nvSpPr>
          <p:cNvPr id="82" name="タイトル 81">
            <a:extLst>
              <a:ext uri="{FF2B5EF4-FFF2-40B4-BE49-F238E27FC236}">
                <a16:creationId xmlns:a16="http://schemas.microsoft.com/office/drawing/2014/main" id="{AE802487-0E6C-9C12-1124-F3F9C90DF8D8}"/>
              </a:ext>
            </a:extLst>
          </p:cNvPr>
          <p:cNvSpPr>
            <a:spLocks noGrp="1"/>
          </p:cNvSpPr>
          <p:nvPr>
            <p:ph type="ctrTitle"/>
          </p:nvPr>
        </p:nvSpPr>
        <p:spPr/>
        <p:txBody>
          <a:bodyPr/>
          <a:lstStyle/>
          <a:p>
            <a:r>
              <a:rPr lang="en-US" altLang="ja-JP"/>
              <a:t>Entering </a:t>
            </a:r>
            <a:r>
              <a:rPr lang="en-US" altLang="ja-JP">
                <a:solidFill>
                  <a:srgbClr val="C0FF00"/>
                </a:solidFill>
              </a:rPr>
              <a:t>a prime </a:t>
            </a:r>
            <a:r>
              <a:rPr lang="en-US" altLang="ja-JP"/>
              <a:t>phase for monetizing </a:t>
            </a:r>
            <a:br>
              <a:rPr lang="en-US" altLang="ja-JP"/>
            </a:br>
            <a:r>
              <a:rPr lang="en-US" altLang="ja-JP"/>
              <a:t>one of the world’s largest user bases</a:t>
            </a:r>
          </a:p>
        </p:txBody>
      </p:sp>
      <p:sp>
        <p:nvSpPr>
          <p:cNvPr id="2" name="テキスト プレースホルダー 1">
            <a:extLst>
              <a:ext uri="{FF2B5EF4-FFF2-40B4-BE49-F238E27FC236}">
                <a16:creationId xmlns:a16="http://schemas.microsoft.com/office/drawing/2014/main" id="{5058CB43-C00C-4A50-9117-9B9FCF5156C3}"/>
              </a:ext>
            </a:extLst>
          </p:cNvPr>
          <p:cNvSpPr>
            <a:spLocks noGrp="1"/>
          </p:cNvSpPr>
          <p:nvPr>
            <p:ph type="body" sz="quarter" idx="14"/>
          </p:nvPr>
        </p:nvSpPr>
        <p:spPr>
          <a:xfrm>
            <a:off x="5438489" y="6310211"/>
            <a:ext cx="6246813" cy="444389"/>
          </a:xfrm>
        </p:spPr>
        <p:txBody>
          <a:bodyPr/>
          <a:lstStyle/>
          <a:p>
            <a:r>
              <a:rPr lang="en" altLang="ja-JP" dirty="0"/>
              <a:t>* The illustrative figures and target values on this page are based on the Consolidated Medium-Term Management Plan for 2026</a:t>
            </a:r>
          </a:p>
        </p:txBody>
      </p:sp>
      <p:cxnSp>
        <p:nvCxnSpPr>
          <p:cNvPr id="7" name="直線コネクタ 6">
            <a:extLst>
              <a:ext uri="{FF2B5EF4-FFF2-40B4-BE49-F238E27FC236}">
                <a16:creationId xmlns:a16="http://schemas.microsoft.com/office/drawing/2014/main" id="{D85DD4AE-107C-C0B1-2078-1F7D01949483}"/>
              </a:ext>
            </a:extLst>
          </p:cNvPr>
          <p:cNvCxnSpPr>
            <a:cxnSpLocks/>
          </p:cNvCxnSpPr>
          <p:nvPr/>
        </p:nvCxnSpPr>
        <p:spPr>
          <a:xfrm>
            <a:off x="8840896"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4" name="角丸四角形 13">
            <a:extLst>
              <a:ext uri="{FF2B5EF4-FFF2-40B4-BE49-F238E27FC236}">
                <a16:creationId xmlns:a16="http://schemas.microsoft.com/office/drawing/2014/main" id="{D2E7058A-934F-4606-D9C5-216138B00E30}"/>
              </a:ext>
            </a:extLst>
          </p:cNvPr>
          <p:cNvSpPr/>
          <p:nvPr/>
        </p:nvSpPr>
        <p:spPr>
          <a:xfrm>
            <a:off x="9377892" y="2164064"/>
            <a:ext cx="1738301"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Consolidated Net Sales</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cxnSp>
        <p:nvCxnSpPr>
          <p:cNvPr id="15" name="直線コネクタ 14">
            <a:extLst>
              <a:ext uri="{FF2B5EF4-FFF2-40B4-BE49-F238E27FC236}">
                <a16:creationId xmlns:a16="http://schemas.microsoft.com/office/drawing/2014/main" id="{62973638-7AC4-ACA0-D3DC-7FEF9BF537B0}"/>
              </a:ext>
            </a:extLst>
          </p:cNvPr>
          <p:cNvCxnSpPr>
            <a:cxnSpLocks/>
          </p:cNvCxnSpPr>
          <p:nvPr/>
        </p:nvCxnSpPr>
        <p:spPr>
          <a:xfrm flipH="1">
            <a:off x="9090452" y="3276116"/>
            <a:ext cx="231318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1" name="角丸四角形 20">
            <a:extLst>
              <a:ext uri="{FF2B5EF4-FFF2-40B4-BE49-F238E27FC236}">
                <a16:creationId xmlns:a16="http://schemas.microsoft.com/office/drawing/2014/main" id="{352CC184-DC0F-6462-808E-DC570AA05CF5}"/>
              </a:ext>
            </a:extLst>
          </p:cNvPr>
          <p:cNvSpPr/>
          <p:nvPr/>
        </p:nvSpPr>
        <p:spPr>
          <a:xfrm>
            <a:off x="9525600" y="4907264"/>
            <a:ext cx="1442884"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Subscription Rates</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23" name="テキスト ボックス 22">
            <a:extLst>
              <a:ext uri="{FF2B5EF4-FFF2-40B4-BE49-F238E27FC236}">
                <a16:creationId xmlns:a16="http://schemas.microsoft.com/office/drawing/2014/main" id="{6685947C-BA90-18F4-3703-977D24E416BC}"/>
              </a:ext>
            </a:extLst>
          </p:cNvPr>
          <p:cNvSpPr txBox="1"/>
          <p:nvPr/>
        </p:nvSpPr>
        <p:spPr>
          <a:xfrm>
            <a:off x="9330425" y="3823084"/>
            <a:ext cx="18332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0" i="0" u="none" strike="noStrike" kern="1200" cap="none" spc="30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2</a:t>
            </a:r>
            <a:r>
              <a:rPr kumimoji="1" lang="en-US" altLang="ja-JP" sz="28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M</a:t>
            </a:r>
            <a:endParaRPr kumimoji="1" lang="ja-JP" altLang="en-US" sz="16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25" name="テキスト ボックス 24">
            <a:extLst>
              <a:ext uri="{FF2B5EF4-FFF2-40B4-BE49-F238E27FC236}">
                <a16:creationId xmlns:a16="http://schemas.microsoft.com/office/drawing/2014/main" id="{F7457796-BF40-FFE1-B1F3-01E5E66D1E9D}"/>
              </a:ext>
            </a:extLst>
          </p:cNvPr>
          <p:cNvSpPr txBox="1"/>
          <p:nvPr/>
        </p:nvSpPr>
        <p:spPr>
          <a:xfrm>
            <a:off x="9501101" y="5224444"/>
            <a:ext cx="149188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400" b="0" i="0" u="none" strike="noStrike" kern="1200" cap="none" spc="-15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5.0</a:t>
            </a:r>
            <a:r>
              <a:rPr kumimoji="1" lang="en-US" altLang="ja-JP" sz="28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a:t>
            </a:r>
            <a:endParaRPr kumimoji="1" lang="ja-JP" altLang="en-US" sz="24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27" name="テキスト ボックス 26">
            <a:extLst>
              <a:ext uri="{FF2B5EF4-FFF2-40B4-BE49-F238E27FC236}">
                <a16:creationId xmlns:a16="http://schemas.microsoft.com/office/drawing/2014/main" id="{93E6862B-F3AC-6439-52EF-95280BF109B4}"/>
              </a:ext>
            </a:extLst>
          </p:cNvPr>
          <p:cNvSpPr txBox="1"/>
          <p:nvPr/>
        </p:nvSpPr>
        <p:spPr>
          <a:xfrm>
            <a:off x="741077" y="1724633"/>
            <a:ext cx="1149675"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rPr>
              <a:t>(100 million yen)</a:t>
            </a:r>
            <a:endParaRPr kumimoji="1" lang="ja-JP" altLang="en-US" sz="900" b="0" i="0" u="none" strike="noStrike" kern="1200" cap="none" spc="0" normalizeH="0" baseline="3000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60" name="フリーフォーム 59">
            <a:extLst>
              <a:ext uri="{FF2B5EF4-FFF2-40B4-BE49-F238E27FC236}">
                <a16:creationId xmlns:a16="http://schemas.microsoft.com/office/drawing/2014/main" id="{79C4EEFC-BE0E-6536-C7EF-BE998EB8818F}"/>
              </a:ext>
            </a:extLst>
          </p:cNvPr>
          <p:cNvSpPr/>
          <p:nvPr/>
        </p:nvSpPr>
        <p:spPr>
          <a:xfrm rot="16200000">
            <a:off x="7518636" y="4086951"/>
            <a:ext cx="919236" cy="1400698"/>
          </a:xfrm>
          <a:custGeom>
            <a:avLst/>
            <a:gdLst>
              <a:gd name="connsiteX0" fmla="*/ 958949 w 958949"/>
              <a:gd name="connsiteY0" fmla="*/ 605589 h 1085063"/>
              <a:gd name="connsiteX1" fmla="*/ 479475 w 958949"/>
              <a:gd name="connsiteY1" fmla="*/ 1085063 h 1085063"/>
              <a:gd name="connsiteX2" fmla="*/ 0 w 958949"/>
              <a:gd name="connsiteY2" fmla="*/ 605589 h 1085063"/>
              <a:gd name="connsiteX3" fmla="*/ 382844 w 958949"/>
              <a:gd name="connsiteY3" fmla="*/ 135856 h 1085063"/>
              <a:gd name="connsiteX4" fmla="*/ 401786 w 958949"/>
              <a:gd name="connsiteY4" fmla="*/ 133947 h 1085063"/>
              <a:gd name="connsiteX5" fmla="*/ 479475 w 958949"/>
              <a:gd name="connsiteY5" fmla="*/ 0 h 1085063"/>
              <a:gd name="connsiteX6" fmla="*/ 557165 w 958949"/>
              <a:gd name="connsiteY6" fmla="*/ 133947 h 1085063"/>
              <a:gd name="connsiteX7" fmla="*/ 576105 w 958949"/>
              <a:gd name="connsiteY7" fmla="*/ 135856 h 1085063"/>
              <a:gd name="connsiteX8" fmla="*/ 958949 w 958949"/>
              <a:gd name="connsiteY8" fmla="*/ 605589 h 108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8949" h="1085063">
                <a:moveTo>
                  <a:pt x="958949" y="605589"/>
                </a:moveTo>
                <a:cubicBezTo>
                  <a:pt x="958949" y="870395"/>
                  <a:pt x="744281" y="1085063"/>
                  <a:pt x="479475" y="1085063"/>
                </a:cubicBezTo>
                <a:cubicBezTo>
                  <a:pt x="214668" y="1085063"/>
                  <a:pt x="0" y="870395"/>
                  <a:pt x="0" y="605589"/>
                </a:cubicBezTo>
                <a:cubicBezTo>
                  <a:pt x="0" y="373884"/>
                  <a:pt x="164355" y="180565"/>
                  <a:pt x="382844" y="135856"/>
                </a:cubicBezTo>
                <a:lnTo>
                  <a:pt x="401786" y="133947"/>
                </a:lnTo>
                <a:lnTo>
                  <a:pt x="479475" y="0"/>
                </a:lnTo>
                <a:lnTo>
                  <a:pt x="557165" y="133947"/>
                </a:lnTo>
                <a:lnTo>
                  <a:pt x="576105" y="135856"/>
                </a:lnTo>
                <a:cubicBezTo>
                  <a:pt x="794594" y="180565"/>
                  <a:pt x="958949" y="373884"/>
                  <a:pt x="958949" y="605589"/>
                </a:cubicBezTo>
                <a:close/>
              </a:path>
            </a:pathLst>
          </a:custGeom>
          <a:solidFill>
            <a:srgbClr val="C0FF00"/>
          </a:solidFill>
          <a:ln w="9525">
            <a:solidFill>
              <a:srgbClr val="142FA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16" name="テキスト ボックス 15">
            <a:extLst>
              <a:ext uri="{FF2B5EF4-FFF2-40B4-BE49-F238E27FC236}">
                <a16:creationId xmlns:a16="http://schemas.microsoft.com/office/drawing/2014/main" id="{D84D2EF8-3934-8E15-15FA-C5C47064C3A8}"/>
              </a:ext>
            </a:extLst>
          </p:cNvPr>
          <p:cNvSpPr txBox="1"/>
          <p:nvPr/>
        </p:nvSpPr>
        <p:spPr>
          <a:xfrm>
            <a:off x="4351028" y="5874384"/>
            <a:ext cx="1887668"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rPr>
              <a:t>Growth Phase (2016-2023)</a:t>
            </a:r>
            <a:endParaRPr kumimoji="1" lang="ja-JP" altLang="en-US" sz="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17" name="テキスト ボックス 16">
            <a:extLst>
              <a:ext uri="{FF2B5EF4-FFF2-40B4-BE49-F238E27FC236}">
                <a16:creationId xmlns:a16="http://schemas.microsoft.com/office/drawing/2014/main" id="{B84DBD6B-1010-83FD-CE29-308046993586}"/>
              </a:ext>
            </a:extLst>
          </p:cNvPr>
          <p:cNvSpPr txBox="1"/>
          <p:nvPr/>
        </p:nvSpPr>
        <p:spPr>
          <a:xfrm>
            <a:off x="6258657" y="5874384"/>
            <a:ext cx="2075551"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Harvest Phase (2024 onward)</a:t>
            </a:r>
            <a:endParaRPr kumimoji="1" lang="ja-JP" altLang="en-US"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4" name="テキスト ボックス 23">
            <a:extLst>
              <a:ext uri="{FF2B5EF4-FFF2-40B4-BE49-F238E27FC236}">
                <a16:creationId xmlns:a16="http://schemas.microsoft.com/office/drawing/2014/main" id="{0B1354D0-BEEC-BE56-E665-C88641153B0C}"/>
              </a:ext>
            </a:extLst>
          </p:cNvPr>
          <p:cNvSpPr txBox="1"/>
          <p:nvPr/>
        </p:nvSpPr>
        <p:spPr>
          <a:xfrm>
            <a:off x="1936717" y="5874384"/>
            <a:ext cx="1542880"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rPr>
              <a:t>Seeding Phase (-2015)</a:t>
            </a:r>
            <a:endParaRPr kumimoji="1" lang="ja-JP" altLang="en-US" sz="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11" name="テキスト ボックス 10">
            <a:extLst>
              <a:ext uri="{FF2B5EF4-FFF2-40B4-BE49-F238E27FC236}">
                <a16:creationId xmlns:a16="http://schemas.microsoft.com/office/drawing/2014/main" id="{8DB768C4-D935-EA8A-9857-8D8981520D38}"/>
              </a:ext>
            </a:extLst>
          </p:cNvPr>
          <p:cNvSpPr txBox="1"/>
          <p:nvPr/>
        </p:nvSpPr>
        <p:spPr>
          <a:xfrm>
            <a:off x="7326668" y="4466215"/>
            <a:ext cx="149188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Subscription Sales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EXCEED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Non-subscription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Sales</a:t>
            </a:r>
          </a:p>
        </p:txBody>
      </p:sp>
      <p:sp>
        <p:nvSpPr>
          <p:cNvPr id="10" name="角丸四角形 9">
            <a:extLst>
              <a:ext uri="{FF2B5EF4-FFF2-40B4-BE49-F238E27FC236}">
                <a16:creationId xmlns:a16="http://schemas.microsoft.com/office/drawing/2014/main" id="{F4C7BD7F-6139-E579-5EB3-0B0C4E44B078}"/>
              </a:ext>
            </a:extLst>
          </p:cNvPr>
          <p:cNvSpPr/>
          <p:nvPr/>
        </p:nvSpPr>
        <p:spPr>
          <a:xfrm>
            <a:off x="9198829" y="3542014"/>
            <a:ext cx="2096426"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Total Subscription Contracts</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41" name="角丸四角形 40">
            <a:extLst>
              <a:ext uri="{FF2B5EF4-FFF2-40B4-BE49-F238E27FC236}">
                <a16:creationId xmlns:a16="http://schemas.microsoft.com/office/drawing/2014/main" id="{F4E1B070-3311-EA1A-E89A-DB21060BEA3D}"/>
              </a:ext>
            </a:extLst>
          </p:cNvPr>
          <p:cNvSpPr/>
          <p:nvPr/>
        </p:nvSpPr>
        <p:spPr>
          <a:xfrm>
            <a:off x="6532771" y="4823351"/>
            <a:ext cx="849197" cy="20660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3" name="テキスト ボックス 42">
            <a:extLst>
              <a:ext uri="{FF2B5EF4-FFF2-40B4-BE49-F238E27FC236}">
                <a16:creationId xmlns:a16="http://schemas.microsoft.com/office/drawing/2014/main" id="{57E3B679-E831-462E-2E86-155ACE3086D5}"/>
              </a:ext>
            </a:extLst>
          </p:cNvPr>
          <p:cNvSpPr txBox="1"/>
          <p:nvPr/>
        </p:nvSpPr>
        <p:spPr>
          <a:xfrm>
            <a:off x="6473566" y="4743124"/>
            <a:ext cx="953236" cy="338554"/>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142FA4"/>
                </a:solidFill>
                <a:effectLst/>
                <a:uLnTx/>
                <a:uFillTx/>
                <a:latin typeface="Poppins SemiBold"/>
                <a:ea typeface="M PLUS 1p Medium"/>
                <a:cs typeface="Poppins SemiBold"/>
              </a:rPr>
              <a:t>1.35</a:t>
            </a:r>
            <a:r>
              <a:rPr kumimoji="1" lang="en-US" altLang="ja-JP" sz="1600" b="1" i="0" u="none" strike="noStrike" kern="1200" cap="none" spc="0" normalizeH="0" baseline="0" noProof="0">
                <a:ln>
                  <a:noFill/>
                </a:ln>
                <a:solidFill>
                  <a:srgbClr val="142FA4"/>
                </a:solidFill>
                <a:effectLst/>
                <a:uLnTx/>
                <a:uFillTx/>
                <a:latin typeface="Poppins SemiBold"/>
                <a:ea typeface="M PLUS 1p Medium"/>
                <a:cs typeface="Poppins SemiBold"/>
              </a:rPr>
              <a:t> </a:t>
            </a:r>
            <a:r>
              <a:rPr kumimoji="1" lang="en-US" sz="600" b="1" i="0" u="none" strike="noStrike" kern="1200" cap="none" spc="0" normalizeH="0" baseline="0" noProof="0">
                <a:ln>
                  <a:noFill/>
                </a:ln>
                <a:solidFill>
                  <a:srgbClr val="142FA4"/>
                </a:solidFill>
                <a:effectLst/>
                <a:uLnTx/>
                <a:uFillTx/>
                <a:latin typeface="Poppins SemiBold"/>
                <a:ea typeface="M PLUS 1p Medium"/>
                <a:cs typeface="Poppins SemiBold"/>
              </a:rPr>
              <a:t>billion</a:t>
            </a:r>
            <a:r>
              <a:rPr kumimoji="1" lang="en-US" altLang="ja-JP" sz="600" b="1" i="0" u="none" strike="noStrike" kern="1200" cap="none" spc="0" normalizeH="0" baseline="0" noProof="0">
                <a:ln>
                  <a:noFill/>
                </a:ln>
                <a:solidFill>
                  <a:srgbClr val="142FA4"/>
                </a:solidFill>
                <a:effectLst/>
                <a:uLnTx/>
                <a:uFillTx/>
                <a:latin typeface="Poppins SemiBold"/>
                <a:ea typeface="M PLUS 1p Medium"/>
                <a:cs typeface="Poppins SemiBold"/>
              </a:rPr>
              <a:t> yen</a:t>
            </a:r>
            <a:endParaRPr kumimoji="1" lang="ja-JP" altLang="en-US" sz="600" b="1" i="0" u="none" strike="noStrike" kern="1200" cap="none" spc="0" normalizeH="0" baseline="-3000" noProof="0">
              <a:ln>
                <a:noFill/>
              </a:ln>
              <a:solidFill>
                <a:srgbClr val="142FA4"/>
              </a:solidFill>
              <a:effectLst/>
              <a:uLnTx/>
              <a:uFillTx/>
              <a:latin typeface="Poppins SemiBold"/>
              <a:ea typeface="M PLUS 1p Medium"/>
              <a:cs typeface="Poppins SemiBold"/>
            </a:endParaRPr>
          </a:p>
        </p:txBody>
      </p:sp>
      <p:sp>
        <p:nvSpPr>
          <p:cNvPr id="44" name="角丸四角形 43">
            <a:extLst>
              <a:ext uri="{FF2B5EF4-FFF2-40B4-BE49-F238E27FC236}">
                <a16:creationId xmlns:a16="http://schemas.microsoft.com/office/drawing/2014/main" id="{73BEADA9-E3EF-37CB-7077-7A5B60839978}"/>
              </a:ext>
            </a:extLst>
          </p:cNvPr>
          <p:cNvSpPr/>
          <p:nvPr/>
        </p:nvSpPr>
        <p:spPr>
          <a:xfrm>
            <a:off x="6532771" y="4438631"/>
            <a:ext cx="813299" cy="290693"/>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6" name="テキスト ボックス 45">
            <a:extLst>
              <a:ext uri="{FF2B5EF4-FFF2-40B4-BE49-F238E27FC236}">
                <a16:creationId xmlns:a16="http://schemas.microsoft.com/office/drawing/2014/main" id="{F490F488-99F6-CDA7-79AC-4DB47DBE6CDC}"/>
              </a:ext>
            </a:extLst>
          </p:cNvPr>
          <p:cNvSpPr txBox="1"/>
          <p:nvPr/>
        </p:nvSpPr>
        <p:spPr>
          <a:xfrm>
            <a:off x="6467036" y="4390259"/>
            <a:ext cx="943962" cy="369332"/>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142FA4"/>
                </a:solidFill>
                <a:effectLst/>
                <a:uLnTx/>
                <a:uFillTx/>
                <a:latin typeface="Poppins SemiBold"/>
                <a:ea typeface="M PLUS 1p Medium"/>
                <a:cs typeface="Poppins SemiBold"/>
              </a:rPr>
              <a:t>1.73</a:t>
            </a:r>
            <a:r>
              <a:rPr kumimoji="1" lang="en-US" altLang="ja-JP" sz="1800" b="1" i="0" u="none" strike="noStrike" kern="1200" cap="none" spc="0" normalizeH="0" baseline="0" noProof="0">
                <a:ln>
                  <a:noFill/>
                </a:ln>
                <a:solidFill>
                  <a:srgbClr val="142FA4"/>
                </a:solidFill>
                <a:effectLst/>
                <a:uLnTx/>
                <a:uFillTx/>
                <a:latin typeface="Poppins SemiBold"/>
                <a:ea typeface="M PLUS 1p Medium"/>
                <a:cs typeface="Poppins SemiBold"/>
              </a:rPr>
              <a:t> </a:t>
            </a:r>
            <a:r>
              <a:rPr kumimoji="1" lang="en-US" altLang="ja-JP" sz="600" b="1" i="0" u="none" strike="noStrike" kern="1200" cap="none" spc="0" normalizeH="0" baseline="0" noProof="0">
                <a:ln>
                  <a:noFill/>
                </a:ln>
                <a:solidFill>
                  <a:srgbClr val="142FA4"/>
                </a:solidFill>
                <a:effectLst/>
                <a:uLnTx/>
                <a:uFillTx/>
                <a:latin typeface="Poppins SemiBold"/>
                <a:ea typeface="M PLUS 1p Medium"/>
                <a:cs typeface="Poppins SemiBold"/>
              </a:rPr>
              <a:t>billion yen</a:t>
            </a:r>
            <a:endParaRPr kumimoji="1" lang="ja-JP" altLang="en-US" sz="200" b="1" i="0" u="none" strike="noStrike" kern="1200" cap="none" spc="0" normalizeH="0" baseline="-3000" noProof="0">
              <a:ln>
                <a:noFill/>
              </a:ln>
              <a:solidFill>
                <a:srgbClr val="142FA4"/>
              </a:solidFill>
              <a:effectLst/>
              <a:uLnTx/>
              <a:uFillTx/>
              <a:latin typeface="Poppins SemiBold"/>
              <a:ea typeface="M PLUS 1p Medium"/>
              <a:cs typeface="Poppins SemiBold"/>
            </a:endParaRPr>
          </a:p>
        </p:txBody>
      </p:sp>
      <p:sp>
        <p:nvSpPr>
          <p:cNvPr id="42" name="テキスト ボックス 41">
            <a:extLst>
              <a:ext uri="{FF2B5EF4-FFF2-40B4-BE49-F238E27FC236}">
                <a16:creationId xmlns:a16="http://schemas.microsoft.com/office/drawing/2014/main" id="{7531D793-5630-C0E8-9EA8-E2390FC72132}"/>
              </a:ext>
            </a:extLst>
          </p:cNvPr>
          <p:cNvSpPr txBox="1"/>
          <p:nvPr/>
        </p:nvSpPr>
        <p:spPr>
          <a:xfrm>
            <a:off x="2823366" y="1736224"/>
            <a:ext cx="3494546"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Medium- to Long-Term Sales Growth Image</a:t>
            </a:r>
          </a:p>
        </p:txBody>
      </p:sp>
      <p:sp>
        <p:nvSpPr>
          <p:cNvPr id="45" name="テキスト ボックス 44">
            <a:extLst>
              <a:ext uri="{FF2B5EF4-FFF2-40B4-BE49-F238E27FC236}">
                <a16:creationId xmlns:a16="http://schemas.microsoft.com/office/drawing/2014/main" id="{29A1529D-8FCC-9581-9F18-A6CA2DA4D1A8}"/>
              </a:ext>
            </a:extLst>
          </p:cNvPr>
          <p:cNvSpPr txBox="1"/>
          <p:nvPr/>
        </p:nvSpPr>
        <p:spPr>
          <a:xfrm>
            <a:off x="9228721" y="1736224"/>
            <a:ext cx="2024593"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Growth Targets for FY2035</a:t>
            </a:r>
          </a:p>
        </p:txBody>
      </p:sp>
      <p:cxnSp>
        <p:nvCxnSpPr>
          <p:cNvPr id="57" name="直線コネクタ 56">
            <a:extLst>
              <a:ext uri="{FF2B5EF4-FFF2-40B4-BE49-F238E27FC236}">
                <a16:creationId xmlns:a16="http://schemas.microsoft.com/office/drawing/2014/main" id="{69B90DAE-BE64-7BDD-2E36-B4B7B83EDC79}"/>
              </a:ext>
            </a:extLst>
          </p:cNvPr>
          <p:cNvCxnSpPr>
            <a:cxnSpLocks/>
          </p:cNvCxnSpPr>
          <p:nvPr/>
        </p:nvCxnSpPr>
        <p:spPr>
          <a:xfrm flipH="1">
            <a:off x="9090452" y="4654586"/>
            <a:ext cx="231318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grpSp>
        <p:nvGrpSpPr>
          <p:cNvPr id="9" name="グループ化 8">
            <a:extLst>
              <a:ext uri="{FF2B5EF4-FFF2-40B4-BE49-F238E27FC236}">
                <a16:creationId xmlns:a16="http://schemas.microsoft.com/office/drawing/2014/main" id="{FE2A21BE-211F-99E6-45A2-A534C2875404}"/>
              </a:ext>
            </a:extLst>
          </p:cNvPr>
          <p:cNvGrpSpPr/>
          <p:nvPr/>
        </p:nvGrpSpPr>
        <p:grpSpPr>
          <a:xfrm>
            <a:off x="4298459" y="2642732"/>
            <a:ext cx="2918331" cy="1228354"/>
            <a:chOff x="4298459" y="2642732"/>
            <a:chExt cx="2918331" cy="1228354"/>
          </a:xfrm>
        </p:grpSpPr>
        <p:sp>
          <p:nvSpPr>
            <p:cNvPr id="13" name="円/楕円 12">
              <a:extLst>
                <a:ext uri="{FF2B5EF4-FFF2-40B4-BE49-F238E27FC236}">
                  <a16:creationId xmlns:a16="http://schemas.microsoft.com/office/drawing/2014/main" id="{C20AE161-D115-F01D-BBD9-62B13CDC0E6A}"/>
                </a:ext>
              </a:extLst>
            </p:cNvPr>
            <p:cNvSpPr/>
            <p:nvPr/>
          </p:nvSpPr>
          <p:spPr>
            <a:xfrm>
              <a:off x="5105150" y="2642732"/>
              <a:ext cx="1228354" cy="1228354"/>
            </a:xfrm>
            <a:prstGeom prst="ellipse">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18" name="テキスト ボックス 17">
              <a:extLst>
                <a:ext uri="{FF2B5EF4-FFF2-40B4-BE49-F238E27FC236}">
                  <a16:creationId xmlns:a16="http://schemas.microsoft.com/office/drawing/2014/main" id="{32B1C0B5-9682-90ED-1BAD-3F45EB95222D}"/>
                </a:ext>
              </a:extLst>
            </p:cNvPr>
            <p:cNvSpPr txBox="1"/>
            <p:nvPr/>
          </p:nvSpPr>
          <p:spPr>
            <a:xfrm>
              <a:off x="4298459" y="2960203"/>
              <a:ext cx="291833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15.0</a:t>
              </a:r>
              <a:r>
                <a:rPr kumimoji="1" lang="en-US" altLang="ja-JP" sz="1600" b="1"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a:t>
              </a:r>
              <a:endParaRPr kumimoji="1" lang="ja-JP" altLang="en-US" sz="1600" b="1"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31" name="テキスト ボックス 30">
              <a:extLst>
                <a:ext uri="{FF2B5EF4-FFF2-40B4-BE49-F238E27FC236}">
                  <a16:creationId xmlns:a16="http://schemas.microsoft.com/office/drawing/2014/main" id="{E2048621-02C0-0014-8888-B006F8705C0F}"/>
                </a:ext>
              </a:extLst>
            </p:cNvPr>
            <p:cNvSpPr txBox="1"/>
            <p:nvPr/>
          </p:nvSpPr>
          <p:spPr>
            <a:xfrm>
              <a:off x="5037748" y="2771275"/>
              <a:ext cx="136315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white"/>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CAGR</a:t>
              </a:r>
              <a:endParaRPr kumimoji="1" lang="en-US" altLang="ja-JP" sz="1400" b="0" i="0" u="none" strike="noStrike" kern="1200" cap="none" spc="0" normalizeH="0" baseline="30000" noProof="0">
                <a:ln>
                  <a:noFill/>
                </a:ln>
                <a:solidFill>
                  <a:prstClr val="white"/>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33" name="テキスト ボックス 32">
              <a:extLst>
                <a:ext uri="{FF2B5EF4-FFF2-40B4-BE49-F238E27FC236}">
                  <a16:creationId xmlns:a16="http://schemas.microsoft.com/office/drawing/2014/main" id="{3670BE3A-2EB8-BA1E-C4FA-7B8417EED690}"/>
                </a:ext>
              </a:extLst>
            </p:cNvPr>
            <p:cNvSpPr txBox="1"/>
            <p:nvPr/>
          </p:nvSpPr>
          <p:spPr>
            <a:xfrm>
              <a:off x="5193759" y="3387095"/>
              <a:ext cx="105113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FY20-FY35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(excluding M&amp;A)</a:t>
              </a:r>
            </a:p>
          </p:txBody>
        </p:sp>
      </p:grpSp>
      <p:sp>
        <p:nvSpPr>
          <p:cNvPr id="62" name="テキスト ボックス 61">
            <a:extLst>
              <a:ext uri="{FF2B5EF4-FFF2-40B4-BE49-F238E27FC236}">
                <a16:creationId xmlns:a16="http://schemas.microsoft.com/office/drawing/2014/main" id="{2A11CCB2-4C29-57DF-BB27-DC617D60232D}"/>
              </a:ext>
            </a:extLst>
          </p:cNvPr>
          <p:cNvSpPr txBox="1"/>
          <p:nvPr/>
        </p:nvSpPr>
        <p:spPr>
          <a:xfrm>
            <a:off x="6893183" y="5368770"/>
            <a:ext cx="682799"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FY2024/12</a:t>
            </a:r>
            <a:endParaRPr kumimoji="1" lang="ja-JP" altLang="en-US" sz="800" b="0" i="0" u="none" strike="noStrike" kern="1200" cap="none" spc="0" normalizeH="0" baseline="0" noProof="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cxnSp>
        <p:nvCxnSpPr>
          <p:cNvPr id="12" name="直線コネクタ 11">
            <a:extLst>
              <a:ext uri="{FF2B5EF4-FFF2-40B4-BE49-F238E27FC236}">
                <a16:creationId xmlns:a16="http://schemas.microsoft.com/office/drawing/2014/main" id="{3DDDA1A1-4E76-9AC2-5E9D-7640D2BD74E3}"/>
              </a:ext>
            </a:extLst>
          </p:cNvPr>
          <p:cNvCxnSpPr>
            <a:cxnSpLocks/>
          </p:cNvCxnSpPr>
          <p:nvPr/>
        </p:nvCxnSpPr>
        <p:spPr>
          <a:xfrm>
            <a:off x="6436111" y="4771602"/>
            <a:ext cx="0" cy="310293"/>
          </a:xfrm>
          <a:prstGeom prst="line">
            <a:avLst/>
          </a:prstGeom>
          <a:ln w="12700">
            <a:solidFill>
              <a:srgbClr val="142FA4"/>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C121AD0B-CC4B-B86C-D179-B9D0B6787B02}"/>
              </a:ext>
            </a:extLst>
          </p:cNvPr>
          <p:cNvCxnSpPr>
            <a:cxnSpLocks/>
          </p:cNvCxnSpPr>
          <p:nvPr/>
        </p:nvCxnSpPr>
        <p:spPr>
          <a:xfrm>
            <a:off x="6436111" y="4386439"/>
            <a:ext cx="0" cy="371462"/>
          </a:xfrm>
          <a:prstGeom prst="line">
            <a:avLst/>
          </a:prstGeom>
          <a:ln w="12700">
            <a:solidFill>
              <a:srgbClr val="142FA4"/>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grpSp>
        <p:nvGrpSpPr>
          <p:cNvPr id="20" name="グループ化 19">
            <a:extLst>
              <a:ext uri="{FF2B5EF4-FFF2-40B4-BE49-F238E27FC236}">
                <a16:creationId xmlns:a16="http://schemas.microsoft.com/office/drawing/2014/main" id="{B313AB4E-3684-BBC2-F75B-E01FB0416F02}"/>
              </a:ext>
            </a:extLst>
          </p:cNvPr>
          <p:cNvGrpSpPr/>
          <p:nvPr/>
        </p:nvGrpSpPr>
        <p:grpSpPr>
          <a:xfrm>
            <a:off x="6019654" y="5144351"/>
            <a:ext cx="918605" cy="238240"/>
            <a:chOff x="5829437" y="5087251"/>
            <a:chExt cx="918605" cy="238240"/>
          </a:xfrm>
        </p:grpSpPr>
        <p:sp>
          <p:nvSpPr>
            <p:cNvPr id="22" name="三角形 21">
              <a:extLst>
                <a:ext uri="{FF2B5EF4-FFF2-40B4-BE49-F238E27FC236}">
                  <a16:creationId xmlns:a16="http://schemas.microsoft.com/office/drawing/2014/main" id="{EC4915BD-66AD-C793-80EB-78D0A8D17436}"/>
                </a:ext>
              </a:extLst>
            </p:cNvPr>
            <p:cNvSpPr/>
            <p:nvPr/>
          </p:nvSpPr>
          <p:spPr>
            <a:xfrm>
              <a:off x="6197512" y="5087251"/>
              <a:ext cx="182455" cy="150221"/>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35" name="角丸四角形 34">
              <a:extLst>
                <a:ext uri="{FF2B5EF4-FFF2-40B4-BE49-F238E27FC236}">
                  <a16:creationId xmlns:a16="http://schemas.microsoft.com/office/drawing/2014/main" id="{E4C1F9FB-5D54-16CF-4768-B30A2A9602E9}"/>
                </a:ext>
              </a:extLst>
            </p:cNvPr>
            <p:cNvSpPr/>
            <p:nvPr/>
          </p:nvSpPr>
          <p:spPr>
            <a:xfrm>
              <a:off x="5829437" y="5152362"/>
              <a:ext cx="918605" cy="173129"/>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FY2026/12</a:t>
              </a:r>
              <a:endParaRPr kumimoji="1" lang="ja-JP" altLang="en-US" sz="800" b="0" i="0" u="none" strike="noStrike" kern="1200" cap="none" spc="0" normalizeH="0" baseline="0" noProof="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grpSp>
      <p:sp>
        <p:nvSpPr>
          <p:cNvPr id="47" name="二等辺三角形 29">
            <a:extLst>
              <a:ext uri="{FF2B5EF4-FFF2-40B4-BE49-F238E27FC236}">
                <a16:creationId xmlns:a16="http://schemas.microsoft.com/office/drawing/2014/main" id="{8E340D84-F173-4C31-144A-51A6BF36FEB6}"/>
              </a:ext>
            </a:extLst>
          </p:cNvPr>
          <p:cNvSpPr/>
          <p:nvPr/>
        </p:nvSpPr>
        <p:spPr>
          <a:xfrm>
            <a:off x="6177477" y="5810618"/>
            <a:ext cx="135983" cy="124369"/>
          </a:xfrm>
          <a:prstGeom prst="triangle">
            <a:avLst/>
          </a:prstGeom>
          <a:solidFill>
            <a:srgbClr val="142F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ヒラギノ角ゴ Pro W3"/>
              <a:ea typeface="ヒラギノ角ゴ Pro W3"/>
              <a:cs typeface="+mn-cs"/>
            </a:endParaRPr>
          </a:p>
        </p:txBody>
      </p:sp>
      <p:sp>
        <p:nvSpPr>
          <p:cNvPr id="48" name="楕円 34">
            <a:extLst>
              <a:ext uri="{FF2B5EF4-FFF2-40B4-BE49-F238E27FC236}">
                <a16:creationId xmlns:a16="http://schemas.microsoft.com/office/drawing/2014/main" id="{D085C5E0-8FE9-EBB9-344A-ACF28EBE2A61}"/>
              </a:ext>
            </a:extLst>
          </p:cNvPr>
          <p:cNvSpPr/>
          <p:nvPr/>
        </p:nvSpPr>
        <p:spPr>
          <a:xfrm>
            <a:off x="6075353" y="5906067"/>
            <a:ext cx="342504" cy="342504"/>
          </a:xfrm>
          <a:prstGeom prst="ellipse">
            <a:avLst/>
          </a:prstGeom>
          <a:solidFill>
            <a:schemeClr val="bg1"/>
          </a:solidFill>
          <a:ln>
            <a:solidFill>
              <a:srgbClr val="142F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50" name="テキスト ボックス 49">
            <a:extLst>
              <a:ext uri="{FF2B5EF4-FFF2-40B4-BE49-F238E27FC236}">
                <a16:creationId xmlns:a16="http://schemas.microsoft.com/office/drawing/2014/main" id="{4E8385C2-7A5F-7C73-1B7A-A098D0BB5EB0}"/>
              </a:ext>
            </a:extLst>
          </p:cNvPr>
          <p:cNvSpPr txBox="1"/>
          <p:nvPr/>
        </p:nvSpPr>
        <p:spPr>
          <a:xfrm>
            <a:off x="5731285" y="5975860"/>
            <a:ext cx="1036964"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NOW</a:t>
            </a:r>
            <a:endParaRPr kumimoji="1" lang="ja-JP" altLang="en-US" sz="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endParaRPr>
          </a:p>
        </p:txBody>
      </p:sp>
    </p:spTree>
    <p:extLst>
      <p:ext uri="{BB962C8B-B14F-4D97-AF65-F5344CB8AC3E}">
        <p14:creationId xmlns:p14="http://schemas.microsoft.com/office/powerpoint/2010/main" val="86574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a:extLst>
              <a:ext uri="{FF2B5EF4-FFF2-40B4-BE49-F238E27FC236}">
                <a16:creationId xmlns:a16="http://schemas.microsoft.com/office/drawing/2014/main" id="{AA1F54B0-C2CE-2533-42F9-C17E6E8DE7E6}"/>
              </a:ext>
            </a:extLst>
          </p:cNvPr>
          <p:cNvSpPr/>
          <p:nvPr/>
        </p:nvSpPr>
        <p:spPr>
          <a:xfrm>
            <a:off x="550861" y="1431978"/>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aphicFrame>
        <p:nvGraphicFramePr>
          <p:cNvPr id="43" name="グラフ 42">
            <a:extLst>
              <a:ext uri="{FF2B5EF4-FFF2-40B4-BE49-F238E27FC236}">
                <a16:creationId xmlns:a16="http://schemas.microsoft.com/office/drawing/2014/main" id="{3210B30D-3B9F-919C-485F-293AA0795EB2}"/>
              </a:ext>
            </a:extLst>
          </p:cNvPr>
          <p:cNvGraphicFramePr/>
          <p:nvPr>
            <p:extLst>
              <p:ext uri="{D42A27DB-BD31-4B8C-83A1-F6EECF244321}">
                <p14:modId xmlns:p14="http://schemas.microsoft.com/office/powerpoint/2010/main" val="4104468648"/>
              </p:ext>
            </p:extLst>
          </p:nvPr>
        </p:nvGraphicFramePr>
        <p:xfrm>
          <a:off x="8159663" y="3904285"/>
          <a:ext cx="3293587" cy="2306401"/>
        </p:xfrm>
        <a:graphic>
          <a:graphicData uri="http://schemas.openxmlformats.org/drawingml/2006/chart">
            <c:chart xmlns:c="http://schemas.openxmlformats.org/drawingml/2006/chart" xmlns:r="http://schemas.openxmlformats.org/officeDocument/2006/relationships" r:id="rId3"/>
          </a:graphicData>
        </a:graphic>
      </p:graphicFrame>
      <p:cxnSp>
        <p:nvCxnSpPr>
          <p:cNvPr id="31" name="直線矢印コネクタ 30">
            <a:extLst>
              <a:ext uri="{FF2B5EF4-FFF2-40B4-BE49-F238E27FC236}">
                <a16:creationId xmlns:a16="http://schemas.microsoft.com/office/drawing/2014/main" id="{F7AC6BD4-7F52-D3BD-F496-C92E9257B6B3}"/>
              </a:ext>
            </a:extLst>
          </p:cNvPr>
          <p:cNvCxnSpPr>
            <a:cxnSpLocks/>
          </p:cNvCxnSpPr>
          <p:nvPr/>
        </p:nvCxnSpPr>
        <p:spPr>
          <a:xfrm flipV="1">
            <a:off x="1182199" y="2689659"/>
            <a:ext cx="0" cy="2893264"/>
          </a:xfrm>
          <a:prstGeom prst="straightConnector1">
            <a:avLst/>
          </a:prstGeom>
          <a:ln w="19050">
            <a:solidFill>
              <a:srgbClr val="142FA4"/>
            </a:solidFill>
            <a:tailEnd type="none"/>
          </a:ln>
        </p:spPr>
        <p:style>
          <a:lnRef idx="2">
            <a:schemeClr val="accent1"/>
          </a:lnRef>
          <a:fillRef idx="0">
            <a:schemeClr val="accent1"/>
          </a:fillRef>
          <a:effectRef idx="1">
            <a:schemeClr val="accent1"/>
          </a:effectRef>
          <a:fontRef idx="minor">
            <a:schemeClr val="tx1"/>
          </a:fontRef>
        </p:style>
      </p:cxnSp>
      <p:sp>
        <p:nvSpPr>
          <p:cNvPr id="50" name="テキスト ボックス 49">
            <a:extLst>
              <a:ext uri="{FF2B5EF4-FFF2-40B4-BE49-F238E27FC236}">
                <a16:creationId xmlns:a16="http://schemas.microsoft.com/office/drawing/2014/main" id="{636AEC46-1543-D8D4-B022-22AE412C3AB2}"/>
              </a:ext>
            </a:extLst>
          </p:cNvPr>
          <p:cNvSpPr txBox="1"/>
          <p:nvPr/>
        </p:nvSpPr>
        <p:spPr>
          <a:xfrm>
            <a:off x="600937" y="4582564"/>
            <a:ext cx="1137805" cy="52322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1800" b="1"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1.20</a:t>
            </a:r>
            <a:r>
              <a:rPr kumimoji="1" lang="en-US" altLang="ja-JP" sz="11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B</a:t>
            </a:r>
            <a:endParaRPr kumimoji="1" lang="en-US" altLang="ja-JP" sz="800" b="1"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FY2025</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 </a:t>
            </a:r>
            <a:r>
              <a:rPr kumimoji="1" lang="en-US"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Results</a:t>
            </a: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 </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sp>
        <p:nvSpPr>
          <p:cNvPr id="51" name="テキスト ボックス 50">
            <a:extLst>
              <a:ext uri="{FF2B5EF4-FFF2-40B4-BE49-F238E27FC236}">
                <a16:creationId xmlns:a16="http://schemas.microsoft.com/office/drawing/2014/main" id="{D5DF2C0C-0E91-0D4F-3389-5C92F6C63C0E}"/>
              </a:ext>
            </a:extLst>
          </p:cNvPr>
          <p:cNvSpPr txBox="1"/>
          <p:nvPr/>
        </p:nvSpPr>
        <p:spPr>
          <a:xfrm>
            <a:off x="679673" y="2917914"/>
            <a:ext cx="1029631" cy="369332"/>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18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24.0</a:t>
            </a:r>
            <a:r>
              <a:rPr kumimoji="1" lang="en-US" altLang="ja-JP" sz="11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B</a:t>
            </a:r>
            <a:endParaRPr kumimoji="1" lang="en-US" altLang="ja-JP" sz="8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cxnSp>
        <p:nvCxnSpPr>
          <p:cNvPr id="52" name="直線矢印コネクタ 51">
            <a:extLst>
              <a:ext uri="{FF2B5EF4-FFF2-40B4-BE49-F238E27FC236}">
                <a16:creationId xmlns:a16="http://schemas.microsoft.com/office/drawing/2014/main" id="{95115F9E-488A-9E99-4F29-B4EA52D416CF}"/>
              </a:ext>
            </a:extLst>
          </p:cNvPr>
          <p:cNvCxnSpPr>
            <a:cxnSpLocks/>
          </p:cNvCxnSpPr>
          <p:nvPr/>
        </p:nvCxnSpPr>
        <p:spPr>
          <a:xfrm>
            <a:off x="1683526" y="5873698"/>
            <a:ext cx="5311779" cy="0"/>
          </a:xfrm>
          <a:prstGeom prst="straightConnector1">
            <a:avLst/>
          </a:prstGeom>
          <a:ln w="19050">
            <a:solidFill>
              <a:srgbClr val="142FA4"/>
            </a:solidFill>
            <a:tailEnd type="none"/>
          </a:ln>
        </p:spPr>
        <p:style>
          <a:lnRef idx="2">
            <a:schemeClr val="accent1"/>
          </a:lnRef>
          <a:fillRef idx="0">
            <a:schemeClr val="accent1"/>
          </a:fillRef>
          <a:effectRef idx="1">
            <a:schemeClr val="accent1"/>
          </a:effectRef>
          <a:fontRef idx="minor">
            <a:schemeClr val="tx1"/>
          </a:fontRef>
        </p:style>
      </p:cxnSp>
      <p:sp>
        <p:nvSpPr>
          <p:cNvPr id="62" name="角丸四角形 61">
            <a:extLst>
              <a:ext uri="{FF2B5EF4-FFF2-40B4-BE49-F238E27FC236}">
                <a16:creationId xmlns:a16="http://schemas.microsoft.com/office/drawing/2014/main" id="{7B431CC8-0E97-CB14-A52A-CA478852A645}"/>
              </a:ext>
            </a:extLst>
          </p:cNvPr>
          <p:cNvSpPr/>
          <p:nvPr/>
        </p:nvSpPr>
        <p:spPr>
          <a:xfrm>
            <a:off x="3362051" y="5658442"/>
            <a:ext cx="671987" cy="384942"/>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18" name="図 17">
            <a:extLst>
              <a:ext uri="{FF2B5EF4-FFF2-40B4-BE49-F238E27FC236}">
                <a16:creationId xmlns:a16="http://schemas.microsoft.com/office/drawing/2014/main" id="{1188BEB4-365A-C05C-A48D-67AC82604D3C}"/>
              </a:ext>
            </a:extLst>
          </p:cNvPr>
          <p:cNvPicPr>
            <a:picLocks noChangeAspect="1"/>
          </p:cNvPicPr>
          <p:nvPr/>
        </p:nvPicPr>
        <p:blipFill>
          <a:blip r:embed="rId4"/>
          <a:srcRect l="48140" t="13573" b="49107"/>
          <a:stretch>
            <a:fillRect/>
          </a:stretch>
        </p:blipFill>
        <p:spPr>
          <a:xfrm>
            <a:off x="1627528" y="2095197"/>
            <a:ext cx="6134277" cy="3570755"/>
          </a:xfrm>
          <a:prstGeom prst="rect">
            <a:avLst/>
          </a:prstGeom>
        </p:spPr>
      </p:pic>
      <p:sp>
        <p:nvSpPr>
          <p:cNvPr id="4" name="テキスト プレースホルダー 3">
            <a:extLst>
              <a:ext uri="{FF2B5EF4-FFF2-40B4-BE49-F238E27FC236}">
                <a16:creationId xmlns:a16="http://schemas.microsoft.com/office/drawing/2014/main" id="{1F8B925D-B21B-6EF4-F7B2-018E257341C7}"/>
              </a:ext>
            </a:extLst>
          </p:cNvPr>
          <p:cNvSpPr>
            <a:spLocks noGrp="1"/>
          </p:cNvSpPr>
          <p:nvPr>
            <p:ph type="body" sz="quarter" idx="14"/>
          </p:nvPr>
        </p:nvSpPr>
        <p:spPr>
          <a:xfrm>
            <a:off x="4053967" y="6310211"/>
            <a:ext cx="7333175" cy="444389"/>
          </a:xfrm>
        </p:spPr>
        <p:txBody>
          <a:bodyPr>
            <a:noAutofit/>
          </a:bodyPr>
          <a:lstStyle/>
          <a:p>
            <a:r>
              <a:rPr lang="en-US" altLang="ja-JP" dirty="0"/>
              <a:t>*1 The number of potential subscribers is defined as monthly active users whose conversion rate is 5% (industry average of 3-10%) *2 The number of heavy users is defined as monthly active users whose average monthly usage time is greater than that of current subscription subscribers * Figures are based on actual results for the end of FY2025. The planned figures for FY26-28 for "Progress in Number of Subscriptions" are based on the 2026 Medium-Term Management Plan</a:t>
            </a:r>
          </a:p>
        </p:txBody>
      </p:sp>
      <p:cxnSp>
        <p:nvCxnSpPr>
          <p:cNvPr id="5" name="直線コネクタ 4">
            <a:extLst>
              <a:ext uri="{FF2B5EF4-FFF2-40B4-BE49-F238E27FC236}">
                <a16:creationId xmlns:a16="http://schemas.microsoft.com/office/drawing/2014/main" id="{03D5718B-ECCC-7E00-F9D1-3FE58C0BDCC7}"/>
              </a:ext>
            </a:extLst>
          </p:cNvPr>
          <p:cNvCxnSpPr>
            <a:cxnSpLocks/>
          </p:cNvCxnSpPr>
          <p:nvPr/>
        </p:nvCxnSpPr>
        <p:spPr>
          <a:xfrm>
            <a:off x="7969970"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0" name="直線コネクタ 9">
            <a:extLst>
              <a:ext uri="{FF2B5EF4-FFF2-40B4-BE49-F238E27FC236}">
                <a16:creationId xmlns:a16="http://schemas.microsoft.com/office/drawing/2014/main" id="{E6602DD4-00FA-D921-31B2-CBB92C18CF31}"/>
              </a:ext>
            </a:extLst>
          </p:cNvPr>
          <p:cNvCxnSpPr>
            <a:cxnSpLocks/>
          </p:cNvCxnSpPr>
          <p:nvPr/>
        </p:nvCxnSpPr>
        <p:spPr>
          <a:xfrm flipH="1">
            <a:off x="8234938" y="3683743"/>
            <a:ext cx="3141233"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19" name="図 18">
            <a:extLst>
              <a:ext uri="{FF2B5EF4-FFF2-40B4-BE49-F238E27FC236}">
                <a16:creationId xmlns:a16="http://schemas.microsoft.com/office/drawing/2014/main" id="{9AD662EF-60E5-DE69-268A-6CCF5C34DC64}"/>
              </a:ext>
            </a:extLst>
          </p:cNvPr>
          <p:cNvPicPr>
            <a:picLocks noChangeAspect="1"/>
          </p:cNvPicPr>
          <p:nvPr/>
        </p:nvPicPr>
        <p:blipFill>
          <a:blip r:embed="rId5"/>
          <a:stretch>
            <a:fillRect/>
          </a:stretch>
        </p:blipFill>
        <p:spPr>
          <a:xfrm>
            <a:off x="2623296" y="2975006"/>
            <a:ext cx="2405903" cy="1710865"/>
          </a:xfrm>
          <a:prstGeom prst="rect">
            <a:avLst/>
          </a:prstGeom>
        </p:spPr>
      </p:pic>
      <p:sp>
        <p:nvSpPr>
          <p:cNvPr id="20" name="テキスト ボックス 19">
            <a:extLst>
              <a:ext uri="{FF2B5EF4-FFF2-40B4-BE49-F238E27FC236}">
                <a16:creationId xmlns:a16="http://schemas.microsoft.com/office/drawing/2014/main" id="{54536CF7-39A7-8C6B-F556-E74ACE683B80}"/>
              </a:ext>
            </a:extLst>
          </p:cNvPr>
          <p:cNvSpPr txBox="1"/>
          <p:nvPr/>
        </p:nvSpPr>
        <p:spPr>
          <a:xfrm>
            <a:off x="673313" y="1989307"/>
            <a:ext cx="102784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Subscription </a:t>
            </a:r>
            <a:endPar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Billing</a:t>
            </a:r>
            <a:b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b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Sales</a:t>
            </a:r>
            <a:r>
              <a:rPr kumimoji="1" lang="ja-JP"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 </a:t>
            </a:r>
            <a:endPar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(Illustrative) </a:t>
            </a:r>
            <a:endParaRPr kumimoji="1" lang="ja-JP" altLang="en-US" sz="1000" b="0" i="0" u="none" strike="noStrike" kern="1200" cap="none" spc="0" normalizeH="0" baseline="3000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1" name="テキスト ボックス 20">
            <a:extLst>
              <a:ext uri="{FF2B5EF4-FFF2-40B4-BE49-F238E27FC236}">
                <a16:creationId xmlns:a16="http://schemas.microsoft.com/office/drawing/2014/main" id="{71C09748-AFAC-326E-0447-CC46D267AEEC}"/>
              </a:ext>
            </a:extLst>
          </p:cNvPr>
          <p:cNvSpPr txBox="1"/>
          <p:nvPr/>
        </p:nvSpPr>
        <p:spPr>
          <a:xfrm>
            <a:off x="6995305" y="5694557"/>
            <a:ext cx="89831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Conversion rate</a:t>
            </a:r>
            <a:endParaRPr kumimoji="1" lang="ja-JP" altLang="en-US" sz="900" b="0" i="0" u="none" strike="noStrike" kern="1200" cap="none" spc="0" normalizeH="0" baseline="3000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2" name="テキスト ボックス 21">
            <a:extLst>
              <a:ext uri="{FF2B5EF4-FFF2-40B4-BE49-F238E27FC236}">
                <a16:creationId xmlns:a16="http://schemas.microsoft.com/office/drawing/2014/main" id="{7271D5FD-27B5-F25A-60B5-0764C8ED4E5D}"/>
              </a:ext>
            </a:extLst>
          </p:cNvPr>
          <p:cNvSpPr txBox="1"/>
          <p:nvPr/>
        </p:nvSpPr>
        <p:spPr>
          <a:xfrm>
            <a:off x="4825015" y="4852843"/>
            <a:ext cx="8867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rPr>
              <a:t>Monthly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rPr>
              <a:t>Active Users</a:t>
            </a:r>
          </a:p>
        </p:txBody>
      </p:sp>
      <p:sp>
        <p:nvSpPr>
          <p:cNvPr id="24" name="テキスト ボックス 23">
            <a:extLst>
              <a:ext uri="{FF2B5EF4-FFF2-40B4-BE49-F238E27FC236}">
                <a16:creationId xmlns:a16="http://schemas.microsoft.com/office/drawing/2014/main" id="{EC801C20-444B-FDA1-2CAC-F167B13EA5BA}"/>
              </a:ext>
            </a:extLst>
          </p:cNvPr>
          <p:cNvSpPr txBox="1"/>
          <p:nvPr/>
        </p:nvSpPr>
        <p:spPr>
          <a:xfrm>
            <a:off x="3731670" y="4852843"/>
            <a:ext cx="9733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Number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Heavy Users</a:t>
            </a:r>
            <a:r>
              <a:rPr kumimoji="1" lang="en-US" altLang="ja-JP" sz="900" b="0" i="0" u="none" strike="noStrike" kern="1200" cap="none" spc="0" normalizeH="0" baseline="30000" noProof="0" dirty="0">
                <a:ln>
                  <a:noFill/>
                </a:ln>
                <a:solidFill>
                  <a:prstClr val="white"/>
                </a:solidFill>
                <a:effectLst/>
                <a:uLnTx/>
                <a:uFillTx/>
                <a:latin typeface="Poppins" pitchFamily="2" charset="0"/>
                <a:ea typeface="M PLUS 1p Medium" panose="020B0502020203020207" pitchFamily="34" charset="-128"/>
                <a:cs typeface="Poppins" pitchFamily="2" charset="0"/>
              </a:rPr>
              <a:t>*2</a:t>
            </a:r>
            <a:endParaRPr kumimoji="1" lang="ja-JP" altLang="en-US" sz="900" b="0" i="0" u="none" strike="noStrike" kern="1200" cap="none" spc="0" normalizeH="0" baseline="30000" noProof="0" dirty="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25" name="テキスト ボックス 24">
            <a:extLst>
              <a:ext uri="{FF2B5EF4-FFF2-40B4-BE49-F238E27FC236}">
                <a16:creationId xmlns:a16="http://schemas.microsoft.com/office/drawing/2014/main" id="{92D8BC7D-8956-18C3-D72E-72B515AE53B1}"/>
              </a:ext>
            </a:extLst>
          </p:cNvPr>
          <p:cNvSpPr txBox="1"/>
          <p:nvPr/>
        </p:nvSpPr>
        <p:spPr>
          <a:xfrm>
            <a:off x="2682489" y="4852843"/>
            <a:ext cx="9236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Potential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white"/>
                </a:solidFill>
                <a:effectLst/>
                <a:uLnTx/>
                <a:uFillTx/>
                <a:latin typeface="Poppins" pitchFamily="2" charset="0"/>
                <a:ea typeface="M PLUS 1p Medium" panose="020B0502020203020207" pitchFamily="34" charset="-128"/>
                <a:cs typeface="Poppins" pitchFamily="2" charset="0"/>
              </a:rPr>
              <a:t>Subscribers</a:t>
            </a:r>
            <a:r>
              <a:rPr kumimoji="1" lang="en-US" altLang="ja-JP" sz="900" b="0" i="0" u="none" strike="noStrike" kern="1200" cap="none" spc="0" normalizeH="0" baseline="30000" noProof="0" dirty="0">
                <a:ln>
                  <a:noFill/>
                </a:ln>
                <a:solidFill>
                  <a:prstClr val="white"/>
                </a:solidFill>
                <a:effectLst/>
                <a:uLnTx/>
                <a:uFillTx/>
                <a:latin typeface="Poppins" pitchFamily="2" charset="0"/>
                <a:ea typeface="M PLUS 1p Medium" panose="020B0502020203020207" pitchFamily="34" charset="-128"/>
                <a:cs typeface="Poppins" pitchFamily="2" charset="0"/>
              </a:rPr>
              <a:t>*1</a:t>
            </a:r>
            <a:endParaRPr kumimoji="1" lang="ja-JP" altLang="en-US" sz="900" b="0" i="0" u="none" strike="noStrike" kern="1200" cap="none" spc="0" normalizeH="0" baseline="30000" noProof="0" dirty="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26" name="テキスト ボックス 25">
            <a:extLst>
              <a:ext uri="{FF2B5EF4-FFF2-40B4-BE49-F238E27FC236}">
                <a16:creationId xmlns:a16="http://schemas.microsoft.com/office/drawing/2014/main" id="{7E11C0EF-77CD-30F8-F0EF-C69F697ED46B}"/>
              </a:ext>
            </a:extLst>
          </p:cNvPr>
          <p:cNvSpPr txBox="1"/>
          <p:nvPr/>
        </p:nvSpPr>
        <p:spPr>
          <a:xfrm>
            <a:off x="1664707" y="4852843"/>
            <a:ext cx="9348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rPr>
              <a:t>Subscription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rPr>
              <a:t>Users</a:t>
            </a:r>
            <a:endParaRPr kumimoji="1" lang="ja-JP" altLang="en-US" sz="900" b="0" i="0" u="none" strike="noStrike" kern="1200" cap="none" spc="0" normalizeH="0" baseline="0" noProof="0">
              <a:ln>
                <a:noFill/>
              </a:ln>
              <a:solidFill>
                <a:prstClr val="white"/>
              </a:solidFill>
              <a:effectLst/>
              <a:uLnTx/>
              <a:uFillTx/>
              <a:latin typeface="Poppins" pitchFamily="2" charset="0"/>
              <a:ea typeface="M PLUS 1p Medium" panose="020B0502020203020207" pitchFamily="34" charset="-128"/>
              <a:cs typeface="Poppins" pitchFamily="2" charset="0"/>
            </a:endParaRPr>
          </a:p>
        </p:txBody>
      </p:sp>
      <p:sp>
        <p:nvSpPr>
          <p:cNvPr id="27" name="テキスト ボックス 26">
            <a:extLst>
              <a:ext uri="{FF2B5EF4-FFF2-40B4-BE49-F238E27FC236}">
                <a16:creationId xmlns:a16="http://schemas.microsoft.com/office/drawing/2014/main" id="{632D7FCB-ECBE-0FD8-F175-B7C5287D481D}"/>
              </a:ext>
            </a:extLst>
          </p:cNvPr>
          <p:cNvSpPr txBox="1"/>
          <p:nvPr/>
        </p:nvSpPr>
        <p:spPr>
          <a:xfrm>
            <a:off x="4455470" y="5144145"/>
            <a:ext cx="178739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15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40.07 </a:t>
            </a:r>
            <a:r>
              <a:rPr kumimoji="1" lang="en-US" altLang="ja-JP" sz="105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M</a:t>
            </a:r>
            <a:endParaRPr kumimoji="1" lang="ja-JP" altLang="en-US" sz="10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28" name="テキスト ボックス 27">
            <a:extLst>
              <a:ext uri="{FF2B5EF4-FFF2-40B4-BE49-F238E27FC236}">
                <a16:creationId xmlns:a16="http://schemas.microsoft.com/office/drawing/2014/main" id="{6B4F4A43-F102-FF54-8DC9-0527C201D909}"/>
              </a:ext>
            </a:extLst>
          </p:cNvPr>
          <p:cNvSpPr txBox="1"/>
          <p:nvPr/>
        </p:nvSpPr>
        <p:spPr>
          <a:xfrm>
            <a:off x="3499971" y="5144145"/>
            <a:ext cx="13588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15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7.94 </a:t>
            </a:r>
            <a:r>
              <a:rPr kumimoji="1" lang="en-US" altLang="ja-JP" sz="105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M</a:t>
            </a:r>
            <a:endParaRPr kumimoji="1" lang="ja-JP" altLang="en-US" sz="12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29" name="テキスト ボックス 28">
            <a:extLst>
              <a:ext uri="{FF2B5EF4-FFF2-40B4-BE49-F238E27FC236}">
                <a16:creationId xmlns:a16="http://schemas.microsoft.com/office/drawing/2014/main" id="{1CF58839-656F-9DDA-0DFF-80C4DD9FDC52}"/>
              </a:ext>
            </a:extLst>
          </p:cNvPr>
          <p:cNvSpPr txBox="1"/>
          <p:nvPr/>
        </p:nvSpPr>
        <p:spPr>
          <a:xfrm>
            <a:off x="2433407" y="5144145"/>
            <a:ext cx="123733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2.00</a:t>
            </a:r>
            <a:r>
              <a:rPr kumimoji="1" lang="en-US" altLang="ja-JP" sz="105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M</a:t>
            </a:r>
            <a:endParaRPr kumimoji="1" lang="ja-JP" altLang="en-US" sz="12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30" name="テキスト ボックス 29">
            <a:extLst>
              <a:ext uri="{FF2B5EF4-FFF2-40B4-BE49-F238E27FC236}">
                <a16:creationId xmlns:a16="http://schemas.microsoft.com/office/drawing/2014/main" id="{D00FC599-C7B0-402E-2E3C-A5A90784DFB4}"/>
              </a:ext>
            </a:extLst>
          </p:cNvPr>
          <p:cNvSpPr txBox="1"/>
          <p:nvPr/>
        </p:nvSpPr>
        <p:spPr>
          <a:xfrm>
            <a:off x="1650938" y="5239903"/>
            <a:ext cx="123733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0.397</a:t>
            </a:r>
            <a:r>
              <a:rPr kumimoji="1" lang="en-US" altLang="ja-JP" sz="105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M</a:t>
            </a:r>
            <a:endParaRPr kumimoji="1" lang="ja-JP" altLang="en-US" sz="105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32" name="三角形 31">
            <a:extLst>
              <a:ext uri="{FF2B5EF4-FFF2-40B4-BE49-F238E27FC236}">
                <a16:creationId xmlns:a16="http://schemas.microsoft.com/office/drawing/2014/main" id="{6A77905E-BDEF-C119-9BE7-D422FDB3F9CC}"/>
              </a:ext>
            </a:extLst>
          </p:cNvPr>
          <p:cNvSpPr/>
          <p:nvPr/>
        </p:nvSpPr>
        <p:spPr>
          <a:xfrm>
            <a:off x="1097585" y="2633472"/>
            <a:ext cx="169227" cy="81799"/>
          </a:xfrm>
          <a:prstGeom prst="triangle">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6" name="円/楕円 45">
            <a:extLst>
              <a:ext uri="{FF2B5EF4-FFF2-40B4-BE49-F238E27FC236}">
                <a16:creationId xmlns:a16="http://schemas.microsoft.com/office/drawing/2014/main" id="{C594C388-522A-99B3-8724-B9B4334D709F}"/>
              </a:ext>
            </a:extLst>
          </p:cNvPr>
          <p:cNvSpPr/>
          <p:nvPr/>
        </p:nvSpPr>
        <p:spPr>
          <a:xfrm>
            <a:off x="870007" y="3632227"/>
            <a:ext cx="605356" cy="60535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9" name="テキスト ボックス 48">
            <a:extLst>
              <a:ext uri="{FF2B5EF4-FFF2-40B4-BE49-F238E27FC236}">
                <a16:creationId xmlns:a16="http://schemas.microsoft.com/office/drawing/2014/main" id="{E877D6E9-7F07-60C8-225F-28ED649CEAF5}"/>
              </a:ext>
            </a:extLst>
          </p:cNvPr>
          <p:cNvSpPr txBox="1"/>
          <p:nvPr/>
        </p:nvSpPr>
        <p:spPr>
          <a:xfrm>
            <a:off x="748742" y="3887351"/>
            <a:ext cx="884382" cy="290464"/>
          </a:xfrm>
          <a:prstGeom prst="rect">
            <a:avLst/>
          </a:prstGeom>
          <a:noFill/>
        </p:spPr>
        <p:txBody>
          <a:bodyPr wrap="square" rtlCol="0">
            <a:spAutoFit/>
          </a:body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24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6.0</a:t>
            </a:r>
            <a:r>
              <a:rPr kumimoji="1" lang="en-US" altLang="ja-JP" sz="14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B</a:t>
            </a:r>
            <a:endParaRPr kumimoji="1" lang="ja-JP" altLang="en-US" sz="10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53" name="三角形 52">
            <a:extLst>
              <a:ext uri="{FF2B5EF4-FFF2-40B4-BE49-F238E27FC236}">
                <a16:creationId xmlns:a16="http://schemas.microsoft.com/office/drawing/2014/main" id="{236346E6-A611-228D-3043-6B4491816B5E}"/>
              </a:ext>
            </a:extLst>
          </p:cNvPr>
          <p:cNvSpPr/>
          <p:nvPr/>
        </p:nvSpPr>
        <p:spPr>
          <a:xfrm rot="5400000">
            <a:off x="6922329" y="5840069"/>
            <a:ext cx="169227" cy="81799"/>
          </a:xfrm>
          <a:prstGeom prst="triangle">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8" name="正方形/長方形 57">
            <a:extLst>
              <a:ext uri="{FF2B5EF4-FFF2-40B4-BE49-F238E27FC236}">
                <a16:creationId xmlns:a16="http://schemas.microsoft.com/office/drawing/2014/main" id="{EB6A397C-1FCF-7665-13AB-479DBBECA28B}"/>
              </a:ext>
            </a:extLst>
          </p:cNvPr>
          <p:cNvSpPr/>
          <p:nvPr/>
        </p:nvSpPr>
        <p:spPr>
          <a:xfrm>
            <a:off x="2282762" y="5728884"/>
            <a:ext cx="702916" cy="3041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56" name="テキスト ボックス 55">
            <a:extLst>
              <a:ext uri="{FF2B5EF4-FFF2-40B4-BE49-F238E27FC236}">
                <a16:creationId xmlns:a16="http://schemas.microsoft.com/office/drawing/2014/main" id="{05729EF7-1D9D-C0F1-2FBF-ECA993DAC126}"/>
              </a:ext>
            </a:extLst>
          </p:cNvPr>
          <p:cNvSpPr txBox="1"/>
          <p:nvPr/>
        </p:nvSpPr>
        <p:spPr>
          <a:xfrm>
            <a:off x="2203323" y="5681562"/>
            <a:ext cx="86718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1.0</a:t>
            </a:r>
            <a:r>
              <a:rPr kumimoji="1" lang="en-US" altLang="ja-JP" sz="1800" b="0" i="0" u="none" strike="noStrike" kern="1200" cap="none" spc="-30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 </a:t>
            </a:r>
            <a:r>
              <a:rPr kumimoji="1" lang="en-US" altLang="ja-JP" sz="11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8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59" name="正方形/長方形 58">
            <a:extLst>
              <a:ext uri="{FF2B5EF4-FFF2-40B4-BE49-F238E27FC236}">
                <a16:creationId xmlns:a16="http://schemas.microsoft.com/office/drawing/2014/main" id="{8CFF3EB9-2E52-EE5F-CF5A-07A7B1826B67}"/>
              </a:ext>
            </a:extLst>
          </p:cNvPr>
          <p:cNvSpPr/>
          <p:nvPr/>
        </p:nvSpPr>
        <p:spPr>
          <a:xfrm>
            <a:off x="4487179" y="5728884"/>
            <a:ext cx="624925" cy="3041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60" name="テキスト ボックス 59">
            <a:extLst>
              <a:ext uri="{FF2B5EF4-FFF2-40B4-BE49-F238E27FC236}">
                <a16:creationId xmlns:a16="http://schemas.microsoft.com/office/drawing/2014/main" id="{68A6E9BB-9743-435A-18B8-114CA4A99B76}"/>
              </a:ext>
            </a:extLst>
          </p:cNvPr>
          <p:cNvSpPr txBox="1"/>
          <p:nvPr/>
        </p:nvSpPr>
        <p:spPr>
          <a:xfrm>
            <a:off x="4410411" y="5681562"/>
            <a:ext cx="7784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19.8</a:t>
            </a:r>
            <a:r>
              <a:rPr kumimoji="1" lang="en-US" altLang="ja-JP" sz="1800" b="0" i="0" u="none" strike="noStrike" kern="1200" cap="none" spc="-30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 </a:t>
            </a:r>
            <a:r>
              <a:rPr kumimoji="1" lang="en-US" altLang="ja-JP" sz="11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8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63" name="テキスト ボックス 62">
            <a:extLst>
              <a:ext uri="{FF2B5EF4-FFF2-40B4-BE49-F238E27FC236}">
                <a16:creationId xmlns:a16="http://schemas.microsoft.com/office/drawing/2014/main" id="{825EA8D5-6DA8-0CE5-2DC7-F44B65B749BA}"/>
              </a:ext>
            </a:extLst>
          </p:cNvPr>
          <p:cNvSpPr txBox="1"/>
          <p:nvPr/>
        </p:nvSpPr>
        <p:spPr>
          <a:xfrm>
            <a:off x="3275702" y="6050615"/>
            <a:ext cx="922048" cy="2051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rPr>
              <a:t>Strategic target</a:t>
            </a:r>
            <a:endParaRPr kumimoji="1" lang="ja-JP" altLang="en-US" sz="11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grpSp>
        <p:nvGrpSpPr>
          <p:cNvPr id="67" name="グループ化 66">
            <a:extLst>
              <a:ext uri="{FF2B5EF4-FFF2-40B4-BE49-F238E27FC236}">
                <a16:creationId xmlns:a16="http://schemas.microsoft.com/office/drawing/2014/main" id="{8A246FAD-44F7-9445-E90C-FF7C3B410ACC}"/>
              </a:ext>
            </a:extLst>
          </p:cNvPr>
          <p:cNvGrpSpPr/>
          <p:nvPr/>
        </p:nvGrpSpPr>
        <p:grpSpPr>
          <a:xfrm>
            <a:off x="8478783" y="2039972"/>
            <a:ext cx="398350" cy="409503"/>
            <a:chOff x="8227806" y="2401782"/>
            <a:chExt cx="540000" cy="555120"/>
          </a:xfrm>
        </p:grpSpPr>
        <p:sp>
          <p:nvSpPr>
            <p:cNvPr id="65" name="円/楕円 64">
              <a:extLst>
                <a:ext uri="{FF2B5EF4-FFF2-40B4-BE49-F238E27FC236}">
                  <a16:creationId xmlns:a16="http://schemas.microsoft.com/office/drawing/2014/main" id="{F55DA3F7-3907-4E23-F44C-7D61ECBD0E17}"/>
                </a:ext>
              </a:extLst>
            </p:cNvPr>
            <p:cNvSpPr>
              <a:spLocks noChangeAspect="1"/>
            </p:cNvSpPr>
            <p:nvPr/>
          </p:nvSpPr>
          <p:spPr>
            <a:xfrm>
              <a:off x="8227806" y="2416772"/>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p:txBody>
        </p:sp>
        <p:sp>
          <p:nvSpPr>
            <p:cNvPr id="66" name="テキスト ボックス 65">
              <a:extLst>
                <a:ext uri="{FF2B5EF4-FFF2-40B4-BE49-F238E27FC236}">
                  <a16:creationId xmlns:a16="http://schemas.microsoft.com/office/drawing/2014/main" id="{F41A0DE8-25D0-53FE-5BCF-4C715B157E0D}"/>
                </a:ext>
              </a:extLst>
            </p:cNvPr>
            <p:cNvSpPr txBox="1"/>
            <p:nvPr/>
          </p:nvSpPr>
          <p:spPr>
            <a:xfrm>
              <a:off x="8325419" y="2401782"/>
              <a:ext cx="348119" cy="534562"/>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1</a:t>
              </a:r>
              <a:endParaRPr kumimoji="1" lang="ja-JP" altLang="en-US" sz="16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grpSp>
      <p:grpSp>
        <p:nvGrpSpPr>
          <p:cNvPr id="68" name="グループ化 67">
            <a:extLst>
              <a:ext uri="{FF2B5EF4-FFF2-40B4-BE49-F238E27FC236}">
                <a16:creationId xmlns:a16="http://schemas.microsoft.com/office/drawing/2014/main" id="{F7932319-11A2-D996-6903-C72B1B7B12C8}"/>
              </a:ext>
            </a:extLst>
          </p:cNvPr>
          <p:cNvGrpSpPr/>
          <p:nvPr/>
        </p:nvGrpSpPr>
        <p:grpSpPr>
          <a:xfrm>
            <a:off x="8478783" y="2576195"/>
            <a:ext cx="398350" cy="409503"/>
            <a:chOff x="8227806" y="2401782"/>
            <a:chExt cx="540000" cy="555120"/>
          </a:xfrm>
        </p:grpSpPr>
        <p:sp>
          <p:nvSpPr>
            <p:cNvPr id="69" name="円/楕円 68">
              <a:extLst>
                <a:ext uri="{FF2B5EF4-FFF2-40B4-BE49-F238E27FC236}">
                  <a16:creationId xmlns:a16="http://schemas.microsoft.com/office/drawing/2014/main" id="{B49AF3FA-949B-0644-7E5A-5F6839DA0F90}"/>
                </a:ext>
              </a:extLst>
            </p:cNvPr>
            <p:cNvSpPr>
              <a:spLocks noChangeAspect="1"/>
            </p:cNvSpPr>
            <p:nvPr/>
          </p:nvSpPr>
          <p:spPr>
            <a:xfrm>
              <a:off x="8227806" y="2416772"/>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p:txBody>
        </p:sp>
        <p:sp>
          <p:nvSpPr>
            <p:cNvPr id="70" name="テキスト ボックス 69">
              <a:extLst>
                <a:ext uri="{FF2B5EF4-FFF2-40B4-BE49-F238E27FC236}">
                  <a16:creationId xmlns:a16="http://schemas.microsoft.com/office/drawing/2014/main" id="{87D62CFC-3A38-DD20-5391-CA566B0E3C43}"/>
                </a:ext>
              </a:extLst>
            </p:cNvPr>
            <p:cNvSpPr txBox="1"/>
            <p:nvPr/>
          </p:nvSpPr>
          <p:spPr>
            <a:xfrm>
              <a:off x="8294816" y="2401782"/>
              <a:ext cx="411135" cy="5345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2</a:t>
              </a:r>
              <a:endParaRPr kumimoji="1" lang="ja-JP" altLang="en-US" sz="16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grpSp>
      <p:grpSp>
        <p:nvGrpSpPr>
          <p:cNvPr id="71" name="グループ化 70">
            <a:extLst>
              <a:ext uri="{FF2B5EF4-FFF2-40B4-BE49-F238E27FC236}">
                <a16:creationId xmlns:a16="http://schemas.microsoft.com/office/drawing/2014/main" id="{C7DA2BCB-453C-3A58-266A-758D9911FE32}"/>
              </a:ext>
            </a:extLst>
          </p:cNvPr>
          <p:cNvGrpSpPr/>
          <p:nvPr/>
        </p:nvGrpSpPr>
        <p:grpSpPr>
          <a:xfrm>
            <a:off x="8478783" y="3112417"/>
            <a:ext cx="398350" cy="409503"/>
            <a:chOff x="8227806" y="2401782"/>
            <a:chExt cx="540000" cy="555120"/>
          </a:xfrm>
        </p:grpSpPr>
        <p:sp>
          <p:nvSpPr>
            <p:cNvPr id="72" name="円/楕円 71">
              <a:extLst>
                <a:ext uri="{FF2B5EF4-FFF2-40B4-BE49-F238E27FC236}">
                  <a16:creationId xmlns:a16="http://schemas.microsoft.com/office/drawing/2014/main" id="{4DF59D02-7A06-EBB6-3FA6-781D275F6249}"/>
                </a:ext>
              </a:extLst>
            </p:cNvPr>
            <p:cNvSpPr>
              <a:spLocks noChangeAspect="1"/>
            </p:cNvSpPr>
            <p:nvPr/>
          </p:nvSpPr>
          <p:spPr>
            <a:xfrm>
              <a:off x="8227806" y="2416772"/>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p:txBody>
        </p:sp>
        <p:sp>
          <p:nvSpPr>
            <p:cNvPr id="73" name="テキスト ボックス 72">
              <a:extLst>
                <a:ext uri="{FF2B5EF4-FFF2-40B4-BE49-F238E27FC236}">
                  <a16:creationId xmlns:a16="http://schemas.microsoft.com/office/drawing/2014/main" id="{D7CA5C86-C66A-40E0-D9FC-AD4876F5E237}"/>
                </a:ext>
              </a:extLst>
            </p:cNvPr>
            <p:cNvSpPr txBox="1"/>
            <p:nvPr/>
          </p:nvSpPr>
          <p:spPr>
            <a:xfrm>
              <a:off x="8294816" y="2401782"/>
              <a:ext cx="415481" cy="5345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3</a:t>
              </a:r>
              <a:endParaRPr kumimoji="1" lang="ja-JP" altLang="en-US" sz="16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grpSp>
      <p:sp>
        <p:nvSpPr>
          <p:cNvPr id="74" name="テキスト ボックス 73">
            <a:extLst>
              <a:ext uri="{FF2B5EF4-FFF2-40B4-BE49-F238E27FC236}">
                <a16:creationId xmlns:a16="http://schemas.microsoft.com/office/drawing/2014/main" id="{C39FE625-94A2-886D-8702-A4E67DD359DF}"/>
              </a:ext>
            </a:extLst>
          </p:cNvPr>
          <p:cNvSpPr txBox="1"/>
          <p:nvPr/>
        </p:nvSpPr>
        <p:spPr>
          <a:xfrm>
            <a:off x="8885265" y="2098595"/>
            <a:ext cx="197682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Free in-app </a:t>
            </a: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house ads</a:t>
            </a:r>
            <a:endParaRPr kumimoji="1" lang="ja-JP" altLang="en-US" sz="1200" b="0" i="0" u="none" strike="noStrike" kern="1200" cap="none" spc="0" normalizeH="0" baseline="3000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75" name="テキスト ボックス 74">
            <a:extLst>
              <a:ext uri="{FF2B5EF4-FFF2-40B4-BE49-F238E27FC236}">
                <a16:creationId xmlns:a16="http://schemas.microsoft.com/office/drawing/2014/main" id="{A457A7B2-A012-EC28-9D01-E7E46194D305}"/>
              </a:ext>
            </a:extLst>
          </p:cNvPr>
          <p:cNvSpPr txBox="1"/>
          <p:nvPr/>
        </p:nvSpPr>
        <p:spPr>
          <a:xfrm>
            <a:off x="8885266" y="2535687"/>
            <a:ext cx="29640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New function</a:t>
            </a: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 enhancements exclusive to subscriptions </a:t>
            </a:r>
            <a:endParaRPr kumimoji="1" lang="ja-JP" altLang="en-US" sz="1200" b="0" i="0" u="none" strike="noStrike" kern="1200" cap="none" spc="0" normalizeH="0" baseline="3000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76" name="テキスト ボックス 75">
            <a:extLst>
              <a:ext uri="{FF2B5EF4-FFF2-40B4-BE49-F238E27FC236}">
                <a16:creationId xmlns:a16="http://schemas.microsoft.com/office/drawing/2014/main" id="{25D48FC6-3EB3-7274-89CB-E62D23EC96F9}"/>
              </a:ext>
            </a:extLst>
          </p:cNvPr>
          <p:cNvSpPr txBox="1"/>
          <p:nvPr/>
        </p:nvSpPr>
        <p:spPr>
          <a:xfrm>
            <a:off x="8885265" y="3094840"/>
            <a:ext cx="199605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Optimized onboarding </a:t>
            </a:r>
            <a:endPar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to increase conversion </a:t>
            </a:r>
            <a:endParaRPr kumimoji="1" lang="ja-JP" altLang="en-US" sz="1200" b="0" i="0" u="none" strike="noStrike" kern="1200" cap="none" spc="0" normalizeH="0" baseline="3000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7" name="テキスト ボックス 6">
            <a:extLst>
              <a:ext uri="{FF2B5EF4-FFF2-40B4-BE49-F238E27FC236}">
                <a16:creationId xmlns:a16="http://schemas.microsoft.com/office/drawing/2014/main" id="{FEF01266-3A19-E3E9-F84D-30687101F007}"/>
              </a:ext>
            </a:extLst>
          </p:cNvPr>
          <p:cNvSpPr txBox="1"/>
          <p:nvPr/>
        </p:nvSpPr>
        <p:spPr>
          <a:xfrm>
            <a:off x="3363233" y="5681562"/>
            <a:ext cx="70461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rgbClr val="142FA4"/>
                </a:solidFill>
                <a:effectLst/>
                <a:uLnTx/>
                <a:uFillTx/>
                <a:latin typeface="Poppins SemiBold" pitchFamily="2" charset="0"/>
                <a:ea typeface="M PLUS 1p" panose="020B0502020203020207" pitchFamily="34" charset="-128"/>
                <a:cs typeface="Poppins SemiBold" pitchFamily="2" charset="0"/>
              </a:rPr>
              <a:t>5.0</a:t>
            </a:r>
            <a:r>
              <a:rPr kumimoji="1" lang="en-US" altLang="ja-JP" sz="11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800" b="0" i="0" u="none" strike="noStrike" kern="1200" cap="none" spc="0" normalizeH="0" baseline="0" noProof="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2" name="テキスト ボックス 1">
            <a:extLst>
              <a:ext uri="{FF2B5EF4-FFF2-40B4-BE49-F238E27FC236}">
                <a16:creationId xmlns:a16="http://schemas.microsoft.com/office/drawing/2014/main" id="{9D5500AB-F9F4-50D5-80DF-321DA14CE055}"/>
              </a:ext>
            </a:extLst>
          </p:cNvPr>
          <p:cNvSpPr txBox="1"/>
          <p:nvPr/>
        </p:nvSpPr>
        <p:spPr>
          <a:xfrm>
            <a:off x="7943118" y="4248451"/>
            <a:ext cx="1026242"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(thousands of </a:t>
            </a:r>
            <a:br>
              <a:rPr kumimoji="1" lang="en-US" altLang="ja-JP" sz="9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br>
            <a:r>
              <a:rPr kumimoji="1" lang="en-US" altLang="ja-JP" sz="9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subscriptions)</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54" name="図 53" descr="挿絵, 時計, 記号 が含まれている画像&#10;&#10;AI 生成コンテンツは誤りを含む可能性があります。">
            <a:extLst>
              <a:ext uri="{FF2B5EF4-FFF2-40B4-BE49-F238E27FC236}">
                <a16:creationId xmlns:a16="http://schemas.microsoft.com/office/drawing/2014/main" id="{04158D1E-D5E3-16C8-0608-A8CCAFA849CB}"/>
              </a:ext>
            </a:extLst>
          </p:cNvPr>
          <p:cNvPicPr>
            <a:picLocks noGrp="1" noRot="1" noChangeAspect="1" noMove="1" noResize="1" noEditPoints="1" noAdjustHandles="1" noChangeArrowheads="1" noChangeShapeType="1" noCrop="1"/>
          </p:cNvPicPr>
          <p:nvPr/>
        </p:nvPicPr>
        <p:blipFill>
          <a:blip r:embed="rId6" cstate="email">
            <a:extLst>
              <a:ext uri="{28A0092B-C50C-407E-A947-70E740481C1C}">
                <a14:useLocalDpi xmlns:a14="http://schemas.microsoft.com/office/drawing/2010/main"/>
              </a:ext>
            </a:extLst>
          </a:blip>
          <a:stretch>
            <a:fillRect/>
          </a:stretch>
        </p:blipFill>
        <p:spPr>
          <a:xfrm>
            <a:off x="-11724" y="2201188"/>
            <a:ext cx="576000" cy="4075825"/>
          </a:xfrm>
          <a:prstGeom prst="rect">
            <a:avLst/>
          </a:prstGeom>
        </p:spPr>
      </p:pic>
      <p:cxnSp>
        <p:nvCxnSpPr>
          <p:cNvPr id="44" name="直線矢印コネクタ 43">
            <a:extLst>
              <a:ext uri="{FF2B5EF4-FFF2-40B4-BE49-F238E27FC236}">
                <a16:creationId xmlns:a16="http://schemas.microsoft.com/office/drawing/2014/main" id="{98495FC0-25B7-8469-3CBF-4B75C4B464C8}"/>
              </a:ext>
            </a:extLst>
          </p:cNvPr>
          <p:cNvCxnSpPr>
            <a:cxnSpLocks/>
            <a:endCxn id="86" idx="3"/>
          </p:cNvCxnSpPr>
          <p:nvPr/>
        </p:nvCxnSpPr>
        <p:spPr>
          <a:xfrm flipV="1">
            <a:off x="8698386" y="4359092"/>
            <a:ext cx="2331163" cy="1047797"/>
          </a:xfrm>
          <a:prstGeom prst="straightConnector1">
            <a:avLst/>
          </a:prstGeom>
          <a:ln w="57150">
            <a:solidFill>
              <a:srgbClr val="C0FF00"/>
            </a:solidFill>
            <a:tailEnd type="none"/>
          </a:ln>
        </p:spPr>
        <p:style>
          <a:lnRef idx="2">
            <a:schemeClr val="accent1"/>
          </a:lnRef>
          <a:fillRef idx="0">
            <a:schemeClr val="accent1"/>
          </a:fillRef>
          <a:effectRef idx="1">
            <a:schemeClr val="accent1"/>
          </a:effectRef>
          <a:fontRef idx="minor">
            <a:schemeClr val="tx1"/>
          </a:fontRef>
        </p:style>
      </p:cxnSp>
      <p:grpSp>
        <p:nvGrpSpPr>
          <p:cNvPr id="45" name="グループ化 44">
            <a:extLst>
              <a:ext uri="{FF2B5EF4-FFF2-40B4-BE49-F238E27FC236}">
                <a16:creationId xmlns:a16="http://schemas.microsoft.com/office/drawing/2014/main" id="{6AB4B174-9AD3-EA8C-66E6-16C2F7419F82}"/>
              </a:ext>
            </a:extLst>
          </p:cNvPr>
          <p:cNvGrpSpPr/>
          <p:nvPr/>
        </p:nvGrpSpPr>
        <p:grpSpPr>
          <a:xfrm>
            <a:off x="8893610" y="4429158"/>
            <a:ext cx="923899" cy="896294"/>
            <a:chOff x="12504192" y="4362272"/>
            <a:chExt cx="923899" cy="896294"/>
          </a:xfrm>
        </p:grpSpPr>
        <p:sp>
          <p:nvSpPr>
            <p:cNvPr id="47" name="円/楕円 46">
              <a:extLst>
                <a:ext uri="{FF2B5EF4-FFF2-40B4-BE49-F238E27FC236}">
                  <a16:creationId xmlns:a16="http://schemas.microsoft.com/office/drawing/2014/main" id="{B25FD696-3A7A-AE9C-D964-C5AE285B6789}"/>
                </a:ext>
              </a:extLst>
            </p:cNvPr>
            <p:cNvSpPr>
              <a:spLocks noChangeAspect="1"/>
            </p:cNvSpPr>
            <p:nvPr/>
          </p:nvSpPr>
          <p:spPr>
            <a:xfrm>
              <a:off x="12504192" y="4362272"/>
              <a:ext cx="896080" cy="896294"/>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48" name="テキスト ボックス 47">
              <a:extLst>
                <a:ext uri="{FF2B5EF4-FFF2-40B4-BE49-F238E27FC236}">
                  <a16:creationId xmlns:a16="http://schemas.microsoft.com/office/drawing/2014/main" id="{E2D3CCDF-F49E-E68B-8F60-4F7541BC304F}"/>
                </a:ext>
              </a:extLst>
            </p:cNvPr>
            <p:cNvSpPr txBox="1"/>
            <p:nvPr/>
          </p:nvSpPr>
          <p:spPr>
            <a:xfrm>
              <a:off x="12532011" y="4602486"/>
              <a:ext cx="89608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56.8</a:t>
              </a:r>
              <a:r>
                <a:rPr kumimoji="1" lang="en-US" altLang="ja-JP" sz="11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endParaRPr kumimoji="1" lang="ja-JP" altLang="en-US" sz="11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77" name="テキスト ボックス 76">
              <a:extLst>
                <a:ext uri="{FF2B5EF4-FFF2-40B4-BE49-F238E27FC236}">
                  <a16:creationId xmlns:a16="http://schemas.microsoft.com/office/drawing/2014/main" id="{314DCF82-5C33-C1E5-C3F9-F56D2956CA95}"/>
                </a:ext>
              </a:extLst>
            </p:cNvPr>
            <p:cNvSpPr txBox="1"/>
            <p:nvPr/>
          </p:nvSpPr>
          <p:spPr>
            <a:xfrm>
              <a:off x="12724110" y="4483984"/>
              <a:ext cx="478016"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CAGR</a:t>
              </a:r>
            </a:p>
          </p:txBody>
        </p:sp>
        <p:sp>
          <p:nvSpPr>
            <p:cNvPr id="83" name="テキスト ボックス 82">
              <a:extLst>
                <a:ext uri="{FF2B5EF4-FFF2-40B4-BE49-F238E27FC236}">
                  <a16:creationId xmlns:a16="http://schemas.microsoft.com/office/drawing/2014/main" id="{C0F4BF4E-9333-C80D-1830-245342D707AE}"/>
                </a:ext>
              </a:extLst>
            </p:cNvPr>
            <p:cNvSpPr txBox="1"/>
            <p:nvPr/>
          </p:nvSpPr>
          <p:spPr>
            <a:xfrm>
              <a:off x="12615907" y="4915783"/>
              <a:ext cx="694421"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FY21-FY28</a:t>
              </a:r>
            </a:p>
          </p:txBody>
        </p:sp>
      </p:grpSp>
      <p:sp>
        <p:nvSpPr>
          <p:cNvPr id="86" name="三角形 85">
            <a:extLst>
              <a:ext uri="{FF2B5EF4-FFF2-40B4-BE49-F238E27FC236}">
                <a16:creationId xmlns:a16="http://schemas.microsoft.com/office/drawing/2014/main" id="{1DDC991A-E8DF-94A8-F22D-43DFEB33D990}"/>
              </a:ext>
            </a:extLst>
          </p:cNvPr>
          <p:cNvSpPr/>
          <p:nvPr/>
        </p:nvSpPr>
        <p:spPr>
          <a:xfrm rot="3834025">
            <a:off x="10924916" y="4230406"/>
            <a:ext cx="369777" cy="178738"/>
          </a:xfrm>
          <a:prstGeom prst="triangl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89" name="テキスト ボックス 88">
            <a:extLst>
              <a:ext uri="{FF2B5EF4-FFF2-40B4-BE49-F238E27FC236}">
                <a16:creationId xmlns:a16="http://schemas.microsoft.com/office/drawing/2014/main" id="{F5F90774-1B54-4965-093A-2743DB318CE5}"/>
              </a:ext>
            </a:extLst>
          </p:cNvPr>
          <p:cNvSpPr txBox="1"/>
          <p:nvPr/>
        </p:nvSpPr>
        <p:spPr>
          <a:xfrm>
            <a:off x="9889815" y="5083434"/>
            <a:ext cx="49244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397.6</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91" name="テキスト ボックス 90">
            <a:extLst>
              <a:ext uri="{FF2B5EF4-FFF2-40B4-BE49-F238E27FC236}">
                <a16:creationId xmlns:a16="http://schemas.microsoft.com/office/drawing/2014/main" id="{A2D6820C-D4C4-4F5F-0F40-26E1A2B2D104}"/>
              </a:ext>
            </a:extLst>
          </p:cNvPr>
          <p:cNvSpPr txBox="1"/>
          <p:nvPr/>
        </p:nvSpPr>
        <p:spPr>
          <a:xfrm>
            <a:off x="10209950" y="4932009"/>
            <a:ext cx="50045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547.4</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93" name="テキスト ボックス 92">
            <a:extLst>
              <a:ext uri="{FF2B5EF4-FFF2-40B4-BE49-F238E27FC236}">
                <a16:creationId xmlns:a16="http://schemas.microsoft.com/office/drawing/2014/main" id="{15D9B9F1-1DAA-1356-79D2-56D6EF8B0A6F}"/>
              </a:ext>
            </a:extLst>
          </p:cNvPr>
          <p:cNvSpPr txBox="1"/>
          <p:nvPr/>
        </p:nvSpPr>
        <p:spPr>
          <a:xfrm>
            <a:off x="10555573" y="4780583"/>
            <a:ext cx="49725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700.6</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94" name="テキスト ボックス 93">
            <a:extLst>
              <a:ext uri="{FF2B5EF4-FFF2-40B4-BE49-F238E27FC236}">
                <a16:creationId xmlns:a16="http://schemas.microsoft.com/office/drawing/2014/main" id="{780164C1-CDD1-4929-81C3-EA5AB431175A}"/>
              </a:ext>
            </a:extLst>
          </p:cNvPr>
          <p:cNvSpPr txBox="1"/>
          <p:nvPr/>
        </p:nvSpPr>
        <p:spPr>
          <a:xfrm>
            <a:off x="10896387" y="4629157"/>
            <a:ext cx="50206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rPr>
              <a:t>853.9</a:t>
            </a:r>
            <a:endParaRPr kumimoji="1" lang="ja-JP" altLang="en-US" sz="900" b="0" i="0" u="none" strike="noStrike" kern="1200" cap="none" spc="0" normalizeH="0" baseline="0" noProof="0" dirty="0">
              <a:ln>
                <a:noFill/>
              </a:ln>
              <a:solidFill>
                <a:srgbClr val="142FA4"/>
              </a:solidFill>
              <a:effectLst/>
              <a:uLnTx/>
              <a:uFillTx/>
              <a:latin typeface="Poppins Medium" pitchFamily="2" charset="0"/>
              <a:ea typeface="M PLUS 1p" panose="020B0502020203020207" pitchFamily="34" charset="-128"/>
              <a:cs typeface="Poppins Medium" pitchFamily="2" charset="0"/>
            </a:endParaRPr>
          </a:p>
        </p:txBody>
      </p:sp>
      <p:sp>
        <p:nvSpPr>
          <p:cNvPr id="34" name="テキスト ボックス 33">
            <a:extLst>
              <a:ext uri="{FF2B5EF4-FFF2-40B4-BE49-F238E27FC236}">
                <a16:creationId xmlns:a16="http://schemas.microsoft.com/office/drawing/2014/main" id="{D9BE7152-01A2-E65B-0245-1D9E464A1DB5}"/>
              </a:ext>
            </a:extLst>
          </p:cNvPr>
          <p:cNvSpPr txBox="1"/>
          <p:nvPr/>
        </p:nvSpPr>
        <p:spPr>
          <a:xfrm>
            <a:off x="2739967" y="1736224"/>
            <a:ext cx="3040896"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Growth Impact of Subscriber Expansion</a:t>
            </a:r>
          </a:p>
        </p:txBody>
      </p:sp>
      <p:sp>
        <p:nvSpPr>
          <p:cNvPr id="35" name="テキスト ボックス 34">
            <a:extLst>
              <a:ext uri="{FF2B5EF4-FFF2-40B4-BE49-F238E27FC236}">
                <a16:creationId xmlns:a16="http://schemas.microsoft.com/office/drawing/2014/main" id="{2A43ED92-BBA8-1E2A-3187-93051D0E5D33}"/>
              </a:ext>
            </a:extLst>
          </p:cNvPr>
          <p:cNvSpPr txBox="1"/>
          <p:nvPr/>
        </p:nvSpPr>
        <p:spPr>
          <a:xfrm>
            <a:off x="9002450" y="1736224"/>
            <a:ext cx="1606209"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Three Growth Drivers</a:t>
            </a:r>
          </a:p>
        </p:txBody>
      </p:sp>
      <p:sp>
        <p:nvSpPr>
          <p:cNvPr id="36" name="テキスト ボックス 35">
            <a:extLst>
              <a:ext uri="{FF2B5EF4-FFF2-40B4-BE49-F238E27FC236}">
                <a16:creationId xmlns:a16="http://schemas.microsoft.com/office/drawing/2014/main" id="{B8A21C07-426E-9BCD-3CDD-65E96E053E48}"/>
              </a:ext>
            </a:extLst>
          </p:cNvPr>
          <p:cNvSpPr txBox="1"/>
          <p:nvPr/>
        </p:nvSpPr>
        <p:spPr>
          <a:xfrm>
            <a:off x="8406133" y="3859931"/>
            <a:ext cx="2798843"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Progress in Number of Subscriptions</a:t>
            </a:r>
          </a:p>
        </p:txBody>
      </p:sp>
      <p:sp>
        <p:nvSpPr>
          <p:cNvPr id="37" name="テキスト プレースホルダー 36">
            <a:extLst>
              <a:ext uri="{FF2B5EF4-FFF2-40B4-BE49-F238E27FC236}">
                <a16:creationId xmlns:a16="http://schemas.microsoft.com/office/drawing/2014/main" id="{28B0DE43-CF26-E8C4-672C-D9D24866E4C3}"/>
              </a:ext>
            </a:extLst>
          </p:cNvPr>
          <p:cNvSpPr>
            <a:spLocks noGrp="1"/>
          </p:cNvSpPr>
          <p:nvPr>
            <p:ph type="body" sz="quarter" idx="12"/>
          </p:nvPr>
        </p:nvSpPr>
        <p:spPr/>
        <p:txBody>
          <a:bodyPr/>
          <a:lstStyle/>
          <a:p>
            <a:r>
              <a:rPr lang="en" altLang="ja-JP" dirty="0"/>
              <a:t>Growth Strategy (1) </a:t>
            </a:r>
            <a:endParaRPr lang="ja-JP" altLang="en-US"/>
          </a:p>
        </p:txBody>
      </p:sp>
      <p:sp>
        <p:nvSpPr>
          <p:cNvPr id="39" name="タイトル 38">
            <a:extLst>
              <a:ext uri="{FF2B5EF4-FFF2-40B4-BE49-F238E27FC236}">
                <a16:creationId xmlns:a16="http://schemas.microsoft.com/office/drawing/2014/main" id="{53D47A14-D4FE-B965-B074-F66DC740869F}"/>
              </a:ext>
            </a:extLst>
          </p:cNvPr>
          <p:cNvSpPr>
            <a:spLocks noGrp="1"/>
          </p:cNvSpPr>
          <p:nvPr>
            <p:ph type="ctrTitle"/>
          </p:nvPr>
        </p:nvSpPr>
        <p:spPr/>
        <p:txBody>
          <a:bodyPr/>
          <a:lstStyle/>
          <a:p>
            <a:r>
              <a:rPr lang="en" altLang="ja-JP" dirty="0">
                <a:solidFill>
                  <a:srgbClr val="C0FF00"/>
                </a:solidFill>
              </a:rPr>
              <a:t>Driving subscription conversion </a:t>
            </a:r>
            <a:br>
              <a:rPr lang="en" altLang="ja-JP" dirty="0"/>
            </a:br>
            <a:r>
              <a:rPr lang="en" altLang="ja-JP" dirty="0"/>
              <a:t>via free in-app house ads to 40 million active users </a:t>
            </a:r>
            <a:endParaRPr lang="ja-JP" altLang="en-US"/>
          </a:p>
        </p:txBody>
      </p:sp>
    </p:spTree>
    <p:extLst>
      <p:ext uri="{BB962C8B-B14F-4D97-AF65-F5344CB8AC3E}">
        <p14:creationId xmlns:p14="http://schemas.microsoft.com/office/powerpoint/2010/main" val="641875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角丸四角形 4">
            <a:extLst>
              <a:ext uri="{FF2B5EF4-FFF2-40B4-BE49-F238E27FC236}">
                <a16:creationId xmlns:a16="http://schemas.microsoft.com/office/drawing/2014/main" id="{E05A27F6-C99E-771D-B709-9810B0302040}"/>
              </a:ext>
            </a:extLst>
          </p:cNvPr>
          <p:cNvSpPr/>
          <p:nvPr/>
        </p:nvSpPr>
        <p:spPr>
          <a:xfrm>
            <a:off x="577522" y="1490663"/>
            <a:ext cx="7235220" cy="4778708"/>
          </a:xfrm>
          <a:prstGeom prst="roundRect">
            <a:avLst>
              <a:gd name="adj" fmla="val 3620"/>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p:txBody>
      </p:sp>
      <p:pic>
        <p:nvPicPr>
          <p:cNvPr id="67" name="図 66">
            <a:extLst>
              <a:ext uri="{FF2B5EF4-FFF2-40B4-BE49-F238E27FC236}">
                <a16:creationId xmlns:a16="http://schemas.microsoft.com/office/drawing/2014/main" id="{1A651965-E36C-0DAC-F8EB-3B17FF49E3E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rot="3043500" flipH="1">
            <a:off x="5653157" y="1483762"/>
            <a:ext cx="475151" cy="3890476"/>
          </a:xfrm>
          <a:prstGeom prst="rect">
            <a:avLst/>
          </a:prstGeom>
        </p:spPr>
      </p:pic>
      <p:graphicFrame>
        <p:nvGraphicFramePr>
          <p:cNvPr id="9" name="グラフ 8">
            <a:extLst>
              <a:ext uri="{FF2B5EF4-FFF2-40B4-BE49-F238E27FC236}">
                <a16:creationId xmlns:a16="http://schemas.microsoft.com/office/drawing/2014/main" id="{BF5FAD80-2FE4-48C4-C7E1-148428F5D83E}"/>
              </a:ext>
            </a:extLst>
          </p:cNvPr>
          <p:cNvGraphicFramePr/>
          <p:nvPr>
            <p:extLst>
              <p:ext uri="{D42A27DB-BD31-4B8C-83A1-F6EECF244321}">
                <p14:modId xmlns:p14="http://schemas.microsoft.com/office/powerpoint/2010/main" val="2875847025"/>
              </p:ext>
            </p:extLst>
          </p:nvPr>
        </p:nvGraphicFramePr>
        <p:xfrm>
          <a:off x="113240" y="2818154"/>
          <a:ext cx="7498316" cy="3142960"/>
        </p:xfrm>
        <a:graphic>
          <a:graphicData uri="http://schemas.openxmlformats.org/drawingml/2006/chart">
            <c:chart xmlns:c="http://schemas.openxmlformats.org/drawingml/2006/chart" xmlns:r="http://schemas.openxmlformats.org/officeDocument/2006/relationships" r:id="rId4"/>
          </a:graphicData>
        </a:graphic>
      </p:graphicFrame>
      <p:sp>
        <p:nvSpPr>
          <p:cNvPr id="8" name="角丸四角形 7">
            <a:extLst>
              <a:ext uri="{FF2B5EF4-FFF2-40B4-BE49-F238E27FC236}">
                <a16:creationId xmlns:a16="http://schemas.microsoft.com/office/drawing/2014/main" id="{8BEF613E-8B6D-2850-0EA2-380734F06623}"/>
              </a:ext>
            </a:extLst>
          </p:cNvPr>
          <p:cNvSpPr/>
          <p:nvPr/>
        </p:nvSpPr>
        <p:spPr>
          <a:xfrm>
            <a:off x="8074617" y="1490663"/>
            <a:ext cx="3566521" cy="2275426"/>
          </a:xfrm>
          <a:prstGeom prst="roundRect">
            <a:avLst>
              <a:gd name="adj" fmla="val 7016"/>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8" name="フリーフォーム 97">
            <a:extLst>
              <a:ext uri="{FF2B5EF4-FFF2-40B4-BE49-F238E27FC236}">
                <a16:creationId xmlns:a16="http://schemas.microsoft.com/office/drawing/2014/main" id="{E4508D53-23E3-5986-5571-BB9B7143712E}"/>
              </a:ext>
            </a:extLst>
          </p:cNvPr>
          <p:cNvSpPr/>
          <p:nvPr/>
        </p:nvSpPr>
        <p:spPr>
          <a:xfrm>
            <a:off x="8074617" y="1808018"/>
            <a:ext cx="3566521" cy="1958071"/>
          </a:xfrm>
          <a:custGeom>
            <a:avLst/>
            <a:gdLst>
              <a:gd name="connsiteX0" fmla="*/ 0 w 3566521"/>
              <a:gd name="connsiteY0" fmla="*/ 0 h 1958071"/>
              <a:gd name="connsiteX1" fmla="*/ 3566521 w 3566521"/>
              <a:gd name="connsiteY1" fmla="*/ 0 h 1958071"/>
              <a:gd name="connsiteX2" fmla="*/ 3566521 w 3566521"/>
              <a:gd name="connsiteY2" fmla="*/ 1798427 h 1958071"/>
              <a:gd name="connsiteX3" fmla="*/ 3406877 w 3566521"/>
              <a:gd name="connsiteY3" fmla="*/ 1958071 h 1958071"/>
              <a:gd name="connsiteX4" fmla="*/ 159644 w 3566521"/>
              <a:gd name="connsiteY4" fmla="*/ 1958071 h 1958071"/>
              <a:gd name="connsiteX5" fmla="*/ 0 w 3566521"/>
              <a:gd name="connsiteY5" fmla="*/ 1798427 h 195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6521" h="1958071">
                <a:moveTo>
                  <a:pt x="0" y="0"/>
                </a:moveTo>
                <a:lnTo>
                  <a:pt x="3566521" y="0"/>
                </a:lnTo>
                <a:lnTo>
                  <a:pt x="3566521" y="1798427"/>
                </a:lnTo>
                <a:cubicBezTo>
                  <a:pt x="3566521" y="1886596"/>
                  <a:pt x="3495046" y="1958071"/>
                  <a:pt x="3406877" y="1958071"/>
                </a:cubicBezTo>
                <a:lnTo>
                  <a:pt x="159644" y="1958071"/>
                </a:lnTo>
                <a:cubicBezTo>
                  <a:pt x="71475" y="1958071"/>
                  <a:pt x="0" y="1886596"/>
                  <a:pt x="0" y="1798427"/>
                </a:cubicBezTo>
                <a:close/>
              </a:path>
            </a:pathLst>
          </a:custGeom>
          <a:blipFill>
            <a:blip r:embed="rId5" cstate="email">
              <a:extLst>
                <a:ext uri="{28A0092B-C50C-407E-A947-70E740481C1C}">
                  <a14:useLocalDpi xmlns:a14="http://schemas.microsoft.com/office/drawing/2010/main"/>
                </a:ext>
              </a:extLst>
            </a:blip>
            <a:srcRect/>
            <a:stretch>
              <a:fillRect/>
            </a:stretch>
          </a:blip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pSp>
        <p:nvGrpSpPr>
          <p:cNvPr id="99" name="グループ化 98">
            <a:extLst>
              <a:ext uri="{FF2B5EF4-FFF2-40B4-BE49-F238E27FC236}">
                <a16:creationId xmlns:a16="http://schemas.microsoft.com/office/drawing/2014/main" id="{F4F53096-7AB4-70DF-64ED-44B2372DE770}"/>
              </a:ext>
            </a:extLst>
          </p:cNvPr>
          <p:cNvGrpSpPr/>
          <p:nvPr/>
        </p:nvGrpSpPr>
        <p:grpSpPr>
          <a:xfrm>
            <a:off x="8074615" y="1490663"/>
            <a:ext cx="3566523" cy="497895"/>
            <a:chOff x="8074615" y="1490663"/>
            <a:chExt cx="3566523" cy="497895"/>
          </a:xfrm>
        </p:grpSpPr>
        <p:sp>
          <p:nvSpPr>
            <p:cNvPr id="97" name="フリーフォーム 96">
              <a:extLst>
                <a:ext uri="{FF2B5EF4-FFF2-40B4-BE49-F238E27FC236}">
                  <a16:creationId xmlns:a16="http://schemas.microsoft.com/office/drawing/2014/main" id="{5AD0BDF9-2EA1-79A6-AE80-C70E988C821A}"/>
                </a:ext>
              </a:extLst>
            </p:cNvPr>
            <p:cNvSpPr/>
            <p:nvPr/>
          </p:nvSpPr>
          <p:spPr>
            <a:xfrm>
              <a:off x="8074617" y="1490663"/>
              <a:ext cx="3566521" cy="317355"/>
            </a:xfrm>
            <a:custGeom>
              <a:avLst/>
              <a:gdLst>
                <a:gd name="connsiteX0" fmla="*/ 151112 w 3566521"/>
                <a:gd name="connsiteY0" fmla="*/ 0 h 317355"/>
                <a:gd name="connsiteX1" fmla="*/ 3415409 w 3566521"/>
                <a:gd name="connsiteY1" fmla="*/ 0 h 317355"/>
                <a:gd name="connsiteX2" fmla="*/ 3554646 w 3566521"/>
                <a:gd name="connsiteY2" fmla="*/ 92292 h 317355"/>
                <a:gd name="connsiteX3" fmla="*/ 3564840 w 3566521"/>
                <a:gd name="connsiteY3" fmla="*/ 142787 h 317355"/>
                <a:gd name="connsiteX4" fmla="*/ 3566521 w 3566521"/>
                <a:gd name="connsiteY4" fmla="*/ 142787 h 317355"/>
                <a:gd name="connsiteX5" fmla="*/ 3566521 w 3566521"/>
                <a:gd name="connsiteY5" fmla="*/ 151112 h 317355"/>
                <a:gd name="connsiteX6" fmla="*/ 3566521 w 3566521"/>
                <a:gd name="connsiteY6" fmla="*/ 166243 h 317355"/>
                <a:gd name="connsiteX7" fmla="*/ 3566521 w 3566521"/>
                <a:gd name="connsiteY7" fmla="*/ 317355 h 317355"/>
                <a:gd name="connsiteX8" fmla="*/ 3415409 w 3566521"/>
                <a:gd name="connsiteY8" fmla="*/ 317355 h 317355"/>
                <a:gd name="connsiteX9" fmla="*/ 151112 w 3566521"/>
                <a:gd name="connsiteY9" fmla="*/ 317355 h 317355"/>
                <a:gd name="connsiteX10" fmla="*/ 0 w 3566521"/>
                <a:gd name="connsiteY10" fmla="*/ 317355 h 317355"/>
                <a:gd name="connsiteX11" fmla="*/ 0 w 3566521"/>
                <a:gd name="connsiteY11" fmla="*/ 166243 h 317355"/>
                <a:gd name="connsiteX12" fmla="*/ 0 w 3566521"/>
                <a:gd name="connsiteY12" fmla="*/ 151112 h 317355"/>
                <a:gd name="connsiteX13" fmla="*/ 0 w 3566521"/>
                <a:gd name="connsiteY13" fmla="*/ 142787 h 317355"/>
                <a:gd name="connsiteX14" fmla="*/ 1681 w 3566521"/>
                <a:gd name="connsiteY14" fmla="*/ 142787 h 317355"/>
                <a:gd name="connsiteX15" fmla="*/ 11875 w 3566521"/>
                <a:gd name="connsiteY15" fmla="*/ 92292 h 317355"/>
                <a:gd name="connsiteX16" fmla="*/ 151112 w 3566521"/>
                <a:gd name="connsiteY16" fmla="*/ 0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66521" h="317355">
                  <a:moveTo>
                    <a:pt x="151112" y="0"/>
                  </a:moveTo>
                  <a:lnTo>
                    <a:pt x="3415409" y="0"/>
                  </a:lnTo>
                  <a:cubicBezTo>
                    <a:pt x="3478002" y="0"/>
                    <a:pt x="3531706" y="38056"/>
                    <a:pt x="3554646" y="92292"/>
                  </a:cubicBezTo>
                  <a:lnTo>
                    <a:pt x="3564840" y="142787"/>
                  </a:lnTo>
                  <a:lnTo>
                    <a:pt x="3566521" y="142787"/>
                  </a:lnTo>
                  <a:lnTo>
                    <a:pt x="3566521" y="151112"/>
                  </a:lnTo>
                  <a:lnTo>
                    <a:pt x="3566521" y="166243"/>
                  </a:lnTo>
                  <a:lnTo>
                    <a:pt x="3566521" y="317355"/>
                  </a:lnTo>
                  <a:lnTo>
                    <a:pt x="3415409" y="317355"/>
                  </a:lnTo>
                  <a:lnTo>
                    <a:pt x="151112" y="317355"/>
                  </a:lnTo>
                  <a:lnTo>
                    <a:pt x="0" y="317355"/>
                  </a:lnTo>
                  <a:lnTo>
                    <a:pt x="0" y="166243"/>
                  </a:lnTo>
                  <a:lnTo>
                    <a:pt x="0" y="151112"/>
                  </a:lnTo>
                  <a:lnTo>
                    <a:pt x="0" y="142787"/>
                  </a:lnTo>
                  <a:lnTo>
                    <a:pt x="1681" y="142787"/>
                  </a:lnTo>
                  <a:lnTo>
                    <a:pt x="11875" y="92292"/>
                  </a:lnTo>
                  <a:cubicBezTo>
                    <a:pt x="34815" y="38056"/>
                    <a:pt x="88520" y="0"/>
                    <a:pt x="151112" y="0"/>
                  </a:cubicBezTo>
                  <a:close/>
                </a:path>
              </a:pathLst>
            </a:custGeom>
            <a:solidFill>
              <a:srgbClr val="00A7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79" name="正方形/長方形 78">
              <a:extLst>
                <a:ext uri="{FF2B5EF4-FFF2-40B4-BE49-F238E27FC236}">
                  <a16:creationId xmlns:a16="http://schemas.microsoft.com/office/drawing/2014/main" id="{60638B60-040E-E7AE-185C-5D82B91D144F}"/>
                </a:ext>
              </a:extLst>
            </p:cNvPr>
            <p:cNvSpPr/>
            <p:nvPr/>
          </p:nvSpPr>
          <p:spPr>
            <a:xfrm flipV="1">
              <a:off x="8074615" y="1696169"/>
              <a:ext cx="3566521" cy="292389"/>
            </a:xfrm>
            <a:prstGeom prst="rect">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pSp>
      <p:sp>
        <p:nvSpPr>
          <p:cNvPr id="20" name="角丸四角形 19">
            <a:extLst>
              <a:ext uri="{FF2B5EF4-FFF2-40B4-BE49-F238E27FC236}">
                <a16:creationId xmlns:a16="http://schemas.microsoft.com/office/drawing/2014/main" id="{31A721E8-BF92-A4ED-AEA2-57164E5E790B}"/>
              </a:ext>
            </a:extLst>
          </p:cNvPr>
          <p:cNvSpPr/>
          <p:nvPr/>
        </p:nvSpPr>
        <p:spPr>
          <a:xfrm>
            <a:off x="8074617" y="3998374"/>
            <a:ext cx="3566521" cy="2275426"/>
          </a:xfrm>
          <a:prstGeom prst="roundRect">
            <a:avLst>
              <a:gd name="adj" fmla="val 7016"/>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6" name="フリーフォーム 95">
            <a:extLst>
              <a:ext uri="{FF2B5EF4-FFF2-40B4-BE49-F238E27FC236}">
                <a16:creationId xmlns:a16="http://schemas.microsoft.com/office/drawing/2014/main" id="{9F6E96E7-8024-626F-0CD5-95FAC4DB854A}"/>
              </a:ext>
            </a:extLst>
          </p:cNvPr>
          <p:cNvSpPr/>
          <p:nvPr/>
        </p:nvSpPr>
        <p:spPr>
          <a:xfrm>
            <a:off x="8074617" y="4315729"/>
            <a:ext cx="3566521" cy="1958071"/>
          </a:xfrm>
          <a:custGeom>
            <a:avLst/>
            <a:gdLst>
              <a:gd name="connsiteX0" fmla="*/ 0 w 3566521"/>
              <a:gd name="connsiteY0" fmla="*/ 0 h 1958071"/>
              <a:gd name="connsiteX1" fmla="*/ 3566521 w 3566521"/>
              <a:gd name="connsiteY1" fmla="*/ 0 h 1958071"/>
              <a:gd name="connsiteX2" fmla="*/ 3566521 w 3566521"/>
              <a:gd name="connsiteY2" fmla="*/ 1798427 h 1958071"/>
              <a:gd name="connsiteX3" fmla="*/ 3406877 w 3566521"/>
              <a:gd name="connsiteY3" fmla="*/ 1958071 h 1958071"/>
              <a:gd name="connsiteX4" fmla="*/ 159644 w 3566521"/>
              <a:gd name="connsiteY4" fmla="*/ 1958071 h 1958071"/>
              <a:gd name="connsiteX5" fmla="*/ 0 w 3566521"/>
              <a:gd name="connsiteY5" fmla="*/ 1798427 h 195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6521" h="1958071">
                <a:moveTo>
                  <a:pt x="0" y="0"/>
                </a:moveTo>
                <a:lnTo>
                  <a:pt x="3566521" y="0"/>
                </a:lnTo>
                <a:lnTo>
                  <a:pt x="3566521" y="1798427"/>
                </a:lnTo>
                <a:cubicBezTo>
                  <a:pt x="3566521" y="1886596"/>
                  <a:pt x="3495046" y="1958071"/>
                  <a:pt x="3406877" y="1958071"/>
                </a:cubicBezTo>
                <a:lnTo>
                  <a:pt x="159644" y="1958071"/>
                </a:lnTo>
                <a:cubicBezTo>
                  <a:pt x="71475" y="1958071"/>
                  <a:pt x="0" y="1886596"/>
                  <a:pt x="0" y="1798427"/>
                </a:cubicBezTo>
                <a:close/>
              </a:path>
            </a:pathLst>
          </a:custGeom>
          <a:blipFill>
            <a:blip r:embed="rId6" cstate="email">
              <a:extLst>
                <a:ext uri="{28A0092B-C50C-407E-A947-70E740481C1C}">
                  <a14:useLocalDpi xmlns:a14="http://schemas.microsoft.com/office/drawing/2010/main"/>
                </a:ext>
              </a:extLst>
            </a:blip>
            <a:srcRect/>
            <a:stretch>
              <a:fillRect/>
            </a:stretch>
          </a:blip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5" name="フリーフォーム 94">
            <a:extLst>
              <a:ext uri="{FF2B5EF4-FFF2-40B4-BE49-F238E27FC236}">
                <a16:creationId xmlns:a16="http://schemas.microsoft.com/office/drawing/2014/main" id="{97497E7C-B93C-9BED-9B79-91E4A8C544F8}"/>
              </a:ext>
            </a:extLst>
          </p:cNvPr>
          <p:cNvSpPr/>
          <p:nvPr/>
        </p:nvSpPr>
        <p:spPr>
          <a:xfrm>
            <a:off x="8074617" y="3998374"/>
            <a:ext cx="3566521" cy="317355"/>
          </a:xfrm>
          <a:custGeom>
            <a:avLst/>
            <a:gdLst>
              <a:gd name="connsiteX0" fmla="*/ 151112 w 3566521"/>
              <a:gd name="connsiteY0" fmla="*/ 0 h 317355"/>
              <a:gd name="connsiteX1" fmla="*/ 3415409 w 3566521"/>
              <a:gd name="connsiteY1" fmla="*/ 0 h 317355"/>
              <a:gd name="connsiteX2" fmla="*/ 3554646 w 3566521"/>
              <a:gd name="connsiteY2" fmla="*/ 92292 h 317355"/>
              <a:gd name="connsiteX3" fmla="*/ 3564840 w 3566521"/>
              <a:gd name="connsiteY3" fmla="*/ 142787 h 317355"/>
              <a:gd name="connsiteX4" fmla="*/ 3566521 w 3566521"/>
              <a:gd name="connsiteY4" fmla="*/ 142787 h 317355"/>
              <a:gd name="connsiteX5" fmla="*/ 3566521 w 3566521"/>
              <a:gd name="connsiteY5" fmla="*/ 151112 h 317355"/>
              <a:gd name="connsiteX6" fmla="*/ 3566521 w 3566521"/>
              <a:gd name="connsiteY6" fmla="*/ 166243 h 317355"/>
              <a:gd name="connsiteX7" fmla="*/ 3566521 w 3566521"/>
              <a:gd name="connsiteY7" fmla="*/ 317355 h 317355"/>
              <a:gd name="connsiteX8" fmla="*/ 3415409 w 3566521"/>
              <a:gd name="connsiteY8" fmla="*/ 317355 h 317355"/>
              <a:gd name="connsiteX9" fmla="*/ 151112 w 3566521"/>
              <a:gd name="connsiteY9" fmla="*/ 317355 h 317355"/>
              <a:gd name="connsiteX10" fmla="*/ 0 w 3566521"/>
              <a:gd name="connsiteY10" fmla="*/ 317355 h 317355"/>
              <a:gd name="connsiteX11" fmla="*/ 0 w 3566521"/>
              <a:gd name="connsiteY11" fmla="*/ 166243 h 317355"/>
              <a:gd name="connsiteX12" fmla="*/ 0 w 3566521"/>
              <a:gd name="connsiteY12" fmla="*/ 151112 h 317355"/>
              <a:gd name="connsiteX13" fmla="*/ 0 w 3566521"/>
              <a:gd name="connsiteY13" fmla="*/ 142787 h 317355"/>
              <a:gd name="connsiteX14" fmla="*/ 1681 w 3566521"/>
              <a:gd name="connsiteY14" fmla="*/ 142787 h 317355"/>
              <a:gd name="connsiteX15" fmla="*/ 11875 w 3566521"/>
              <a:gd name="connsiteY15" fmla="*/ 92292 h 317355"/>
              <a:gd name="connsiteX16" fmla="*/ 151112 w 3566521"/>
              <a:gd name="connsiteY16" fmla="*/ 0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66521" h="317355">
                <a:moveTo>
                  <a:pt x="151112" y="0"/>
                </a:moveTo>
                <a:lnTo>
                  <a:pt x="3415409" y="0"/>
                </a:lnTo>
                <a:cubicBezTo>
                  <a:pt x="3478002" y="0"/>
                  <a:pt x="3531706" y="38056"/>
                  <a:pt x="3554646" y="92292"/>
                </a:cubicBezTo>
                <a:lnTo>
                  <a:pt x="3564840" y="142787"/>
                </a:lnTo>
                <a:lnTo>
                  <a:pt x="3566521" y="142787"/>
                </a:lnTo>
                <a:lnTo>
                  <a:pt x="3566521" y="151112"/>
                </a:lnTo>
                <a:lnTo>
                  <a:pt x="3566521" y="166243"/>
                </a:lnTo>
                <a:lnTo>
                  <a:pt x="3566521" y="317355"/>
                </a:lnTo>
                <a:lnTo>
                  <a:pt x="3415409" y="317355"/>
                </a:lnTo>
                <a:lnTo>
                  <a:pt x="151112" y="317355"/>
                </a:lnTo>
                <a:lnTo>
                  <a:pt x="0" y="317355"/>
                </a:lnTo>
                <a:lnTo>
                  <a:pt x="0" y="166243"/>
                </a:lnTo>
                <a:lnTo>
                  <a:pt x="0" y="151112"/>
                </a:lnTo>
                <a:lnTo>
                  <a:pt x="0" y="142787"/>
                </a:lnTo>
                <a:lnTo>
                  <a:pt x="1681" y="142787"/>
                </a:lnTo>
                <a:lnTo>
                  <a:pt x="11875" y="92292"/>
                </a:lnTo>
                <a:cubicBezTo>
                  <a:pt x="34815" y="38056"/>
                  <a:pt x="88520" y="0"/>
                  <a:pt x="151112" y="0"/>
                </a:cubicBezTo>
                <a:close/>
              </a:path>
            </a:pathLst>
          </a:custGeom>
          <a:solidFill>
            <a:srgbClr val="D44ED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3" name="テキスト プレースホルダー 2">
            <a:extLst>
              <a:ext uri="{FF2B5EF4-FFF2-40B4-BE49-F238E27FC236}">
                <a16:creationId xmlns:a16="http://schemas.microsoft.com/office/drawing/2014/main" id="{50EB4933-713D-2EAD-70EE-1B3AC2EBF24A}"/>
              </a:ext>
            </a:extLst>
          </p:cNvPr>
          <p:cNvSpPr>
            <a:spLocks noGrp="1"/>
          </p:cNvSpPr>
          <p:nvPr>
            <p:ph type="body" sz="quarter" idx="12"/>
          </p:nvPr>
        </p:nvSpPr>
        <p:spPr/>
        <p:txBody>
          <a:bodyPr/>
          <a:lstStyle/>
          <a:p>
            <a:r>
              <a:rPr lang="en-US" altLang="ja-JP"/>
              <a:t>Growth Strategy (2)</a:t>
            </a:r>
            <a:endParaRPr kumimoji="1" lang="ja-JP" altLang="en-US"/>
          </a:p>
        </p:txBody>
      </p:sp>
      <p:sp>
        <p:nvSpPr>
          <p:cNvPr id="29" name="テキスト ボックス 28">
            <a:extLst>
              <a:ext uri="{FF2B5EF4-FFF2-40B4-BE49-F238E27FC236}">
                <a16:creationId xmlns:a16="http://schemas.microsoft.com/office/drawing/2014/main" id="{97912B3C-E735-72CE-DB1C-80F5AC1F2D9E}"/>
              </a:ext>
            </a:extLst>
          </p:cNvPr>
          <p:cNvSpPr txBox="1"/>
          <p:nvPr/>
        </p:nvSpPr>
        <p:spPr>
          <a:xfrm>
            <a:off x="2479759" y="2106290"/>
            <a:ext cx="3890809" cy="275973"/>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11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One-Time Purchase App  </a:t>
            </a:r>
            <a:r>
              <a:rPr kumimoji="1" lang="ja-JP" altLang="en-US" sz="11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ja-JP" altLang="en-US" sz="1100" b="0" i="0" u="none" strike="noStrike" kern="1200" cap="none" spc="0" normalizeH="0" baseline="0" noProof="0" dirty="0">
                <a:ln>
                  <a:noFill/>
                </a:ln>
                <a:solidFill>
                  <a:srgbClr val="00B0F0"/>
                </a:solidFill>
                <a:effectLst/>
                <a:uLnTx/>
                <a:uFillTx/>
                <a:latin typeface="Poppins Medium" pitchFamily="2" charset="0"/>
                <a:ea typeface="M PLUS 1p Medium" panose="020B0502020203020207" pitchFamily="34" charset="-128"/>
                <a:cs typeface="Poppins Medium" pitchFamily="2" charset="0"/>
              </a:rPr>
              <a:t>■</a:t>
            </a:r>
            <a:r>
              <a:rPr kumimoji="1" lang="en-US" altLang="ja-JP" sz="1100" b="0" i="0" u="none" strike="noStrike" kern="1200" cap="none" spc="0" normalizeH="0" baseline="0" noProof="0" dirty="0">
                <a:ln>
                  <a:noFill/>
                </a:ln>
                <a:solidFill>
                  <a:srgbClr val="00B0F0"/>
                </a:solidFill>
                <a:effectLst/>
                <a:uLnTx/>
                <a:uFillTx/>
                <a:latin typeface="Poppins Medium" pitchFamily="2" charset="0"/>
                <a:ea typeface="M PLUS 1p Medium" panose="020B0502020203020207" pitchFamily="34" charset="-128"/>
                <a:cs typeface="Poppins Medium" pitchFamily="2" charset="0"/>
              </a:rPr>
              <a:t> Subscription Billing </a:t>
            </a:r>
          </a:p>
        </p:txBody>
      </p:sp>
      <p:sp>
        <p:nvSpPr>
          <p:cNvPr id="50" name="テキスト ボックス 49">
            <a:extLst>
              <a:ext uri="{FF2B5EF4-FFF2-40B4-BE49-F238E27FC236}">
                <a16:creationId xmlns:a16="http://schemas.microsoft.com/office/drawing/2014/main" id="{3979392E-BB4F-8BB3-5AE0-9D0001B59921}"/>
              </a:ext>
            </a:extLst>
          </p:cNvPr>
          <p:cNvSpPr txBox="1"/>
          <p:nvPr/>
        </p:nvSpPr>
        <p:spPr>
          <a:xfrm>
            <a:off x="615288" y="2737509"/>
            <a:ext cx="1290738"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(thousands of yen)</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35" name="テキスト ボックス 34">
            <a:extLst>
              <a:ext uri="{FF2B5EF4-FFF2-40B4-BE49-F238E27FC236}">
                <a16:creationId xmlns:a16="http://schemas.microsoft.com/office/drawing/2014/main" id="{7A0DBC25-D1DA-4B12-D486-37176F7FF5C9}"/>
              </a:ext>
            </a:extLst>
          </p:cNvPr>
          <p:cNvSpPr txBox="1"/>
          <p:nvPr/>
        </p:nvSpPr>
        <p:spPr>
          <a:xfrm>
            <a:off x="1668451" y="3612008"/>
            <a:ext cx="2089295" cy="4154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One-Time Purchase App First Price Increase</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sp>
        <p:nvSpPr>
          <p:cNvPr id="34" name="テキスト ボックス 33">
            <a:extLst>
              <a:ext uri="{FF2B5EF4-FFF2-40B4-BE49-F238E27FC236}">
                <a16:creationId xmlns:a16="http://schemas.microsoft.com/office/drawing/2014/main" id="{7C731BD0-63A7-757E-BE53-416249D5066E}"/>
              </a:ext>
            </a:extLst>
          </p:cNvPr>
          <p:cNvSpPr txBox="1"/>
          <p:nvPr/>
        </p:nvSpPr>
        <p:spPr>
          <a:xfrm>
            <a:off x="2596211" y="2748259"/>
            <a:ext cx="1557093" cy="4154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Subscription Service Launched</a:t>
            </a:r>
          </a:p>
        </p:txBody>
      </p:sp>
      <p:sp>
        <p:nvSpPr>
          <p:cNvPr id="37" name="テキスト ボックス 36">
            <a:extLst>
              <a:ext uri="{FF2B5EF4-FFF2-40B4-BE49-F238E27FC236}">
                <a16:creationId xmlns:a16="http://schemas.microsoft.com/office/drawing/2014/main" id="{19026F7E-4310-33C5-852A-465FBEC0870A}"/>
              </a:ext>
            </a:extLst>
          </p:cNvPr>
          <p:cNvSpPr txBox="1"/>
          <p:nvPr/>
        </p:nvSpPr>
        <p:spPr>
          <a:xfrm>
            <a:off x="1406866" y="4202658"/>
            <a:ext cx="1554009"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Windows Version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Released</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cxnSp>
        <p:nvCxnSpPr>
          <p:cNvPr id="54" name="直線コネクタ 53">
            <a:extLst>
              <a:ext uri="{FF2B5EF4-FFF2-40B4-BE49-F238E27FC236}">
                <a16:creationId xmlns:a16="http://schemas.microsoft.com/office/drawing/2014/main" id="{09C3CBB6-447A-29E0-2EC9-154DF342188C}"/>
              </a:ext>
            </a:extLst>
          </p:cNvPr>
          <p:cNvCxnSpPr>
            <a:cxnSpLocks/>
          </p:cNvCxnSpPr>
          <p:nvPr/>
        </p:nvCxnSpPr>
        <p:spPr>
          <a:xfrm>
            <a:off x="4032361" y="3125085"/>
            <a:ext cx="0" cy="953537"/>
          </a:xfrm>
          <a:prstGeom prst="line">
            <a:avLst/>
          </a:prstGeom>
          <a:ln w="9525">
            <a:solidFill>
              <a:srgbClr val="00A7FF"/>
            </a:solidFill>
            <a:tailEnd type="oval"/>
          </a:ln>
        </p:spPr>
        <p:style>
          <a:lnRef idx="2">
            <a:schemeClr val="accent1"/>
          </a:lnRef>
          <a:fillRef idx="0">
            <a:schemeClr val="accent1"/>
          </a:fillRef>
          <a:effectRef idx="1">
            <a:schemeClr val="accent1"/>
          </a:effectRef>
          <a:fontRef idx="minor">
            <a:schemeClr val="tx1"/>
          </a:fontRef>
        </p:style>
      </p:cxnSp>
      <p:cxnSp>
        <p:nvCxnSpPr>
          <p:cNvPr id="57" name="直線コネクタ 56">
            <a:extLst>
              <a:ext uri="{FF2B5EF4-FFF2-40B4-BE49-F238E27FC236}">
                <a16:creationId xmlns:a16="http://schemas.microsoft.com/office/drawing/2014/main" id="{3571C7FB-DC57-A202-83C5-2E8F4BBCCA32}"/>
              </a:ext>
            </a:extLst>
          </p:cNvPr>
          <p:cNvCxnSpPr>
            <a:cxnSpLocks/>
          </p:cNvCxnSpPr>
          <p:nvPr/>
        </p:nvCxnSpPr>
        <p:spPr>
          <a:xfrm>
            <a:off x="5286215" y="3429000"/>
            <a:ext cx="0" cy="859977"/>
          </a:xfrm>
          <a:prstGeom prst="line">
            <a:avLst/>
          </a:prstGeom>
          <a:ln w="9525">
            <a:solidFill>
              <a:srgbClr val="142FA4"/>
            </a:solidFill>
            <a:tailEnd type="oval"/>
          </a:ln>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F76F9DBC-E239-72AA-6630-C9E156974E5C}"/>
              </a:ext>
            </a:extLst>
          </p:cNvPr>
          <p:cNvCxnSpPr>
            <a:cxnSpLocks/>
          </p:cNvCxnSpPr>
          <p:nvPr/>
        </p:nvCxnSpPr>
        <p:spPr>
          <a:xfrm>
            <a:off x="3621010" y="4014818"/>
            <a:ext cx="0" cy="435526"/>
          </a:xfrm>
          <a:prstGeom prst="line">
            <a:avLst/>
          </a:prstGeom>
          <a:ln w="9525">
            <a:solidFill>
              <a:srgbClr val="142FA4"/>
            </a:solidFill>
            <a:tailEnd type="ova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9F19EC51-6350-EFCD-AB6A-5D5F67EF0205}"/>
              </a:ext>
            </a:extLst>
          </p:cNvPr>
          <p:cNvCxnSpPr>
            <a:cxnSpLocks/>
          </p:cNvCxnSpPr>
          <p:nvPr/>
        </p:nvCxnSpPr>
        <p:spPr>
          <a:xfrm>
            <a:off x="1530580" y="4597400"/>
            <a:ext cx="0" cy="967579"/>
          </a:xfrm>
          <a:prstGeom prst="line">
            <a:avLst/>
          </a:prstGeom>
          <a:ln w="9525">
            <a:solidFill>
              <a:srgbClr val="142FA4"/>
            </a:solidFill>
            <a:tailEnd type="oval"/>
          </a:ln>
        </p:spPr>
        <p:style>
          <a:lnRef idx="2">
            <a:schemeClr val="accent1"/>
          </a:lnRef>
          <a:fillRef idx="0">
            <a:schemeClr val="accent1"/>
          </a:fillRef>
          <a:effectRef idx="1">
            <a:schemeClr val="accent1"/>
          </a:effectRef>
          <a:fontRef idx="minor">
            <a:schemeClr val="tx1"/>
          </a:fontRef>
        </p:style>
      </p:cxnSp>
      <p:pic>
        <p:nvPicPr>
          <p:cNvPr id="17" name="図 16" descr="挿絵, 時計, 記号 が含まれている画像&#10;&#10;AI 生成コンテンツは誤りを含む可能性があります。">
            <a:extLst>
              <a:ext uri="{FF2B5EF4-FFF2-40B4-BE49-F238E27FC236}">
                <a16:creationId xmlns:a16="http://schemas.microsoft.com/office/drawing/2014/main" id="{F3D25149-5361-3FF1-45A3-6EF9CD370C7E}"/>
              </a:ext>
            </a:extLst>
          </p:cNvPr>
          <p:cNvPicPr>
            <a:picLocks noGrp="1" noRot="1" noChangeAspect="1" noMove="1" noResize="1" noEditPoints="1" noAdjustHandles="1" noChangeArrowheads="1" noChangeShapeType="1" noCrop="1"/>
          </p:cNvPicPr>
          <p:nvPr/>
        </p:nvPicPr>
        <p:blipFill>
          <a:blip r:embed="rId7" cstate="email">
            <a:extLst>
              <a:ext uri="{28A0092B-C50C-407E-A947-70E740481C1C}">
                <a14:useLocalDpi xmlns:a14="http://schemas.microsoft.com/office/drawing/2010/main"/>
              </a:ext>
            </a:extLst>
          </a:blip>
          <a:stretch>
            <a:fillRect/>
          </a:stretch>
        </p:blipFill>
        <p:spPr>
          <a:xfrm>
            <a:off x="-11724" y="2201188"/>
            <a:ext cx="576000" cy="4075825"/>
          </a:xfrm>
          <a:prstGeom prst="rect">
            <a:avLst/>
          </a:prstGeom>
        </p:spPr>
      </p:pic>
      <p:cxnSp>
        <p:nvCxnSpPr>
          <p:cNvPr id="44" name="直線コネクタ 43">
            <a:extLst>
              <a:ext uri="{FF2B5EF4-FFF2-40B4-BE49-F238E27FC236}">
                <a16:creationId xmlns:a16="http://schemas.microsoft.com/office/drawing/2014/main" id="{66ED96FB-A464-3BA6-C032-6294CC2C1D37}"/>
              </a:ext>
            </a:extLst>
          </p:cNvPr>
          <p:cNvCxnSpPr>
            <a:cxnSpLocks/>
          </p:cNvCxnSpPr>
          <p:nvPr/>
        </p:nvCxnSpPr>
        <p:spPr>
          <a:xfrm>
            <a:off x="6945258" y="3125085"/>
            <a:ext cx="0" cy="142672"/>
          </a:xfrm>
          <a:prstGeom prst="line">
            <a:avLst/>
          </a:prstGeom>
          <a:ln w="9525">
            <a:solidFill>
              <a:srgbClr val="142FA4"/>
            </a:solidFill>
            <a:tailEnd type="oval"/>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13E7D0D7-A157-0F45-A1AD-C8F466CF6498}"/>
              </a:ext>
            </a:extLst>
          </p:cNvPr>
          <p:cNvSpPr txBox="1"/>
          <p:nvPr/>
        </p:nvSpPr>
        <p:spPr>
          <a:xfrm>
            <a:off x="6811438" y="2748259"/>
            <a:ext cx="1440118"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Mac Version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Released</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cxnSp>
        <p:nvCxnSpPr>
          <p:cNvPr id="62" name="直線コネクタ 61">
            <a:extLst>
              <a:ext uri="{FF2B5EF4-FFF2-40B4-BE49-F238E27FC236}">
                <a16:creationId xmlns:a16="http://schemas.microsoft.com/office/drawing/2014/main" id="{2056FBC5-6518-A823-E94A-7D819D63431F}"/>
              </a:ext>
            </a:extLst>
          </p:cNvPr>
          <p:cNvCxnSpPr>
            <a:cxnSpLocks/>
          </p:cNvCxnSpPr>
          <p:nvPr/>
        </p:nvCxnSpPr>
        <p:spPr>
          <a:xfrm>
            <a:off x="5703151" y="3125085"/>
            <a:ext cx="0" cy="950573"/>
          </a:xfrm>
          <a:prstGeom prst="line">
            <a:avLst/>
          </a:prstGeom>
          <a:ln w="9525">
            <a:solidFill>
              <a:srgbClr val="00A7FF"/>
            </a:solidFill>
            <a:tailEnd type="oval"/>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F5E04288-C0E8-F3E7-44CD-6888AEDE890A}"/>
              </a:ext>
            </a:extLst>
          </p:cNvPr>
          <p:cNvSpPr txBox="1"/>
          <p:nvPr/>
        </p:nvSpPr>
        <p:spPr>
          <a:xfrm>
            <a:off x="4153304" y="2748259"/>
            <a:ext cx="1240420" cy="73866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One-Time Purchase App Second Price Increase</a:t>
            </a:r>
            <a:endParaRPr kumimoji="1" lang="ja-JP" altLang="en-US" sz="105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sp>
        <p:nvSpPr>
          <p:cNvPr id="82" name="テキスト ボックス 81">
            <a:extLst>
              <a:ext uri="{FF2B5EF4-FFF2-40B4-BE49-F238E27FC236}">
                <a16:creationId xmlns:a16="http://schemas.microsoft.com/office/drawing/2014/main" id="{2A0815FF-C22D-D29E-B3CD-E6119EBD1469}"/>
              </a:ext>
            </a:extLst>
          </p:cNvPr>
          <p:cNvSpPr txBox="1"/>
          <p:nvPr/>
        </p:nvSpPr>
        <p:spPr>
          <a:xfrm>
            <a:off x="8361522" y="1493960"/>
            <a:ext cx="3175228" cy="497572"/>
          </a:xfrm>
          <a:prstGeom prst="rect">
            <a:avLst/>
          </a:prstGeom>
          <a:noFill/>
        </p:spPr>
        <p:txBody>
          <a:bodyPr wrap="square">
            <a:spAutoFit/>
          </a:bodyPr>
          <a:lstStyle/>
          <a:p>
            <a:pPr marL="0" marR="0" lvl="0" indent="0" algn="ctr" defTabSz="914400" rtl="0" eaLnBrk="1" fontAlgn="auto" latinLnBrk="0" hangingPunct="1">
              <a:lnSpc>
                <a:spcPts val="164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Enhancing Professional Features </a:t>
            </a:r>
            <a:endParaRPr kumimoji="1" lang="en-US"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a:p>
            <a:pPr marL="0" marR="0" lvl="0" indent="0" algn="ctr" defTabSz="914400" rtl="0" eaLnBrk="1" fontAlgn="auto" latinLnBrk="0" hangingPunct="1">
              <a:lnSpc>
                <a:spcPts val="1640"/>
              </a:lnSpc>
              <a:spcBef>
                <a:spcPts val="0"/>
              </a:spcBef>
              <a:spcAft>
                <a:spcPts val="0"/>
              </a:spcAft>
              <a:buClrTx/>
              <a:buSzTx/>
              <a:buFontTx/>
              <a:buNone/>
              <a:tabLst/>
              <a:defRPr/>
            </a:pPr>
            <a:r>
              <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Based on User Feedback</a:t>
            </a:r>
          </a:p>
        </p:txBody>
      </p:sp>
      <p:sp>
        <p:nvSpPr>
          <p:cNvPr id="84" name="正方形/長方形 83">
            <a:extLst>
              <a:ext uri="{FF2B5EF4-FFF2-40B4-BE49-F238E27FC236}">
                <a16:creationId xmlns:a16="http://schemas.microsoft.com/office/drawing/2014/main" id="{951735A1-232C-EA90-DEBA-E059747B700D}"/>
              </a:ext>
            </a:extLst>
          </p:cNvPr>
          <p:cNvSpPr/>
          <p:nvPr/>
        </p:nvSpPr>
        <p:spPr>
          <a:xfrm>
            <a:off x="8074616" y="4292428"/>
            <a:ext cx="3566521" cy="200791"/>
          </a:xfrm>
          <a:prstGeom prst="rect">
            <a:avLst/>
          </a:pr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85" name="テキスト ボックス 84">
            <a:extLst>
              <a:ext uri="{FF2B5EF4-FFF2-40B4-BE49-F238E27FC236}">
                <a16:creationId xmlns:a16="http://schemas.microsoft.com/office/drawing/2014/main" id="{1D99511E-D278-3CBA-D352-EACFEC91D3B3}"/>
              </a:ext>
            </a:extLst>
          </p:cNvPr>
          <p:cNvSpPr txBox="1"/>
          <p:nvPr/>
        </p:nvSpPr>
        <p:spPr>
          <a:xfrm>
            <a:off x="8270263" y="4009868"/>
            <a:ext cx="3175228" cy="497572"/>
          </a:xfrm>
          <a:prstGeom prst="rect">
            <a:avLst/>
          </a:prstGeom>
          <a:noFill/>
        </p:spPr>
        <p:txBody>
          <a:bodyPr wrap="square">
            <a:spAutoFit/>
          </a:bodyPr>
          <a:lstStyle/>
          <a:p>
            <a:pPr marL="0" marR="0" lvl="0" indent="0" algn="ctr" defTabSz="914400" rtl="0" eaLnBrk="1" fontAlgn="auto" latinLnBrk="0" hangingPunct="1">
              <a:lnSpc>
                <a:spcPts val="16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Establishing ibisPaint </a:t>
            </a:r>
          </a:p>
          <a:p>
            <a:pPr marL="0" marR="0" lvl="0" indent="0" algn="ctr" defTabSz="914400" rtl="0" eaLnBrk="1" fontAlgn="auto" latinLnBrk="0" hangingPunct="1">
              <a:lnSpc>
                <a:spcPts val="164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as a Lifelong Creative Partner</a:t>
            </a:r>
          </a:p>
        </p:txBody>
      </p:sp>
      <p:cxnSp>
        <p:nvCxnSpPr>
          <p:cNvPr id="10" name="直線コネクタ 9">
            <a:extLst>
              <a:ext uri="{FF2B5EF4-FFF2-40B4-BE49-F238E27FC236}">
                <a16:creationId xmlns:a16="http://schemas.microsoft.com/office/drawing/2014/main" id="{07F4F09D-187B-EBBD-DA77-7F6EA84DBE63}"/>
              </a:ext>
            </a:extLst>
          </p:cNvPr>
          <p:cNvCxnSpPr>
            <a:cxnSpLocks/>
          </p:cNvCxnSpPr>
          <p:nvPr/>
        </p:nvCxnSpPr>
        <p:spPr>
          <a:xfrm>
            <a:off x="715117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0D294396-F592-C476-E64A-FA4CA60DF874}"/>
              </a:ext>
            </a:extLst>
          </p:cNvPr>
          <p:cNvCxnSpPr>
            <a:cxnSpLocks/>
          </p:cNvCxnSpPr>
          <p:nvPr/>
        </p:nvCxnSpPr>
        <p:spPr>
          <a:xfrm>
            <a:off x="673560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4E582158-99B4-6FAE-6202-2C86FBE4F1AB}"/>
              </a:ext>
            </a:extLst>
          </p:cNvPr>
          <p:cNvCxnSpPr>
            <a:cxnSpLocks/>
          </p:cNvCxnSpPr>
          <p:nvPr/>
        </p:nvCxnSpPr>
        <p:spPr>
          <a:xfrm>
            <a:off x="632003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BD9BEDE7-61D7-FCE2-E0B5-7F31FEEBD765}"/>
              </a:ext>
            </a:extLst>
          </p:cNvPr>
          <p:cNvCxnSpPr>
            <a:cxnSpLocks/>
          </p:cNvCxnSpPr>
          <p:nvPr/>
        </p:nvCxnSpPr>
        <p:spPr>
          <a:xfrm>
            <a:off x="548889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D783419D-6626-FD40-DB83-132A61FB588F}"/>
              </a:ext>
            </a:extLst>
          </p:cNvPr>
          <p:cNvCxnSpPr>
            <a:cxnSpLocks/>
          </p:cNvCxnSpPr>
          <p:nvPr/>
        </p:nvCxnSpPr>
        <p:spPr>
          <a:xfrm>
            <a:off x="507332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B8444AF7-D1DA-6C0E-202D-441C73E0BFB5}"/>
              </a:ext>
            </a:extLst>
          </p:cNvPr>
          <p:cNvCxnSpPr>
            <a:cxnSpLocks/>
          </p:cNvCxnSpPr>
          <p:nvPr/>
        </p:nvCxnSpPr>
        <p:spPr>
          <a:xfrm>
            <a:off x="465775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56E779E8-939D-691A-9B09-FA36D1629482}"/>
              </a:ext>
            </a:extLst>
          </p:cNvPr>
          <p:cNvCxnSpPr>
            <a:cxnSpLocks/>
          </p:cNvCxnSpPr>
          <p:nvPr/>
        </p:nvCxnSpPr>
        <p:spPr>
          <a:xfrm>
            <a:off x="4242187" y="5570056"/>
            <a:ext cx="0" cy="452408"/>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88CC95E1-3AB2-5435-1C7D-7E209A7D9309}"/>
              </a:ext>
            </a:extLst>
          </p:cNvPr>
          <p:cNvCxnSpPr>
            <a:cxnSpLocks/>
          </p:cNvCxnSpPr>
          <p:nvPr/>
        </p:nvCxnSpPr>
        <p:spPr>
          <a:xfrm>
            <a:off x="299547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B94D3BE3-C272-996D-702F-D72B9DD925CE}"/>
              </a:ext>
            </a:extLst>
          </p:cNvPr>
          <p:cNvCxnSpPr>
            <a:cxnSpLocks/>
          </p:cNvCxnSpPr>
          <p:nvPr/>
        </p:nvCxnSpPr>
        <p:spPr>
          <a:xfrm>
            <a:off x="5904467" y="5570056"/>
            <a:ext cx="0" cy="452408"/>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6735BDE9-1782-263A-AA0D-CDC33834FC4B}"/>
              </a:ext>
            </a:extLst>
          </p:cNvPr>
          <p:cNvSpPr txBox="1"/>
          <p:nvPr/>
        </p:nvSpPr>
        <p:spPr>
          <a:xfrm>
            <a:off x="4630367" y="5817419"/>
            <a:ext cx="89151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142FA4"/>
                </a:solidFill>
                <a:effectLst/>
                <a:uLnTx/>
                <a:uFillTx/>
                <a:latin typeface="Poppins" pitchFamily="2" charset="0"/>
                <a:ea typeface="M PLUS 1p Medium" panose="020B0502020203020207" pitchFamily="34" charset="-128"/>
                <a:cs typeface="Poppins" pitchFamily="2" charset="0"/>
              </a:rPr>
              <a:t>FY2024</a:t>
            </a:r>
            <a:endParaRPr kumimoji="1" lang="ja-JP" altLang="en-US" sz="11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Poppins" pitchFamily="2" charset="0"/>
            </a:endParaRPr>
          </a:p>
        </p:txBody>
      </p:sp>
      <p:sp>
        <p:nvSpPr>
          <p:cNvPr id="27" name="テキスト ボックス 26">
            <a:extLst>
              <a:ext uri="{FF2B5EF4-FFF2-40B4-BE49-F238E27FC236}">
                <a16:creationId xmlns:a16="http://schemas.microsoft.com/office/drawing/2014/main" id="{EDEB218B-4305-97B1-8C30-FF7C3858619C}"/>
              </a:ext>
            </a:extLst>
          </p:cNvPr>
          <p:cNvSpPr txBox="1"/>
          <p:nvPr/>
        </p:nvSpPr>
        <p:spPr>
          <a:xfrm>
            <a:off x="6290783" y="5817419"/>
            <a:ext cx="89151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142FA4"/>
                </a:solidFill>
                <a:effectLst/>
                <a:uLnTx/>
                <a:uFillTx/>
                <a:latin typeface="Poppins" pitchFamily="2" charset="0"/>
                <a:ea typeface="M PLUS 1p Medium" panose="020B0502020203020207" pitchFamily="34" charset="-128"/>
                <a:cs typeface="Poppins" pitchFamily="2" charset="0"/>
              </a:rPr>
              <a:t>FY2025</a:t>
            </a:r>
            <a:endParaRPr kumimoji="1" lang="ja-JP" altLang="en-US" sz="11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Poppins" pitchFamily="2" charset="0"/>
            </a:endParaRPr>
          </a:p>
        </p:txBody>
      </p:sp>
      <p:sp>
        <p:nvSpPr>
          <p:cNvPr id="28" name="テキスト ボックス 27">
            <a:extLst>
              <a:ext uri="{FF2B5EF4-FFF2-40B4-BE49-F238E27FC236}">
                <a16:creationId xmlns:a16="http://schemas.microsoft.com/office/drawing/2014/main" id="{64ADD838-E12C-6C02-EE82-A1D6CA4CECB7}"/>
              </a:ext>
            </a:extLst>
          </p:cNvPr>
          <p:cNvSpPr txBox="1"/>
          <p:nvPr/>
        </p:nvSpPr>
        <p:spPr>
          <a:xfrm>
            <a:off x="2969947" y="5817419"/>
            <a:ext cx="89151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142FA4"/>
                </a:solidFill>
                <a:effectLst/>
                <a:uLnTx/>
                <a:uFillTx/>
                <a:latin typeface="Poppins" pitchFamily="2" charset="0"/>
                <a:ea typeface="M PLUS 1p Medium" panose="020B0502020203020207" pitchFamily="34" charset="-128"/>
                <a:cs typeface="Poppins" pitchFamily="2" charset="0"/>
              </a:rPr>
              <a:t>FY2023</a:t>
            </a:r>
            <a:endParaRPr kumimoji="1" lang="ja-JP" altLang="en-US" sz="11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Poppins" pitchFamily="2" charset="0"/>
            </a:endParaRPr>
          </a:p>
        </p:txBody>
      </p:sp>
      <p:sp>
        <p:nvSpPr>
          <p:cNvPr id="32" name="テキスト ボックス 31">
            <a:extLst>
              <a:ext uri="{FF2B5EF4-FFF2-40B4-BE49-F238E27FC236}">
                <a16:creationId xmlns:a16="http://schemas.microsoft.com/office/drawing/2014/main" id="{2A0382CF-0F40-E9C5-D449-9486FF114658}"/>
              </a:ext>
            </a:extLst>
          </p:cNvPr>
          <p:cNvSpPr txBox="1"/>
          <p:nvPr/>
        </p:nvSpPr>
        <p:spPr>
          <a:xfrm>
            <a:off x="1544154" y="5817419"/>
            <a:ext cx="89151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142FA4"/>
                </a:solidFill>
                <a:effectLst/>
                <a:uLnTx/>
                <a:uFillTx/>
                <a:latin typeface="Poppins" pitchFamily="2" charset="0"/>
                <a:ea typeface="M PLUS 1p Medium" panose="020B0502020203020207" pitchFamily="34" charset="-128"/>
                <a:cs typeface="Poppins" pitchFamily="2" charset="0"/>
              </a:rPr>
              <a:t>FY2022</a:t>
            </a:r>
            <a:endParaRPr kumimoji="1" lang="ja-JP" altLang="en-US" sz="1100" b="0" i="0" u="none" strike="noStrike" kern="1200" cap="none" spc="0" normalizeH="0" baseline="0" noProof="0">
              <a:ln>
                <a:noFill/>
              </a:ln>
              <a:solidFill>
                <a:prstClr val="black"/>
              </a:solidFill>
              <a:effectLst/>
              <a:uLnTx/>
              <a:uFillTx/>
              <a:latin typeface="Poppins" pitchFamily="2" charset="0"/>
              <a:ea typeface="M PLUS 1p" panose="020B0502020203020207" pitchFamily="34" charset="-128"/>
              <a:cs typeface="Poppins" pitchFamily="2" charset="0"/>
            </a:endParaRPr>
          </a:p>
        </p:txBody>
      </p:sp>
      <p:cxnSp>
        <p:nvCxnSpPr>
          <p:cNvPr id="38" name="直線コネクタ 37">
            <a:extLst>
              <a:ext uri="{FF2B5EF4-FFF2-40B4-BE49-F238E27FC236}">
                <a16:creationId xmlns:a16="http://schemas.microsoft.com/office/drawing/2014/main" id="{8B314DA5-34C2-096A-AB46-5F763CF7857F}"/>
              </a:ext>
            </a:extLst>
          </p:cNvPr>
          <p:cNvCxnSpPr>
            <a:cxnSpLocks/>
          </p:cNvCxnSpPr>
          <p:nvPr/>
        </p:nvCxnSpPr>
        <p:spPr>
          <a:xfrm>
            <a:off x="174876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07A03B0F-1F61-6D44-BD0B-A89C44002578}"/>
              </a:ext>
            </a:extLst>
          </p:cNvPr>
          <p:cNvCxnSpPr>
            <a:cxnSpLocks/>
          </p:cNvCxnSpPr>
          <p:nvPr/>
        </p:nvCxnSpPr>
        <p:spPr>
          <a:xfrm>
            <a:off x="133319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DC88EE8F-4BC8-5349-64E9-8A7C43F40FD9}"/>
              </a:ext>
            </a:extLst>
          </p:cNvPr>
          <p:cNvCxnSpPr>
            <a:cxnSpLocks/>
          </p:cNvCxnSpPr>
          <p:nvPr/>
        </p:nvCxnSpPr>
        <p:spPr>
          <a:xfrm>
            <a:off x="216433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A4145C75-6260-F18E-EE95-44610A7C8733}"/>
              </a:ext>
            </a:extLst>
          </p:cNvPr>
          <p:cNvCxnSpPr>
            <a:cxnSpLocks/>
          </p:cNvCxnSpPr>
          <p:nvPr/>
        </p:nvCxnSpPr>
        <p:spPr>
          <a:xfrm>
            <a:off x="382661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17DE2B6E-3E6A-F538-3933-F4E2681C8FE1}"/>
              </a:ext>
            </a:extLst>
          </p:cNvPr>
          <p:cNvCxnSpPr>
            <a:cxnSpLocks/>
          </p:cNvCxnSpPr>
          <p:nvPr/>
        </p:nvCxnSpPr>
        <p:spPr>
          <a:xfrm>
            <a:off x="7566746"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65" name="直線コネクタ 64">
            <a:extLst>
              <a:ext uri="{FF2B5EF4-FFF2-40B4-BE49-F238E27FC236}">
                <a16:creationId xmlns:a16="http://schemas.microsoft.com/office/drawing/2014/main" id="{3257593D-ADE2-CCD4-8C68-D88108ED09EF}"/>
              </a:ext>
            </a:extLst>
          </p:cNvPr>
          <p:cNvCxnSpPr>
            <a:cxnSpLocks/>
          </p:cNvCxnSpPr>
          <p:nvPr/>
        </p:nvCxnSpPr>
        <p:spPr>
          <a:xfrm>
            <a:off x="2579907" y="5570056"/>
            <a:ext cx="0" cy="452408"/>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308DE513-02BD-064B-8D61-9A740AFD6307}"/>
              </a:ext>
            </a:extLst>
          </p:cNvPr>
          <p:cNvCxnSpPr>
            <a:cxnSpLocks/>
          </p:cNvCxnSpPr>
          <p:nvPr/>
        </p:nvCxnSpPr>
        <p:spPr>
          <a:xfrm>
            <a:off x="3411047" y="5570056"/>
            <a:ext cx="0" cy="212666"/>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60" name="テキスト ボックス 59">
            <a:extLst>
              <a:ext uri="{FF2B5EF4-FFF2-40B4-BE49-F238E27FC236}">
                <a16:creationId xmlns:a16="http://schemas.microsoft.com/office/drawing/2014/main" id="{B02DDEE1-F5DB-540B-E4A1-B3793A46A649}"/>
              </a:ext>
            </a:extLst>
          </p:cNvPr>
          <p:cNvSpPr txBox="1"/>
          <p:nvPr/>
        </p:nvSpPr>
        <p:spPr>
          <a:xfrm>
            <a:off x="5571018" y="2748259"/>
            <a:ext cx="1325219"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Subscription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A7FF"/>
                </a:solidFill>
                <a:effectLst/>
                <a:uLnTx/>
                <a:uFillTx/>
                <a:latin typeface="Poppins Medium" pitchFamily="2" charset="0"/>
                <a:ea typeface="M PLUS 1p Medium" panose="020B0502020203020207" pitchFamily="34" charset="-128"/>
                <a:cs typeface="Poppins Medium" pitchFamily="2" charset="0"/>
              </a:rPr>
              <a:t>Price Increase</a:t>
            </a:r>
            <a:endParaRPr kumimoji="1" lang="ja-JP" altLang="en-US" sz="1050" b="0" i="0" u="none" strike="noStrike" kern="1200" cap="none" spc="0" normalizeH="0" baseline="0" noProof="0">
              <a:ln>
                <a:noFill/>
              </a:ln>
              <a:solidFill>
                <a:prstClr val="black"/>
              </a:solidFill>
              <a:effectLst/>
              <a:uLnTx/>
              <a:uFillTx/>
              <a:latin typeface="Poppins Medium" pitchFamily="2" charset="0"/>
              <a:ea typeface="游ゴシック" panose="020B0400000000000000" pitchFamily="50" charset="-128"/>
              <a:cs typeface="Poppins Medium" pitchFamily="2" charset="0"/>
            </a:endParaRPr>
          </a:p>
        </p:txBody>
      </p:sp>
      <p:sp>
        <p:nvSpPr>
          <p:cNvPr id="73" name="タイトル 72">
            <a:extLst>
              <a:ext uri="{FF2B5EF4-FFF2-40B4-BE49-F238E27FC236}">
                <a16:creationId xmlns:a16="http://schemas.microsoft.com/office/drawing/2014/main" id="{4B7C9F92-BC0C-6C7F-5245-F1B55F12B218}"/>
              </a:ext>
            </a:extLst>
          </p:cNvPr>
          <p:cNvSpPr>
            <a:spLocks noGrp="1"/>
          </p:cNvSpPr>
          <p:nvPr>
            <p:ph type="ctrTitle"/>
          </p:nvPr>
        </p:nvSpPr>
        <p:spPr/>
        <p:txBody>
          <a:bodyPr/>
          <a:lstStyle/>
          <a:p>
            <a:r>
              <a:rPr lang="en-US" altLang="ja-JP"/>
              <a:t>Accelerating subscription growth </a:t>
            </a:r>
            <a:br>
              <a:rPr lang="en-US" altLang="ja-JP"/>
            </a:br>
            <a:r>
              <a:rPr lang="en-US" altLang="ja-JP"/>
              <a:t>through </a:t>
            </a:r>
            <a:r>
              <a:rPr lang="en-US" altLang="ja-JP">
                <a:solidFill>
                  <a:srgbClr val="C0FF00"/>
                </a:solidFill>
              </a:rPr>
              <a:t>pro use features and multi-device expansion</a:t>
            </a:r>
          </a:p>
        </p:txBody>
      </p:sp>
      <p:sp>
        <p:nvSpPr>
          <p:cNvPr id="30" name="テキスト ボックス 29">
            <a:extLst>
              <a:ext uri="{FF2B5EF4-FFF2-40B4-BE49-F238E27FC236}">
                <a16:creationId xmlns:a16="http://schemas.microsoft.com/office/drawing/2014/main" id="{D804A760-94DB-D415-B601-6F97BE9BE4A1}"/>
              </a:ext>
            </a:extLst>
          </p:cNvPr>
          <p:cNvSpPr txBox="1"/>
          <p:nvPr/>
        </p:nvSpPr>
        <p:spPr>
          <a:xfrm>
            <a:off x="2559268" y="1736224"/>
            <a:ext cx="3271728"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Sales Trends of ibisPaint for Windows/Mac</a:t>
            </a:r>
          </a:p>
        </p:txBody>
      </p:sp>
    </p:spTree>
    <p:extLst>
      <p:ext uri="{BB962C8B-B14F-4D97-AF65-F5344CB8AC3E}">
        <p14:creationId xmlns:p14="http://schemas.microsoft.com/office/powerpoint/2010/main" val="558820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96C8-B4D0-D576-A7D7-ABDF6846986B}"/>
            </a:ext>
          </a:extLst>
        </p:cNvPr>
        <p:cNvGrpSpPr/>
        <p:nvPr/>
      </p:nvGrpSpPr>
      <p:grpSpPr>
        <a:xfrm>
          <a:off x="0" y="0"/>
          <a:ext cx="0" cy="0"/>
          <a:chOff x="0" y="0"/>
          <a:chExt cx="0" cy="0"/>
        </a:xfrm>
      </p:grpSpPr>
      <p:sp>
        <p:nvSpPr>
          <p:cNvPr id="70" name="角丸四角形 69">
            <a:extLst>
              <a:ext uri="{FF2B5EF4-FFF2-40B4-BE49-F238E27FC236}">
                <a16:creationId xmlns:a16="http://schemas.microsoft.com/office/drawing/2014/main" id="{42D87CFA-56B5-BA31-8C44-39A7747744F8}"/>
              </a:ext>
            </a:extLst>
          </p:cNvPr>
          <p:cNvSpPr/>
          <p:nvPr/>
        </p:nvSpPr>
        <p:spPr>
          <a:xfrm>
            <a:off x="817464" y="2112921"/>
            <a:ext cx="2648893" cy="3118645"/>
          </a:xfrm>
          <a:prstGeom prst="roundRect">
            <a:avLst>
              <a:gd name="adj" fmla="val 7206"/>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73" name="正方形/長方形 72">
            <a:extLst>
              <a:ext uri="{FF2B5EF4-FFF2-40B4-BE49-F238E27FC236}">
                <a16:creationId xmlns:a16="http://schemas.microsoft.com/office/drawing/2014/main" id="{6F714ED8-C8BB-E459-2862-6CB7BBB5354A}"/>
              </a:ext>
            </a:extLst>
          </p:cNvPr>
          <p:cNvSpPr/>
          <p:nvPr/>
        </p:nvSpPr>
        <p:spPr>
          <a:xfrm>
            <a:off x="944798" y="2737089"/>
            <a:ext cx="2394225" cy="1110903"/>
          </a:xfrm>
          <a:prstGeom prst="rect">
            <a:avLst/>
          </a:prstGeom>
          <a:solidFill>
            <a:srgbClr val="FD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4" name="角丸四角形 93">
            <a:extLst>
              <a:ext uri="{FF2B5EF4-FFF2-40B4-BE49-F238E27FC236}">
                <a16:creationId xmlns:a16="http://schemas.microsoft.com/office/drawing/2014/main" id="{7722F041-E615-7FA2-3F4C-0B69588CF9D5}"/>
              </a:ext>
            </a:extLst>
          </p:cNvPr>
          <p:cNvSpPr/>
          <p:nvPr/>
        </p:nvSpPr>
        <p:spPr>
          <a:xfrm>
            <a:off x="944910" y="2927764"/>
            <a:ext cx="2394000" cy="455689"/>
          </a:xfrm>
          <a:prstGeom prst="roundRect">
            <a:avLst>
              <a:gd name="adj" fmla="val 50000"/>
            </a:avLst>
          </a:pr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1" lang="en-US" altLang="ja-JP" sz="1000" b="0" i="0" u="none" strike="noStrike" kern="1200" cap="none" spc="0" normalizeH="0" baseline="0" noProof="0">
              <a:ln>
                <a:noFill/>
              </a:ln>
              <a:solidFill>
                <a:prstClr val="white"/>
              </a:solidFill>
              <a:effectLst/>
              <a:uLnTx/>
              <a:uFillTx/>
              <a:latin typeface="Poppins" panose="00000500000000000000" pitchFamily="2" charset="0"/>
              <a:ea typeface="游ゴシック" panose="020B0400000000000000" pitchFamily="50" charset="-128"/>
              <a:cs typeface="Poppins" panose="00000500000000000000" pitchFamily="2" charset="0"/>
            </a:endParaRPr>
          </a:p>
        </p:txBody>
      </p:sp>
      <p:sp>
        <p:nvSpPr>
          <p:cNvPr id="21" name="角丸四角形 20">
            <a:extLst>
              <a:ext uri="{FF2B5EF4-FFF2-40B4-BE49-F238E27FC236}">
                <a16:creationId xmlns:a16="http://schemas.microsoft.com/office/drawing/2014/main" id="{24CACEC1-C453-0B67-F992-B12D8AEA343E}"/>
              </a:ext>
            </a:extLst>
          </p:cNvPr>
          <p:cNvSpPr/>
          <p:nvPr/>
        </p:nvSpPr>
        <p:spPr>
          <a:xfrm>
            <a:off x="3651279" y="2112921"/>
            <a:ext cx="4889443" cy="3118645"/>
          </a:xfrm>
          <a:prstGeom prst="roundRect">
            <a:avLst>
              <a:gd name="adj" fmla="val 7206"/>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9" name="正方形/長方形 18">
            <a:extLst>
              <a:ext uri="{FF2B5EF4-FFF2-40B4-BE49-F238E27FC236}">
                <a16:creationId xmlns:a16="http://schemas.microsoft.com/office/drawing/2014/main" id="{3FCD90BB-E08E-DB99-D675-DA50C1C5DB51}"/>
              </a:ext>
            </a:extLst>
          </p:cNvPr>
          <p:cNvSpPr/>
          <p:nvPr/>
        </p:nvSpPr>
        <p:spPr>
          <a:xfrm>
            <a:off x="3783333" y="2737089"/>
            <a:ext cx="2255429" cy="1110903"/>
          </a:xfrm>
          <a:prstGeom prst="rect">
            <a:avLst/>
          </a:prstGeom>
          <a:solidFill>
            <a:srgbClr val="A1D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0" name="正方形/長方形 29">
            <a:extLst>
              <a:ext uri="{FF2B5EF4-FFF2-40B4-BE49-F238E27FC236}">
                <a16:creationId xmlns:a16="http://schemas.microsoft.com/office/drawing/2014/main" id="{A72044C3-F41F-EA49-9556-21DAF436207B}"/>
              </a:ext>
            </a:extLst>
          </p:cNvPr>
          <p:cNvSpPr/>
          <p:nvPr/>
        </p:nvSpPr>
        <p:spPr>
          <a:xfrm>
            <a:off x="3764266" y="3989176"/>
            <a:ext cx="2274496" cy="1110903"/>
          </a:xfrm>
          <a:prstGeom prst="rect">
            <a:avLst/>
          </a:prstGeom>
          <a:solidFill>
            <a:srgbClr val="A1D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4" name="正方形/長方形 33">
            <a:extLst>
              <a:ext uri="{FF2B5EF4-FFF2-40B4-BE49-F238E27FC236}">
                <a16:creationId xmlns:a16="http://schemas.microsoft.com/office/drawing/2014/main" id="{01D630B5-DE18-13F1-712C-6393993B89F1}"/>
              </a:ext>
            </a:extLst>
          </p:cNvPr>
          <p:cNvSpPr/>
          <p:nvPr/>
        </p:nvSpPr>
        <p:spPr>
          <a:xfrm>
            <a:off x="6172306" y="2737089"/>
            <a:ext cx="2255429" cy="1110903"/>
          </a:xfrm>
          <a:prstGeom prst="rect">
            <a:avLst/>
          </a:prstGeom>
          <a:solidFill>
            <a:srgbClr val="A1D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5" name="正方形/長方形 34">
            <a:extLst>
              <a:ext uri="{FF2B5EF4-FFF2-40B4-BE49-F238E27FC236}">
                <a16:creationId xmlns:a16="http://schemas.microsoft.com/office/drawing/2014/main" id="{BEFFAA11-4527-9CBC-88EA-07E8A7B1E260}"/>
              </a:ext>
            </a:extLst>
          </p:cNvPr>
          <p:cNvSpPr/>
          <p:nvPr/>
        </p:nvSpPr>
        <p:spPr>
          <a:xfrm>
            <a:off x="6153239" y="3989176"/>
            <a:ext cx="2274496" cy="1110903"/>
          </a:xfrm>
          <a:prstGeom prst="rect">
            <a:avLst/>
          </a:prstGeom>
          <a:solidFill>
            <a:srgbClr val="A1D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4" name="角丸四角形 23">
            <a:extLst>
              <a:ext uri="{FF2B5EF4-FFF2-40B4-BE49-F238E27FC236}">
                <a16:creationId xmlns:a16="http://schemas.microsoft.com/office/drawing/2014/main" id="{454405EB-BED4-45F0-6707-CC9028D9CA98}"/>
              </a:ext>
            </a:extLst>
          </p:cNvPr>
          <p:cNvSpPr/>
          <p:nvPr/>
        </p:nvSpPr>
        <p:spPr>
          <a:xfrm>
            <a:off x="8706894" y="2112921"/>
            <a:ext cx="2648893" cy="3118645"/>
          </a:xfrm>
          <a:prstGeom prst="roundRect">
            <a:avLst>
              <a:gd name="adj" fmla="val 7206"/>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65" name="正方形/長方形 64">
            <a:extLst>
              <a:ext uri="{FF2B5EF4-FFF2-40B4-BE49-F238E27FC236}">
                <a16:creationId xmlns:a16="http://schemas.microsoft.com/office/drawing/2014/main" id="{D945F2BC-222A-096C-F9D0-6099EAF48AF7}"/>
              </a:ext>
            </a:extLst>
          </p:cNvPr>
          <p:cNvSpPr/>
          <p:nvPr/>
        </p:nvSpPr>
        <p:spPr>
          <a:xfrm>
            <a:off x="8834228" y="3989176"/>
            <a:ext cx="2394225" cy="1110903"/>
          </a:xfrm>
          <a:prstGeom prst="rect">
            <a:avLst/>
          </a:prstGeom>
          <a:solidFill>
            <a:srgbClr val="A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31" name="角丸四角形 30">
            <a:extLst>
              <a:ext uri="{FF2B5EF4-FFF2-40B4-BE49-F238E27FC236}">
                <a16:creationId xmlns:a16="http://schemas.microsoft.com/office/drawing/2014/main" id="{E0005EEA-F474-F1BF-6540-4349511B105B}"/>
              </a:ext>
            </a:extLst>
          </p:cNvPr>
          <p:cNvSpPr/>
          <p:nvPr/>
        </p:nvSpPr>
        <p:spPr>
          <a:xfrm>
            <a:off x="1385713" y="5503152"/>
            <a:ext cx="9420574" cy="512538"/>
          </a:xfrm>
          <a:prstGeom prst="roundRect">
            <a:avLst>
              <a:gd name="adj" fmla="val 50000"/>
            </a:avLst>
          </a:prstGeom>
          <a:solidFill>
            <a:srgbClr val="C0FF00"/>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800" b="0" i="0" u="none" strike="noStrike" kern="1200" cap="none" spc="0" normalizeH="0" baseline="0" noProof="0">
                <a:ln>
                  <a:noFill/>
                </a:ln>
                <a:solidFill>
                  <a:srgbClr val="142FA4"/>
                </a:solidFill>
                <a:effectLst/>
                <a:uLnTx/>
                <a:uFillTx/>
                <a:latin typeface="Poppins SemiBold" pitchFamily="2" charset="0"/>
                <a:ea typeface="游ゴシック" panose="020B0400000000000000" pitchFamily="50" charset="-128"/>
                <a:cs typeface="Poppins SemiBold" pitchFamily="2" charset="0"/>
              </a:rPr>
              <a:t>Unleashing Creative Expression and Generating New Culture from Japan</a:t>
            </a:r>
          </a:p>
        </p:txBody>
      </p:sp>
      <p:sp>
        <p:nvSpPr>
          <p:cNvPr id="47" name="三角形 46">
            <a:extLst>
              <a:ext uri="{FF2B5EF4-FFF2-40B4-BE49-F238E27FC236}">
                <a16:creationId xmlns:a16="http://schemas.microsoft.com/office/drawing/2014/main" id="{F260E38D-476F-733E-1C08-17670322C11C}"/>
              </a:ext>
            </a:extLst>
          </p:cNvPr>
          <p:cNvSpPr/>
          <p:nvPr/>
        </p:nvSpPr>
        <p:spPr>
          <a:xfrm rot="10800000">
            <a:off x="5832809" y="5230392"/>
            <a:ext cx="526383" cy="323489"/>
          </a:xfrm>
          <a:prstGeom prst="triangle">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6" name="角丸四角形 16">
            <a:extLst>
              <a:ext uri="{FF2B5EF4-FFF2-40B4-BE49-F238E27FC236}">
                <a16:creationId xmlns:a16="http://schemas.microsoft.com/office/drawing/2014/main" id="{E49EFA75-9F0C-B265-D70A-D7A01384D9C3}"/>
              </a:ext>
            </a:extLst>
          </p:cNvPr>
          <p:cNvSpPr/>
          <p:nvPr/>
        </p:nvSpPr>
        <p:spPr>
          <a:xfrm>
            <a:off x="3764152" y="4203423"/>
            <a:ext cx="2274496" cy="711668"/>
          </a:xfrm>
          <a:prstGeom prst="roundRect">
            <a:avLst>
              <a:gd name="adj" fmla="val 50000"/>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36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3" name="テキスト プレースホルダー 2">
            <a:extLst>
              <a:ext uri="{FF2B5EF4-FFF2-40B4-BE49-F238E27FC236}">
                <a16:creationId xmlns:a16="http://schemas.microsoft.com/office/drawing/2014/main" id="{A87F284D-047B-3EEC-D520-97057BC8BD82}"/>
              </a:ext>
            </a:extLst>
          </p:cNvPr>
          <p:cNvSpPr>
            <a:spLocks noGrp="1"/>
          </p:cNvSpPr>
          <p:nvPr>
            <p:ph type="body" sz="quarter" idx="12"/>
          </p:nvPr>
        </p:nvSpPr>
        <p:spPr/>
        <p:txBody>
          <a:bodyPr/>
          <a:lstStyle/>
          <a:p>
            <a:r>
              <a:rPr lang="en-US" altLang="ja-JP"/>
              <a:t>Growth Strategy (3)</a:t>
            </a:r>
            <a:endParaRPr kumimoji="1" lang="ja-JP" altLang="en-US"/>
          </a:p>
        </p:txBody>
      </p:sp>
      <p:sp>
        <p:nvSpPr>
          <p:cNvPr id="106" name="タイトル 105">
            <a:extLst>
              <a:ext uri="{FF2B5EF4-FFF2-40B4-BE49-F238E27FC236}">
                <a16:creationId xmlns:a16="http://schemas.microsoft.com/office/drawing/2014/main" id="{FB3A5D67-F8DD-0909-41FF-EDFA55AA9D85}"/>
              </a:ext>
            </a:extLst>
          </p:cNvPr>
          <p:cNvSpPr>
            <a:spLocks noGrp="1"/>
          </p:cNvSpPr>
          <p:nvPr>
            <p:ph type="ctrTitle"/>
          </p:nvPr>
        </p:nvSpPr>
        <p:spPr/>
        <p:txBody>
          <a:bodyPr/>
          <a:lstStyle/>
          <a:p>
            <a:pPr>
              <a:lnSpc>
                <a:spcPts val="3280"/>
              </a:lnSpc>
            </a:pPr>
            <a:r>
              <a:rPr lang="en-US" altLang="ja-JP">
                <a:solidFill>
                  <a:srgbClr val="C0FF00"/>
                </a:solidFill>
                <a:ea typeface="M PLUS 1p Medium" panose="020B0502020203020207"/>
              </a:rPr>
              <a:t>Building a creative foundation </a:t>
            </a:r>
            <a:br>
              <a:rPr lang="en-US" altLang="ja-JP">
                <a:ea typeface="M PLUS 1p Medium" panose="020B0502020203020207"/>
              </a:rPr>
            </a:br>
            <a:r>
              <a:rPr lang="en-US" altLang="ja-JP">
                <a:ea typeface="M PLUS 1p Medium" panose="020B0502020203020207"/>
              </a:rPr>
              <a:t>that connects creative power worldwide</a:t>
            </a:r>
            <a:endParaRPr lang="en-US" altLang="ja-JP">
              <a:solidFill>
                <a:srgbClr val="C0FF00"/>
              </a:solidFill>
              <a:ea typeface="M PLUS 1p Medium" panose="020B0502020203020207"/>
            </a:endParaRPr>
          </a:p>
        </p:txBody>
      </p:sp>
      <p:sp>
        <p:nvSpPr>
          <p:cNvPr id="89" name="正方形/長方形 88">
            <a:extLst>
              <a:ext uri="{FF2B5EF4-FFF2-40B4-BE49-F238E27FC236}">
                <a16:creationId xmlns:a16="http://schemas.microsoft.com/office/drawing/2014/main" id="{B410FDF7-D58F-742B-DAD4-356D7CFB6696}"/>
              </a:ext>
            </a:extLst>
          </p:cNvPr>
          <p:cNvSpPr/>
          <p:nvPr/>
        </p:nvSpPr>
        <p:spPr>
          <a:xfrm>
            <a:off x="8834228" y="2737089"/>
            <a:ext cx="2394225" cy="1110903"/>
          </a:xfrm>
          <a:prstGeom prst="rect">
            <a:avLst/>
          </a:prstGeom>
          <a:solidFill>
            <a:srgbClr val="A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3" name="角丸四角形 92">
            <a:extLst>
              <a:ext uri="{FF2B5EF4-FFF2-40B4-BE49-F238E27FC236}">
                <a16:creationId xmlns:a16="http://schemas.microsoft.com/office/drawing/2014/main" id="{BD8D40D7-4A73-8DFE-7A04-FE7F79041B23}"/>
              </a:ext>
            </a:extLst>
          </p:cNvPr>
          <p:cNvSpPr/>
          <p:nvPr/>
        </p:nvSpPr>
        <p:spPr>
          <a:xfrm>
            <a:off x="8980243" y="3562750"/>
            <a:ext cx="2102195" cy="711668"/>
          </a:xfrm>
          <a:prstGeom prst="roundRect">
            <a:avLst>
              <a:gd name="adj" fmla="val 50000"/>
            </a:avLst>
          </a:prstGeom>
          <a:solidFill>
            <a:schemeClr val="bg1"/>
          </a:solidFill>
          <a:ln>
            <a:noFill/>
          </a:ln>
          <a:effectLst>
            <a:outerShdw blurRad="50800" dist="38100" dir="2700000" algn="ctr"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pic>
        <p:nvPicPr>
          <p:cNvPr id="53" name="図 52" descr="挿絵, 時計, 記号 が含まれている画像&#10;&#10;AI 生成コンテンツは誤りを含む可能性があります。">
            <a:extLst>
              <a:ext uri="{FF2B5EF4-FFF2-40B4-BE49-F238E27FC236}">
                <a16:creationId xmlns:a16="http://schemas.microsoft.com/office/drawing/2014/main" id="{0804D154-3093-0AF0-3EA6-A07B6FC093BC}"/>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11724" y="2201188"/>
            <a:ext cx="576000" cy="4075825"/>
          </a:xfrm>
          <a:prstGeom prst="rect">
            <a:avLst/>
          </a:prstGeom>
        </p:spPr>
      </p:pic>
      <p:sp>
        <p:nvSpPr>
          <p:cNvPr id="29" name="フリーフォーム 28">
            <a:extLst>
              <a:ext uri="{FF2B5EF4-FFF2-40B4-BE49-F238E27FC236}">
                <a16:creationId xmlns:a16="http://schemas.microsoft.com/office/drawing/2014/main" id="{E7D8C511-2555-2EA4-7333-DB38B54A7029}"/>
              </a:ext>
            </a:extLst>
          </p:cNvPr>
          <p:cNvSpPr/>
          <p:nvPr/>
        </p:nvSpPr>
        <p:spPr>
          <a:xfrm>
            <a:off x="3651278" y="2112921"/>
            <a:ext cx="4889444" cy="317356"/>
          </a:xfrm>
          <a:custGeom>
            <a:avLst/>
            <a:gdLst>
              <a:gd name="connsiteX0" fmla="*/ 158678 w 4889444"/>
              <a:gd name="connsiteY0" fmla="*/ 0 h 317356"/>
              <a:gd name="connsiteX1" fmla="*/ 4730766 w 4889444"/>
              <a:gd name="connsiteY1" fmla="*/ 0 h 317356"/>
              <a:gd name="connsiteX2" fmla="*/ 4876974 w 4889444"/>
              <a:gd name="connsiteY2" fmla="*/ 96914 h 317356"/>
              <a:gd name="connsiteX3" fmla="*/ 4889038 w 4889444"/>
              <a:gd name="connsiteY3" fmla="*/ 156666 h 317356"/>
              <a:gd name="connsiteX4" fmla="*/ 4889443 w 4889444"/>
              <a:gd name="connsiteY4" fmla="*/ 156666 h 317356"/>
              <a:gd name="connsiteX5" fmla="*/ 4889443 w 4889444"/>
              <a:gd name="connsiteY5" fmla="*/ 158673 h 317356"/>
              <a:gd name="connsiteX6" fmla="*/ 4889444 w 4889444"/>
              <a:gd name="connsiteY6" fmla="*/ 158678 h 317356"/>
              <a:gd name="connsiteX7" fmla="*/ 4889443 w 4889444"/>
              <a:gd name="connsiteY7" fmla="*/ 158678 h 317356"/>
              <a:gd name="connsiteX8" fmla="*/ 4889443 w 4889444"/>
              <a:gd name="connsiteY8" fmla="*/ 317355 h 317356"/>
              <a:gd name="connsiteX9" fmla="*/ 4730770 w 4889444"/>
              <a:gd name="connsiteY9" fmla="*/ 317355 h 317356"/>
              <a:gd name="connsiteX10" fmla="*/ 4730765 w 4889444"/>
              <a:gd name="connsiteY10" fmla="*/ 317356 h 317356"/>
              <a:gd name="connsiteX11" fmla="*/ 158678 w 4889444"/>
              <a:gd name="connsiteY11" fmla="*/ 317355 h 317356"/>
              <a:gd name="connsiteX12" fmla="*/ 0 w 4889444"/>
              <a:gd name="connsiteY12" fmla="*/ 317355 h 317356"/>
              <a:gd name="connsiteX13" fmla="*/ 0 w 4889444"/>
              <a:gd name="connsiteY13" fmla="*/ 158678 h 317356"/>
              <a:gd name="connsiteX14" fmla="*/ 0 w 4889444"/>
              <a:gd name="connsiteY14" fmla="*/ 158677 h 317356"/>
              <a:gd name="connsiteX15" fmla="*/ 0 w 4889444"/>
              <a:gd name="connsiteY15" fmla="*/ 156666 h 317356"/>
              <a:gd name="connsiteX16" fmla="*/ 406 w 4889444"/>
              <a:gd name="connsiteY16" fmla="*/ 156666 h 317356"/>
              <a:gd name="connsiteX17" fmla="*/ 12470 w 4889444"/>
              <a:gd name="connsiteY17" fmla="*/ 96914 h 317356"/>
              <a:gd name="connsiteX18" fmla="*/ 158678 w 4889444"/>
              <a:gd name="connsiteY18" fmla="*/ 0 h 317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9444" h="317356">
                <a:moveTo>
                  <a:pt x="158678" y="0"/>
                </a:moveTo>
                <a:lnTo>
                  <a:pt x="4730766" y="0"/>
                </a:lnTo>
                <a:cubicBezTo>
                  <a:pt x="4796492" y="0"/>
                  <a:pt x="4852886" y="39962"/>
                  <a:pt x="4876974" y="96914"/>
                </a:cubicBezTo>
                <a:lnTo>
                  <a:pt x="4889038" y="156666"/>
                </a:lnTo>
                <a:lnTo>
                  <a:pt x="4889443" y="156666"/>
                </a:lnTo>
                <a:lnTo>
                  <a:pt x="4889443" y="158673"/>
                </a:lnTo>
                <a:lnTo>
                  <a:pt x="4889444" y="158678"/>
                </a:lnTo>
                <a:lnTo>
                  <a:pt x="4889443" y="158678"/>
                </a:lnTo>
                <a:lnTo>
                  <a:pt x="4889443" y="317355"/>
                </a:lnTo>
                <a:lnTo>
                  <a:pt x="4730770" y="317355"/>
                </a:lnTo>
                <a:lnTo>
                  <a:pt x="4730765" y="317356"/>
                </a:lnTo>
                <a:lnTo>
                  <a:pt x="158678" y="317355"/>
                </a:lnTo>
                <a:lnTo>
                  <a:pt x="0" y="317355"/>
                </a:lnTo>
                <a:lnTo>
                  <a:pt x="0" y="158678"/>
                </a:lnTo>
                <a:lnTo>
                  <a:pt x="0" y="158677"/>
                </a:lnTo>
                <a:lnTo>
                  <a:pt x="0" y="156666"/>
                </a:lnTo>
                <a:lnTo>
                  <a:pt x="406" y="156666"/>
                </a:lnTo>
                <a:lnTo>
                  <a:pt x="12470" y="96914"/>
                </a:lnTo>
                <a:cubicBezTo>
                  <a:pt x="36559" y="39962"/>
                  <a:pt x="92952" y="0"/>
                  <a:pt x="158678" y="0"/>
                </a:cubicBezTo>
                <a:close/>
              </a:path>
            </a:pathLst>
          </a:custGeom>
          <a:solidFill>
            <a:srgbClr val="00A7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p:txBody>
      </p:sp>
      <p:sp>
        <p:nvSpPr>
          <p:cNvPr id="45" name="テキスト ボックス 44">
            <a:extLst>
              <a:ext uri="{FF2B5EF4-FFF2-40B4-BE49-F238E27FC236}">
                <a16:creationId xmlns:a16="http://schemas.microsoft.com/office/drawing/2014/main" id="{274C3C32-24A4-7A89-3AD5-13BB32AC238E}"/>
              </a:ext>
            </a:extLst>
          </p:cNvPr>
          <p:cNvSpPr txBox="1"/>
          <p:nvPr/>
        </p:nvSpPr>
        <p:spPr>
          <a:xfrm>
            <a:off x="8991260" y="3703141"/>
            <a:ext cx="208016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142FA4"/>
                </a:solidFill>
                <a:effectLst/>
                <a:uLnTx/>
                <a:uFillTx/>
                <a:latin typeface="Poppins SemiBold" pitchFamily="2" charset="0"/>
                <a:ea typeface="游ゴシック" panose="020B0400000000000000" pitchFamily="50" charset="-128"/>
                <a:cs typeface="Poppins SemiBold" pitchFamily="2" charset="0"/>
              </a:rPr>
              <a:t>New Products for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142FA4"/>
                </a:solidFill>
                <a:effectLst/>
                <a:uLnTx/>
                <a:uFillTx/>
                <a:latin typeface="Poppins SemiBold" pitchFamily="2" charset="0"/>
                <a:ea typeface="游ゴシック" panose="020B0400000000000000" pitchFamily="50" charset="-128"/>
                <a:cs typeface="Poppins SemiBold" pitchFamily="2" charset="0"/>
              </a:rPr>
              <a:t>Next-Generation Creators</a:t>
            </a:r>
            <a:endParaRPr kumimoji="1" lang="ja-JP" altLang="en-US" sz="1100" b="1" i="0" u="none" strike="noStrike" kern="1200" cap="none" spc="0" normalizeH="0" baseline="30000" noProof="0">
              <a:ln>
                <a:noFill/>
              </a:ln>
              <a:solidFill>
                <a:srgbClr val="142FA4"/>
              </a:solidFill>
              <a:effectLst/>
              <a:uLnTx/>
              <a:uFillTx/>
              <a:latin typeface="Poppins SemiBold" pitchFamily="2" charset="0"/>
              <a:ea typeface="M PLUS 1p" panose="020B0502020203020207" pitchFamily="34" charset="-128"/>
              <a:cs typeface="Poppins SemiBold" pitchFamily="2" charset="0"/>
            </a:endParaRPr>
          </a:p>
        </p:txBody>
      </p:sp>
      <p:sp>
        <p:nvSpPr>
          <p:cNvPr id="75" name="正方形/長方形 74">
            <a:extLst>
              <a:ext uri="{FF2B5EF4-FFF2-40B4-BE49-F238E27FC236}">
                <a16:creationId xmlns:a16="http://schemas.microsoft.com/office/drawing/2014/main" id="{6002C865-335E-4076-9446-C8949F9D6FC6}"/>
              </a:ext>
            </a:extLst>
          </p:cNvPr>
          <p:cNvSpPr/>
          <p:nvPr/>
        </p:nvSpPr>
        <p:spPr>
          <a:xfrm>
            <a:off x="3651277" y="2410333"/>
            <a:ext cx="4889446" cy="200116"/>
          </a:xfrm>
          <a:prstGeom prst="rect">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71" name="テキスト ボックス 70">
            <a:extLst>
              <a:ext uri="{FF2B5EF4-FFF2-40B4-BE49-F238E27FC236}">
                <a16:creationId xmlns:a16="http://schemas.microsoft.com/office/drawing/2014/main" id="{2937606A-5263-3681-BC54-36642D508972}"/>
              </a:ext>
            </a:extLst>
          </p:cNvPr>
          <p:cNvSpPr txBox="1"/>
          <p:nvPr/>
        </p:nvSpPr>
        <p:spPr>
          <a:xfrm>
            <a:off x="4005473" y="2218357"/>
            <a:ext cx="4181055" cy="299121"/>
          </a:xfrm>
          <a:prstGeom prst="rect">
            <a:avLst/>
          </a:prstGeom>
          <a:noFill/>
        </p:spPr>
        <p:txBody>
          <a:bodyPr wrap="square">
            <a:sp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The Ever-Expanding Creative Activities of ibisPaint</a:t>
            </a:r>
          </a:p>
        </p:txBody>
      </p:sp>
      <p:sp>
        <p:nvSpPr>
          <p:cNvPr id="87" name="三角形 86">
            <a:extLst>
              <a:ext uri="{FF2B5EF4-FFF2-40B4-BE49-F238E27FC236}">
                <a16:creationId xmlns:a16="http://schemas.microsoft.com/office/drawing/2014/main" id="{ED02C9C1-7CCE-9768-601C-36BC65F0917A}"/>
              </a:ext>
            </a:extLst>
          </p:cNvPr>
          <p:cNvSpPr/>
          <p:nvPr/>
        </p:nvSpPr>
        <p:spPr>
          <a:xfrm rot="10800000">
            <a:off x="9768149" y="5230392"/>
            <a:ext cx="526383" cy="323489"/>
          </a:xfrm>
          <a:prstGeom prst="triangle">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2" name="角丸四角形 91">
            <a:extLst>
              <a:ext uri="{FF2B5EF4-FFF2-40B4-BE49-F238E27FC236}">
                <a16:creationId xmlns:a16="http://schemas.microsoft.com/office/drawing/2014/main" id="{67A5273B-C902-5665-3DF3-664B62531917}"/>
              </a:ext>
            </a:extLst>
          </p:cNvPr>
          <p:cNvSpPr/>
          <p:nvPr/>
        </p:nvSpPr>
        <p:spPr>
          <a:xfrm>
            <a:off x="8834340" y="2933450"/>
            <a:ext cx="2394000" cy="455689"/>
          </a:xfrm>
          <a:prstGeom prst="roundRect">
            <a:avLst>
              <a:gd name="adj" fmla="val 50000"/>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1" lang="en-US" altLang="ja-JP" sz="1000" b="0" i="0" u="none" strike="noStrike" kern="1200" cap="none" spc="0" normalizeH="0" baseline="0" noProof="0">
              <a:ln>
                <a:noFill/>
              </a:ln>
              <a:solidFill>
                <a:prstClr val="white"/>
              </a:solidFill>
              <a:effectLst/>
              <a:uLnTx/>
              <a:uFillTx/>
              <a:latin typeface="Poppins" panose="00000500000000000000" pitchFamily="2" charset="0"/>
              <a:ea typeface="游ゴシック" panose="020B0400000000000000" pitchFamily="50" charset="-128"/>
              <a:cs typeface="Poppins" panose="00000500000000000000" pitchFamily="2" charset="0"/>
            </a:endParaRPr>
          </a:p>
        </p:txBody>
      </p:sp>
      <p:sp>
        <p:nvSpPr>
          <p:cNvPr id="14" name="テキスト ボックス 13">
            <a:extLst>
              <a:ext uri="{FF2B5EF4-FFF2-40B4-BE49-F238E27FC236}">
                <a16:creationId xmlns:a16="http://schemas.microsoft.com/office/drawing/2014/main" id="{2CC56FFF-E1D2-CC23-9CAB-4B9417C038DE}"/>
              </a:ext>
            </a:extLst>
          </p:cNvPr>
          <p:cNvSpPr txBox="1"/>
          <p:nvPr/>
        </p:nvSpPr>
        <p:spPr>
          <a:xfrm>
            <a:off x="9012035" y="2933450"/>
            <a:ext cx="2141464"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Innovative Creation Tools </a:t>
            </a: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Leveraging AI</a:t>
            </a:r>
          </a:p>
        </p:txBody>
      </p:sp>
      <p:sp>
        <p:nvSpPr>
          <p:cNvPr id="15" name="角丸四角形 16">
            <a:extLst>
              <a:ext uri="{FF2B5EF4-FFF2-40B4-BE49-F238E27FC236}">
                <a16:creationId xmlns:a16="http://schemas.microsoft.com/office/drawing/2014/main" id="{FA66C6E3-3C0C-849A-D598-31A32C853276}"/>
              </a:ext>
            </a:extLst>
          </p:cNvPr>
          <p:cNvSpPr/>
          <p:nvPr/>
        </p:nvSpPr>
        <p:spPr>
          <a:xfrm>
            <a:off x="3783220" y="2927764"/>
            <a:ext cx="2257030" cy="711668"/>
          </a:xfrm>
          <a:prstGeom prst="roundRect">
            <a:avLst>
              <a:gd name="adj" fmla="val 50000"/>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36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49" name="左右矢印 48">
            <a:extLst>
              <a:ext uri="{FF2B5EF4-FFF2-40B4-BE49-F238E27FC236}">
                <a16:creationId xmlns:a16="http://schemas.microsoft.com/office/drawing/2014/main" id="{4221E081-86FF-F9E3-22BA-D5B204B64122}"/>
              </a:ext>
            </a:extLst>
          </p:cNvPr>
          <p:cNvSpPr/>
          <p:nvPr/>
        </p:nvSpPr>
        <p:spPr>
          <a:xfrm>
            <a:off x="8326212" y="3756202"/>
            <a:ext cx="556621" cy="317356"/>
          </a:xfrm>
          <a:prstGeom prst="leftRightArrow">
            <a:avLst>
              <a:gd name="adj1" fmla="val 36672"/>
              <a:gd name="adj2" fmla="val 42384"/>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63" name="フリーフォーム 62">
            <a:extLst>
              <a:ext uri="{FF2B5EF4-FFF2-40B4-BE49-F238E27FC236}">
                <a16:creationId xmlns:a16="http://schemas.microsoft.com/office/drawing/2014/main" id="{150B05F2-0A36-EE76-2B71-CAEC5A66CB60}"/>
              </a:ext>
            </a:extLst>
          </p:cNvPr>
          <p:cNvSpPr/>
          <p:nvPr/>
        </p:nvSpPr>
        <p:spPr>
          <a:xfrm>
            <a:off x="8706894" y="2112921"/>
            <a:ext cx="2648893" cy="497020"/>
          </a:xfrm>
          <a:custGeom>
            <a:avLst/>
            <a:gdLst>
              <a:gd name="csX0" fmla="*/ 190879 w 2648893"/>
              <a:gd name="csY0" fmla="*/ 0 h 497020"/>
              <a:gd name="csX1" fmla="*/ 2458014 w 2648893"/>
              <a:gd name="csY1" fmla="*/ 0 h 497020"/>
              <a:gd name="csX2" fmla="*/ 2648893 w 2648893"/>
              <a:gd name="csY2" fmla="*/ 190879 h 497020"/>
              <a:gd name="csX3" fmla="*/ 2648893 w 2648893"/>
              <a:gd name="csY3" fmla="*/ 497020 h 497020"/>
              <a:gd name="csX4" fmla="*/ 0 w 2648893"/>
              <a:gd name="csY4" fmla="*/ 497020 h 497020"/>
              <a:gd name="csX5" fmla="*/ 0 w 2648893"/>
              <a:gd name="csY5" fmla="*/ 190879 h 497020"/>
              <a:gd name="csX6" fmla="*/ 190879 w 2648893"/>
              <a:gd name="csY6" fmla="*/ 0 h 4970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48893" h="497020">
                <a:moveTo>
                  <a:pt x="190879" y="0"/>
                </a:moveTo>
                <a:lnTo>
                  <a:pt x="2458014" y="0"/>
                </a:lnTo>
                <a:cubicBezTo>
                  <a:pt x="2563434" y="0"/>
                  <a:pt x="2648893" y="85459"/>
                  <a:pt x="2648893" y="190879"/>
                </a:cubicBezTo>
                <a:lnTo>
                  <a:pt x="2648893" y="497020"/>
                </a:lnTo>
                <a:lnTo>
                  <a:pt x="0" y="497020"/>
                </a:lnTo>
                <a:lnTo>
                  <a:pt x="0" y="190879"/>
                </a:lnTo>
                <a:cubicBezTo>
                  <a:pt x="0" y="85459"/>
                  <a:pt x="85459" y="0"/>
                  <a:pt x="190879" y="0"/>
                </a:cubicBezTo>
                <a:close/>
              </a:path>
            </a:pathLst>
          </a:cu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82" name="テキスト ボックス 81">
            <a:extLst>
              <a:ext uri="{FF2B5EF4-FFF2-40B4-BE49-F238E27FC236}">
                <a16:creationId xmlns:a16="http://schemas.microsoft.com/office/drawing/2014/main" id="{2644E0CE-EF9E-2485-06A8-C6DF084C6859}"/>
              </a:ext>
            </a:extLst>
          </p:cNvPr>
          <p:cNvSpPr txBox="1"/>
          <p:nvPr/>
        </p:nvSpPr>
        <p:spPr>
          <a:xfrm>
            <a:off x="8757096" y="2115447"/>
            <a:ext cx="2513398" cy="494494"/>
          </a:xfrm>
          <a:prstGeom prst="rect">
            <a:avLst/>
          </a:prstGeom>
          <a:noFill/>
        </p:spPr>
        <p:txBody>
          <a:bodyPr wrap="square">
            <a:spAutoFit/>
          </a:bodyPr>
          <a:lstStyle/>
          <a:p>
            <a:pPr marL="0" marR="0" lvl="0" indent="0" algn="ctr" defTabSz="914400" rtl="0" eaLnBrk="1" fontAlgn="auto" latinLnBrk="0" hangingPunct="1">
              <a:lnSpc>
                <a:spcPts val="1580"/>
              </a:lnSpc>
              <a:spcBef>
                <a:spcPts val="0"/>
              </a:spcBef>
              <a:spcAft>
                <a:spcPts val="0"/>
              </a:spcAft>
              <a:buClrTx/>
              <a:buSzTx/>
              <a:buFontTx/>
              <a:buNone/>
              <a:tabLst/>
              <a:defRPr/>
            </a:pPr>
            <a:r>
              <a:rPr kumimoji="1" lang="en-AU"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Empowering Creative Expression of Next-Generation</a:t>
            </a:r>
            <a:endParaRPr kumimoji="1" lang="en-US"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endParaRPr>
          </a:p>
        </p:txBody>
      </p:sp>
      <p:sp>
        <p:nvSpPr>
          <p:cNvPr id="69" name="角丸四角形 68">
            <a:extLst>
              <a:ext uri="{FF2B5EF4-FFF2-40B4-BE49-F238E27FC236}">
                <a16:creationId xmlns:a16="http://schemas.microsoft.com/office/drawing/2014/main" id="{EA694DD4-9701-A64C-9103-AD72FD0D984E}"/>
              </a:ext>
            </a:extLst>
          </p:cNvPr>
          <p:cNvSpPr/>
          <p:nvPr/>
        </p:nvSpPr>
        <p:spPr>
          <a:xfrm>
            <a:off x="8834340" y="4459402"/>
            <a:ext cx="2394000" cy="455689"/>
          </a:xfrm>
          <a:prstGeom prst="roundRect">
            <a:avLst>
              <a:gd name="adj" fmla="val 50000"/>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1" lang="en-US" altLang="ja-JP" sz="1000" b="0" i="0" u="none" strike="noStrike" kern="1200" cap="none" spc="0" normalizeH="0" baseline="0" noProof="0">
              <a:ln>
                <a:noFill/>
              </a:ln>
              <a:solidFill>
                <a:prstClr val="white"/>
              </a:solidFill>
              <a:effectLst/>
              <a:uLnTx/>
              <a:uFillTx/>
              <a:latin typeface="Poppins" panose="00000500000000000000" pitchFamily="2" charset="0"/>
              <a:ea typeface="游ゴシック" panose="020B0400000000000000" pitchFamily="50" charset="-128"/>
              <a:cs typeface="Poppins" panose="00000500000000000000" pitchFamily="2" charset="0"/>
            </a:endParaRPr>
          </a:p>
        </p:txBody>
      </p:sp>
      <p:sp>
        <p:nvSpPr>
          <p:cNvPr id="32" name="テキスト ボックス 31">
            <a:extLst>
              <a:ext uri="{FF2B5EF4-FFF2-40B4-BE49-F238E27FC236}">
                <a16:creationId xmlns:a16="http://schemas.microsoft.com/office/drawing/2014/main" id="{9A776642-84A8-AFC1-DFDC-BA1368CAD320}"/>
              </a:ext>
            </a:extLst>
          </p:cNvPr>
          <p:cNvSpPr txBox="1"/>
          <p:nvPr/>
        </p:nvSpPr>
        <p:spPr>
          <a:xfrm>
            <a:off x="8960608" y="4450239"/>
            <a:ext cx="2141464"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Music Video Creation Tools </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Integrating Video and Music</a:t>
            </a:r>
          </a:p>
        </p:txBody>
      </p:sp>
      <p:sp>
        <p:nvSpPr>
          <p:cNvPr id="72" name="正方形/長方形 71">
            <a:extLst>
              <a:ext uri="{FF2B5EF4-FFF2-40B4-BE49-F238E27FC236}">
                <a16:creationId xmlns:a16="http://schemas.microsoft.com/office/drawing/2014/main" id="{F7D7DA58-27BA-43C1-9F50-51D99A90294A}"/>
              </a:ext>
            </a:extLst>
          </p:cNvPr>
          <p:cNvSpPr/>
          <p:nvPr/>
        </p:nvSpPr>
        <p:spPr>
          <a:xfrm>
            <a:off x="944798" y="3989176"/>
            <a:ext cx="2394225" cy="1110903"/>
          </a:xfrm>
          <a:prstGeom prst="rect">
            <a:avLst/>
          </a:prstGeom>
          <a:solidFill>
            <a:srgbClr val="FD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74" name="角丸四角形 73">
            <a:extLst>
              <a:ext uri="{FF2B5EF4-FFF2-40B4-BE49-F238E27FC236}">
                <a16:creationId xmlns:a16="http://schemas.microsoft.com/office/drawing/2014/main" id="{2011042B-7BBE-7188-7364-FCD506B0ECFA}"/>
              </a:ext>
            </a:extLst>
          </p:cNvPr>
          <p:cNvSpPr/>
          <p:nvPr/>
        </p:nvSpPr>
        <p:spPr>
          <a:xfrm>
            <a:off x="1090813" y="3562750"/>
            <a:ext cx="2102195" cy="711668"/>
          </a:xfrm>
          <a:prstGeom prst="roundRect">
            <a:avLst>
              <a:gd name="adj" fmla="val 50000"/>
            </a:avLst>
          </a:prstGeom>
          <a:solidFill>
            <a:schemeClr val="bg1"/>
          </a:solidFill>
          <a:ln>
            <a:noFill/>
          </a:ln>
          <a:effectLst>
            <a:outerShdw blurRad="50800" dist="38100" dir="2700000" algn="ctr"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84" name="三角形 83">
            <a:extLst>
              <a:ext uri="{FF2B5EF4-FFF2-40B4-BE49-F238E27FC236}">
                <a16:creationId xmlns:a16="http://schemas.microsoft.com/office/drawing/2014/main" id="{6081C3C5-1995-B1DD-3B72-B8AA471EEC06}"/>
              </a:ext>
            </a:extLst>
          </p:cNvPr>
          <p:cNvSpPr/>
          <p:nvPr/>
        </p:nvSpPr>
        <p:spPr>
          <a:xfrm rot="10800000">
            <a:off x="1878719" y="5230392"/>
            <a:ext cx="526383" cy="323489"/>
          </a:xfrm>
          <a:prstGeom prst="triangle">
            <a:avLst/>
          </a:prstGeom>
          <a:solidFill>
            <a:schemeClr val="bg1"/>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95" name="テキスト ボックス 94">
            <a:extLst>
              <a:ext uri="{FF2B5EF4-FFF2-40B4-BE49-F238E27FC236}">
                <a16:creationId xmlns:a16="http://schemas.microsoft.com/office/drawing/2014/main" id="{E233C1C3-862B-E279-152E-636182302B55}"/>
              </a:ext>
            </a:extLst>
          </p:cNvPr>
          <p:cNvSpPr txBox="1"/>
          <p:nvPr/>
        </p:nvSpPr>
        <p:spPr>
          <a:xfrm>
            <a:off x="1071178" y="2933450"/>
            <a:ext cx="2141464"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Voice Library Extensions </a:t>
            </a: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(Enhanced Paid Models)</a:t>
            </a:r>
            <a:endParaRPr kumimoji="1" lang="en-US" altLang="ja-JP" sz="11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96" name="フリーフォーム 95">
            <a:extLst>
              <a:ext uri="{FF2B5EF4-FFF2-40B4-BE49-F238E27FC236}">
                <a16:creationId xmlns:a16="http://schemas.microsoft.com/office/drawing/2014/main" id="{42E59691-DC29-CC9E-E363-A0905B142308}"/>
              </a:ext>
            </a:extLst>
          </p:cNvPr>
          <p:cNvSpPr/>
          <p:nvPr/>
        </p:nvSpPr>
        <p:spPr>
          <a:xfrm>
            <a:off x="817464" y="2112921"/>
            <a:ext cx="2648893" cy="497020"/>
          </a:xfrm>
          <a:custGeom>
            <a:avLst/>
            <a:gdLst>
              <a:gd name="csX0" fmla="*/ 190879 w 2648893"/>
              <a:gd name="csY0" fmla="*/ 0 h 497020"/>
              <a:gd name="csX1" fmla="*/ 2458014 w 2648893"/>
              <a:gd name="csY1" fmla="*/ 0 h 497020"/>
              <a:gd name="csX2" fmla="*/ 2648893 w 2648893"/>
              <a:gd name="csY2" fmla="*/ 190879 h 497020"/>
              <a:gd name="csX3" fmla="*/ 2648893 w 2648893"/>
              <a:gd name="csY3" fmla="*/ 497020 h 497020"/>
              <a:gd name="csX4" fmla="*/ 0 w 2648893"/>
              <a:gd name="csY4" fmla="*/ 497020 h 497020"/>
              <a:gd name="csX5" fmla="*/ 0 w 2648893"/>
              <a:gd name="csY5" fmla="*/ 190879 h 497020"/>
              <a:gd name="csX6" fmla="*/ 190879 w 2648893"/>
              <a:gd name="csY6" fmla="*/ 0 h 49702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48893" h="497020">
                <a:moveTo>
                  <a:pt x="190879" y="0"/>
                </a:moveTo>
                <a:lnTo>
                  <a:pt x="2458014" y="0"/>
                </a:lnTo>
                <a:cubicBezTo>
                  <a:pt x="2563434" y="0"/>
                  <a:pt x="2648893" y="85459"/>
                  <a:pt x="2648893" y="190879"/>
                </a:cubicBezTo>
                <a:lnTo>
                  <a:pt x="2648893" y="497020"/>
                </a:lnTo>
                <a:lnTo>
                  <a:pt x="0" y="497020"/>
                </a:lnTo>
                <a:lnTo>
                  <a:pt x="0" y="190879"/>
                </a:lnTo>
                <a:cubicBezTo>
                  <a:pt x="0" y="85459"/>
                  <a:pt x="85459" y="0"/>
                  <a:pt x="190879" y="0"/>
                </a:cubicBezTo>
                <a:close/>
              </a:path>
            </a:pathLst>
          </a:cu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98" name="角丸四角形 97">
            <a:extLst>
              <a:ext uri="{FF2B5EF4-FFF2-40B4-BE49-F238E27FC236}">
                <a16:creationId xmlns:a16="http://schemas.microsoft.com/office/drawing/2014/main" id="{0934BCD9-B40B-96A3-C73B-E64CEDAD4DEF}"/>
              </a:ext>
            </a:extLst>
          </p:cNvPr>
          <p:cNvSpPr/>
          <p:nvPr/>
        </p:nvSpPr>
        <p:spPr>
          <a:xfrm>
            <a:off x="944910" y="4459402"/>
            <a:ext cx="2394000" cy="455689"/>
          </a:xfrm>
          <a:prstGeom prst="roundRect">
            <a:avLst>
              <a:gd name="adj" fmla="val 50000"/>
            </a:avLst>
          </a:pr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1" lang="en-US" altLang="ja-JP" sz="1000" b="0" i="0" u="none" strike="noStrike" kern="1200" cap="none" spc="0" normalizeH="0" baseline="0" noProof="0">
              <a:ln>
                <a:noFill/>
              </a:ln>
              <a:solidFill>
                <a:prstClr val="white"/>
              </a:solidFill>
              <a:effectLst/>
              <a:uLnTx/>
              <a:uFillTx/>
              <a:latin typeface="Poppins" panose="00000500000000000000" pitchFamily="2" charset="0"/>
              <a:ea typeface="游ゴシック" panose="020B0400000000000000" pitchFamily="50" charset="-128"/>
              <a:cs typeface="Poppins" panose="00000500000000000000" pitchFamily="2" charset="0"/>
            </a:endParaRPr>
          </a:p>
        </p:txBody>
      </p:sp>
      <p:sp>
        <p:nvSpPr>
          <p:cNvPr id="48" name="テキスト ボックス 47">
            <a:extLst>
              <a:ext uri="{FF2B5EF4-FFF2-40B4-BE49-F238E27FC236}">
                <a16:creationId xmlns:a16="http://schemas.microsoft.com/office/drawing/2014/main" id="{91C5CFEE-F825-06A0-7AC4-7B1A40394730}"/>
              </a:ext>
            </a:extLst>
          </p:cNvPr>
          <p:cNvSpPr txBox="1"/>
          <p:nvPr/>
        </p:nvSpPr>
        <p:spPr>
          <a:xfrm>
            <a:off x="1073348" y="3941795"/>
            <a:ext cx="213712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D44ED9"/>
                </a:solidFill>
                <a:effectLst/>
                <a:uLnTx/>
                <a:uFillTx/>
                <a:latin typeface="Poppins" pitchFamily="2" charset="0"/>
                <a:ea typeface="游ゴシック" panose="020B0400000000000000" pitchFamily="50" charset="-128"/>
                <a:cs typeface="Poppins" pitchFamily="2" charset="0"/>
              </a:rPr>
              <a:t>AI </a:t>
            </a:r>
            <a:r>
              <a:rPr kumimoji="1" lang="en-US" altLang="ja-JP" sz="1000" b="0" i="0" u="none" strike="noStrike" kern="1200" cap="none" spc="0" normalizeH="0" baseline="0" noProof="0">
                <a:ln>
                  <a:noFill/>
                </a:ln>
                <a:solidFill>
                  <a:srgbClr val="D44ED9"/>
                </a:solidFill>
                <a:effectLst/>
                <a:uLnTx/>
                <a:uFillTx/>
                <a:latin typeface="Poppins" pitchFamily="2" charset="0"/>
                <a:ea typeface="游ゴシック" panose="020B0400000000000000" pitchFamily="50" charset="-128"/>
                <a:cs typeface="Poppins" pitchFamily="2" charset="0"/>
              </a:rPr>
              <a:t>Singing </a:t>
            </a:r>
            <a:r>
              <a:rPr kumimoji="1" lang="ja-JP" altLang="ja-JP" sz="1000" b="0" i="0" u="none" strike="noStrike" kern="1200" cap="none" spc="0" normalizeH="0" baseline="0" noProof="0">
                <a:ln>
                  <a:noFill/>
                </a:ln>
                <a:solidFill>
                  <a:srgbClr val="D44ED9"/>
                </a:solidFill>
                <a:effectLst/>
                <a:uLnTx/>
                <a:uFillTx/>
                <a:latin typeface="Poppins" pitchFamily="2" charset="0"/>
                <a:ea typeface="游ゴシック" panose="020B0400000000000000" pitchFamily="50" charset="-128"/>
                <a:cs typeface="Poppins" pitchFamily="2" charset="0"/>
              </a:rPr>
              <a:t>Voice Synthesis App</a:t>
            </a:r>
            <a:endParaRPr kumimoji="1" lang="ja-JP" altLang="en-US" sz="1000" b="0" i="0" u="none" strike="noStrike" kern="1200" cap="none" spc="0" normalizeH="0" baseline="30000" noProof="0">
              <a:ln>
                <a:noFill/>
              </a:ln>
              <a:solidFill>
                <a:srgbClr val="D44ED9"/>
              </a:solidFill>
              <a:effectLst/>
              <a:uLnTx/>
              <a:uFillTx/>
              <a:latin typeface="Poppins" pitchFamily="2" charset="0"/>
              <a:ea typeface="M PLUS 1p" panose="020B0502020203020207" pitchFamily="34" charset="-128"/>
              <a:cs typeface="Poppins" pitchFamily="2" charset="0"/>
            </a:endParaRPr>
          </a:p>
        </p:txBody>
      </p:sp>
      <p:pic>
        <p:nvPicPr>
          <p:cNvPr id="51" name="図 50">
            <a:extLst>
              <a:ext uri="{FF2B5EF4-FFF2-40B4-BE49-F238E27FC236}">
                <a16:creationId xmlns:a16="http://schemas.microsoft.com/office/drawing/2014/main" id="{7593CA52-1510-9B86-76DF-28BDF1824434}"/>
              </a:ext>
            </a:extLst>
          </p:cNvPr>
          <p:cNvPicPr>
            <a:picLocks noChangeAspect="1"/>
          </p:cNvPicPr>
          <p:nvPr/>
        </p:nvPicPr>
        <p:blipFill>
          <a:blip r:embed="rId4"/>
          <a:stretch>
            <a:fillRect/>
          </a:stretch>
        </p:blipFill>
        <p:spPr>
          <a:xfrm>
            <a:off x="1558895" y="3679636"/>
            <a:ext cx="1166031" cy="305538"/>
          </a:xfrm>
          <a:prstGeom prst="rect">
            <a:avLst/>
          </a:prstGeom>
        </p:spPr>
      </p:pic>
      <p:sp>
        <p:nvSpPr>
          <p:cNvPr id="68" name="テキスト ボックス 67">
            <a:extLst>
              <a:ext uri="{FF2B5EF4-FFF2-40B4-BE49-F238E27FC236}">
                <a16:creationId xmlns:a16="http://schemas.microsoft.com/office/drawing/2014/main" id="{A6EB948F-6C35-8F26-503D-79031FED0A83}"/>
              </a:ext>
            </a:extLst>
          </p:cNvPr>
          <p:cNvSpPr txBox="1"/>
          <p:nvPr/>
        </p:nvSpPr>
        <p:spPr>
          <a:xfrm>
            <a:off x="1092327" y="2115447"/>
            <a:ext cx="2099167" cy="494687"/>
          </a:xfrm>
          <a:prstGeom prst="rect">
            <a:avLst/>
          </a:prstGeom>
          <a:noFill/>
        </p:spPr>
        <p:txBody>
          <a:bodyPr wrap="square">
            <a:spAutoFit/>
          </a:bodyPr>
          <a:lstStyle/>
          <a:p>
            <a:pPr marL="0" marR="0" lvl="0" indent="0" algn="ctr" defTabSz="914400" rtl="0" eaLnBrk="1" fontAlgn="auto" latinLnBrk="0" hangingPunct="1">
              <a:lnSpc>
                <a:spcPts val="158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white"/>
                </a:solidFill>
                <a:effectLst/>
                <a:uLnTx/>
                <a:uFillTx/>
                <a:latin typeface="Poppins Medium" pitchFamily="2" charset="0"/>
                <a:ea typeface="游ゴシック" panose="020B0400000000000000" pitchFamily="50" charset="-128"/>
                <a:cs typeface="Poppins Medium" pitchFamily="2" charset="0"/>
              </a:rPr>
              <a:t>A New Music Creation Experience</a:t>
            </a:r>
            <a:endParaRPr kumimoji="1" lang="ja-JP" altLang="en-US" sz="12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38" name="テキスト ボックス 37">
            <a:extLst>
              <a:ext uri="{FF2B5EF4-FFF2-40B4-BE49-F238E27FC236}">
                <a16:creationId xmlns:a16="http://schemas.microsoft.com/office/drawing/2014/main" id="{EA1C8358-D456-3F4C-412D-49B62F818C47}"/>
              </a:ext>
            </a:extLst>
          </p:cNvPr>
          <p:cNvSpPr txBox="1"/>
          <p:nvPr/>
        </p:nvSpPr>
        <p:spPr>
          <a:xfrm>
            <a:off x="904120" y="4450239"/>
            <a:ext cx="2475580"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prstClr val="white"/>
                </a:solidFill>
                <a:effectLst/>
                <a:uLnTx/>
                <a:uFillTx/>
                <a:latin typeface="Poppins Medium" pitchFamily="2" charset="0"/>
                <a:ea typeface="M PLUS 1p" panose="020B0502020203020207" pitchFamily="34" charset="-128"/>
                <a:cs typeface="Poppins Medium" pitchFamily="2" charset="0"/>
              </a:rPr>
              <a:t>Synergies Driven by User Traffic</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from </a:t>
            </a:r>
            <a:r>
              <a:rPr kumimoji="1" lang="en-US" altLang="ja-JP" sz="800" b="0" i="0" u="none" strike="noStrike" kern="1200" cap="none" spc="0" normalizeH="0" baseline="0" noProof="0" dirty="0" err="1">
                <a:ln>
                  <a:noFill/>
                </a:ln>
                <a:solidFill>
                  <a:prstClr val="white"/>
                </a:solidFill>
                <a:effectLst/>
                <a:uLnTx/>
                <a:uFillTx/>
                <a:latin typeface="Poppins" pitchFamily="2" charset="0"/>
                <a:ea typeface="M PLUS 1p" panose="020B0502020203020207" pitchFamily="34" charset="-128"/>
                <a:cs typeface="Poppins" pitchFamily="2" charset="0"/>
              </a:rPr>
              <a:t>ibisPaint</a:t>
            </a:r>
            <a:r>
              <a:rPr kumimoji="1" lang="en-US" altLang="ja-JP" sz="8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 (40 million MAU)</a:t>
            </a:r>
          </a:p>
        </p:txBody>
      </p:sp>
      <p:sp>
        <p:nvSpPr>
          <p:cNvPr id="26" name="テキスト ボックス 25">
            <a:extLst>
              <a:ext uri="{FF2B5EF4-FFF2-40B4-BE49-F238E27FC236}">
                <a16:creationId xmlns:a16="http://schemas.microsoft.com/office/drawing/2014/main" id="{7F39A190-1574-B6F0-BDD2-A4DFBB374D8F}"/>
              </a:ext>
            </a:extLst>
          </p:cNvPr>
          <p:cNvSpPr txBox="1"/>
          <p:nvPr/>
        </p:nvSpPr>
        <p:spPr>
          <a:xfrm>
            <a:off x="3776837" y="3024374"/>
            <a:ext cx="2304000"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New AI Features</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Ongoing Release including 3D Animation</a:t>
            </a:r>
          </a:p>
        </p:txBody>
      </p:sp>
      <p:sp>
        <p:nvSpPr>
          <p:cNvPr id="102" name="角丸四角形 16">
            <a:extLst>
              <a:ext uri="{FF2B5EF4-FFF2-40B4-BE49-F238E27FC236}">
                <a16:creationId xmlns:a16="http://schemas.microsoft.com/office/drawing/2014/main" id="{89ED6BA1-3D72-2A8C-409B-1D01600F3F6A}"/>
              </a:ext>
            </a:extLst>
          </p:cNvPr>
          <p:cNvSpPr/>
          <p:nvPr/>
        </p:nvSpPr>
        <p:spPr>
          <a:xfrm>
            <a:off x="6153239" y="4203423"/>
            <a:ext cx="2274496" cy="711668"/>
          </a:xfrm>
          <a:prstGeom prst="roundRect">
            <a:avLst>
              <a:gd name="adj" fmla="val 50000"/>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36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22" name="テキスト ボックス 21">
            <a:extLst>
              <a:ext uri="{FF2B5EF4-FFF2-40B4-BE49-F238E27FC236}">
                <a16:creationId xmlns:a16="http://schemas.microsoft.com/office/drawing/2014/main" id="{AE7E0CAA-0AA3-AF69-1480-07154B8C526D}"/>
              </a:ext>
            </a:extLst>
          </p:cNvPr>
          <p:cNvSpPr txBox="1"/>
          <p:nvPr/>
        </p:nvSpPr>
        <p:spPr>
          <a:xfrm>
            <a:off x="6186915" y="4344058"/>
            <a:ext cx="2207144"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UI Customization × Design </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Evolution Toward Professional-Grade</a:t>
            </a:r>
          </a:p>
        </p:txBody>
      </p:sp>
      <p:sp>
        <p:nvSpPr>
          <p:cNvPr id="36" name="テキスト ボックス 35">
            <a:extLst>
              <a:ext uri="{FF2B5EF4-FFF2-40B4-BE49-F238E27FC236}">
                <a16:creationId xmlns:a16="http://schemas.microsoft.com/office/drawing/2014/main" id="{9B552ABA-A3BE-48D5-2AD5-0646A48A0CA1}"/>
              </a:ext>
            </a:extLst>
          </p:cNvPr>
          <p:cNvSpPr txBox="1"/>
          <p:nvPr/>
        </p:nvSpPr>
        <p:spPr>
          <a:xfrm>
            <a:off x="3776837" y="4344058"/>
            <a:ext cx="2250263" cy="43704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Strategic M&amp;A</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Enhancing and Expanding Product Value</a:t>
            </a:r>
          </a:p>
        </p:txBody>
      </p:sp>
      <p:sp>
        <p:nvSpPr>
          <p:cNvPr id="107" name="角丸四角形 16">
            <a:extLst>
              <a:ext uri="{FF2B5EF4-FFF2-40B4-BE49-F238E27FC236}">
                <a16:creationId xmlns:a16="http://schemas.microsoft.com/office/drawing/2014/main" id="{96B6CC58-A9DD-3389-8638-B46E96417FDD}"/>
              </a:ext>
            </a:extLst>
          </p:cNvPr>
          <p:cNvSpPr/>
          <p:nvPr/>
        </p:nvSpPr>
        <p:spPr>
          <a:xfrm>
            <a:off x="6172306" y="2927764"/>
            <a:ext cx="2257030" cy="711668"/>
          </a:xfrm>
          <a:prstGeom prst="roundRect">
            <a:avLst>
              <a:gd name="adj" fmla="val 50000"/>
            </a:avLst>
          </a:pr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36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50" name="左右矢印 49">
            <a:extLst>
              <a:ext uri="{FF2B5EF4-FFF2-40B4-BE49-F238E27FC236}">
                <a16:creationId xmlns:a16="http://schemas.microsoft.com/office/drawing/2014/main" id="{85D71675-B8DA-7767-9167-639D9A6342B1}"/>
              </a:ext>
            </a:extLst>
          </p:cNvPr>
          <p:cNvSpPr/>
          <p:nvPr/>
        </p:nvSpPr>
        <p:spPr>
          <a:xfrm>
            <a:off x="3187795" y="3763817"/>
            <a:ext cx="556621" cy="317356"/>
          </a:xfrm>
          <a:prstGeom prst="leftRightArrow">
            <a:avLst>
              <a:gd name="adj1" fmla="val 36672"/>
              <a:gd name="adj2" fmla="val 42384"/>
            </a:avLst>
          </a:pr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23" name="テキスト ボックス 22">
            <a:extLst>
              <a:ext uri="{FF2B5EF4-FFF2-40B4-BE49-F238E27FC236}">
                <a16:creationId xmlns:a16="http://schemas.microsoft.com/office/drawing/2014/main" id="{8A459B56-B954-0735-0F02-F5D6720B12C4}"/>
              </a:ext>
            </a:extLst>
          </p:cNvPr>
          <p:cNvSpPr txBox="1"/>
          <p:nvPr/>
        </p:nvSpPr>
        <p:spPr>
          <a:xfrm>
            <a:off x="6435102" y="2936006"/>
            <a:ext cx="1731438" cy="592470"/>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“Smart Credit”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New Monetization via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a Usage-Based Model</a:t>
            </a:r>
          </a:p>
        </p:txBody>
      </p:sp>
      <p:sp>
        <p:nvSpPr>
          <p:cNvPr id="25" name="角丸四角形 24">
            <a:extLst>
              <a:ext uri="{FF2B5EF4-FFF2-40B4-BE49-F238E27FC236}">
                <a16:creationId xmlns:a16="http://schemas.microsoft.com/office/drawing/2014/main" id="{9EF61442-375F-8662-83AC-21D939557984}"/>
              </a:ext>
            </a:extLst>
          </p:cNvPr>
          <p:cNvSpPr/>
          <p:nvPr/>
        </p:nvSpPr>
        <p:spPr>
          <a:xfrm>
            <a:off x="5119607" y="3562750"/>
            <a:ext cx="1952786" cy="711668"/>
          </a:xfrm>
          <a:prstGeom prst="roundRect">
            <a:avLst>
              <a:gd name="adj" fmla="val 50000"/>
            </a:avLst>
          </a:prstGeom>
          <a:solidFill>
            <a:schemeClr val="bg1"/>
          </a:solidFill>
          <a:ln>
            <a:noFill/>
          </a:ln>
          <a:effectLst>
            <a:outerShdw blurRad="50800" dist="38100" dir="2700000" algn="ctr"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6" name="テキスト ボックス 45">
            <a:extLst>
              <a:ext uri="{FF2B5EF4-FFF2-40B4-BE49-F238E27FC236}">
                <a16:creationId xmlns:a16="http://schemas.microsoft.com/office/drawing/2014/main" id="{2EA1C089-4349-B153-B957-06CA77713A84}"/>
              </a:ext>
            </a:extLst>
          </p:cNvPr>
          <p:cNvSpPr txBox="1"/>
          <p:nvPr/>
        </p:nvSpPr>
        <p:spPr>
          <a:xfrm>
            <a:off x="5596504" y="3985174"/>
            <a:ext cx="998991"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00A7FF"/>
                </a:solidFill>
                <a:effectLst/>
                <a:uLnTx/>
                <a:uFillTx/>
                <a:latin typeface="Poppins" pitchFamily="2" charset="0"/>
                <a:ea typeface="游ゴシック" panose="020B0400000000000000" pitchFamily="50" charset="-128"/>
                <a:cs typeface="Poppins" pitchFamily="2" charset="0"/>
              </a:rPr>
              <a:t>Painting Ap</a:t>
            </a:r>
            <a:r>
              <a:rPr kumimoji="1" lang="en-US" altLang="ja-JP" sz="1000" b="0" i="0" u="none" strike="noStrike" kern="1200" cap="none" spc="0" normalizeH="0" baseline="0" noProof="0">
                <a:ln>
                  <a:noFill/>
                </a:ln>
                <a:solidFill>
                  <a:srgbClr val="00A7FF"/>
                </a:solidFill>
                <a:effectLst/>
                <a:uLnTx/>
                <a:uFillTx/>
                <a:latin typeface="Poppins" pitchFamily="2" charset="0"/>
                <a:ea typeface="游ゴシック" panose="020B0400000000000000" pitchFamily="50" charset="-128"/>
                <a:cs typeface="Poppins" pitchFamily="2" charset="0"/>
              </a:rPr>
              <a:t>p</a:t>
            </a:r>
            <a:endParaRPr kumimoji="1" lang="ja-JP" altLang="en-US" sz="1000" b="0" i="0" u="none" strike="noStrike" kern="1200" cap="none" spc="0" normalizeH="0" baseline="30000" noProof="0">
              <a:ln>
                <a:noFill/>
              </a:ln>
              <a:solidFill>
                <a:srgbClr val="00A7FF"/>
              </a:solidFill>
              <a:effectLst/>
              <a:uLnTx/>
              <a:uFillTx/>
              <a:latin typeface="Poppins" pitchFamily="2" charset="0"/>
              <a:ea typeface="M PLUS 1p" panose="020B0502020203020207" pitchFamily="34" charset="-128"/>
              <a:cs typeface="Poppins" pitchFamily="2" charset="0"/>
            </a:endParaRPr>
          </a:p>
        </p:txBody>
      </p:sp>
      <p:pic>
        <p:nvPicPr>
          <p:cNvPr id="52" name="図 51">
            <a:extLst>
              <a:ext uri="{FF2B5EF4-FFF2-40B4-BE49-F238E27FC236}">
                <a16:creationId xmlns:a16="http://schemas.microsoft.com/office/drawing/2014/main" id="{DFE93C3B-316E-130E-7660-49C87D0D5AC7}"/>
              </a:ext>
            </a:extLst>
          </p:cNvPr>
          <p:cNvPicPr>
            <a:picLocks noChangeAspect="1"/>
          </p:cNvPicPr>
          <p:nvPr/>
        </p:nvPicPr>
        <p:blipFill>
          <a:blip r:embed="rId5"/>
          <a:stretch>
            <a:fillRect/>
          </a:stretch>
        </p:blipFill>
        <p:spPr>
          <a:xfrm>
            <a:off x="5510678" y="3640847"/>
            <a:ext cx="1170645" cy="305077"/>
          </a:xfrm>
          <a:prstGeom prst="rect">
            <a:avLst/>
          </a:prstGeom>
        </p:spPr>
      </p:pic>
      <p:sp>
        <p:nvSpPr>
          <p:cNvPr id="9" name="テキスト ボックス 8">
            <a:extLst>
              <a:ext uri="{FF2B5EF4-FFF2-40B4-BE49-F238E27FC236}">
                <a16:creationId xmlns:a16="http://schemas.microsoft.com/office/drawing/2014/main" id="{E11C6DD3-19F6-887F-BCC5-0DD05371B77C}"/>
              </a:ext>
            </a:extLst>
          </p:cNvPr>
          <p:cNvSpPr txBox="1"/>
          <p:nvPr/>
        </p:nvSpPr>
        <p:spPr>
          <a:xfrm>
            <a:off x="4376780" y="1736224"/>
            <a:ext cx="3438442"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Concept: Next-Generation Creative Platform</a:t>
            </a:r>
          </a:p>
        </p:txBody>
      </p:sp>
    </p:spTree>
    <p:extLst>
      <p:ext uri="{BB962C8B-B14F-4D97-AF65-F5344CB8AC3E}">
        <p14:creationId xmlns:p14="http://schemas.microsoft.com/office/powerpoint/2010/main" val="2331730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029AB-C6FD-20AD-8526-61A4E42AE15D}"/>
            </a:ext>
          </a:extLst>
        </p:cNvPr>
        <p:cNvGrpSpPr/>
        <p:nvPr/>
      </p:nvGrpSpPr>
      <p:grpSpPr>
        <a:xfrm>
          <a:off x="0" y="0"/>
          <a:ext cx="0" cy="0"/>
          <a:chOff x="0" y="0"/>
          <a:chExt cx="0" cy="0"/>
        </a:xfrm>
      </p:grpSpPr>
      <p:sp>
        <p:nvSpPr>
          <p:cNvPr id="45" name="角丸四角形 44">
            <a:extLst>
              <a:ext uri="{FF2B5EF4-FFF2-40B4-BE49-F238E27FC236}">
                <a16:creationId xmlns:a16="http://schemas.microsoft.com/office/drawing/2014/main" id="{DBBFD33A-9747-1245-B39F-8400B9E0B97C}"/>
              </a:ext>
            </a:extLst>
          </p:cNvPr>
          <p:cNvSpPr/>
          <p:nvPr/>
        </p:nvSpPr>
        <p:spPr>
          <a:xfrm>
            <a:off x="6237821" y="1490662"/>
            <a:ext cx="5400675" cy="4795039"/>
          </a:xfrm>
          <a:prstGeom prst="roundRect">
            <a:avLst>
              <a:gd name="adj" fmla="val 351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7" name="角丸四角形 46">
            <a:extLst>
              <a:ext uri="{FF2B5EF4-FFF2-40B4-BE49-F238E27FC236}">
                <a16:creationId xmlns:a16="http://schemas.microsoft.com/office/drawing/2014/main" id="{D30B42D5-1762-A13D-DEED-B9BBCC97D876}"/>
              </a:ext>
            </a:extLst>
          </p:cNvPr>
          <p:cNvSpPr/>
          <p:nvPr/>
        </p:nvSpPr>
        <p:spPr>
          <a:xfrm>
            <a:off x="553504" y="1490662"/>
            <a:ext cx="5400675" cy="4795039"/>
          </a:xfrm>
          <a:prstGeom prst="roundRect">
            <a:avLst>
              <a:gd name="adj" fmla="val 3513"/>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8" name="フリーフォーム 47">
            <a:extLst>
              <a:ext uri="{FF2B5EF4-FFF2-40B4-BE49-F238E27FC236}">
                <a16:creationId xmlns:a16="http://schemas.microsoft.com/office/drawing/2014/main" id="{6328552D-C7EC-0AB0-D502-F979A23F21A0}"/>
              </a:ext>
            </a:extLst>
          </p:cNvPr>
          <p:cNvSpPr/>
          <p:nvPr/>
        </p:nvSpPr>
        <p:spPr>
          <a:xfrm>
            <a:off x="6237821" y="1490662"/>
            <a:ext cx="5400676" cy="522288"/>
          </a:xfrm>
          <a:custGeom>
            <a:avLst/>
            <a:gdLst>
              <a:gd name="csX0" fmla="*/ 168450 w 5400676"/>
              <a:gd name="csY0" fmla="*/ 0 h 522288"/>
              <a:gd name="csX1" fmla="*/ 5232224 w 5400676"/>
              <a:gd name="csY1" fmla="*/ 0 h 522288"/>
              <a:gd name="csX2" fmla="*/ 5400676 w 5400676"/>
              <a:gd name="csY2" fmla="*/ 168450 h 522288"/>
              <a:gd name="csX3" fmla="*/ 5400676 w 5400676"/>
              <a:gd name="csY3" fmla="*/ 522288 h 522288"/>
              <a:gd name="csX4" fmla="*/ 0 w 5400676"/>
              <a:gd name="csY4" fmla="*/ 522288 h 522288"/>
              <a:gd name="csX5" fmla="*/ 0 w 5400676"/>
              <a:gd name="csY5" fmla="*/ 168450 h 522288"/>
              <a:gd name="csX6" fmla="*/ 168450 w 5400676"/>
              <a:gd name="csY6" fmla="*/ 0 h 522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00676" h="522288">
                <a:moveTo>
                  <a:pt x="168450" y="0"/>
                </a:moveTo>
                <a:lnTo>
                  <a:pt x="5232224" y="0"/>
                </a:lnTo>
                <a:cubicBezTo>
                  <a:pt x="5325256" y="0"/>
                  <a:pt x="5400676" y="75418"/>
                  <a:pt x="5400676" y="168450"/>
                </a:cubicBezTo>
                <a:lnTo>
                  <a:pt x="5400676" y="522288"/>
                </a:lnTo>
                <a:lnTo>
                  <a:pt x="0" y="522288"/>
                </a:lnTo>
                <a:lnTo>
                  <a:pt x="0" y="168450"/>
                </a:lnTo>
                <a:cubicBezTo>
                  <a:pt x="0" y="75418"/>
                  <a:pt x="75418" y="0"/>
                  <a:pt x="168450" y="0"/>
                </a:cubicBezTo>
                <a:close/>
              </a:path>
            </a:pathLst>
          </a:custGeom>
          <a:solidFill>
            <a:srgbClr val="D44ED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9" name="フリーフォーム 48">
            <a:extLst>
              <a:ext uri="{FF2B5EF4-FFF2-40B4-BE49-F238E27FC236}">
                <a16:creationId xmlns:a16="http://schemas.microsoft.com/office/drawing/2014/main" id="{54700167-CADF-0A07-5E39-DAC5898C3EDE}"/>
              </a:ext>
            </a:extLst>
          </p:cNvPr>
          <p:cNvSpPr/>
          <p:nvPr/>
        </p:nvSpPr>
        <p:spPr>
          <a:xfrm>
            <a:off x="553504" y="1490662"/>
            <a:ext cx="5400676" cy="522288"/>
          </a:xfrm>
          <a:custGeom>
            <a:avLst/>
            <a:gdLst>
              <a:gd name="csX0" fmla="*/ 168450 w 5400676"/>
              <a:gd name="csY0" fmla="*/ 0 h 522288"/>
              <a:gd name="csX1" fmla="*/ 5232224 w 5400676"/>
              <a:gd name="csY1" fmla="*/ 0 h 522288"/>
              <a:gd name="csX2" fmla="*/ 5400676 w 5400676"/>
              <a:gd name="csY2" fmla="*/ 168450 h 522288"/>
              <a:gd name="csX3" fmla="*/ 5400676 w 5400676"/>
              <a:gd name="csY3" fmla="*/ 522288 h 522288"/>
              <a:gd name="csX4" fmla="*/ 0 w 5400676"/>
              <a:gd name="csY4" fmla="*/ 522288 h 522288"/>
              <a:gd name="csX5" fmla="*/ 0 w 5400676"/>
              <a:gd name="csY5" fmla="*/ 168450 h 522288"/>
              <a:gd name="csX6" fmla="*/ 168450 w 5400676"/>
              <a:gd name="csY6" fmla="*/ 0 h 522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400676" h="522288">
                <a:moveTo>
                  <a:pt x="168450" y="0"/>
                </a:moveTo>
                <a:lnTo>
                  <a:pt x="5232224" y="0"/>
                </a:lnTo>
                <a:cubicBezTo>
                  <a:pt x="5325256" y="0"/>
                  <a:pt x="5400676" y="75418"/>
                  <a:pt x="5400676" y="168450"/>
                </a:cubicBezTo>
                <a:lnTo>
                  <a:pt x="5400676" y="522288"/>
                </a:lnTo>
                <a:lnTo>
                  <a:pt x="0" y="522288"/>
                </a:lnTo>
                <a:lnTo>
                  <a:pt x="0" y="168450"/>
                </a:lnTo>
                <a:cubicBezTo>
                  <a:pt x="0" y="75418"/>
                  <a:pt x="75418" y="0"/>
                  <a:pt x="168450" y="0"/>
                </a:cubicBezTo>
                <a:close/>
              </a:path>
            </a:pathLst>
          </a:custGeom>
          <a:solidFill>
            <a:srgbClr val="142FA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6" name="タイトル 15">
            <a:extLst>
              <a:ext uri="{FF2B5EF4-FFF2-40B4-BE49-F238E27FC236}">
                <a16:creationId xmlns:a16="http://schemas.microsoft.com/office/drawing/2014/main" id="{50D98CAA-B737-B452-716B-0298CDC0FBEE}"/>
              </a:ext>
            </a:extLst>
          </p:cNvPr>
          <p:cNvSpPr>
            <a:spLocks noGrp="1"/>
          </p:cNvSpPr>
          <p:nvPr>
            <p:ph type="ctrTitle"/>
          </p:nvPr>
        </p:nvSpPr>
        <p:spPr/>
        <p:txBody>
          <a:bodyPr/>
          <a:lstStyle/>
          <a:p>
            <a:r>
              <a:rPr lang="en-US" altLang="ja-JP" dirty="0"/>
              <a:t>Accelerating corporate growth</a:t>
            </a:r>
            <a:br>
              <a:rPr lang="en-US" altLang="ja-JP" dirty="0"/>
            </a:br>
            <a:r>
              <a:rPr lang="en-US" altLang="ja-JP" dirty="0"/>
              <a:t>through </a:t>
            </a:r>
            <a:r>
              <a:rPr lang="en-US" altLang="ja-JP" dirty="0">
                <a:solidFill>
                  <a:srgbClr val="C0FF00"/>
                </a:solidFill>
              </a:rPr>
              <a:t>stable sales and AI-driven market expansion</a:t>
            </a:r>
          </a:p>
        </p:txBody>
      </p:sp>
      <p:pic>
        <p:nvPicPr>
          <p:cNvPr id="26" name="図 25">
            <a:extLst>
              <a:ext uri="{FF2B5EF4-FFF2-40B4-BE49-F238E27FC236}">
                <a16:creationId xmlns:a16="http://schemas.microsoft.com/office/drawing/2014/main" id="{DCF4D146-D9F6-B53E-B411-C8CB338D0CEF}"/>
              </a:ext>
            </a:extLst>
          </p:cNvPr>
          <p:cNvPicPr>
            <a:picLocks noChangeAspect="1"/>
          </p:cNvPicPr>
          <p:nvPr/>
        </p:nvPicPr>
        <p:blipFill>
          <a:blip r:embed="rId3"/>
          <a:srcRect l="35861"/>
          <a:stretch>
            <a:fillRect/>
          </a:stretch>
        </p:blipFill>
        <p:spPr>
          <a:xfrm>
            <a:off x="8300942" y="3927044"/>
            <a:ext cx="2667744" cy="1547074"/>
          </a:xfrm>
          <a:prstGeom prst="rect">
            <a:avLst/>
          </a:prstGeom>
        </p:spPr>
      </p:pic>
      <p:sp>
        <p:nvSpPr>
          <p:cNvPr id="46" name="角丸四角形 45">
            <a:extLst>
              <a:ext uri="{FF2B5EF4-FFF2-40B4-BE49-F238E27FC236}">
                <a16:creationId xmlns:a16="http://schemas.microsoft.com/office/drawing/2014/main" id="{67F93FB7-6F1B-A4AC-C2F0-E41839EDB62B}"/>
              </a:ext>
            </a:extLst>
          </p:cNvPr>
          <p:cNvSpPr/>
          <p:nvPr/>
        </p:nvSpPr>
        <p:spPr>
          <a:xfrm>
            <a:off x="6915813" y="4026714"/>
            <a:ext cx="1440000" cy="1340587"/>
          </a:xfrm>
          <a:prstGeom prst="roundRect">
            <a:avLst>
              <a:gd name="adj" fmla="val 17335"/>
            </a:avLst>
          </a:prstGeom>
          <a:solidFill>
            <a:schemeClr val="bg1"/>
          </a:solidFill>
          <a:ln>
            <a:noFill/>
          </a:ln>
          <a:effectLst>
            <a:glow rad="190500">
              <a:schemeClr val="accent1">
                <a:lumMod val="50000"/>
                <a:alpha val="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cs typeface="+mn-cs"/>
            </a:endParaRPr>
          </a:p>
        </p:txBody>
      </p:sp>
      <p:sp>
        <p:nvSpPr>
          <p:cNvPr id="3" name="テキスト プレースホルダー 2">
            <a:extLst>
              <a:ext uri="{FF2B5EF4-FFF2-40B4-BE49-F238E27FC236}">
                <a16:creationId xmlns:a16="http://schemas.microsoft.com/office/drawing/2014/main" id="{666E16D5-AFF4-9EAB-A77F-0758CEDCC198}"/>
              </a:ext>
            </a:extLst>
          </p:cNvPr>
          <p:cNvSpPr>
            <a:spLocks noGrp="1"/>
          </p:cNvSpPr>
          <p:nvPr>
            <p:ph type="body" sz="quarter" idx="12"/>
          </p:nvPr>
        </p:nvSpPr>
        <p:spPr>
          <a:xfrm>
            <a:off x="273048" y="208800"/>
            <a:ext cx="6642765" cy="375400"/>
          </a:xfrm>
        </p:spPr>
        <p:txBody>
          <a:bodyPr>
            <a:noAutofit/>
          </a:bodyPr>
          <a:lstStyle/>
          <a:p>
            <a:r>
              <a:rPr lang="en" altLang="ja-JP"/>
              <a:t>Growth Strategy for the Solutions / AI Singing Voice Synthesis Segment</a:t>
            </a:r>
            <a:endParaRPr lang="ja-JP" altLang="en-US"/>
          </a:p>
        </p:txBody>
      </p:sp>
      <p:cxnSp>
        <p:nvCxnSpPr>
          <p:cNvPr id="11" name="直線コネクタ 10">
            <a:extLst>
              <a:ext uri="{FF2B5EF4-FFF2-40B4-BE49-F238E27FC236}">
                <a16:creationId xmlns:a16="http://schemas.microsoft.com/office/drawing/2014/main" id="{03316DF4-5578-2B25-4E63-78D3D4E37C19}"/>
              </a:ext>
            </a:extLst>
          </p:cNvPr>
          <p:cNvCxnSpPr>
            <a:cxnSpLocks/>
          </p:cNvCxnSpPr>
          <p:nvPr/>
        </p:nvCxnSpPr>
        <p:spPr>
          <a:xfrm flipH="1">
            <a:off x="821156" y="3256922"/>
            <a:ext cx="4852412"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F37CC413-52CA-553C-F745-631B8BD286E6}"/>
              </a:ext>
            </a:extLst>
          </p:cNvPr>
          <p:cNvCxnSpPr>
            <a:cxnSpLocks/>
          </p:cNvCxnSpPr>
          <p:nvPr/>
        </p:nvCxnSpPr>
        <p:spPr>
          <a:xfrm>
            <a:off x="3249454" y="3470031"/>
            <a:ext cx="0" cy="2563024"/>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8" name="角丸四角形 17">
            <a:extLst>
              <a:ext uri="{FF2B5EF4-FFF2-40B4-BE49-F238E27FC236}">
                <a16:creationId xmlns:a16="http://schemas.microsoft.com/office/drawing/2014/main" id="{0FA45DFB-7E83-FC03-34C6-CF41CE166392}"/>
              </a:ext>
            </a:extLst>
          </p:cNvPr>
          <p:cNvSpPr/>
          <p:nvPr/>
        </p:nvSpPr>
        <p:spPr>
          <a:xfrm>
            <a:off x="7484263" y="3477865"/>
            <a:ext cx="2913074" cy="208800"/>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Target for Corporate Value Enhancement </a:t>
            </a:r>
            <a:endPar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19" name="角丸四角形 18">
            <a:extLst>
              <a:ext uri="{FF2B5EF4-FFF2-40B4-BE49-F238E27FC236}">
                <a16:creationId xmlns:a16="http://schemas.microsoft.com/office/drawing/2014/main" id="{9F460226-1E9A-6920-A397-CB90D9424357}"/>
              </a:ext>
            </a:extLst>
          </p:cNvPr>
          <p:cNvSpPr/>
          <p:nvPr/>
        </p:nvSpPr>
        <p:spPr>
          <a:xfrm>
            <a:off x="3718571" y="3475570"/>
            <a:ext cx="1762105" cy="210312"/>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M&amp;A-Driven </a:t>
            </a:r>
            <a:r>
              <a:rPr kumimoji="1" lang="en-US" altLang="ja-JP" sz="1000" b="0" i="0" u="none" strike="noStrike" kern="1200" cap="none" spc="0" normalizeH="0" baseline="0" noProof="0" dirty="0" err="1">
                <a:ln>
                  <a:noFill/>
                </a:ln>
                <a:solidFill>
                  <a:srgbClr val="142FA4"/>
                </a:solidFill>
                <a:effectLst/>
                <a:uLnTx/>
                <a:uFillTx/>
                <a:latin typeface="Poppins Medium" pitchFamily="2" charset="0"/>
                <a:ea typeface="游ゴシック" panose="020B0400000000000000" pitchFamily="50" charset="-128"/>
                <a:cs typeface="Poppins Medium" pitchFamily="2" charset="0"/>
              </a:rPr>
              <a:t>Sler</a:t>
            </a:r>
            <a:r>
              <a:rPr kumimoji="1" lang="en-US" altLang="ja-JP" sz="1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 Base</a:t>
            </a:r>
            <a:endParaRPr kumimoji="1" lang="ja-JP" altLang="en-US" sz="10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7" name="テキスト ボックス 26">
            <a:extLst>
              <a:ext uri="{FF2B5EF4-FFF2-40B4-BE49-F238E27FC236}">
                <a16:creationId xmlns:a16="http://schemas.microsoft.com/office/drawing/2014/main" id="{BADC5E47-0B70-C3E2-9E40-50F567E52D46}"/>
              </a:ext>
            </a:extLst>
          </p:cNvPr>
          <p:cNvSpPr txBox="1"/>
          <p:nvPr/>
        </p:nvSpPr>
        <p:spPr>
          <a:xfrm>
            <a:off x="8154186" y="3853758"/>
            <a:ext cx="1464177" cy="273152"/>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rPr>
              <a:t>Before M&amp;A</a:t>
            </a:r>
            <a:endParaRPr kumimoji="1" lang="ja-JP" altLang="en-US" sz="120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28" name="テキスト ボックス 27">
            <a:extLst>
              <a:ext uri="{FF2B5EF4-FFF2-40B4-BE49-F238E27FC236}">
                <a16:creationId xmlns:a16="http://schemas.microsoft.com/office/drawing/2014/main" id="{42459283-1FFC-BAE0-2042-8C03835A9AA2}"/>
              </a:ext>
            </a:extLst>
          </p:cNvPr>
          <p:cNvSpPr txBox="1"/>
          <p:nvPr/>
        </p:nvSpPr>
        <p:spPr>
          <a:xfrm>
            <a:off x="9500782" y="3867440"/>
            <a:ext cx="1537508" cy="272254"/>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rPr>
              <a:t>After M&amp;A</a:t>
            </a:r>
            <a:r>
              <a:rPr kumimoji="1" lang="ja-JP" altLang="en-US" sz="1200" b="0" i="0" u="none" strike="noStrike" kern="1200" cap="none" spc="0" normalizeH="0" baseline="0" noProof="0">
                <a:ln>
                  <a:noFill/>
                </a:ln>
                <a:solidFill>
                  <a:srgbClr val="D44ED9"/>
                </a:solidFill>
                <a:effectLst/>
                <a:uLnTx/>
                <a:uFillTx/>
                <a:latin typeface="Poppins Medium" pitchFamily="2" charset="0"/>
                <a:ea typeface="M PLUS 1p Medium" panose="020B0502020203020207" pitchFamily="34" charset="-128"/>
                <a:cs typeface="Poppins Medium" pitchFamily="2" charset="0"/>
              </a:rPr>
              <a:t>　</a:t>
            </a:r>
          </a:p>
        </p:txBody>
      </p:sp>
      <p:cxnSp>
        <p:nvCxnSpPr>
          <p:cNvPr id="29" name="直線コネクタ 28">
            <a:extLst>
              <a:ext uri="{FF2B5EF4-FFF2-40B4-BE49-F238E27FC236}">
                <a16:creationId xmlns:a16="http://schemas.microsoft.com/office/drawing/2014/main" id="{1120D92A-54D8-2711-572C-CAD7D63EB703}"/>
              </a:ext>
            </a:extLst>
          </p:cNvPr>
          <p:cNvCxnSpPr>
            <a:cxnSpLocks/>
          </p:cNvCxnSpPr>
          <p:nvPr/>
        </p:nvCxnSpPr>
        <p:spPr>
          <a:xfrm>
            <a:off x="9508964" y="3900455"/>
            <a:ext cx="0" cy="155060"/>
          </a:xfrm>
          <a:prstGeom prst="line">
            <a:avLst/>
          </a:prstGeom>
          <a:ln w="9525">
            <a:solidFill>
              <a:srgbClr val="D44ED9"/>
            </a:solidFill>
          </a:ln>
        </p:spPr>
        <p:style>
          <a:lnRef idx="2">
            <a:schemeClr val="accent1"/>
          </a:lnRef>
          <a:fillRef idx="0">
            <a:schemeClr val="accent1"/>
          </a:fillRef>
          <a:effectRef idx="1">
            <a:schemeClr val="accent1"/>
          </a:effectRef>
          <a:fontRef idx="minor">
            <a:schemeClr val="tx1"/>
          </a:fontRef>
        </p:style>
      </p:cxnSp>
      <p:pic>
        <p:nvPicPr>
          <p:cNvPr id="36" name="図 35">
            <a:extLst>
              <a:ext uri="{FF2B5EF4-FFF2-40B4-BE49-F238E27FC236}">
                <a16:creationId xmlns:a16="http://schemas.microsoft.com/office/drawing/2014/main" id="{4BE7BA89-C044-469A-99F7-D6E2104F2F18}"/>
              </a:ext>
            </a:extLst>
          </p:cNvPr>
          <p:cNvPicPr>
            <a:picLocks noChangeAspect="1"/>
          </p:cNvPicPr>
          <p:nvPr/>
        </p:nvPicPr>
        <p:blipFill>
          <a:blip r:embed="rId4"/>
          <a:stretch>
            <a:fillRect/>
          </a:stretch>
        </p:blipFill>
        <p:spPr>
          <a:xfrm>
            <a:off x="7004406" y="4518749"/>
            <a:ext cx="1270618" cy="168551"/>
          </a:xfrm>
          <a:prstGeom prst="rect">
            <a:avLst/>
          </a:prstGeom>
        </p:spPr>
      </p:pic>
      <p:pic>
        <p:nvPicPr>
          <p:cNvPr id="37" name="図 36">
            <a:extLst>
              <a:ext uri="{FF2B5EF4-FFF2-40B4-BE49-F238E27FC236}">
                <a16:creationId xmlns:a16="http://schemas.microsoft.com/office/drawing/2014/main" id="{B114E796-BE35-A65D-F2EF-40610109A337}"/>
              </a:ext>
            </a:extLst>
          </p:cNvPr>
          <p:cNvPicPr>
            <a:picLocks noChangeAspect="1"/>
          </p:cNvPicPr>
          <p:nvPr/>
        </p:nvPicPr>
        <p:blipFill>
          <a:blip r:embed="rId5"/>
          <a:stretch>
            <a:fillRect/>
          </a:stretch>
        </p:blipFill>
        <p:spPr>
          <a:xfrm>
            <a:off x="7253710" y="4763920"/>
            <a:ext cx="795481" cy="208442"/>
          </a:xfrm>
          <a:prstGeom prst="rect">
            <a:avLst/>
          </a:prstGeom>
        </p:spPr>
      </p:pic>
      <p:sp>
        <p:nvSpPr>
          <p:cNvPr id="38" name="テキスト ボックス 37">
            <a:extLst>
              <a:ext uri="{FF2B5EF4-FFF2-40B4-BE49-F238E27FC236}">
                <a16:creationId xmlns:a16="http://schemas.microsoft.com/office/drawing/2014/main" id="{5D6B1122-E24E-EF4F-3CE1-8AC033CD1EB0}"/>
              </a:ext>
            </a:extLst>
          </p:cNvPr>
          <p:cNvSpPr txBox="1"/>
          <p:nvPr/>
        </p:nvSpPr>
        <p:spPr>
          <a:xfrm>
            <a:off x="8132522" y="4480037"/>
            <a:ext cx="167799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15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rPr>
              <a:t>￥</a:t>
            </a:r>
            <a:r>
              <a:rPr kumimoji="1" lang="en-US" altLang="ja-JP" sz="36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510</a:t>
            </a:r>
            <a:r>
              <a:rPr kumimoji="1" lang="en-US" altLang="ja-JP" sz="20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M</a:t>
            </a:r>
            <a:endParaRPr kumimoji="1" lang="ja-JP" altLang="en-US" sz="9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sp>
        <p:nvSpPr>
          <p:cNvPr id="40" name="テキスト ボックス 39">
            <a:extLst>
              <a:ext uri="{FF2B5EF4-FFF2-40B4-BE49-F238E27FC236}">
                <a16:creationId xmlns:a16="http://schemas.microsoft.com/office/drawing/2014/main" id="{71BF2B01-C558-6F36-CFC9-F3A2C6AF5A96}"/>
              </a:ext>
            </a:extLst>
          </p:cNvPr>
          <p:cNvSpPr txBox="1"/>
          <p:nvPr/>
        </p:nvSpPr>
        <p:spPr>
          <a:xfrm>
            <a:off x="8355155" y="4269101"/>
            <a:ext cx="1290811" cy="265457"/>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Corporate Value</a:t>
            </a:r>
            <a:endParaRPr kumimoji="1" lang="ja-JP" altLang="en-US" sz="10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endParaRPr>
          </a:p>
        </p:txBody>
      </p:sp>
      <p:cxnSp>
        <p:nvCxnSpPr>
          <p:cNvPr id="42" name="直線コネクタ 41">
            <a:extLst>
              <a:ext uri="{FF2B5EF4-FFF2-40B4-BE49-F238E27FC236}">
                <a16:creationId xmlns:a16="http://schemas.microsoft.com/office/drawing/2014/main" id="{42ED22B1-38B8-1AB3-39D3-61180F79DB6E}"/>
              </a:ext>
            </a:extLst>
          </p:cNvPr>
          <p:cNvCxnSpPr>
            <a:cxnSpLocks/>
          </p:cNvCxnSpPr>
          <p:nvPr/>
        </p:nvCxnSpPr>
        <p:spPr>
          <a:xfrm flipH="1">
            <a:off x="6514594" y="3256922"/>
            <a:ext cx="4852412"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pic>
        <p:nvPicPr>
          <p:cNvPr id="4" name="図 3" descr="挿絵, 時計, 記号 が含まれている画像&#10;&#10;AI 生成コンテンツは誤りを含む可能性があります。">
            <a:extLst>
              <a:ext uri="{FF2B5EF4-FFF2-40B4-BE49-F238E27FC236}">
                <a16:creationId xmlns:a16="http://schemas.microsoft.com/office/drawing/2014/main" id="{8F2A969F-4AB5-1B3E-55D1-5E2E4A7592BB}"/>
              </a:ext>
            </a:extLst>
          </p:cNvPr>
          <p:cNvPicPr>
            <a:picLocks noGrp="1" noRot="1" noChangeAspect="1" noMove="1" noResize="1" noEditPoints="1" noAdjustHandles="1" noChangeArrowheads="1" noChangeShapeType="1" noCrop="1"/>
          </p:cNvPicPr>
          <p:nvPr/>
        </p:nvPicPr>
        <p:blipFill>
          <a:blip r:embed="rId6" cstate="email">
            <a:extLst>
              <a:ext uri="{28A0092B-C50C-407E-A947-70E740481C1C}">
                <a14:useLocalDpi xmlns:a14="http://schemas.microsoft.com/office/drawing/2010/main"/>
              </a:ext>
            </a:extLst>
          </a:blip>
          <a:stretch>
            <a:fillRect/>
          </a:stretch>
        </p:blipFill>
        <p:spPr>
          <a:xfrm>
            <a:off x="-11724" y="2201188"/>
            <a:ext cx="576000" cy="4075825"/>
          </a:xfrm>
          <a:prstGeom prst="rect">
            <a:avLst/>
          </a:prstGeom>
        </p:spPr>
      </p:pic>
      <p:sp>
        <p:nvSpPr>
          <p:cNvPr id="12" name="テキスト ボックス 11">
            <a:extLst>
              <a:ext uri="{FF2B5EF4-FFF2-40B4-BE49-F238E27FC236}">
                <a16:creationId xmlns:a16="http://schemas.microsoft.com/office/drawing/2014/main" id="{2E6FCC23-E81B-D8F6-8028-829F0B27E84C}"/>
              </a:ext>
            </a:extLst>
          </p:cNvPr>
          <p:cNvSpPr txBox="1"/>
          <p:nvPr/>
        </p:nvSpPr>
        <p:spPr>
          <a:xfrm>
            <a:off x="9618363" y="4256317"/>
            <a:ext cx="1290811" cy="265457"/>
          </a:xfrm>
          <a:prstGeom prst="rect">
            <a:avLst/>
          </a:prstGeom>
          <a:noFill/>
        </p:spPr>
        <p:txBody>
          <a:bodyPr wrap="square" rtlCol="0">
            <a:spAutoFit/>
          </a:bodyP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rPr>
              <a:t>Corporate Value</a:t>
            </a:r>
            <a:endParaRPr kumimoji="1" lang="ja-JP" altLang="en-US" sz="1000" b="0" i="0" u="none" strike="noStrike" kern="1200" cap="none" spc="0" normalizeH="0" baseline="0" noProof="0">
              <a:ln>
                <a:noFill/>
              </a:ln>
              <a:solidFill>
                <a:prstClr val="white"/>
              </a:solidFill>
              <a:effectLst/>
              <a:uLnTx/>
              <a:uFillTx/>
              <a:latin typeface="Poppins Medium" pitchFamily="2" charset="0"/>
              <a:ea typeface="M PLUS 1p" panose="020B0502020203020207" pitchFamily="34" charset="-128"/>
              <a:cs typeface="Poppins Medium" pitchFamily="2" charset="0"/>
            </a:endParaRPr>
          </a:p>
        </p:txBody>
      </p:sp>
      <p:sp>
        <p:nvSpPr>
          <p:cNvPr id="24" name="テキスト ボックス 23">
            <a:extLst>
              <a:ext uri="{FF2B5EF4-FFF2-40B4-BE49-F238E27FC236}">
                <a16:creationId xmlns:a16="http://schemas.microsoft.com/office/drawing/2014/main" id="{3B0E5A85-0E05-854F-3DAC-B5657187D8BC}"/>
              </a:ext>
            </a:extLst>
          </p:cNvPr>
          <p:cNvSpPr txBox="1"/>
          <p:nvPr/>
        </p:nvSpPr>
        <p:spPr>
          <a:xfrm>
            <a:off x="598086" y="5447811"/>
            <a:ext cx="2644152" cy="622093"/>
          </a:xfrm>
          <a:prstGeom prst="rect">
            <a:avLst/>
          </a:prstGeom>
          <a:noFill/>
        </p:spPr>
        <p:txBody>
          <a:bodyPr wrap="square" rtlCol="0">
            <a:spAutoFit/>
          </a:bodyPr>
          <a:lstStyle/>
          <a:p>
            <a:pPr marL="0" marR="0" lvl="0" indent="0" algn="l" defTabSz="914400" rtl="0" eaLnBrk="1" fontAlgn="auto" latinLnBrk="0" hangingPunct="1">
              <a:lnSpc>
                <a:spcPts val="136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Business scalability is improved by high-quality Sler enabled by no-code and AI-driven development efficiency.</a:t>
            </a:r>
          </a:p>
        </p:txBody>
      </p:sp>
      <p:sp>
        <p:nvSpPr>
          <p:cNvPr id="30" name="テキスト ボックス 29">
            <a:extLst>
              <a:ext uri="{FF2B5EF4-FFF2-40B4-BE49-F238E27FC236}">
                <a16:creationId xmlns:a16="http://schemas.microsoft.com/office/drawing/2014/main" id="{36156751-6ECA-3560-95F1-B7478C08AC5D}"/>
              </a:ext>
            </a:extLst>
          </p:cNvPr>
          <p:cNvSpPr txBox="1"/>
          <p:nvPr/>
        </p:nvSpPr>
        <p:spPr>
          <a:xfrm>
            <a:off x="3411657" y="5447811"/>
            <a:ext cx="2382221" cy="803297"/>
          </a:xfrm>
          <a:prstGeom prst="rect">
            <a:avLst/>
          </a:prstGeom>
          <a:noFill/>
        </p:spPr>
        <p:txBody>
          <a:bodyPr wrap="square" rtlCol="0">
            <a:spAutoFit/>
          </a:bodyPr>
          <a:lstStyle/>
          <a:p>
            <a:pPr marL="0" marR="0" lvl="0" indent="0" algn="l" defTabSz="914400" rtl="0" eaLnBrk="1" fontAlgn="auto" latinLnBrk="0" hangingPunct="1">
              <a:lnSpc>
                <a:spcPts val="13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On April 1, 2026, </a:t>
            </a:r>
            <a:r>
              <a:rPr kumimoji="1" lang="en-US" altLang="ja-JP" sz="1050" b="0" i="0" u="none" strike="noStrike" kern="1200" cap="none" spc="0" normalizeH="0" baseline="0" noProof="0" dirty="0" err="1">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Zeroichi</a:t>
            </a: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 Start Inc. will be merged into the C</a:t>
            </a:r>
            <a:r>
              <a:rPr kumimoji="1" lang="en-US" altLang="ja-JP" sz="1050" b="0" i="0" u="none" strike="noStrike" kern="1200" cap="none" spc="0" normalizeH="0" baseline="0" noProof="0" dirty="0" err="1">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ompany</a:t>
            </a: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 strengthening our SI talent and technical capabilities.</a:t>
            </a:r>
          </a:p>
        </p:txBody>
      </p:sp>
      <p:sp>
        <p:nvSpPr>
          <p:cNvPr id="31" name="テキスト ボックス 30">
            <a:extLst>
              <a:ext uri="{FF2B5EF4-FFF2-40B4-BE49-F238E27FC236}">
                <a16:creationId xmlns:a16="http://schemas.microsoft.com/office/drawing/2014/main" id="{61074AB4-B16B-7E8B-7083-E4BC15B4D0CE}"/>
              </a:ext>
            </a:extLst>
          </p:cNvPr>
          <p:cNvSpPr txBox="1"/>
          <p:nvPr/>
        </p:nvSpPr>
        <p:spPr>
          <a:xfrm>
            <a:off x="6620775" y="5447811"/>
            <a:ext cx="4640050" cy="444417"/>
          </a:xfrm>
          <a:prstGeom prst="rect">
            <a:avLst/>
          </a:prstGeom>
          <a:noFill/>
        </p:spPr>
        <p:txBody>
          <a:bodyPr wrap="square" rtlCol="0">
            <a:spAutoFit/>
          </a:bodyPr>
          <a:lstStyle/>
          <a:p>
            <a:pPr marL="0" marR="0" lvl="0" indent="0" algn="l" defTabSz="914400" rtl="0" eaLnBrk="1" fontAlgn="auto" latinLnBrk="0" hangingPunct="1">
              <a:lnSpc>
                <a:spcPts val="136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D44ED9"/>
                </a:solidFill>
                <a:effectLst/>
                <a:uLnTx/>
                <a:uFillTx/>
                <a:latin typeface="Poppins" panose="00000500000000000000" pitchFamily="2" charset="0"/>
                <a:ea typeface="游ゴシック" panose="020B0400000000000000" pitchFamily="50" charset="-128"/>
                <a:cs typeface="Poppins" panose="00000500000000000000" pitchFamily="2" charset="0"/>
              </a:rPr>
              <a:t>Driving a fivefold increase in corporate value by scaling our mobile development and global growth model through M&amp;A.</a:t>
            </a:r>
          </a:p>
        </p:txBody>
      </p:sp>
      <p:sp>
        <p:nvSpPr>
          <p:cNvPr id="32" name="テキスト ボックス 31">
            <a:extLst>
              <a:ext uri="{FF2B5EF4-FFF2-40B4-BE49-F238E27FC236}">
                <a16:creationId xmlns:a16="http://schemas.microsoft.com/office/drawing/2014/main" id="{A7A0B7E6-9907-CD83-01A7-D14612A51260}"/>
              </a:ext>
            </a:extLst>
          </p:cNvPr>
          <p:cNvSpPr txBox="1"/>
          <p:nvPr/>
        </p:nvSpPr>
        <p:spPr>
          <a:xfrm>
            <a:off x="9490273" y="4480037"/>
            <a:ext cx="167799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15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rPr>
              <a:t>￥</a:t>
            </a:r>
            <a:r>
              <a:rPr kumimoji="1" lang="en-US" altLang="ja-JP" sz="36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2</a:t>
            </a:r>
            <a:r>
              <a:rPr kumimoji="1" lang="en-US" altLang="ja-JP" sz="3600" b="0" i="0" u="none" strike="noStrike" kern="1200" cap="none" spc="-15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a:t>
            </a:r>
            <a:r>
              <a:rPr kumimoji="1" lang="en-US" altLang="ja-JP" sz="36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5</a:t>
            </a:r>
            <a:r>
              <a:rPr kumimoji="1" lang="en-US" altLang="ja-JP" sz="20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rPr>
              <a:t>B</a:t>
            </a:r>
            <a:endParaRPr kumimoji="1" lang="ja-JP" altLang="en-US" sz="900" b="0" i="0" u="none" strike="noStrike" kern="1200" cap="none" spc="0" normalizeH="0" baseline="0" noProof="0">
              <a:ln>
                <a:noFill/>
              </a:ln>
              <a:solidFill>
                <a:prstClr val="white"/>
              </a:solidFill>
              <a:effectLst/>
              <a:uLnTx/>
              <a:uFillTx/>
              <a:latin typeface="Poppins SemiBold" pitchFamily="2" charset="0"/>
              <a:ea typeface="M PLUS 1p" panose="020B0502020203020207" pitchFamily="34" charset="-128"/>
              <a:cs typeface="Poppins SemiBold" pitchFamily="2" charset="0"/>
            </a:endParaRPr>
          </a:p>
        </p:txBody>
      </p:sp>
      <p:pic>
        <p:nvPicPr>
          <p:cNvPr id="2" name="図 1">
            <a:extLst>
              <a:ext uri="{FF2B5EF4-FFF2-40B4-BE49-F238E27FC236}">
                <a16:creationId xmlns:a16="http://schemas.microsoft.com/office/drawing/2014/main" id="{D92EC917-8B7A-E455-BC02-72D7535D616F}"/>
              </a:ext>
            </a:extLst>
          </p:cNvPr>
          <p:cNvPicPr>
            <a:picLocks noChangeAspect="1"/>
          </p:cNvPicPr>
          <p:nvPr/>
        </p:nvPicPr>
        <p:blipFill>
          <a:blip r:embed="rId7"/>
          <a:srcRect b="43502"/>
          <a:stretch>
            <a:fillRect/>
          </a:stretch>
        </p:blipFill>
        <p:spPr>
          <a:xfrm>
            <a:off x="3921020" y="3890440"/>
            <a:ext cx="1415912" cy="1359954"/>
          </a:xfrm>
          <a:prstGeom prst="rect">
            <a:avLst/>
          </a:prstGeom>
        </p:spPr>
      </p:pic>
      <p:sp>
        <p:nvSpPr>
          <p:cNvPr id="13" name="テキスト ボックス 12">
            <a:extLst>
              <a:ext uri="{FF2B5EF4-FFF2-40B4-BE49-F238E27FC236}">
                <a16:creationId xmlns:a16="http://schemas.microsoft.com/office/drawing/2014/main" id="{45AD86BD-4349-8CC8-07E4-7CD781CDB0C6}"/>
              </a:ext>
            </a:extLst>
          </p:cNvPr>
          <p:cNvSpPr txBox="1"/>
          <p:nvPr/>
        </p:nvSpPr>
        <p:spPr>
          <a:xfrm>
            <a:off x="857236" y="2267436"/>
            <a:ext cx="4784437" cy="752770"/>
          </a:xfrm>
          <a:prstGeom prst="rect">
            <a:avLst/>
          </a:prstGeom>
          <a:noFill/>
        </p:spPr>
        <p:txBody>
          <a:bodyPr wrap="square" rtlCol="0">
            <a:spAutoFit/>
          </a:bodyPr>
          <a:lstStyle/>
          <a:p>
            <a:pPr marL="0" marR="0" lvl="0" indent="0" algn="ctr" defTabSz="914400" rtl="0" eaLnBrk="1" fontAlgn="auto" latinLnBrk="0" hangingPunct="1">
              <a:lnSpc>
                <a:spcPts val="2600"/>
              </a:lnSpc>
              <a:spcBef>
                <a:spcPts val="0"/>
              </a:spcBef>
              <a:spcAft>
                <a:spcPts val="0"/>
              </a:spcAft>
              <a:buClrTx/>
              <a:buSzTx/>
              <a:buFontTx/>
              <a:buNone/>
              <a:tabLst/>
              <a:defRPr/>
            </a:pPr>
            <a:r>
              <a:rPr kumimoji="1" lang="en-US" altLang="ja-JP" sz="2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Evolving into a high-margin, scalable SIer business model</a:t>
            </a:r>
          </a:p>
        </p:txBody>
      </p:sp>
      <p:sp>
        <p:nvSpPr>
          <p:cNvPr id="15" name="テキスト ボックス 14">
            <a:extLst>
              <a:ext uri="{FF2B5EF4-FFF2-40B4-BE49-F238E27FC236}">
                <a16:creationId xmlns:a16="http://schemas.microsoft.com/office/drawing/2014/main" id="{BBFBDE02-B3B3-97FF-1F01-91965219BE81}"/>
              </a:ext>
            </a:extLst>
          </p:cNvPr>
          <p:cNvSpPr txBox="1"/>
          <p:nvPr/>
        </p:nvSpPr>
        <p:spPr>
          <a:xfrm>
            <a:off x="6548582" y="2267436"/>
            <a:ext cx="4784437" cy="752770"/>
          </a:xfrm>
          <a:prstGeom prst="rect">
            <a:avLst/>
          </a:prstGeom>
          <a:noFill/>
        </p:spPr>
        <p:txBody>
          <a:bodyPr wrap="square" rtlCol="0">
            <a:spAutoFit/>
          </a:bodyPr>
          <a:lstStyle/>
          <a:p>
            <a:pPr marL="0" marR="0" lvl="0" indent="0" algn="ctr" defTabSz="914400" rtl="0" eaLnBrk="1" fontAlgn="auto" latinLnBrk="0" hangingPunct="1">
              <a:lnSpc>
                <a:spcPts val="2600"/>
              </a:lnSpc>
              <a:spcBef>
                <a:spcPts val="0"/>
              </a:spcBef>
              <a:spcAft>
                <a:spcPts val="0"/>
              </a:spcAft>
              <a:buClrTx/>
              <a:buSzTx/>
              <a:buFontTx/>
              <a:buNone/>
              <a:tabLst/>
              <a:defRPr/>
            </a:pPr>
            <a:r>
              <a:rPr kumimoji="1" lang="en-US" altLang="ja-JP" sz="2000" b="0" i="0" u="none" strike="noStrike" kern="1200" cap="none" spc="0" normalizeH="0" baseline="0" noProof="0">
                <a:ln>
                  <a:noFill/>
                </a:ln>
                <a:solidFill>
                  <a:srgbClr val="D44ED9"/>
                </a:solidFill>
                <a:effectLst/>
                <a:uLnTx/>
                <a:uFillTx/>
                <a:latin typeface="Poppins Medium" pitchFamily="2" charset="0"/>
                <a:ea typeface="游ゴシック" panose="020B0400000000000000" pitchFamily="50" charset="-128"/>
                <a:cs typeface="Poppins Medium" pitchFamily="2" charset="0"/>
              </a:rPr>
              <a:t>Applying the ibisPaint model to lead AI singing voice synthesis</a:t>
            </a:r>
          </a:p>
        </p:txBody>
      </p:sp>
      <p:sp>
        <p:nvSpPr>
          <p:cNvPr id="33" name="角丸四角形 32">
            <a:extLst>
              <a:ext uri="{FF2B5EF4-FFF2-40B4-BE49-F238E27FC236}">
                <a16:creationId xmlns:a16="http://schemas.microsoft.com/office/drawing/2014/main" id="{015773B2-47EB-A38B-4F71-210B66438116}"/>
              </a:ext>
            </a:extLst>
          </p:cNvPr>
          <p:cNvSpPr/>
          <p:nvPr/>
        </p:nvSpPr>
        <p:spPr>
          <a:xfrm>
            <a:off x="1018233" y="3475570"/>
            <a:ext cx="1762105" cy="210312"/>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142FA4"/>
                </a:solidFill>
                <a:effectLst/>
                <a:uLnTx/>
                <a:uFillTx/>
                <a:latin typeface="Poppins Medium" pitchFamily="2" charset="0"/>
                <a:ea typeface="游ゴシック" panose="020B0400000000000000" pitchFamily="50" charset="-128"/>
                <a:cs typeface="Poppins Medium" pitchFamily="2" charset="0"/>
              </a:rPr>
              <a:t>Specialized Talent × AI </a:t>
            </a:r>
          </a:p>
        </p:txBody>
      </p:sp>
      <p:sp>
        <p:nvSpPr>
          <p:cNvPr id="50" name="テキスト ボックス 49">
            <a:extLst>
              <a:ext uri="{FF2B5EF4-FFF2-40B4-BE49-F238E27FC236}">
                <a16:creationId xmlns:a16="http://schemas.microsoft.com/office/drawing/2014/main" id="{DE34FC1A-0039-5469-122A-76EA9C268798}"/>
              </a:ext>
            </a:extLst>
          </p:cNvPr>
          <p:cNvSpPr txBox="1"/>
          <p:nvPr/>
        </p:nvSpPr>
        <p:spPr>
          <a:xfrm>
            <a:off x="6463243" y="1577030"/>
            <a:ext cx="494982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rPr>
              <a:t>AI Singing Voice Synthesis Segment</a:t>
            </a:r>
            <a:endParaRPr kumimoji="1" lang="ja-JP" altLang="en-US" sz="1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51" name="テキスト ボックス 50">
            <a:extLst>
              <a:ext uri="{FF2B5EF4-FFF2-40B4-BE49-F238E27FC236}">
                <a16:creationId xmlns:a16="http://schemas.microsoft.com/office/drawing/2014/main" id="{19050B37-E529-2225-03A8-0B7FBB9A9F6A}"/>
              </a:ext>
            </a:extLst>
          </p:cNvPr>
          <p:cNvSpPr txBox="1"/>
          <p:nvPr/>
        </p:nvSpPr>
        <p:spPr>
          <a:xfrm>
            <a:off x="778926" y="1577030"/>
            <a:ext cx="494982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white"/>
                </a:solidFill>
                <a:effectLst/>
                <a:uLnTx/>
                <a:uFillTx/>
                <a:latin typeface="Poppins Medium" pitchFamily="2" charset="0"/>
                <a:ea typeface="M PLUS 1p Medium" panose="020B0502020203020207" pitchFamily="34" charset="-128"/>
                <a:cs typeface="Poppins Medium" pitchFamily="2" charset="0"/>
              </a:rPr>
              <a:t>Solutions Segment</a:t>
            </a:r>
          </a:p>
        </p:txBody>
      </p:sp>
      <p:grpSp>
        <p:nvGrpSpPr>
          <p:cNvPr id="88" name="グラフィックス 5">
            <a:extLst>
              <a:ext uri="{FF2B5EF4-FFF2-40B4-BE49-F238E27FC236}">
                <a16:creationId xmlns:a16="http://schemas.microsoft.com/office/drawing/2014/main" id="{B8F444D6-B955-22DA-4741-5FED2544D288}"/>
              </a:ext>
            </a:extLst>
          </p:cNvPr>
          <p:cNvGrpSpPr/>
          <p:nvPr/>
        </p:nvGrpSpPr>
        <p:grpSpPr>
          <a:xfrm>
            <a:off x="1071567" y="4022721"/>
            <a:ext cx="1649545" cy="1180739"/>
            <a:chOff x="1071567" y="4022721"/>
            <a:chExt cx="1649545" cy="1180739"/>
          </a:xfrm>
        </p:grpSpPr>
        <p:grpSp>
          <p:nvGrpSpPr>
            <p:cNvPr id="89" name="グラフィックス 5">
              <a:extLst>
                <a:ext uri="{FF2B5EF4-FFF2-40B4-BE49-F238E27FC236}">
                  <a16:creationId xmlns:a16="http://schemas.microsoft.com/office/drawing/2014/main" id="{943C3177-93AF-4188-4696-C6381D4EC58C}"/>
                </a:ext>
              </a:extLst>
            </p:cNvPr>
            <p:cNvGrpSpPr/>
            <p:nvPr/>
          </p:nvGrpSpPr>
          <p:grpSpPr>
            <a:xfrm>
              <a:off x="1696426" y="4100246"/>
              <a:ext cx="975179" cy="581971"/>
              <a:chOff x="1696426" y="4100246"/>
              <a:chExt cx="975179" cy="581971"/>
            </a:xfrm>
          </p:grpSpPr>
          <p:sp>
            <p:nvSpPr>
              <p:cNvPr id="90" name="フリーフォーム 89">
                <a:extLst>
                  <a:ext uri="{FF2B5EF4-FFF2-40B4-BE49-F238E27FC236}">
                    <a16:creationId xmlns:a16="http://schemas.microsoft.com/office/drawing/2014/main" id="{FD078B4B-FA79-F765-A8C3-7A5621670195}"/>
                  </a:ext>
                </a:extLst>
              </p:cNvPr>
              <p:cNvSpPr/>
              <p:nvPr/>
            </p:nvSpPr>
            <p:spPr>
              <a:xfrm>
                <a:off x="1696426" y="4100246"/>
                <a:ext cx="975179" cy="581971"/>
              </a:xfrm>
              <a:custGeom>
                <a:avLst/>
                <a:gdLst>
                  <a:gd name="csX0" fmla="*/ 918849 w 975179"/>
                  <a:gd name="csY0" fmla="*/ 581971 h 581971"/>
                  <a:gd name="csX1" fmla="*/ 56331 w 975179"/>
                  <a:gd name="csY1" fmla="*/ 581971 h 581971"/>
                  <a:gd name="csX2" fmla="*/ 0 w 975179"/>
                  <a:gd name="csY2" fmla="*/ 525981 h 581971"/>
                  <a:gd name="csX3" fmla="*/ 0 w 975179"/>
                  <a:gd name="csY3" fmla="*/ 55990 h 581971"/>
                  <a:gd name="csX4" fmla="*/ 56331 w 975179"/>
                  <a:gd name="csY4" fmla="*/ 0 h 581971"/>
                  <a:gd name="csX5" fmla="*/ 918849 w 975179"/>
                  <a:gd name="csY5" fmla="*/ 0 h 581971"/>
                  <a:gd name="csX6" fmla="*/ 975180 w 975179"/>
                  <a:gd name="csY6" fmla="*/ 55990 h 581971"/>
                  <a:gd name="csX7" fmla="*/ 975180 w 975179"/>
                  <a:gd name="csY7" fmla="*/ 525981 h 581971"/>
                  <a:gd name="csX8" fmla="*/ 918849 w 975179"/>
                  <a:gd name="csY8" fmla="*/ 581971 h 581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5179" h="581971">
                    <a:moveTo>
                      <a:pt x="918849" y="581971"/>
                    </a:moveTo>
                    <a:lnTo>
                      <a:pt x="56331" y="581971"/>
                    </a:lnTo>
                    <a:cubicBezTo>
                      <a:pt x="25241" y="581971"/>
                      <a:pt x="0" y="556883"/>
                      <a:pt x="0" y="525981"/>
                    </a:cubicBezTo>
                    <a:lnTo>
                      <a:pt x="0" y="55990"/>
                    </a:lnTo>
                    <a:cubicBezTo>
                      <a:pt x="0" y="25088"/>
                      <a:pt x="25241" y="0"/>
                      <a:pt x="56331" y="0"/>
                    </a:cubicBezTo>
                    <a:lnTo>
                      <a:pt x="918849" y="0"/>
                    </a:lnTo>
                    <a:cubicBezTo>
                      <a:pt x="949939" y="0"/>
                      <a:pt x="975180" y="25088"/>
                      <a:pt x="975180" y="55990"/>
                    </a:cubicBezTo>
                    <a:lnTo>
                      <a:pt x="975180" y="525981"/>
                    </a:lnTo>
                    <a:cubicBezTo>
                      <a:pt x="975180" y="556883"/>
                      <a:pt x="949939" y="581971"/>
                      <a:pt x="918849" y="581971"/>
                    </a:cubicBezTo>
                  </a:path>
                </a:pathLst>
              </a:custGeom>
              <a:solidFill>
                <a:srgbClr val="A1BFFF"/>
              </a:solidFill>
              <a:ln w="10812" cap="flat">
                <a:noFill/>
                <a:prstDash val="solid"/>
                <a:miter/>
              </a:ln>
            </p:spPr>
            <p:txBody>
              <a:bodyPr/>
              <a:lstStyle/>
              <a:p>
                <a:endParaRPr lang="ja-JP" altLang="en-US"/>
              </a:p>
            </p:txBody>
          </p:sp>
          <p:sp>
            <p:nvSpPr>
              <p:cNvPr id="91" name="フリーフォーム 90">
                <a:extLst>
                  <a:ext uri="{FF2B5EF4-FFF2-40B4-BE49-F238E27FC236}">
                    <a16:creationId xmlns:a16="http://schemas.microsoft.com/office/drawing/2014/main" id="{139973E2-6F2B-78AB-E199-09F5CFC268D4}"/>
                  </a:ext>
                </a:extLst>
              </p:cNvPr>
              <p:cNvSpPr/>
              <p:nvPr/>
            </p:nvSpPr>
            <p:spPr>
              <a:xfrm>
                <a:off x="1696426" y="4100246"/>
                <a:ext cx="975179" cy="581863"/>
              </a:xfrm>
              <a:custGeom>
                <a:avLst/>
                <a:gdLst>
                  <a:gd name="csX0" fmla="*/ 56331 w 975179"/>
                  <a:gd name="csY0" fmla="*/ 0 h 581863"/>
                  <a:gd name="csX1" fmla="*/ 918849 w 975179"/>
                  <a:gd name="csY1" fmla="*/ 0 h 581863"/>
                  <a:gd name="csX2" fmla="*/ 975180 w 975179"/>
                  <a:gd name="csY2" fmla="*/ 55990 h 581863"/>
                  <a:gd name="csX3" fmla="*/ 975180 w 975179"/>
                  <a:gd name="csY3" fmla="*/ 525874 h 581863"/>
                  <a:gd name="csX4" fmla="*/ 918849 w 975179"/>
                  <a:gd name="csY4" fmla="*/ 581863 h 581863"/>
                  <a:gd name="csX5" fmla="*/ 56331 w 975179"/>
                  <a:gd name="csY5" fmla="*/ 581863 h 581863"/>
                  <a:gd name="csX6" fmla="*/ 0 w 975179"/>
                  <a:gd name="csY6" fmla="*/ 525874 h 581863"/>
                  <a:gd name="csX7" fmla="*/ 0 w 975179"/>
                  <a:gd name="csY7" fmla="*/ 55990 h 581863"/>
                  <a:gd name="csX8" fmla="*/ 56331 w 975179"/>
                  <a:gd name="csY8" fmla="*/ 0 h 581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5179" h="581863">
                    <a:moveTo>
                      <a:pt x="56331" y="0"/>
                    </a:moveTo>
                    <a:lnTo>
                      <a:pt x="918849" y="0"/>
                    </a:lnTo>
                    <a:cubicBezTo>
                      <a:pt x="949939" y="0"/>
                      <a:pt x="975180" y="25088"/>
                      <a:pt x="975180" y="55990"/>
                    </a:cubicBezTo>
                    <a:lnTo>
                      <a:pt x="975180" y="525874"/>
                    </a:lnTo>
                    <a:cubicBezTo>
                      <a:pt x="975180" y="556776"/>
                      <a:pt x="949939" y="581863"/>
                      <a:pt x="918849" y="581863"/>
                    </a:cubicBezTo>
                    <a:lnTo>
                      <a:pt x="56331" y="581863"/>
                    </a:lnTo>
                    <a:cubicBezTo>
                      <a:pt x="25241" y="581863"/>
                      <a:pt x="0" y="556776"/>
                      <a:pt x="0" y="525874"/>
                    </a:cubicBezTo>
                    <a:lnTo>
                      <a:pt x="0" y="55990"/>
                    </a:lnTo>
                    <a:cubicBezTo>
                      <a:pt x="0" y="25088"/>
                      <a:pt x="25241" y="0"/>
                      <a:pt x="56331" y="0"/>
                    </a:cubicBezTo>
                    <a:close/>
                  </a:path>
                </a:pathLst>
              </a:custGeom>
              <a:noFill/>
              <a:ln w="5406" cap="rnd">
                <a:solidFill>
                  <a:srgbClr val="00006D"/>
                </a:solidFill>
                <a:prstDash val="solid"/>
                <a:round/>
              </a:ln>
            </p:spPr>
            <p:txBody>
              <a:bodyPr/>
              <a:lstStyle/>
              <a:p>
                <a:endParaRPr lang="ja-JP" altLang="en-US"/>
              </a:p>
            </p:txBody>
          </p:sp>
        </p:grpSp>
        <p:sp>
          <p:nvSpPr>
            <p:cNvPr id="92" name="フリーフォーム 91">
              <a:extLst>
                <a:ext uri="{FF2B5EF4-FFF2-40B4-BE49-F238E27FC236}">
                  <a16:creationId xmlns:a16="http://schemas.microsoft.com/office/drawing/2014/main" id="{3E40B2E0-9C15-7D1A-2A74-A6F5312A23A1}"/>
                </a:ext>
              </a:extLst>
            </p:cNvPr>
            <p:cNvSpPr/>
            <p:nvPr/>
          </p:nvSpPr>
          <p:spPr>
            <a:xfrm>
              <a:off x="1646811" y="4100246"/>
              <a:ext cx="1074301" cy="68587"/>
            </a:xfrm>
            <a:custGeom>
              <a:avLst/>
              <a:gdLst>
                <a:gd name="csX0" fmla="*/ 0 w 1074301"/>
                <a:gd name="csY0" fmla="*/ 0 h 68587"/>
                <a:gd name="csX1" fmla="*/ 1074301 w 1074301"/>
                <a:gd name="csY1" fmla="*/ 0 h 68587"/>
                <a:gd name="csX2" fmla="*/ 1074301 w 1074301"/>
                <a:gd name="csY2" fmla="*/ 68588 h 68587"/>
                <a:gd name="csX3" fmla="*/ 0 w 1074301"/>
                <a:gd name="csY3" fmla="*/ 68588 h 68587"/>
              </a:gdLst>
              <a:ahLst/>
              <a:cxnLst>
                <a:cxn ang="0">
                  <a:pos x="csX0" y="csY0"/>
                </a:cxn>
                <a:cxn ang="0">
                  <a:pos x="csX1" y="csY1"/>
                </a:cxn>
                <a:cxn ang="0">
                  <a:pos x="csX2" y="csY2"/>
                </a:cxn>
                <a:cxn ang="0">
                  <a:pos x="csX3" y="csY3"/>
                </a:cxn>
              </a:cxnLst>
              <a:rect l="l" t="t" r="r" b="b"/>
              <a:pathLst>
                <a:path w="1074301" h="68587">
                  <a:moveTo>
                    <a:pt x="0" y="0"/>
                  </a:moveTo>
                  <a:lnTo>
                    <a:pt x="1074301" y="0"/>
                  </a:lnTo>
                  <a:lnTo>
                    <a:pt x="1074301" y="68588"/>
                  </a:lnTo>
                  <a:lnTo>
                    <a:pt x="0" y="68588"/>
                  </a:lnTo>
                  <a:close/>
                </a:path>
              </a:pathLst>
            </a:custGeom>
            <a:solidFill>
              <a:srgbClr val="091558"/>
            </a:solidFill>
            <a:ln w="10812" cap="flat">
              <a:noFill/>
              <a:prstDash val="solid"/>
              <a:miter/>
            </a:ln>
          </p:spPr>
          <p:txBody>
            <a:bodyPr/>
            <a:lstStyle/>
            <a:p>
              <a:endParaRPr lang="ja-JP" altLang="en-US"/>
            </a:p>
          </p:txBody>
        </p:sp>
        <p:grpSp>
          <p:nvGrpSpPr>
            <p:cNvPr id="93" name="グラフィックス 5">
              <a:extLst>
                <a:ext uri="{FF2B5EF4-FFF2-40B4-BE49-F238E27FC236}">
                  <a16:creationId xmlns:a16="http://schemas.microsoft.com/office/drawing/2014/main" id="{BF691FB7-9C19-7899-B50B-6C2CA5E332FB}"/>
                </a:ext>
              </a:extLst>
            </p:cNvPr>
            <p:cNvGrpSpPr/>
            <p:nvPr/>
          </p:nvGrpSpPr>
          <p:grpSpPr>
            <a:xfrm>
              <a:off x="1071567" y="4022721"/>
              <a:ext cx="1546741" cy="1180739"/>
              <a:chOff x="1071567" y="4022721"/>
              <a:chExt cx="1546741" cy="1180739"/>
            </a:xfrm>
          </p:grpSpPr>
          <p:sp>
            <p:nvSpPr>
              <p:cNvPr id="94" name="フリーフォーム 93">
                <a:extLst>
                  <a:ext uri="{FF2B5EF4-FFF2-40B4-BE49-F238E27FC236}">
                    <a16:creationId xmlns:a16="http://schemas.microsoft.com/office/drawing/2014/main" id="{BBD9E047-9804-9086-CD94-870D42C7598A}"/>
                  </a:ext>
                </a:extLst>
              </p:cNvPr>
              <p:cNvSpPr/>
              <p:nvPr/>
            </p:nvSpPr>
            <p:spPr>
              <a:xfrm>
                <a:off x="2102444" y="4495620"/>
                <a:ext cx="177551" cy="117578"/>
              </a:xfrm>
              <a:custGeom>
                <a:avLst/>
                <a:gdLst>
                  <a:gd name="csX0" fmla="*/ 158269 w 177551"/>
                  <a:gd name="csY0" fmla="*/ 117579 h 117578"/>
                  <a:gd name="csX1" fmla="*/ 19283 w 177551"/>
                  <a:gd name="csY1" fmla="*/ 117579 h 117578"/>
                  <a:gd name="csX2" fmla="*/ 0 w 177551"/>
                  <a:gd name="csY2" fmla="*/ 98413 h 117578"/>
                  <a:gd name="csX3" fmla="*/ 0 w 177551"/>
                  <a:gd name="csY3" fmla="*/ 19166 h 117578"/>
                  <a:gd name="csX4" fmla="*/ 19283 w 177551"/>
                  <a:gd name="csY4" fmla="*/ 0 h 117578"/>
                  <a:gd name="csX5" fmla="*/ 158269 w 177551"/>
                  <a:gd name="csY5" fmla="*/ 0 h 117578"/>
                  <a:gd name="csX6" fmla="*/ 177552 w 177551"/>
                  <a:gd name="csY6" fmla="*/ 19166 h 117578"/>
                  <a:gd name="csX7" fmla="*/ 177552 w 177551"/>
                  <a:gd name="csY7" fmla="*/ 98413 h 117578"/>
                  <a:gd name="csX8" fmla="*/ 158269 w 177551"/>
                  <a:gd name="csY8" fmla="*/ 117579 h 117578"/>
                  <a:gd name="csX9" fmla="*/ 158269 w 177551"/>
                  <a:gd name="csY9" fmla="*/ 117579 h 117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7551" h="117578">
                    <a:moveTo>
                      <a:pt x="158269" y="117579"/>
                    </a:moveTo>
                    <a:lnTo>
                      <a:pt x="19283" y="117579"/>
                    </a:lnTo>
                    <a:cubicBezTo>
                      <a:pt x="8666" y="117579"/>
                      <a:pt x="0" y="108965"/>
                      <a:pt x="0" y="98413"/>
                    </a:cubicBezTo>
                    <a:lnTo>
                      <a:pt x="0" y="19166"/>
                    </a:lnTo>
                    <a:cubicBezTo>
                      <a:pt x="0" y="8614"/>
                      <a:pt x="8666" y="0"/>
                      <a:pt x="19283" y="0"/>
                    </a:cubicBezTo>
                    <a:lnTo>
                      <a:pt x="158269" y="0"/>
                    </a:lnTo>
                    <a:cubicBezTo>
                      <a:pt x="168885" y="0"/>
                      <a:pt x="177552" y="8614"/>
                      <a:pt x="177552" y="19166"/>
                    </a:cubicBezTo>
                    <a:lnTo>
                      <a:pt x="177552" y="98413"/>
                    </a:lnTo>
                    <a:cubicBezTo>
                      <a:pt x="177552" y="108965"/>
                      <a:pt x="168885" y="117579"/>
                      <a:pt x="158269" y="117579"/>
                    </a:cubicBezTo>
                    <a:lnTo>
                      <a:pt x="158269" y="117579"/>
                    </a:lnTo>
                    <a:close/>
                  </a:path>
                </a:pathLst>
              </a:custGeom>
              <a:solidFill>
                <a:srgbClr val="00006D"/>
              </a:solidFill>
              <a:ln w="10812" cap="flat">
                <a:noFill/>
                <a:prstDash val="solid"/>
                <a:miter/>
              </a:ln>
            </p:spPr>
            <p:txBody>
              <a:bodyPr/>
              <a:lstStyle/>
              <a:p>
                <a:endParaRPr lang="ja-JP" altLang="en-US"/>
              </a:p>
            </p:txBody>
          </p:sp>
          <p:sp>
            <p:nvSpPr>
              <p:cNvPr id="95" name="フリーフォーム 94">
                <a:extLst>
                  <a:ext uri="{FF2B5EF4-FFF2-40B4-BE49-F238E27FC236}">
                    <a16:creationId xmlns:a16="http://schemas.microsoft.com/office/drawing/2014/main" id="{956B71CD-03F2-A0A9-0DD1-43B652D3A281}"/>
                  </a:ext>
                </a:extLst>
              </p:cNvPr>
              <p:cNvSpPr/>
              <p:nvPr/>
            </p:nvSpPr>
            <p:spPr>
              <a:xfrm>
                <a:off x="1764240" y="4291580"/>
                <a:ext cx="177551" cy="117578"/>
              </a:xfrm>
              <a:custGeom>
                <a:avLst/>
                <a:gdLst>
                  <a:gd name="csX0" fmla="*/ 158269 w 177551"/>
                  <a:gd name="csY0" fmla="*/ 117579 h 117578"/>
                  <a:gd name="csX1" fmla="*/ 19283 w 177551"/>
                  <a:gd name="csY1" fmla="*/ 117579 h 117578"/>
                  <a:gd name="csX2" fmla="*/ 0 w 177551"/>
                  <a:gd name="csY2" fmla="*/ 98413 h 117578"/>
                  <a:gd name="csX3" fmla="*/ 0 w 177551"/>
                  <a:gd name="csY3" fmla="*/ 19166 h 117578"/>
                  <a:gd name="csX4" fmla="*/ 19283 w 177551"/>
                  <a:gd name="csY4" fmla="*/ 0 h 117578"/>
                  <a:gd name="csX5" fmla="*/ 158269 w 177551"/>
                  <a:gd name="csY5" fmla="*/ 0 h 117578"/>
                  <a:gd name="csX6" fmla="*/ 177552 w 177551"/>
                  <a:gd name="csY6" fmla="*/ 19166 h 117578"/>
                  <a:gd name="csX7" fmla="*/ 177552 w 177551"/>
                  <a:gd name="csY7" fmla="*/ 98413 h 117578"/>
                  <a:gd name="csX8" fmla="*/ 158269 w 177551"/>
                  <a:gd name="csY8" fmla="*/ 117579 h 117578"/>
                  <a:gd name="csX9" fmla="*/ 158269 w 177551"/>
                  <a:gd name="csY9" fmla="*/ 117579 h 117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7551" h="117578">
                    <a:moveTo>
                      <a:pt x="158269" y="117579"/>
                    </a:moveTo>
                    <a:lnTo>
                      <a:pt x="19283" y="117579"/>
                    </a:lnTo>
                    <a:cubicBezTo>
                      <a:pt x="8666" y="117579"/>
                      <a:pt x="0" y="108965"/>
                      <a:pt x="0" y="98413"/>
                    </a:cubicBezTo>
                    <a:lnTo>
                      <a:pt x="0" y="19166"/>
                    </a:lnTo>
                    <a:cubicBezTo>
                      <a:pt x="0" y="8614"/>
                      <a:pt x="8666" y="0"/>
                      <a:pt x="19283" y="0"/>
                    </a:cubicBezTo>
                    <a:lnTo>
                      <a:pt x="158269" y="0"/>
                    </a:lnTo>
                    <a:cubicBezTo>
                      <a:pt x="168885" y="0"/>
                      <a:pt x="177552" y="8614"/>
                      <a:pt x="177552" y="19166"/>
                    </a:cubicBezTo>
                    <a:lnTo>
                      <a:pt x="177552" y="98413"/>
                    </a:lnTo>
                    <a:cubicBezTo>
                      <a:pt x="177552" y="108965"/>
                      <a:pt x="168885" y="117579"/>
                      <a:pt x="158269" y="117579"/>
                    </a:cubicBezTo>
                    <a:lnTo>
                      <a:pt x="158269" y="117579"/>
                    </a:lnTo>
                    <a:close/>
                  </a:path>
                </a:pathLst>
              </a:custGeom>
              <a:solidFill>
                <a:srgbClr val="00006D"/>
              </a:solidFill>
              <a:ln w="10812" cap="flat">
                <a:noFill/>
                <a:prstDash val="solid"/>
                <a:miter/>
              </a:ln>
            </p:spPr>
            <p:txBody>
              <a:bodyPr/>
              <a:lstStyle/>
              <a:p>
                <a:endParaRPr lang="ja-JP" altLang="en-US"/>
              </a:p>
            </p:txBody>
          </p:sp>
          <p:sp>
            <p:nvSpPr>
              <p:cNvPr id="96" name="フリーフォーム 95">
                <a:extLst>
                  <a:ext uri="{FF2B5EF4-FFF2-40B4-BE49-F238E27FC236}">
                    <a16:creationId xmlns:a16="http://schemas.microsoft.com/office/drawing/2014/main" id="{64CA8444-7AC3-0A50-A9FC-A37476859931}"/>
                  </a:ext>
                </a:extLst>
              </p:cNvPr>
              <p:cNvSpPr/>
              <p:nvPr/>
            </p:nvSpPr>
            <p:spPr>
              <a:xfrm>
                <a:off x="2102444" y="4287273"/>
                <a:ext cx="177551" cy="117578"/>
              </a:xfrm>
              <a:custGeom>
                <a:avLst/>
                <a:gdLst>
                  <a:gd name="csX0" fmla="*/ 158269 w 177551"/>
                  <a:gd name="csY0" fmla="*/ 117579 h 117578"/>
                  <a:gd name="csX1" fmla="*/ 19283 w 177551"/>
                  <a:gd name="csY1" fmla="*/ 117579 h 117578"/>
                  <a:gd name="csX2" fmla="*/ 0 w 177551"/>
                  <a:gd name="csY2" fmla="*/ 98413 h 117578"/>
                  <a:gd name="csX3" fmla="*/ 0 w 177551"/>
                  <a:gd name="csY3" fmla="*/ 19166 h 117578"/>
                  <a:gd name="csX4" fmla="*/ 19283 w 177551"/>
                  <a:gd name="csY4" fmla="*/ 0 h 117578"/>
                  <a:gd name="csX5" fmla="*/ 158269 w 177551"/>
                  <a:gd name="csY5" fmla="*/ 0 h 117578"/>
                  <a:gd name="csX6" fmla="*/ 177552 w 177551"/>
                  <a:gd name="csY6" fmla="*/ 19166 h 117578"/>
                  <a:gd name="csX7" fmla="*/ 177552 w 177551"/>
                  <a:gd name="csY7" fmla="*/ 98413 h 117578"/>
                  <a:gd name="csX8" fmla="*/ 158269 w 177551"/>
                  <a:gd name="csY8" fmla="*/ 117579 h 117578"/>
                  <a:gd name="csX9" fmla="*/ 158269 w 177551"/>
                  <a:gd name="csY9" fmla="*/ 117579 h 117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7551" h="117578">
                    <a:moveTo>
                      <a:pt x="158269" y="117579"/>
                    </a:moveTo>
                    <a:lnTo>
                      <a:pt x="19283" y="117579"/>
                    </a:lnTo>
                    <a:cubicBezTo>
                      <a:pt x="8666" y="117579"/>
                      <a:pt x="0" y="108965"/>
                      <a:pt x="0" y="98413"/>
                    </a:cubicBezTo>
                    <a:lnTo>
                      <a:pt x="0" y="19166"/>
                    </a:lnTo>
                    <a:cubicBezTo>
                      <a:pt x="0" y="8614"/>
                      <a:pt x="8666" y="0"/>
                      <a:pt x="19283" y="0"/>
                    </a:cubicBezTo>
                    <a:lnTo>
                      <a:pt x="158269" y="0"/>
                    </a:lnTo>
                    <a:cubicBezTo>
                      <a:pt x="168885" y="0"/>
                      <a:pt x="177552" y="8614"/>
                      <a:pt x="177552" y="19166"/>
                    </a:cubicBezTo>
                    <a:lnTo>
                      <a:pt x="177552" y="98413"/>
                    </a:lnTo>
                    <a:cubicBezTo>
                      <a:pt x="177552" y="108965"/>
                      <a:pt x="168885" y="117579"/>
                      <a:pt x="158269" y="117579"/>
                    </a:cubicBezTo>
                    <a:lnTo>
                      <a:pt x="158269" y="117579"/>
                    </a:lnTo>
                    <a:close/>
                  </a:path>
                </a:pathLst>
              </a:custGeom>
              <a:solidFill>
                <a:srgbClr val="FFFFFF"/>
              </a:solidFill>
              <a:ln w="10812" cap="flat">
                <a:noFill/>
                <a:prstDash val="solid"/>
                <a:miter/>
              </a:ln>
            </p:spPr>
            <p:txBody>
              <a:bodyPr/>
              <a:lstStyle/>
              <a:p>
                <a:endParaRPr lang="ja-JP" altLang="en-US"/>
              </a:p>
            </p:txBody>
          </p:sp>
          <p:sp>
            <p:nvSpPr>
              <p:cNvPr id="97" name="フリーフォーム 96">
                <a:extLst>
                  <a:ext uri="{FF2B5EF4-FFF2-40B4-BE49-F238E27FC236}">
                    <a16:creationId xmlns:a16="http://schemas.microsoft.com/office/drawing/2014/main" id="{A5187204-B612-438A-77EC-92E2C1A42AE4}"/>
                  </a:ext>
                </a:extLst>
              </p:cNvPr>
              <p:cNvSpPr/>
              <p:nvPr/>
            </p:nvSpPr>
            <p:spPr>
              <a:xfrm>
                <a:off x="2440756" y="4294380"/>
                <a:ext cx="177551" cy="117578"/>
              </a:xfrm>
              <a:custGeom>
                <a:avLst/>
                <a:gdLst>
                  <a:gd name="csX0" fmla="*/ 158269 w 177551"/>
                  <a:gd name="csY0" fmla="*/ 117579 h 117578"/>
                  <a:gd name="csX1" fmla="*/ 19283 w 177551"/>
                  <a:gd name="csY1" fmla="*/ 117579 h 117578"/>
                  <a:gd name="csX2" fmla="*/ 0 w 177551"/>
                  <a:gd name="csY2" fmla="*/ 98413 h 117578"/>
                  <a:gd name="csX3" fmla="*/ 0 w 177551"/>
                  <a:gd name="csY3" fmla="*/ 19166 h 117578"/>
                  <a:gd name="csX4" fmla="*/ 19283 w 177551"/>
                  <a:gd name="csY4" fmla="*/ 0 h 117578"/>
                  <a:gd name="csX5" fmla="*/ 158269 w 177551"/>
                  <a:gd name="csY5" fmla="*/ 0 h 117578"/>
                  <a:gd name="csX6" fmla="*/ 177552 w 177551"/>
                  <a:gd name="csY6" fmla="*/ 19166 h 117578"/>
                  <a:gd name="csX7" fmla="*/ 177552 w 177551"/>
                  <a:gd name="csY7" fmla="*/ 98413 h 117578"/>
                  <a:gd name="csX8" fmla="*/ 158269 w 177551"/>
                  <a:gd name="csY8" fmla="*/ 117579 h 117578"/>
                  <a:gd name="csX9" fmla="*/ 158269 w 177551"/>
                  <a:gd name="csY9" fmla="*/ 117579 h 117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7551" h="117578">
                    <a:moveTo>
                      <a:pt x="158269" y="117579"/>
                    </a:moveTo>
                    <a:lnTo>
                      <a:pt x="19283" y="117579"/>
                    </a:lnTo>
                    <a:cubicBezTo>
                      <a:pt x="8666" y="117579"/>
                      <a:pt x="0" y="108965"/>
                      <a:pt x="0" y="98413"/>
                    </a:cubicBezTo>
                    <a:lnTo>
                      <a:pt x="0" y="19166"/>
                    </a:lnTo>
                    <a:cubicBezTo>
                      <a:pt x="0" y="8614"/>
                      <a:pt x="8666" y="0"/>
                      <a:pt x="19283" y="0"/>
                    </a:cubicBezTo>
                    <a:lnTo>
                      <a:pt x="158269" y="0"/>
                    </a:lnTo>
                    <a:cubicBezTo>
                      <a:pt x="168885" y="0"/>
                      <a:pt x="177552" y="8614"/>
                      <a:pt x="177552" y="19166"/>
                    </a:cubicBezTo>
                    <a:lnTo>
                      <a:pt x="177552" y="98413"/>
                    </a:lnTo>
                    <a:cubicBezTo>
                      <a:pt x="177552" y="108965"/>
                      <a:pt x="168885" y="117579"/>
                      <a:pt x="158269" y="117579"/>
                    </a:cubicBezTo>
                    <a:lnTo>
                      <a:pt x="158269" y="117579"/>
                    </a:lnTo>
                    <a:close/>
                  </a:path>
                </a:pathLst>
              </a:custGeom>
              <a:solidFill>
                <a:srgbClr val="00006D"/>
              </a:solidFill>
              <a:ln w="10812" cap="flat">
                <a:noFill/>
                <a:prstDash val="solid"/>
                <a:miter/>
              </a:ln>
            </p:spPr>
            <p:txBody>
              <a:bodyPr/>
              <a:lstStyle/>
              <a:p>
                <a:endParaRPr lang="ja-JP" altLang="en-US"/>
              </a:p>
            </p:txBody>
          </p:sp>
          <p:sp>
            <p:nvSpPr>
              <p:cNvPr id="98" name="フリーフォーム 97">
                <a:extLst>
                  <a:ext uri="{FF2B5EF4-FFF2-40B4-BE49-F238E27FC236}">
                    <a16:creationId xmlns:a16="http://schemas.microsoft.com/office/drawing/2014/main" id="{6B32EB1A-AF26-ABBC-EBB8-D52882C304EB}"/>
                  </a:ext>
                </a:extLst>
              </p:cNvPr>
              <p:cNvSpPr/>
              <p:nvPr/>
            </p:nvSpPr>
            <p:spPr>
              <a:xfrm>
                <a:off x="1940167" y="4346386"/>
                <a:ext cx="134328" cy="10767"/>
              </a:xfrm>
              <a:custGeom>
                <a:avLst/>
                <a:gdLst>
                  <a:gd name="csX0" fmla="*/ 134328 w 134328"/>
                  <a:gd name="csY0" fmla="*/ 0 h 10767"/>
                  <a:gd name="csX1" fmla="*/ 0 w 134328"/>
                  <a:gd name="csY1" fmla="*/ 0 h 10767"/>
                </a:gdLst>
                <a:ahLst/>
                <a:cxnLst>
                  <a:cxn ang="0">
                    <a:pos x="csX0" y="csY0"/>
                  </a:cxn>
                  <a:cxn ang="0">
                    <a:pos x="csX1" y="csY1"/>
                  </a:cxn>
                </a:cxnLst>
                <a:rect l="l" t="t" r="r" b="b"/>
                <a:pathLst>
                  <a:path w="134328" h="10767">
                    <a:moveTo>
                      <a:pt x="134328" y="0"/>
                    </a:moveTo>
                    <a:lnTo>
                      <a:pt x="0" y="0"/>
                    </a:lnTo>
                  </a:path>
                </a:pathLst>
              </a:custGeom>
              <a:ln w="5406" cap="flat">
                <a:solidFill>
                  <a:srgbClr val="00006D"/>
                </a:solidFill>
                <a:prstDash val="solid"/>
                <a:miter/>
              </a:ln>
            </p:spPr>
            <p:txBody>
              <a:bodyPr/>
              <a:lstStyle/>
              <a:p>
                <a:endParaRPr lang="ja-JP" altLang="en-US"/>
              </a:p>
            </p:txBody>
          </p:sp>
          <p:sp>
            <p:nvSpPr>
              <p:cNvPr id="99" name="フリーフォーム 98">
                <a:extLst>
                  <a:ext uri="{FF2B5EF4-FFF2-40B4-BE49-F238E27FC236}">
                    <a16:creationId xmlns:a16="http://schemas.microsoft.com/office/drawing/2014/main" id="{62591272-8AF2-2F8B-8948-A6A11C496FA8}"/>
                  </a:ext>
                </a:extLst>
              </p:cNvPr>
              <p:cNvSpPr/>
              <p:nvPr/>
            </p:nvSpPr>
            <p:spPr>
              <a:xfrm>
                <a:off x="2049904" y="4322375"/>
                <a:ext cx="26107" cy="51575"/>
              </a:xfrm>
              <a:custGeom>
                <a:avLst/>
                <a:gdLst>
                  <a:gd name="csX0" fmla="*/ 433 w 26107"/>
                  <a:gd name="csY0" fmla="*/ 0 h 51575"/>
                  <a:gd name="csX1" fmla="*/ 26107 w 26107"/>
                  <a:gd name="csY1" fmla="*/ 25626 h 51575"/>
                  <a:gd name="csX2" fmla="*/ 0 w 26107"/>
                  <a:gd name="csY2" fmla="*/ 51575 h 51575"/>
                </a:gdLst>
                <a:ahLst/>
                <a:cxnLst>
                  <a:cxn ang="0">
                    <a:pos x="csX0" y="csY0"/>
                  </a:cxn>
                  <a:cxn ang="0">
                    <a:pos x="csX1" y="csY1"/>
                  </a:cxn>
                  <a:cxn ang="0">
                    <a:pos x="csX2" y="csY2"/>
                  </a:cxn>
                </a:cxnLst>
                <a:rect l="l" t="t" r="r" b="b"/>
                <a:pathLst>
                  <a:path w="26107" h="51575">
                    <a:moveTo>
                      <a:pt x="433" y="0"/>
                    </a:moveTo>
                    <a:lnTo>
                      <a:pt x="26107" y="25626"/>
                    </a:lnTo>
                    <a:lnTo>
                      <a:pt x="0" y="51575"/>
                    </a:lnTo>
                  </a:path>
                </a:pathLst>
              </a:custGeom>
              <a:noFill/>
              <a:ln w="5406" cap="flat">
                <a:solidFill>
                  <a:srgbClr val="00006D"/>
                </a:solidFill>
                <a:prstDash val="solid"/>
                <a:miter/>
              </a:ln>
            </p:spPr>
            <p:txBody>
              <a:bodyPr/>
              <a:lstStyle/>
              <a:p>
                <a:endParaRPr lang="ja-JP" altLang="en-US"/>
              </a:p>
            </p:txBody>
          </p:sp>
          <p:sp>
            <p:nvSpPr>
              <p:cNvPr id="100" name="フリーフォーム 99">
                <a:extLst>
                  <a:ext uri="{FF2B5EF4-FFF2-40B4-BE49-F238E27FC236}">
                    <a16:creationId xmlns:a16="http://schemas.microsoft.com/office/drawing/2014/main" id="{44FD4DBB-5227-5D62-7C91-9E1B003B361C}"/>
                  </a:ext>
                </a:extLst>
              </p:cNvPr>
              <p:cNvSpPr/>
              <p:nvPr/>
            </p:nvSpPr>
            <p:spPr>
              <a:xfrm>
                <a:off x="2280429" y="4346386"/>
                <a:ext cx="134328" cy="10767"/>
              </a:xfrm>
              <a:custGeom>
                <a:avLst/>
                <a:gdLst>
                  <a:gd name="csX0" fmla="*/ 134328 w 134328"/>
                  <a:gd name="csY0" fmla="*/ 0 h 10767"/>
                  <a:gd name="csX1" fmla="*/ 0 w 134328"/>
                  <a:gd name="csY1" fmla="*/ 0 h 10767"/>
                </a:gdLst>
                <a:ahLst/>
                <a:cxnLst>
                  <a:cxn ang="0">
                    <a:pos x="csX0" y="csY0"/>
                  </a:cxn>
                  <a:cxn ang="0">
                    <a:pos x="csX1" y="csY1"/>
                  </a:cxn>
                </a:cxnLst>
                <a:rect l="l" t="t" r="r" b="b"/>
                <a:pathLst>
                  <a:path w="134328" h="10767">
                    <a:moveTo>
                      <a:pt x="134328" y="0"/>
                    </a:moveTo>
                    <a:lnTo>
                      <a:pt x="0" y="0"/>
                    </a:lnTo>
                  </a:path>
                </a:pathLst>
              </a:custGeom>
              <a:ln w="5406" cap="flat">
                <a:solidFill>
                  <a:srgbClr val="00006D"/>
                </a:solidFill>
                <a:prstDash val="solid"/>
                <a:miter/>
              </a:ln>
            </p:spPr>
            <p:txBody>
              <a:bodyPr/>
              <a:lstStyle/>
              <a:p>
                <a:endParaRPr lang="ja-JP" altLang="en-US"/>
              </a:p>
            </p:txBody>
          </p:sp>
          <p:sp>
            <p:nvSpPr>
              <p:cNvPr id="101" name="フリーフォーム 100">
                <a:extLst>
                  <a:ext uri="{FF2B5EF4-FFF2-40B4-BE49-F238E27FC236}">
                    <a16:creationId xmlns:a16="http://schemas.microsoft.com/office/drawing/2014/main" id="{57A972ED-1447-242E-C761-FDA7AE04B946}"/>
                  </a:ext>
                </a:extLst>
              </p:cNvPr>
              <p:cNvSpPr/>
              <p:nvPr/>
            </p:nvSpPr>
            <p:spPr>
              <a:xfrm>
                <a:off x="2390166" y="4322375"/>
                <a:ext cx="26215" cy="51575"/>
              </a:xfrm>
              <a:custGeom>
                <a:avLst/>
                <a:gdLst>
                  <a:gd name="csX0" fmla="*/ 433 w 26215"/>
                  <a:gd name="csY0" fmla="*/ 0 h 51575"/>
                  <a:gd name="csX1" fmla="*/ 26216 w 26215"/>
                  <a:gd name="csY1" fmla="*/ 25626 h 51575"/>
                  <a:gd name="csX2" fmla="*/ 0 w 26215"/>
                  <a:gd name="csY2" fmla="*/ 51575 h 51575"/>
                </a:gdLst>
                <a:ahLst/>
                <a:cxnLst>
                  <a:cxn ang="0">
                    <a:pos x="csX0" y="csY0"/>
                  </a:cxn>
                  <a:cxn ang="0">
                    <a:pos x="csX1" y="csY1"/>
                  </a:cxn>
                  <a:cxn ang="0">
                    <a:pos x="csX2" y="csY2"/>
                  </a:cxn>
                </a:cxnLst>
                <a:rect l="l" t="t" r="r" b="b"/>
                <a:pathLst>
                  <a:path w="26215" h="51575">
                    <a:moveTo>
                      <a:pt x="433" y="0"/>
                    </a:moveTo>
                    <a:lnTo>
                      <a:pt x="26216" y="25626"/>
                    </a:lnTo>
                    <a:lnTo>
                      <a:pt x="0" y="51575"/>
                    </a:lnTo>
                  </a:path>
                </a:pathLst>
              </a:custGeom>
              <a:noFill/>
              <a:ln w="5406" cap="flat">
                <a:solidFill>
                  <a:srgbClr val="00006D"/>
                </a:solidFill>
                <a:prstDash val="solid"/>
                <a:miter/>
              </a:ln>
            </p:spPr>
            <p:txBody>
              <a:bodyPr/>
              <a:lstStyle/>
              <a:p>
                <a:endParaRPr lang="ja-JP" altLang="en-US"/>
              </a:p>
            </p:txBody>
          </p:sp>
          <p:sp>
            <p:nvSpPr>
              <p:cNvPr id="102" name="フリーフォーム 101">
                <a:extLst>
                  <a:ext uri="{FF2B5EF4-FFF2-40B4-BE49-F238E27FC236}">
                    <a16:creationId xmlns:a16="http://schemas.microsoft.com/office/drawing/2014/main" id="{C0FE582A-3896-3E71-212F-2EECCC3F452F}"/>
                  </a:ext>
                </a:extLst>
              </p:cNvPr>
              <p:cNvSpPr/>
              <p:nvPr/>
            </p:nvSpPr>
            <p:spPr>
              <a:xfrm>
                <a:off x="2191274" y="4436077"/>
                <a:ext cx="10832" cy="126407"/>
              </a:xfrm>
              <a:custGeom>
                <a:avLst/>
                <a:gdLst>
                  <a:gd name="csX0" fmla="*/ 0 w 10832"/>
                  <a:gd name="csY0" fmla="*/ 0 h 126407"/>
                  <a:gd name="csX1" fmla="*/ 0 w 10832"/>
                  <a:gd name="csY1" fmla="*/ 126408 h 126407"/>
                </a:gdLst>
                <a:ahLst/>
                <a:cxnLst>
                  <a:cxn ang="0">
                    <a:pos x="csX0" y="csY0"/>
                  </a:cxn>
                  <a:cxn ang="0">
                    <a:pos x="csX1" y="csY1"/>
                  </a:cxn>
                </a:cxnLst>
                <a:rect l="l" t="t" r="r" b="b"/>
                <a:pathLst>
                  <a:path w="10832" h="126407">
                    <a:moveTo>
                      <a:pt x="0" y="0"/>
                    </a:moveTo>
                    <a:lnTo>
                      <a:pt x="0" y="126408"/>
                    </a:lnTo>
                  </a:path>
                </a:pathLst>
              </a:custGeom>
              <a:ln w="5406" cap="flat">
                <a:solidFill>
                  <a:srgbClr val="00006D"/>
                </a:solidFill>
                <a:prstDash val="solid"/>
                <a:miter/>
              </a:ln>
            </p:spPr>
            <p:txBody>
              <a:bodyPr/>
              <a:lstStyle/>
              <a:p>
                <a:endParaRPr lang="ja-JP" altLang="en-US"/>
              </a:p>
            </p:txBody>
          </p:sp>
          <p:sp>
            <p:nvSpPr>
              <p:cNvPr id="103" name="フリーフォーム 102">
                <a:extLst>
                  <a:ext uri="{FF2B5EF4-FFF2-40B4-BE49-F238E27FC236}">
                    <a16:creationId xmlns:a16="http://schemas.microsoft.com/office/drawing/2014/main" id="{87B0CFDA-DFB1-918C-E4BA-06568565F8E5}"/>
                  </a:ext>
                </a:extLst>
              </p:cNvPr>
              <p:cNvSpPr/>
              <p:nvPr/>
            </p:nvSpPr>
            <p:spPr>
              <a:xfrm>
                <a:off x="2165275" y="4434462"/>
                <a:ext cx="51998" cy="26056"/>
              </a:xfrm>
              <a:custGeom>
                <a:avLst/>
                <a:gdLst>
                  <a:gd name="csX0" fmla="*/ 0 w 51998"/>
                  <a:gd name="csY0" fmla="*/ 25626 h 26056"/>
                  <a:gd name="csX1" fmla="*/ 25782 w 51998"/>
                  <a:gd name="csY1" fmla="*/ 0 h 26056"/>
                  <a:gd name="csX2" fmla="*/ 51998 w 51998"/>
                  <a:gd name="csY2" fmla="*/ 26057 h 26056"/>
                </a:gdLst>
                <a:ahLst/>
                <a:cxnLst>
                  <a:cxn ang="0">
                    <a:pos x="csX0" y="csY0"/>
                  </a:cxn>
                  <a:cxn ang="0">
                    <a:pos x="csX1" y="csY1"/>
                  </a:cxn>
                  <a:cxn ang="0">
                    <a:pos x="csX2" y="csY2"/>
                  </a:cxn>
                </a:cxnLst>
                <a:rect l="l" t="t" r="r" b="b"/>
                <a:pathLst>
                  <a:path w="51998" h="26056">
                    <a:moveTo>
                      <a:pt x="0" y="25626"/>
                    </a:moveTo>
                    <a:lnTo>
                      <a:pt x="25782" y="0"/>
                    </a:lnTo>
                    <a:lnTo>
                      <a:pt x="51998" y="26057"/>
                    </a:lnTo>
                  </a:path>
                </a:pathLst>
              </a:custGeom>
              <a:noFill/>
              <a:ln w="5406" cap="flat">
                <a:solidFill>
                  <a:srgbClr val="00006D"/>
                </a:solidFill>
                <a:prstDash val="solid"/>
                <a:miter/>
              </a:ln>
            </p:spPr>
            <p:txBody>
              <a:bodyPr/>
              <a:lstStyle/>
              <a:p>
                <a:endParaRPr lang="ja-JP" altLang="en-US"/>
              </a:p>
            </p:txBody>
          </p:sp>
          <p:sp>
            <p:nvSpPr>
              <p:cNvPr id="104" name="フリーフォーム 103">
                <a:extLst>
                  <a:ext uri="{FF2B5EF4-FFF2-40B4-BE49-F238E27FC236}">
                    <a16:creationId xmlns:a16="http://schemas.microsoft.com/office/drawing/2014/main" id="{7B4BFC3B-EFE1-33E6-C24A-FFE2BBFF1EF7}"/>
                  </a:ext>
                </a:extLst>
              </p:cNvPr>
              <p:cNvSpPr/>
              <p:nvPr/>
            </p:nvSpPr>
            <p:spPr>
              <a:xfrm>
                <a:off x="1603154" y="4025090"/>
                <a:ext cx="233341" cy="231711"/>
              </a:xfrm>
              <a:custGeom>
                <a:avLst/>
                <a:gdLst>
                  <a:gd name="csX0" fmla="*/ 233341 w 233341"/>
                  <a:gd name="csY0" fmla="*/ 115856 h 231711"/>
                  <a:gd name="csX1" fmla="*/ 116671 w 233341"/>
                  <a:gd name="csY1" fmla="*/ 231712 h 231711"/>
                  <a:gd name="csX2" fmla="*/ 0 w 233341"/>
                  <a:gd name="csY2" fmla="*/ 115856 h 231711"/>
                  <a:gd name="csX3" fmla="*/ 116671 w 233341"/>
                  <a:gd name="csY3" fmla="*/ 0 h 231711"/>
                  <a:gd name="csX4" fmla="*/ 233341 w 233341"/>
                  <a:gd name="csY4" fmla="*/ 115856 h 231711"/>
                  <a:gd name="csX5" fmla="*/ 233341 w 233341"/>
                  <a:gd name="csY5" fmla="*/ 115856 h 231711"/>
                </a:gdLst>
                <a:ahLst/>
                <a:cxnLst>
                  <a:cxn ang="0">
                    <a:pos x="csX0" y="csY0"/>
                  </a:cxn>
                  <a:cxn ang="0">
                    <a:pos x="csX1" y="csY1"/>
                  </a:cxn>
                  <a:cxn ang="0">
                    <a:pos x="csX2" y="csY2"/>
                  </a:cxn>
                  <a:cxn ang="0">
                    <a:pos x="csX3" y="csY3"/>
                  </a:cxn>
                  <a:cxn ang="0">
                    <a:pos x="csX4" y="csY4"/>
                  </a:cxn>
                  <a:cxn ang="0">
                    <a:pos x="csX5" y="csY5"/>
                  </a:cxn>
                </a:cxnLst>
                <a:rect l="l" t="t" r="r" b="b"/>
                <a:pathLst>
                  <a:path w="233341" h="231711">
                    <a:moveTo>
                      <a:pt x="233341" y="115856"/>
                    </a:moveTo>
                    <a:cubicBezTo>
                      <a:pt x="233341" y="179813"/>
                      <a:pt x="181127" y="231712"/>
                      <a:pt x="116671" y="231712"/>
                    </a:cubicBezTo>
                    <a:cubicBezTo>
                      <a:pt x="52215" y="231712"/>
                      <a:pt x="0" y="179813"/>
                      <a:pt x="0" y="115856"/>
                    </a:cubicBezTo>
                    <a:cubicBezTo>
                      <a:pt x="0" y="51898"/>
                      <a:pt x="52215" y="0"/>
                      <a:pt x="116671" y="0"/>
                    </a:cubicBezTo>
                    <a:cubicBezTo>
                      <a:pt x="181127" y="0"/>
                      <a:pt x="233341" y="51898"/>
                      <a:pt x="233341" y="115856"/>
                    </a:cubicBezTo>
                    <a:lnTo>
                      <a:pt x="233341" y="115856"/>
                    </a:lnTo>
                    <a:close/>
                  </a:path>
                </a:pathLst>
              </a:custGeom>
              <a:solidFill>
                <a:srgbClr val="C0FF00"/>
              </a:solidFill>
              <a:ln w="10812" cap="flat">
                <a:noFill/>
                <a:prstDash val="solid"/>
                <a:miter/>
              </a:ln>
            </p:spPr>
            <p:txBody>
              <a:bodyPr/>
              <a:lstStyle/>
              <a:p>
                <a:endParaRPr lang="ja-JP" altLang="en-US"/>
              </a:p>
            </p:txBody>
          </p:sp>
          <p:sp>
            <p:nvSpPr>
              <p:cNvPr id="105" name="フリーフォーム 104">
                <a:extLst>
                  <a:ext uri="{FF2B5EF4-FFF2-40B4-BE49-F238E27FC236}">
                    <a16:creationId xmlns:a16="http://schemas.microsoft.com/office/drawing/2014/main" id="{B7A28F7E-6E5C-D5D7-32D4-9B2A45CFF4E7}"/>
                  </a:ext>
                </a:extLst>
              </p:cNvPr>
              <p:cNvSpPr/>
              <p:nvPr/>
            </p:nvSpPr>
            <p:spPr>
              <a:xfrm>
                <a:off x="1603154" y="4025090"/>
                <a:ext cx="233341" cy="231711"/>
              </a:xfrm>
              <a:custGeom>
                <a:avLst/>
                <a:gdLst>
                  <a:gd name="csX0" fmla="*/ 233341 w 233341"/>
                  <a:gd name="csY0" fmla="*/ 115856 h 231711"/>
                  <a:gd name="csX1" fmla="*/ 116671 w 233341"/>
                  <a:gd name="csY1" fmla="*/ 231712 h 231711"/>
                  <a:gd name="csX2" fmla="*/ 0 w 233341"/>
                  <a:gd name="csY2" fmla="*/ 115856 h 231711"/>
                  <a:gd name="csX3" fmla="*/ 116671 w 233341"/>
                  <a:gd name="csY3" fmla="*/ 0 h 231711"/>
                  <a:gd name="csX4" fmla="*/ 233341 w 233341"/>
                  <a:gd name="csY4" fmla="*/ 115856 h 231711"/>
                </a:gdLst>
                <a:ahLst/>
                <a:cxnLst>
                  <a:cxn ang="0">
                    <a:pos x="csX0" y="csY0"/>
                  </a:cxn>
                  <a:cxn ang="0">
                    <a:pos x="csX1" y="csY1"/>
                  </a:cxn>
                  <a:cxn ang="0">
                    <a:pos x="csX2" y="csY2"/>
                  </a:cxn>
                  <a:cxn ang="0">
                    <a:pos x="csX3" y="csY3"/>
                  </a:cxn>
                  <a:cxn ang="0">
                    <a:pos x="csX4" y="csY4"/>
                  </a:cxn>
                </a:cxnLst>
                <a:rect l="l" t="t" r="r" b="b"/>
                <a:pathLst>
                  <a:path w="233341" h="231711">
                    <a:moveTo>
                      <a:pt x="233341" y="115856"/>
                    </a:moveTo>
                    <a:cubicBezTo>
                      <a:pt x="233341" y="179841"/>
                      <a:pt x="181106" y="231712"/>
                      <a:pt x="116671" y="231712"/>
                    </a:cubicBezTo>
                    <a:cubicBezTo>
                      <a:pt x="52235" y="231712"/>
                      <a:pt x="0" y="179841"/>
                      <a:pt x="0" y="115856"/>
                    </a:cubicBezTo>
                    <a:cubicBezTo>
                      <a:pt x="0" y="51870"/>
                      <a:pt x="52235" y="0"/>
                      <a:pt x="116671" y="0"/>
                    </a:cubicBezTo>
                    <a:cubicBezTo>
                      <a:pt x="181106" y="0"/>
                      <a:pt x="233341" y="51870"/>
                      <a:pt x="233341" y="115856"/>
                    </a:cubicBezTo>
                    <a:close/>
                  </a:path>
                </a:pathLst>
              </a:custGeom>
              <a:noFill/>
              <a:ln w="7352" cap="rnd">
                <a:solidFill>
                  <a:srgbClr val="00006D"/>
                </a:solidFill>
                <a:prstDash val="solid"/>
                <a:round/>
              </a:ln>
            </p:spPr>
            <p:txBody>
              <a:bodyPr/>
              <a:lstStyle/>
              <a:p>
                <a:endParaRPr lang="ja-JP" altLang="en-US"/>
              </a:p>
            </p:txBody>
          </p:sp>
          <p:sp>
            <p:nvSpPr>
              <p:cNvPr id="106" name="フリーフォーム 105">
                <a:extLst>
                  <a:ext uri="{FF2B5EF4-FFF2-40B4-BE49-F238E27FC236}">
                    <a16:creationId xmlns:a16="http://schemas.microsoft.com/office/drawing/2014/main" id="{A2567C06-AE7B-1761-44F0-6AF1584004F1}"/>
                  </a:ext>
                </a:extLst>
              </p:cNvPr>
              <p:cNvSpPr/>
              <p:nvPr/>
            </p:nvSpPr>
            <p:spPr>
              <a:xfrm>
                <a:off x="1767923" y="4100246"/>
                <a:ext cx="37373" cy="85276"/>
              </a:xfrm>
              <a:custGeom>
                <a:avLst/>
                <a:gdLst>
                  <a:gd name="csX0" fmla="*/ 0 w 37373"/>
                  <a:gd name="csY0" fmla="*/ 0 h 85276"/>
                  <a:gd name="csX1" fmla="*/ 37374 w 37373"/>
                  <a:gd name="csY1" fmla="*/ 42638 h 85276"/>
                  <a:gd name="csX2" fmla="*/ 0 w 37373"/>
                  <a:gd name="csY2" fmla="*/ 85277 h 85276"/>
                </a:gdLst>
                <a:ahLst/>
                <a:cxnLst>
                  <a:cxn ang="0">
                    <a:pos x="csX0" y="csY0"/>
                  </a:cxn>
                  <a:cxn ang="0">
                    <a:pos x="csX1" y="csY1"/>
                  </a:cxn>
                  <a:cxn ang="0">
                    <a:pos x="csX2" y="csY2"/>
                  </a:cxn>
                </a:cxnLst>
                <a:rect l="l" t="t" r="r" b="b"/>
                <a:pathLst>
                  <a:path w="37373" h="85276">
                    <a:moveTo>
                      <a:pt x="0" y="0"/>
                    </a:moveTo>
                    <a:lnTo>
                      <a:pt x="37374" y="42638"/>
                    </a:lnTo>
                    <a:lnTo>
                      <a:pt x="0" y="85277"/>
                    </a:lnTo>
                  </a:path>
                </a:pathLst>
              </a:custGeom>
              <a:noFill/>
              <a:ln w="10055" cap="rnd">
                <a:solidFill>
                  <a:srgbClr val="00006D"/>
                </a:solidFill>
                <a:prstDash val="solid"/>
                <a:miter/>
              </a:ln>
            </p:spPr>
            <p:txBody>
              <a:bodyPr/>
              <a:lstStyle/>
              <a:p>
                <a:endParaRPr lang="ja-JP" altLang="en-US"/>
              </a:p>
            </p:txBody>
          </p:sp>
          <p:sp>
            <p:nvSpPr>
              <p:cNvPr id="107" name="フリーフォーム 106">
                <a:extLst>
                  <a:ext uri="{FF2B5EF4-FFF2-40B4-BE49-F238E27FC236}">
                    <a16:creationId xmlns:a16="http://schemas.microsoft.com/office/drawing/2014/main" id="{7E663F4F-0C42-3B50-0F6C-1418BA1CFBF9}"/>
                  </a:ext>
                </a:extLst>
              </p:cNvPr>
              <p:cNvSpPr/>
              <p:nvPr/>
            </p:nvSpPr>
            <p:spPr>
              <a:xfrm>
                <a:off x="1634245" y="4100246"/>
                <a:ext cx="37481" cy="85276"/>
              </a:xfrm>
              <a:custGeom>
                <a:avLst/>
                <a:gdLst>
                  <a:gd name="csX0" fmla="*/ 37482 w 37481"/>
                  <a:gd name="csY0" fmla="*/ 0 h 85276"/>
                  <a:gd name="csX1" fmla="*/ 0 w 37481"/>
                  <a:gd name="csY1" fmla="*/ 42638 h 85276"/>
                  <a:gd name="csX2" fmla="*/ 37482 w 37481"/>
                  <a:gd name="csY2" fmla="*/ 85277 h 85276"/>
                </a:gdLst>
                <a:ahLst/>
                <a:cxnLst>
                  <a:cxn ang="0">
                    <a:pos x="csX0" y="csY0"/>
                  </a:cxn>
                  <a:cxn ang="0">
                    <a:pos x="csX1" y="csY1"/>
                  </a:cxn>
                  <a:cxn ang="0">
                    <a:pos x="csX2" y="csY2"/>
                  </a:cxn>
                </a:cxnLst>
                <a:rect l="l" t="t" r="r" b="b"/>
                <a:pathLst>
                  <a:path w="37481" h="85276">
                    <a:moveTo>
                      <a:pt x="37482" y="0"/>
                    </a:moveTo>
                    <a:lnTo>
                      <a:pt x="0" y="42638"/>
                    </a:lnTo>
                    <a:lnTo>
                      <a:pt x="37482" y="85277"/>
                    </a:lnTo>
                  </a:path>
                </a:pathLst>
              </a:custGeom>
              <a:noFill/>
              <a:ln w="10055" cap="rnd">
                <a:solidFill>
                  <a:srgbClr val="00006D"/>
                </a:solidFill>
                <a:prstDash val="solid"/>
                <a:miter/>
              </a:ln>
            </p:spPr>
            <p:txBody>
              <a:bodyPr/>
              <a:lstStyle/>
              <a:p>
                <a:endParaRPr lang="ja-JP" altLang="en-US"/>
              </a:p>
            </p:txBody>
          </p:sp>
          <p:sp>
            <p:nvSpPr>
              <p:cNvPr id="108" name="フリーフォーム 107">
                <a:extLst>
                  <a:ext uri="{FF2B5EF4-FFF2-40B4-BE49-F238E27FC236}">
                    <a16:creationId xmlns:a16="http://schemas.microsoft.com/office/drawing/2014/main" id="{4DB6C4B2-1054-62A8-25F9-B3A07EA01522}"/>
                  </a:ext>
                </a:extLst>
              </p:cNvPr>
              <p:cNvSpPr/>
              <p:nvPr/>
            </p:nvSpPr>
            <p:spPr>
              <a:xfrm>
                <a:off x="1693393" y="4099923"/>
                <a:ext cx="52864" cy="86891"/>
              </a:xfrm>
              <a:custGeom>
                <a:avLst/>
                <a:gdLst>
                  <a:gd name="csX0" fmla="*/ 52865 w 52864"/>
                  <a:gd name="csY0" fmla="*/ 0 h 86891"/>
                  <a:gd name="csX1" fmla="*/ 0 w 52864"/>
                  <a:gd name="csY1" fmla="*/ 86892 h 86891"/>
                </a:gdLst>
                <a:ahLst/>
                <a:cxnLst>
                  <a:cxn ang="0">
                    <a:pos x="csX0" y="csY0"/>
                  </a:cxn>
                  <a:cxn ang="0">
                    <a:pos x="csX1" y="csY1"/>
                  </a:cxn>
                </a:cxnLst>
                <a:rect l="l" t="t" r="r" b="b"/>
                <a:pathLst>
                  <a:path w="52864" h="86891">
                    <a:moveTo>
                      <a:pt x="52865" y="0"/>
                    </a:moveTo>
                    <a:lnTo>
                      <a:pt x="0" y="86892"/>
                    </a:lnTo>
                  </a:path>
                </a:pathLst>
              </a:custGeom>
              <a:ln w="10055" cap="rnd">
                <a:solidFill>
                  <a:srgbClr val="00006D"/>
                </a:solidFill>
                <a:prstDash val="solid"/>
                <a:miter/>
              </a:ln>
            </p:spPr>
            <p:txBody>
              <a:bodyPr/>
              <a:lstStyle/>
              <a:p>
                <a:endParaRPr lang="ja-JP" altLang="en-US"/>
              </a:p>
            </p:txBody>
          </p:sp>
          <p:sp>
            <p:nvSpPr>
              <p:cNvPr id="109" name="フリーフォーム 108">
                <a:extLst>
                  <a:ext uri="{FF2B5EF4-FFF2-40B4-BE49-F238E27FC236}">
                    <a16:creationId xmlns:a16="http://schemas.microsoft.com/office/drawing/2014/main" id="{4A7FC1DA-1369-47BF-1D3D-6931D4E6FEEF}"/>
                  </a:ext>
                </a:extLst>
              </p:cNvPr>
              <p:cNvSpPr/>
              <p:nvPr/>
            </p:nvSpPr>
            <p:spPr>
              <a:xfrm>
                <a:off x="1600879" y="4022721"/>
                <a:ext cx="237891" cy="236341"/>
              </a:xfrm>
              <a:custGeom>
                <a:avLst/>
                <a:gdLst>
                  <a:gd name="csX0" fmla="*/ 0 w 237891"/>
                  <a:gd name="csY0" fmla="*/ 0 h 236341"/>
                  <a:gd name="csX1" fmla="*/ 237891 w 237891"/>
                  <a:gd name="csY1" fmla="*/ 236342 h 236341"/>
                </a:gdLst>
                <a:ahLst/>
                <a:cxnLst>
                  <a:cxn ang="0">
                    <a:pos x="csX0" y="csY0"/>
                  </a:cxn>
                  <a:cxn ang="0">
                    <a:pos x="csX1" y="csY1"/>
                  </a:cxn>
                </a:cxnLst>
                <a:rect l="l" t="t" r="r" b="b"/>
                <a:pathLst>
                  <a:path w="237891" h="236341">
                    <a:moveTo>
                      <a:pt x="0" y="0"/>
                    </a:moveTo>
                    <a:lnTo>
                      <a:pt x="237891" y="236342"/>
                    </a:lnTo>
                  </a:path>
                </a:pathLst>
              </a:custGeom>
              <a:ln w="10812" cap="flat">
                <a:noFill/>
                <a:prstDash val="solid"/>
                <a:miter/>
              </a:ln>
            </p:spPr>
            <p:txBody>
              <a:bodyPr/>
              <a:lstStyle/>
              <a:p>
                <a:endParaRPr lang="ja-JP" altLang="en-US"/>
              </a:p>
            </p:txBody>
          </p:sp>
          <p:sp>
            <p:nvSpPr>
              <p:cNvPr id="110" name="フリーフォーム 109">
                <a:extLst>
                  <a:ext uri="{FF2B5EF4-FFF2-40B4-BE49-F238E27FC236}">
                    <a16:creationId xmlns:a16="http://schemas.microsoft.com/office/drawing/2014/main" id="{8421263F-D033-504B-888E-7944445EA58B}"/>
                  </a:ext>
                </a:extLst>
              </p:cNvPr>
              <p:cNvSpPr/>
              <p:nvPr/>
            </p:nvSpPr>
            <p:spPr>
              <a:xfrm>
                <a:off x="1600879" y="4022721"/>
                <a:ext cx="237891" cy="236341"/>
              </a:xfrm>
              <a:custGeom>
                <a:avLst/>
                <a:gdLst>
                  <a:gd name="csX0" fmla="*/ 0 w 237891"/>
                  <a:gd name="csY0" fmla="*/ 0 h 236341"/>
                  <a:gd name="csX1" fmla="*/ 237891 w 237891"/>
                  <a:gd name="csY1" fmla="*/ 236342 h 236341"/>
                </a:gdLst>
                <a:ahLst/>
                <a:cxnLst>
                  <a:cxn ang="0">
                    <a:pos x="csX0" y="csY0"/>
                  </a:cxn>
                  <a:cxn ang="0">
                    <a:pos x="csX1" y="csY1"/>
                  </a:cxn>
                </a:cxnLst>
                <a:rect l="l" t="t" r="r" b="b"/>
                <a:pathLst>
                  <a:path w="237891" h="236341">
                    <a:moveTo>
                      <a:pt x="0" y="0"/>
                    </a:moveTo>
                    <a:lnTo>
                      <a:pt x="237891" y="236342"/>
                    </a:lnTo>
                  </a:path>
                </a:pathLst>
              </a:custGeom>
              <a:ln w="7352" cap="rnd">
                <a:solidFill>
                  <a:srgbClr val="00006D"/>
                </a:solidFill>
                <a:prstDash val="solid"/>
                <a:round/>
              </a:ln>
            </p:spPr>
            <p:txBody>
              <a:bodyPr/>
              <a:lstStyle/>
              <a:p>
                <a:endParaRPr lang="ja-JP" altLang="en-US"/>
              </a:p>
            </p:txBody>
          </p:sp>
          <p:sp>
            <p:nvSpPr>
              <p:cNvPr id="111" name="フリーフォーム 110">
                <a:extLst>
                  <a:ext uri="{FF2B5EF4-FFF2-40B4-BE49-F238E27FC236}">
                    <a16:creationId xmlns:a16="http://schemas.microsoft.com/office/drawing/2014/main" id="{D628EEE4-8AD5-4C8E-F6E2-2D76D62C8074}"/>
                  </a:ext>
                </a:extLst>
              </p:cNvPr>
              <p:cNvSpPr/>
              <p:nvPr/>
            </p:nvSpPr>
            <p:spPr>
              <a:xfrm>
                <a:off x="1190785" y="4506674"/>
                <a:ext cx="552456" cy="282744"/>
              </a:xfrm>
              <a:custGeom>
                <a:avLst/>
                <a:gdLst>
                  <a:gd name="csX0" fmla="*/ 87707 w 552456"/>
                  <a:gd name="csY0" fmla="*/ 36 h 282744"/>
                  <a:gd name="csX1" fmla="*/ 185420 w 552456"/>
                  <a:gd name="csY1" fmla="*/ 7681 h 282744"/>
                  <a:gd name="csX2" fmla="*/ 517557 w 552456"/>
                  <a:gd name="csY2" fmla="*/ 111369 h 282744"/>
                  <a:gd name="csX3" fmla="*/ 527198 w 552456"/>
                  <a:gd name="csY3" fmla="*/ 129351 h 282744"/>
                  <a:gd name="csX4" fmla="*/ 547564 w 552456"/>
                  <a:gd name="csY4" fmla="*/ 138180 h 282744"/>
                  <a:gd name="csX5" fmla="*/ 531748 w 552456"/>
                  <a:gd name="csY5" fmla="*/ 277724 h 282744"/>
                  <a:gd name="csX6" fmla="*/ 84457 w 552456"/>
                  <a:gd name="csY6" fmla="*/ 248545 h 282744"/>
                  <a:gd name="csX7" fmla="*/ 87707 w 552456"/>
                  <a:gd name="csY7" fmla="*/ 36 h 282744"/>
                  <a:gd name="csX8" fmla="*/ 87707 w 552456"/>
                  <a:gd name="csY8" fmla="*/ 36 h 2827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2456" h="282744">
                    <a:moveTo>
                      <a:pt x="87707" y="36"/>
                    </a:moveTo>
                    <a:cubicBezTo>
                      <a:pt x="145663" y="-610"/>
                      <a:pt x="185420" y="7681"/>
                      <a:pt x="185420" y="7681"/>
                    </a:cubicBezTo>
                    <a:cubicBezTo>
                      <a:pt x="185420" y="7681"/>
                      <a:pt x="477584" y="136565"/>
                      <a:pt x="517557" y="111369"/>
                    </a:cubicBezTo>
                    <a:cubicBezTo>
                      <a:pt x="520482" y="109539"/>
                      <a:pt x="522432" y="133335"/>
                      <a:pt x="527198" y="129351"/>
                    </a:cubicBezTo>
                    <a:cubicBezTo>
                      <a:pt x="536081" y="138826"/>
                      <a:pt x="544423" y="124075"/>
                      <a:pt x="547564" y="138180"/>
                    </a:cubicBezTo>
                    <a:cubicBezTo>
                      <a:pt x="559156" y="191370"/>
                      <a:pt x="548648" y="227979"/>
                      <a:pt x="531748" y="277724"/>
                    </a:cubicBezTo>
                    <a:cubicBezTo>
                      <a:pt x="396770" y="298397"/>
                      <a:pt x="84457" y="248545"/>
                      <a:pt x="84457" y="248545"/>
                    </a:cubicBezTo>
                    <a:cubicBezTo>
                      <a:pt x="84457" y="248545"/>
                      <a:pt x="-107719" y="31369"/>
                      <a:pt x="87707" y="36"/>
                    </a:cubicBezTo>
                    <a:lnTo>
                      <a:pt x="87707" y="36"/>
                    </a:lnTo>
                    <a:close/>
                  </a:path>
                </a:pathLst>
              </a:custGeom>
              <a:solidFill>
                <a:srgbClr val="5067EF"/>
              </a:solidFill>
              <a:ln w="10812" cap="flat">
                <a:noFill/>
                <a:prstDash val="solid"/>
                <a:miter/>
              </a:ln>
            </p:spPr>
            <p:txBody>
              <a:bodyPr/>
              <a:lstStyle/>
              <a:p>
                <a:endParaRPr lang="ja-JP" altLang="en-US"/>
              </a:p>
            </p:txBody>
          </p:sp>
          <p:sp>
            <p:nvSpPr>
              <p:cNvPr id="112" name="フリーフォーム 111">
                <a:extLst>
                  <a:ext uri="{FF2B5EF4-FFF2-40B4-BE49-F238E27FC236}">
                    <a16:creationId xmlns:a16="http://schemas.microsoft.com/office/drawing/2014/main" id="{5E86EC61-F0D9-25C4-E62E-9C7424E11C6E}"/>
                  </a:ext>
                </a:extLst>
              </p:cNvPr>
              <p:cNvSpPr/>
              <p:nvPr/>
            </p:nvSpPr>
            <p:spPr>
              <a:xfrm>
                <a:off x="1190785" y="4506674"/>
                <a:ext cx="552456" cy="282744"/>
              </a:xfrm>
              <a:custGeom>
                <a:avLst/>
                <a:gdLst>
                  <a:gd name="csX0" fmla="*/ 87707 w 552456"/>
                  <a:gd name="csY0" fmla="*/ 36 h 282744"/>
                  <a:gd name="csX1" fmla="*/ 185420 w 552456"/>
                  <a:gd name="csY1" fmla="*/ 7681 h 282744"/>
                  <a:gd name="csX2" fmla="*/ 517557 w 552456"/>
                  <a:gd name="csY2" fmla="*/ 111369 h 282744"/>
                  <a:gd name="csX3" fmla="*/ 527198 w 552456"/>
                  <a:gd name="csY3" fmla="*/ 129351 h 282744"/>
                  <a:gd name="csX4" fmla="*/ 547564 w 552456"/>
                  <a:gd name="csY4" fmla="*/ 138180 h 282744"/>
                  <a:gd name="csX5" fmla="*/ 531748 w 552456"/>
                  <a:gd name="csY5" fmla="*/ 277724 h 282744"/>
                  <a:gd name="csX6" fmla="*/ 84457 w 552456"/>
                  <a:gd name="csY6" fmla="*/ 248545 h 282744"/>
                  <a:gd name="csX7" fmla="*/ 87707 w 552456"/>
                  <a:gd name="csY7" fmla="*/ 36 h 2827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52456" h="282744">
                    <a:moveTo>
                      <a:pt x="87707" y="36"/>
                    </a:moveTo>
                    <a:cubicBezTo>
                      <a:pt x="145663" y="-610"/>
                      <a:pt x="185420" y="7681"/>
                      <a:pt x="185420" y="7681"/>
                    </a:cubicBezTo>
                    <a:cubicBezTo>
                      <a:pt x="185420" y="7681"/>
                      <a:pt x="477584" y="136565"/>
                      <a:pt x="517557" y="111369"/>
                    </a:cubicBezTo>
                    <a:cubicBezTo>
                      <a:pt x="520482" y="109539"/>
                      <a:pt x="522432" y="133335"/>
                      <a:pt x="527198" y="129351"/>
                    </a:cubicBezTo>
                    <a:cubicBezTo>
                      <a:pt x="536081" y="138826"/>
                      <a:pt x="544423" y="124075"/>
                      <a:pt x="547564" y="138180"/>
                    </a:cubicBezTo>
                    <a:cubicBezTo>
                      <a:pt x="559156" y="191370"/>
                      <a:pt x="548648" y="227979"/>
                      <a:pt x="531748" y="277724"/>
                    </a:cubicBezTo>
                    <a:cubicBezTo>
                      <a:pt x="396770" y="298397"/>
                      <a:pt x="84457" y="248545"/>
                      <a:pt x="84457" y="248545"/>
                    </a:cubicBezTo>
                    <a:cubicBezTo>
                      <a:pt x="84457" y="248545"/>
                      <a:pt x="-107719" y="31369"/>
                      <a:pt x="87707" y="36"/>
                    </a:cubicBezTo>
                    <a:close/>
                  </a:path>
                </a:pathLst>
              </a:custGeom>
              <a:noFill/>
              <a:ln w="4649" cap="rnd">
                <a:solidFill>
                  <a:srgbClr val="00006D"/>
                </a:solidFill>
                <a:prstDash val="solid"/>
                <a:round/>
              </a:ln>
            </p:spPr>
            <p:txBody>
              <a:bodyPr/>
              <a:lstStyle/>
              <a:p>
                <a:endParaRPr lang="ja-JP" altLang="en-US"/>
              </a:p>
            </p:txBody>
          </p:sp>
          <p:sp>
            <p:nvSpPr>
              <p:cNvPr id="113" name="フリーフォーム 112">
                <a:extLst>
                  <a:ext uri="{FF2B5EF4-FFF2-40B4-BE49-F238E27FC236}">
                    <a16:creationId xmlns:a16="http://schemas.microsoft.com/office/drawing/2014/main" id="{8E060943-2210-C2CB-6031-6F5144F8E50E}"/>
                  </a:ext>
                </a:extLst>
              </p:cNvPr>
              <p:cNvSpPr/>
              <p:nvPr/>
            </p:nvSpPr>
            <p:spPr>
              <a:xfrm>
                <a:off x="1719382" y="4513817"/>
                <a:ext cx="288815" cy="250908"/>
              </a:xfrm>
              <a:custGeom>
                <a:avLst/>
                <a:gdLst>
                  <a:gd name="csX0" fmla="*/ 288816 w 288815"/>
                  <a:gd name="csY0" fmla="*/ 38008 h 250908"/>
                  <a:gd name="csX1" fmla="*/ 25468 w 288815"/>
                  <a:gd name="csY1" fmla="*/ 250339 h 250908"/>
                  <a:gd name="csX2" fmla="*/ 552 w 288815"/>
                  <a:gd name="csY2" fmla="*/ 250877 h 250908"/>
                  <a:gd name="csX3" fmla="*/ 11385 w 288815"/>
                  <a:gd name="csY3" fmla="*/ 100136 h 250908"/>
                  <a:gd name="csX4" fmla="*/ 274300 w 288815"/>
                  <a:gd name="csY4" fmla="*/ 0 h 250908"/>
                  <a:gd name="csX5" fmla="*/ 288816 w 288815"/>
                  <a:gd name="csY5" fmla="*/ 38116 h 250908"/>
                </a:gdLst>
                <a:ahLst/>
                <a:cxnLst>
                  <a:cxn ang="0">
                    <a:pos x="csX0" y="csY0"/>
                  </a:cxn>
                  <a:cxn ang="0">
                    <a:pos x="csX1" y="csY1"/>
                  </a:cxn>
                  <a:cxn ang="0">
                    <a:pos x="csX2" y="csY2"/>
                  </a:cxn>
                  <a:cxn ang="0">
                    <a:pos x="csX3" y="csY3"/>
                  </a:cxn>
                  <a:cxn ang="0">
                    <a:pos x="csX4" y="csY4"/>
                  </a:cxn>
                  <a:cxn ang="0">
                    <a:pos x="csX5" y="csY5"/>
                  </a:cxn>
                </a:cxnLst>
                <a:rect l="l" t="t" r="r" b="b"/>
                <a:pathLst>
                  <a:path w="288815" h="250908">
                    <a:moveTo>
                      <a:pt x="288816" y="38008"/>
                    </a:moveTo>
                    <a:cubicBezTo>
                      <a:pt x="217752" y="73864"/>
                      <a:pt x="129247" y="183367"/>
                      <a:pt x="25468" y="250339"/>
                    </a:cubicBezTo>
                    <a:cubicBezTo>
                      <a:pt x="25468" y="250124"/>
                      <a:pt x="660" y="251093"/>
                      <a:pt x="552" y="250877"/>
                    </a:cubicBezTo>
                    <a:cubicBezTo>
                      <a:pt x="-6056" y="206624"/>
                      <a:pt x="49625" y="124254"/>
                      <a:pt x="11385" y="100136"/>
                    </a:cubicBezTo>
                    <a:cubicBezTo>
                      <a:pt x="104223" y="62019"/>
                      <a:pt x="225877" y="20565"/>
                      <a:pt x="274300" y="0"/>
                    </a:cubicBezTo>
                    <a:lnTo>
                      <a:pt x="288816" y="38116"/>
                    </a:lnTo>
                    <a:close/>
                  </a:path>
                </a:pathLst>
              </a:custGeom>
              <a:solidFill>
                <a:srgbClr val="FFFFFF"/>
              </a:solidFill>
              <a:ln w="10812" cap="flat">
                <a:noFill/>
                <a:prstDash val="solid"/>
                <a:miter/>
              </a:ln>
            </p:spPr>
            <p:txBody>
              <a:bodyPr/>
              <a:lstStyle/>
              <a:p>
                <a:endParaRPr lang="ja-JP" altLang="en-US"/>
              </a:p>
            </p:txBody>
          </p:sp>
          <p:sp>
            <p:nvSpPr>
              <p:cNvPr id="114" name="フリーフォーム 113">
                <a:extLst>
                  <a:ext uri="{FF2B5EF4-FFF2-40B4-BE49-F238E27FC236}">
                    <a16:creationId xmlns:a16="http://schemas.microsoft.com/office/drawing/2014/main" id="{A0BA058C-803B-9648-4F57-761AD5D9A72D}"/>
                  </a:ext>
                </a:extLst>
              </p:cNvPr>
              <p:cNvSpPr/>
              <p:nvPr/>
            </p:nvSpPr>
            <p:spPr>
              <a:xfrm>
                <a:off x="1719382" y="4513817"/>
                <a:ext cx="288815" cy="250908"/>
              </a:xfrm>
              <a:custGeom>
                <a:avLst/>
                <a:gdLst>
                  <a:gd name="csX0" fmla="*/ 288816 w 288815"/>
                  <a:gd name="csY0" fmla="*/ 38008 h 250908"/>
                  <a:gd name="csX1" fmla="*/ 25468 w 288815"/>
                  <a:gd name="csY1" fmla="*/ 250339 h 250908"/>
                  <a:gd name="csX2" fmla="*/ 552 w 288815"/>
                  <a:gd name="csY2" fmla="*/ 250877 h 250908"/>
                  <a:gd name="csX3" fmla="*/ 11385 w 288815"/>
                  <a:gd name="csY3" fmla="*/ 100136 h 250908"/>
                  <a:gd name="csX4" fmla="*/ 274300 w 288815"/>
                  <a:gd name="csY4" fmla="*/ 0 h 250908"/>
                </a:gdLst>
                <a:ahLst/>
                <a:cxnLst>
                  <a:cxn ang="0">
                    <a:pos x="csX0" y="csY0"/>
                  </a:cxn>
                  <a:cxn ang="0">
                    <a:pos x="csX1" y="csY1"/>
                  </a:cxn>
                  <a:cxn ang="0">
                    <a:pos x="csX2" y="csY2"/>
                  </a:cxn>
                  <a:cxn ang="0">
                    <a:pos x="csX3" y="csY3"/>
                  </a:cxn>
                  <a:cxn ang="0">
                    <a:pos x="csX4" y="csY4"/>
                  </a:cxn>
                </a:cxnLst>
                <a:rect l="l" t="t" r="r" b="b"/>
                <a:pathLst>
                  <a:path w="288815" h="250908">
                    <a:moveTo>
                      <a:pt x="288816" y="38008"/>
                    </a:moveTo>
                    <a:cubicBezTo>
                      <a:pt x="217752" y="73864"/>
                      <a:pt x="129247" y="183367"/>
                      <a:pt x="25468" y="250339"/>
                    </a:cubicBezTo>
                    <a:cubicBezTo>
                      <a:pt x="25468" y="250124"/>
                      <a:pt x="660" y="251093"/>
                      <a:pt x="552" y="250877"/>
                    </a:cubicBezTo>
                    <a:cubicBezTo>
                      <a:pt x="-6056" y="206624"/>
                      <a:pt x="49625" y="124254"/>
                      <a:pt x="11385" y="100136"/>
                    </a:cubicBezTo>
                    <a:cubicBezTo>
                      <a:pt x="104223" y="62019"/>
                      <a:pt x="225877" y="20565"/>
                      <a:pt x="274300" y="0"/>
                    </a:cubicBezTo>
                  </a:path>
                </a:pathLst>
              </a:custGeom>
              <a:noFill/>
              <a:ln w="4649" cap="rnd">
                <a:solidFill>
                  <a:srgbClr val="00006D"/>
                </a:solidFill>
                <a:prstDash val="solid"/>
                <a:round/>
              </a:ln>
            </p:spPr>
            <p:txBody>
              <a:bodyPr/>
              <a:lstStyle/>
              <a:p>
                <a:endParaRPr lang="ja-JP" altLang="en-US"/>
              </a:p>
            </p:txBody>
          </p:sp>
          <p:sp>
            <p:nvSpPr>
              <p:cNvPr id="115" name="フリーフォーム 114">
                <a:extLst>
                  <a:ext uri="{FF2B5EF4-FFF2-40B4-BE49-F238E27FC236}">
                    <a16:creationId xmlns:a16="http://schemas.microsoft.com/office/drawing/2014/main" id="{BD311E04-2FCE-9D27-53DF-BA66E2D2D9EB}"/>
                  </a:ext>
                </a:extLst>
              </p:cNvPr>
              <p:cNvSpPr/>
              <p:nvPr/>
            </p:nvSpPr>
            <p:spPr>
              <a:xfrm>
                <a:off x="1592971" y="4613952"/>
                <a:ext cx="171860" cy="188360"/>
              </a:xfrm>
              <a:custGeom>
                <a:avLst/>
                <a:gdLst>
                  <a:gd name="csX0" fmla="*/ 95546 w 171860"/>
                  <a:gd name="csY0" fmla="*/ 6783 h 188360"/>
                  <a:gd name="csX1" fmla="*/ 137795 w 171860"/>
                  <a:gd name="csY1" fmla="*/ 0 h 188360"/>
                  <a:gd name="csX2" fmla="*/ 171377 w 171860"/>
                  <a:gd name="csY2" fmla="*/ 125869 h 188360"/>
                  <a:gd name="csX3" fmla="*/ 163577 w 171860"/>
                  <a:gd name="csY3" fmla="*/ 162801 h 188360"/>
                  <a:gd name="csX4" fmla="*/ 38674 w 171860"/>
                  <a:gd name="csY4" fmla="*/ 187781 h 188360"/>
                  <a:gd name="csX5" fmla="*/ 0 w 171860"/>
                  <a:gd name="csY5" fmla="*/ 175937 h 188360"/>
                  <a:gd name="csX6" fmla="*/ 91863 w 171860"/>
                  <a:gd name="csY6" fmla="*/ 47161 h 188360"/>
                  <a:gd name="csX7" fmla="*/ 95546 w 171860"/>
                  <a:gd name="csY7" fmla="*/ 6891 h 188360"/>
                  <a:gd name="csX8" fmla="*/ 95546 w 171860"/>
                  <a:gd name="csY8" fmla="*/ 6891 h 188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860" h="188360">
                    <a:moveTo>
                      <a:pt x="95546" y="6783"/>
                    </a:moveTo>
                    <a:cubicBezTo>
                      <a:pt x="106271" y="5491"/>
                      <a:pt x="120787" y="3123"/>
                      <a:pt x="137795" y="0"/>
                    </a:cubicBezTo>
                    <a:cubicBezTo>
                      <a:pt x="170727" y="31763"/>
                      <a:pt x="173327" y="80755"/>
                      <a:pt x="171377" y="125869"/>
                    </a:cubicBezTo>
                    <a:cubicBezTo>
                      <a:pt x="170402" y="138467"/>
                      <a:pt x="167802" y="150957"/>
                      <a:pt x="163577" y="162801"/>
                    </a:cubicBezTo>
                    <a:cubicBezTo>
                      <a:pt x="113746" y="180460"/>
                      <a:pt x="68789" y="191011"/>
                      <a:pt x="38674" y="187781"/>
                    </a:cubicBezTo>
                    <a:cubicBezTo>
                      <a:pt x="27624" y="186597"/>
                      <a:pt x="14516" y="182398"/>
                      <a:pt x="0" y="175937"/>
                    </a:cubicBezTo>
                    <a:cubicBezTo>
                      <a:pt x="40948" y="143097"/>
                      <a:pt x="73231" y="98628"/>
                      <a:pt x="91863" y="47161"/>
                    </a:cubicBezTo>
                    <a:cubicBezTo>
                      <a:pt x="96738" y="33486"/>
                      <a:pt x="97930" y="19812"/>
                      <a:pt x="95546" y="6891"/>
                    </a:cubicBezTo>
                    <a:lnTo>
                      <a:pt x="95546" y="6891"/>
                    </a:lnTo>
                    <a:close/>
                  </a:path>
                </a:pathLst>
              </a:custGeom>
              <a:solidFill>
                <a:srgbClr val="5067EF"/>
              </a:solidFill>
              <a:ln w="10812" cap="flat">
                <a:noFill/>
                <a:prstDash val="solid"/>
                <a:miter/>
              </a:ln>
            </p:spPr>
            <p:txBody>
              <a:bodyPr/>
              <a:lstStyle/>
              <a:p>
                <a:endParaRPr lang="ja-JP" altLang="en-US"/>
              </a:p>
            </p:txBody>
          </p:sp>
          <p:sp>
            <p:nvSpPr>
              <p:cNvPr id="116" name="フリーフォーム 115">
                <a:extLst>
                  <a:ext uri="{FF2B5EF4-FFF2-40B4-BE49-F238E27FC236}">
                    <a16:creationId xmlns:a16="http://schemas.microsoft.com/office/drawing/2014/main" id="{B01CED1F-CA09-7F19-66E2-4705D01AD018}"/>
                  </a:ext>
                </a:extLst>
              </p:cNvPr>
              <p:cNvSpPr/>
              <p:nvPr/>
            </p:nvSpPr>
            <p:spPr>
              <a:xfrm>
                <a:off x="1592971" y="4613952"/>
                <a:ext cx="171860" cy="188360"/>
              </a:xfrm>
              <a:custGeom>
                <a:avLst/>
                <a:gdLst>
                  <a:gd name="csX0" fmla="*/ 95546 w 171860"/>
                  <a:gd name="csY0" fmla="*/ 6783 h 188360"/>
                  <a:gd name="csX1" fmla="*/ 137795 w 171860"/>
                  <a:gd name="csY1" fmla="*/ 0 h 188360"/>
                  <a:gd name="csX2" fmla="*/ 171377 w 171860"/>
                  <a:gd name="csY2" fmla="*/ 125869 h 188360"/>
                  <a:gd name="csX3" fmla="*/ 163577 w 171860"/>
                  <a:gd name="csY3" fmla="*/ 162801 h 188360"/>
                  <a:gd name="csX4" fmla="*/ 38674 w 171860"/>
                  <a:gd name="csY4" fmla="*/ 187781 h 188360"/>
                  <a:gd name="csX5" fmla="*/ 0 w 171860"/>
                  <a:gd name="csY5" fmla="*/ 175937 h 188360"/>
                  <a:gd name="csX6" fmla="*/ 91863 w 171860"/>
                  <a:gd name="csY6" fmla="*/ 47161 h 188360"/>
                  <a:gd name="csX7" fmla="*/ 95546 w 171860"/>
                  <a:gd name="csY7" fmla="*/ 6891 h 188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1860" h="188360">
                    <a:moveTo>
                      <a:pt x="95546" y="6783"/>
                    </a:moveTo>
                    <a:cubicBezTo>
                      <a:pt x="106271" y="5491"/>
                      <a:pt x="120787" y="3123"/>
                      <a:pt x="137795" y="0"/>
                    </a:cubicBezTo>
                    <a:cubicBezTo>
                      <a:pt x="170727" y="31763"/>
                      <a:pt x="173327" y="80755"/>
                      <a:pt x="171377" y="125869"/>
                    </a:cubicBezTo>
                    <a:cubicBezTo>
                      <a:pt x="170402" y="138467"/>
                      <a:pt x="167802" y="150957"/>
                      <a:pt x="163577" y="162801"/>
                    </a:cubicBezTo>
                    <a:cubicBezTo>
                      <a:pt x="113746" y="180460"/>
                      <a:pt x="68789" y="191011"/>
                      <a:pt x="38674" y="187781"/>
                    </a:cubicBezTo>
                    <a:cubicBezTo>
                      <a:pt x="27624" y="186597"/>
                      <a:pt x="14516" y="182398"/>
                      <a:pt x="0" y="175937"/>
                    </a:cubicBezTo>
                    <a:cubicBezTo>
                      <a:pt x="40948" y="143097"/>
                      <a:pt x="73231" y="98628"/>
                      <a:pt x="91863" y="47161"/>
                    </a:cubicBezTo>
                    <a:cubicBezTo>
                      <a:pt x="96738" y="33486"/>
                      <a:pt x="97930" y="19812"/>
                      <a:pt x="95546" y="6891"/>
                    </a:cubicBezTo>
                    <a:close/>
                  </a:path>
                </a:pathLst>
              </a:custGeom>
              <a:noFill/>
              <a:ln w="4649" cap="rnd">
                <a:solidFill>
                  <a:srgbClr val="00006D"/>
                </a:solidFill>
                <a:prstDash val="solid"/>
                <a:round/>
              </a:ln>
            </p:spPr>
            <p:txBody>
              <a:bodyPr/>
              <a:lstStyle/>
              <a:p>
                <a:endParaRPr lang="ja-JP" altLang="en-US"/>
              </a:p>
            </p:txBody>
          </p:sp>
          <p:sp>
            <p:nvSpPr>
              <p:cNvPr id="117" name="フリーフォーム 116">
                <a:extLst>
                  <a:ext uri="{FF2B5EF4-FFF2-40B4-BE49-F238E27FC236}">
                    <a16:creationId xmlns:a16="http://schemas.microsoft.com/office/drawing/2014/main" id="{062299A8-3265-307D-2285-694E22B819F9}"/>
                  </a:ext>
                </a:extLst>
              </p:cNvPr>
              <p:cNvSpPr/>
              <p:nvPr/>
            </p:nvSpPr>
            <p:spPr>
              <a:xfrm>
                <a:off x="1081001" y="4286677"/>
                <a:ext cx="120685" cy="402019"/>
              </a:xfrm>
              <a:custGeom>
                <a:avLst/>
                <a:gdLst>
                  <a:gd name="csX0" fmla="*/ 51246 w 120685"/>
                  <a:gd name="csY0" fmla="*/ 919 h 402019"/>
                  <a:gd name="csX1" fmla="*/ 7914 w 120685"/>
                  <a:gd name="csY1" fmla="*/ 196668 h 402019"/>
                  <a:gd name="csX2" fmla="*/ 12356 w 120685"/>
                  <a:gd name="csY2" fmla="*/ 395755 h 402019"/>
                  <a:gd name="csX3" fmla="*/ 103461 w 120685"/>
                  <a:gd name="csY3" fmla="*/ 298096 h 402019"/>
                  <a:gd name="csX4" fmla="*/ 120685 w 120685"/>
                  <a:gd name="csY4" fmla="*/ 228431 h 402019"/>
                  <a:gd name="csX5" fmla="*/ 86020 w 120685"/>
                  <a:gd name="csY5" fmla="*/ 31498 h 402019"/>
                  <a:gd name="csX6" fmla="*/ 51138 w 120685"/>
                  <a:gd name="csY6" fmla="*/ 1027 h 402019"/>
                  <a:gd name="csX7" fmla="*/ 51138 w 120685"/>
                  <a:gd name="csY7" fmla="*/ 1027 h 402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0685" h="402019">
                    <a:moveTo>
                      <a:pt x="51246" y="919"/>
                    </a:moveTo>
                    <a:cubicBezTo>
                      <a:pt x="51246" y="919"/>
                      <a:pt x="-6927" y="85550"/>
                      <a:pt x="7914" y="196668"/>
                    </a:cubicBezTo>
                    <a:cubicBezTo>
                      <a:pt x="22755" y="307679"/>
                      <a:pt x="-19818" y="359362"/>
                      <a:pt x="12356" y="395755"/>
                    </a:cubicBezTo>
                    <a:cubicBezTo>
                      <a:pt x="44638" y="432148"/>
                      <a:pt x="103461" y="298096"/>
                      <a:pt x="103461" y="298096"/>
                    </a:cubicBezTo>
                    <a:lnTo>
                      <a:pt x="120685" y="228431"/>
                    </a:lnTo>
                    <a:cubicBezTo>
                      <a:pt x="120685" y="228431"/>
                      <a:pt x="66845" y="106223"/>
                      <a:pt x="86020" y="31498"/>
                    </a:cubicBezTo>
                    <a:cubicBezTo>
                      <a:pt x="71070" y="-8664"/>
                      <a:pt x="51138" y="1027"/>
                      <a:pt x="51138" y="1027"/>
                    </a:cubicBezTo>
                    <a:lnTo>
                      <a:pt x="51138" y="1027"/>
                    </a:lnTo>
                    <a:close/>
                  </a:path>
                </a:pathLst>
              </a:custGeom>
              <a:solidFill>
                <a:srgbClr val="00006D"/>
              </a:solidFill>
              <a:ln w="10812" cap="flat">
                <a:noFill/>
                <a:prstDash val="solid"/>
                <a:miter/>
              </a:ln>
            </p:spPr>
            <p:txBody>
              <a:bodyPr/>
              <a:lstStyle/>
              <a:p>
                <a:endParaRPr lang="ja-JP" altLang="en-US"/>
              </a:p>
            </p:txBody>
          </p:sp>
          <p:sp>
            <p:nvSpPr>
              <p:cNvPr id="118" name="フリーフォーム 117">
                <a:extLst>
                  <a:ext uri="{FF2B5EF4-FFF2-40B4-BE49-F238E27FC236}">
                    <a16:creationId xmlns:a16="http://schemas.microsoft.com/office/drawing/2014/main" id="{C900F51D-AAAB-DE44-9711-CBEA12FBF23B}"/>
                  </a:ext>
                </a:extLst>
              </p:cNvPr>
              <p:cNvSpPr/>
              <p:nvPr/>
            </p:nvSpPr>
            <p:spPr>
              <a:xfrm>
                <a:off x="1081001" y="4286677"/>
                <a:ext cx="120685" cy="402019"/>
              </a:xfrm>
              <a:custGeom>
                <a:avLst/>
                <a:gdLst>
                  <a:gd name="csX0" fmla="*/ 51246 w 120685"/>
                  <a:gd name="csY0" fmla="*/ 919 h 402019"/>
                  <a:gd name="csX1" fmla="*/ 7914 w 120685"/>
                  <a:gd name="csY1" fmla="*/ 196668 h 402019"/>
                  <a:gd name="csX2" fmla="*/ 12356 w 120685"/>
                  <a:gd name="csY2" fmla="*/ 395755 h 402019"/>
                  <a:gd name="csX3" fmla="*/ 103461 w 120685"/>
                  <a:gd name="csY3" fmla="*/ 298096 h 402019"/>
                  <a:gd name="csX4" fmla="*/ 120685 w 120685"/>
                  <a:gd name="csY4" fmla="*/ 228431 h 402019"/>
                  <a:gd name="csX5" fmla="*/ 86020 w 120685"/>
                  <a:gd name="csY5" fmla="*/ 31498 h 402019"/>
                  <a:gd name="csX6" fmla="*/ 51138 w 120685"/>
                  <a:gd name="csY6" fmla="*/ 1027 h 4020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0685" h="402019">
                    <a:moveTo>
                      <a:pt x="51246" y="919"/>
                    </a:moveTo>
                    <a:cubicBezTo>
                      <a:pt x="51246" y="919"/>
                      <a:pt x="-6927" y="85550"/>
                      <a:pt x="7914" y="196668"/>
                    </a:cubicBezTo>
                    <a:cubicBezTo>
                      <a:pt x="22755" y="307679"/>
                      <a:pt x="-19818" y="359362"/>
                      <a:pt x="12356" y="395755"/>
                    </a:cubicBezTo>
                    <a:cubicBezTo>
                      <a:pt x="44530" y="432148"/>
                      <a:pt x="103461" y="298096"/>
                      <a:pt x="103461" y="298096"/>
                    </a:cubicBezTo>
                    <a:lnTo>
                      <a:pt x="120685" y="228431"/>
                    </a:lnTo>
                    <a:cubicBezTo>
                      <a:pt x="120685" y="228431"/>
                      <a:pt x="66845" y="106223"/>
                      <a:pt x="86020" y="31498"/>
                    </a:cubicBezTo>
                    <a:cubicBezTo>
                      <a:pt x="71070" y="-8664"/>
                      <a:pt x="51138" y="1027"/>
                      <a:pt x="51138" y="1027"/>
                    </a:cubicBezTo>
                    <a:close/>
                  </a:path>
                </a:pathLst>
              </a:custGeom>
              <a:noFill/>
              <a:ln w="4649" cap="rnd">
                <a:solidFill>
                  <a:srgbClr val="00006D"/>
                </a:solidFill>
                <a:prstDash val="solid"/>
                <a:round/>
              </a:ln>
            </p:spPr>
            <p:txBody>
              <a:bodyPr/>
              <a:lstStyle/>
              <a:p>
                <a:endParaRPr lang="ja-JP" altLang="en-US"/>
              </a:p>
            </p:txBody>
          </p:sp>
          <p:sp>
            <p:nvSpPr>
              <p:cNvPr id="119" name="フリーフォーム 118">
                <a:extLst>
                  <a:ext uri="{FF2B5EF4-FFF2-40B4-BE49-F238E27FC236}">
                    <a16:creationId xmlns:a16="http://schemas.microsoft.com/office/drawing/2014/main" id="{5F1A24D7-6119-3987-C081-A01531AC42F4}"/>
                  </a:ext>
                </a:extLst>
              </p:cNvPr>
              <p:cNvSpPr/>
              <p:nvPr/>
            </p:nvSpPr>
            <p:spPr>
              <a:xfrm>
                <a:off x="1071567" y="4450471"/>
                <a:ext cx="519248" cy="752989"/>
              </a:xfrm>
              <a:custGeom>
                <a:avLst/>
                <a:gdLst>
                  <a:gd name="csX0" fmla="*/ 519238 w 519248"/>
                  <a:gd name="csY0" fmla="*/ 376027 h 752989"/>
                  <a:gd name="csX1" fmla="*/ 479048 w 519248"/>
                  <a:gd name="csY1" fmla="*/ 752989 h 752989"/>
                  <a:gd name="csX2" fmla="*/ 76605 w 519248"/>
                  <a:gd name="csY2" fmla="*/ 752989 h 752989"/>
                  <a:gd name="csX3" fmla="*/ 4674 w 519248"/>
                  <a:gd name="csY3" fmla="*/ 342110 h 752989"/>
                  <a:gd name="csX4" fmla="*/ 10199 w 519248"/>
                  <a:gd name="csY4" fmla="*/ 205796 h 752989"/>
                  <a:gd name="csX5" fmla="*/ 120478 w 519248"/>
                  <a:gd name="csY5" fmla="*/ 39873 h 752989"/>
                  <a:gd name="csX6" fmla="*/ 133802 w 519248"/>
                  <a:gd name="csY6" fmla="*/ 29751 h 752989"/>
                  <a:gd name="csX7" fmla="*/ 134344 w 519248"/>
                  <a:gd name="csY7" fmla="*/ 29428 h 752989"/>
                  <a:gd name="csX8" fmla="*/ 309512 w 519248"/>
                  <a:gd name="csY8" fmla="*/ 26952 h 752989"/>
                  <a:gd name="csX9" fmla="*/ 309512 w 519248"/>
                  <a:gd name="csY9" fmla="*/ 26952 h 752989"/>
                  <a:gd name="csX10" fmla="*/ 333778 w 519248"/>
                  <a:gd name="csY10" fmla="*/ 46118 h 752989"/>
                  <a:gd name="csX11" fmla="*/ 371477 w 519248"/>
                  <a:gd name="csY11" fmla="*/ 92202 h 752989"/>
                  <a:gd name="csX12" fmla="*/ 510463 w 519248"/>
                  <a:gd name="csY12" fmla="*/ 337480 h 752989"/>
                  <a:gd name="csX13" fmla="*/ 519238 w 519248"/>
                  <a:gd name="csY13" fmla="*/ 376027 h 752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19248" h="752989">
                    <a:moveTo>
                      <a:pt x="519238" y="376027"/>
                    </a:moveTo>
                    <a:cubicBezTo>
                      <a:pt x="518480" y="420819"/>
                      <a:pt x="489339" y="621736"/>
                      <a:pt x="479048" y="752989"/>
                    </a:cubicBezTo>
                    <a:lnTo>
                      <a:pt x="76605" y="752989"/>
                    </a:lnTo>
                    <a:cubicBezTo>
                      <a:pt x="67938" y="657160"/>
                      <a:pt x="28723" y="491452"/>
                      <a:pt x="4674" y="342110"/>
                    </a:cubicBezTo>
                    <a:cubicBezTo>
                      <a:pt x="-3559" y="291073"/>
                      <a:pt x="-418" y="245635"/>
                      <a:pt x="10199" y="205796"/>
                    </a:cubicBezTo>
                    <a:cubicBezTo>
                      <a:pt x="29806" y="130964"/>
                      <a:pt x="75413" y="75728"/>
                      <a:pt x="120478" y="39873"/>
                    </a:cubicBezTo>
                    <a:cubicBezTo>
                      <a:pt x="124919" y="36319"/>
                      <a:pt x="129361" y="32982"/>
                      <a:pt x="133802" y="29751"/>
                    </a:cubicBezTo>
                    <a:cubicBezTo>
                      <a:pt x="134019" y="29644"/>
                      <a:pt x="134127" y="29536"/>
                      <a:pt x="134344" y="29428"/>
                    </a:cubicBezTo>
                    <a:cubicBezTo>
                      <a:pt x="195983" y="-14718"/>
                      <a:pt x="262281" y="-3843"/>
                      <a:pt x="309512" y="26952"/>
                    </a:cubicBezTo>
                    <a:lnTo>
                      <a:pt x="309512" y="26952"/>
                    </a:lnTo>
                    <a:cubicBezTo>
                      <a:pt x="318287" y="32766"/>
                      <a:pt x="326520" y="39227"/>
                      <a:pt x="333778" y="46118"/>
                    </a:cubicBezTo>
                    <a:cubicBezTo>
                      <a:pt x="343203" y="54947"/>
                      <a:pt x="356419" y="71313"/>
                      <a:pt x="371477" y="92202"/>
                    </a:cubicBezTo>
                    <a:cubicBezTo>
                      <a:pt x="419575" y="158528"/>
                      <a:pt x="486631" y="271154"/>
                      <a:pt x="510463" y="337480"/>
                    </a:cubicBezTo>
                    <a:cubicBezTo>
                      <a:pt x="516205" y="353416"/>
                      <a:pt x="519455" y="366767"/>
                      <a:pt x="519238" y="376027"/>
                    </a:cubicBezTo>
                    <a:close/>
                  </a:path>
                </a:pathLst>
              </a:custGeom>
              <a:solidFill>
                <a:srgbClr val="5067EF"/>
              </a:solidFill>
              <a:ln w="10812" cap="flat">
                <a:noFill/>
                <a:prstDash val="solid"/>
                <a:miter/>
              </a:ln>
            </p:spPr>
            <p:txBody>
              <a:bodyPr/>
              <a:lstStyle/>
              <a:p>
                <a:endParaRPr lang="ja-JP" altLang="en-US"/>
              </a:p>
            </p:txBody>
          </p:sp>
          <p:sp>
            <p:nvSpPr>
              <p:cNvPr id="120" name="フリーフォーム 119">
                <a:extLst>
                  <a:ext uri="{FF2B5EF4-FFF2-40B4-BE49-F238E27FC236}">
                    <a16:creationId xmlns:a16="http://schemas.microsoft.com/office/drawing/2014/main" id="{0E7CB71E-D0B7-D58C-05A5-80F0ABD41AB2}"/>
                  </a:ext>
                </a:extLst>
              </p:cNvPr>
              <p:cNvSpPr/>
              <p:nvPr/>
            </p:nvSpPr>
            <p:spPr>
              <a:xfrm>
                <a:off x="1071567" y="4450471"/>
                <a:ext cx="519248" cy="752989"/>
              </a:xfrm>
              <a:custGeom>
                <a:avLst/>
                <a:gdLst>
                  <a:gd name="csX0" fmla="*/ 519238 w 519248"/>
                  <a:gd name="csY0" fmla="*/ 376027 h 752989"/>
                  <a:gd name="csX1" fmla="*/ 479048 w 519248"/>
                  <a:gd name="csY1" fmla="*/ 752989 h 752989"/>
                  <a:gd name="csX2" fmla="*/ 76605 w 519248"/>
                  <a:gd name="csY2" fmla="*/ 752989 h 752989"/>
                  <a:gd name="csX3" fmla="*/ 4674 w 519248"/>
                  <a:gd name="csY3" fmla="*/ 342110 h 752989"/>
                  <a:gd name="csX4" fmla="*/ 10199 w 519248"/>
                  <a:gd name="csY4" fmla="*/ 205796 h 752989"/>
                  <a:gd name="csX5" fmla="*/ 120478 w 519248"/>
                  <a:gd name="csY5" fmla="*/ 39873 h 752989"/>
                  <a:gd name="csX6" fmla="*/ 133802 w 519248"/>
                  <a:gd name="csY6" fmla="*/ 29751 h 752989"/>
                  <a:gd name="csX7" fmla="*/ 134344 w 519248"/>
                  <a:gd name="csY7" fmla="*/ 29428 h 752989"/>
                  <a:gd name="csX8" fmla="*/ 309512 w 519248"/>
                  <a:gd name="csY8" fmla="*/ 26952 h 752989"/>
                  <a:gd name="csX9" fmla="*/ 309512 w 519248"/>
                  <a:gd name="csY9" fmla="*/ 26952 h 752989"/>
                  <a:gd name="csX10" fmla="*/ 333778 w 519248"/>
                  <a:gd name="csY10" fmla="*/ 46118 h 752989"/>
                  <a:gd name="csX11" fmla="*/ 371477 w 519248"/>
                  <a:gd name="csY11" fmla="*/ 92202 h 752989"/>
                  <a:gd name="csX12" fmla="*/ 510463 w 519248"/>
                  <a:gd name="csY12" fmla="*/ 337480 h 752989"/>
                  <a:gd name="csX13" fmla="*/ 519238 w 519248"/>
                  <a:gd name="csY13" fmla="*/ 376027 h 752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19248" h="752989">
                    <a:moveTo>
                      <a:pt x="519238" y="376027"/>
                    </a:moveTo>
                    <a:cubicBezTo>
                      <a:pt x="518480" y="420819"/>
                      <a:pt x="489339" y="621736"/>
                      <a:pt x="479048" y="752989"/>
                    </a:cubicBezTo>
                    <a:lnTo>
                      <a:pt x="76605" y="752989"/>
                    </a:lnTo>
                    <a:cubicBezTo>
                      <a:pt x="67938" y="657160"/>
                      <a:pt x="28723" y="491452"/>
                      <a:pt x="4674" y="342110"/>
                    </a:cubicBezTo>
                    <a:cubicBezTo>
                      <a:pt x="-3559" y="291073"/>
                      <a:pt x="-418" y="245635"/>
                      <a:pt x="10199" y="205796"/>
                    </a:cubicBezTo>
                    <a:cubicBezTo>
                      <a:pt x="29806" y="130964"/>
                      <a:pt x="75413" y="75728"/>
                      <a:pt x="120478" y="39873"/>
                    </a:cubicBezTo>
                    <a:cubicBezTo>
                      <a:pt x="124919" y="36319"/>
                      <a:pt x="129361" y="32982"/>
                      <a:pt x="133802" y="29751"/>
                    </a:cubicBezTo>
                    <a:cubicBezTo>
                      <a:pt x="134019" y="29644"/>
                      <a:pt x="134127" y="29536"/>
                      <a:pt x="134344" y="29428"/>
                    </a:cubicBezTo>
                    <a:cubicBezTo>
                      <a:pt x="195983" y="-14718"/>
                      <a:pt x="262281" y="-3843"/>
                      <a:pt x="309512" y="26952"/>
                    </a:cubicBezTo>
                    <a:lnTo>
                      <a:pt x="309512" y="26952"/>
                    </a:lnTo>
                    <a:cubicBezTo>
                      <a:pt x="318287" y="32766"/>
                      <a:pt x="326520" y="39227"/>
                      <a:pt x="333778" y="46118"/>
                    </a:cubicBezTo>
                    <a:cubicBezTo>
                      <a:pt x="343203" y="54947"/>
                      <a:pt x="356419" y="71313"/>
                      <a:pt x="371477" y="92202"/>
                    </a:cubicBezTo>
                    <a:cubicBezTo>
                      <a:pt x="419575" y="158528"/>
                      <a:pt x="486631" y="271154"/>
                      <a:pt x="510463" y="337480"/>
                    </a:cubicBezTo>
                    <a:cubicBezTo>
                      <a:pt x="516205" y="353416"/>
                      <a:pt x="519455" y="366767"/>
                      <a:pt x="519238" y="376027"/>
                    </a:cubicBezTo>
                    <a:close/>
                  </a:path>
                </a:pathLst>
              </a:custGeom>
              <a:noFill/>
              <a:ln w="4649" cap="rnd">
                <a:solidFill>
                  <a:srgbClr val="00006D"/>
                </a:solidFill>
                <a:prstDash val="solid"/>
                <a:round/>
              </a:ln>
            </p:spPr>
            <p:txBody>
              <a:bodyPr/>
              <a:lstStyle/>
              <a:p>
                <a:endParaRPr lang="ja-JP" altLang="en-US"/>
              </a:p>
            </p:txBody>
          </p:sp>
          <p:sp>
            <p:nvSpPr>
              <p:cNvPr id="121" name="フリーフォーム 120">
                <a:extLst>
                  <a:ext uri="{FF2B5EF4-FFF2-40B4-BE49-F238E27FC236}">
                    <a16:creationId xmlns:a16="http://schemas.microsoft.com/office/drawing/2014/main" id="{5523820C-8692-A5B3-6E49-8560B0CBCD8A}"/>
                  </a:ext>
                </a:extLst>
              </p:cNvPr>
              <p:cNvSpPr/>
              <p:nvPr/>
            </p:nvSpPr>
            <p:spPr>
              <a:xfrm>
                <a:off x="1205369" y="4084617"/>
                <a:ext cx="335826" cy="535355"/>
              </a:xfrm>
              <a:custGeom>
                <a:avLst/>
                <a:gdLst>
                  <a:gd name="csX0" fmla="*/ 159894 w 335826"/>
                  <a:gd name="csY0" fmla="*/ 452457 h 535355"/>
                  <a:gd name="csX1" fmla="*/ 188601 w 335826"/>
                  <a:gd name="csY1" fmla="*/ 355121 h 535355"/>
                  <a:gd name="csX2" fmla="*/ 333329 w 335826"/>
                  <a:gd name="csY2" fmla="*/ 258323 h 535355"/>
                  <a:gd name="csX3" fmla="*/ 325963 w 335826"/>
                  <a:gd name="csY3" fmla="*/ 103813 h 535355"/>
                  <a:gd name="csX4" fmla="*/ 170619 w 335826"/>
                  <a:gd name="csY4" fmla="*/ 16 h 535355"/>
                  <a:gd name="csX5" fmla="*/ 32174 w 335826"/>
                  <a:gd name="csY5" fmla="*/ 216869 h 535355"/>
                  <a:gd name="csX6" fmla="*/ 0 w 335826"/>
                  <a:gd name="csY6" fmla="*/ 395606 h 535355"/>
                  <a:gd name="csX7" fmla="*/ 79514 w 335826"/>
                  <a:gd name="csY7" fmla="*/ 468285 h 535355"/>
                  <a:gd name="csX8" fmla="*/ 154586 w 335826"/>
                  <a:gd name="csY8" fmla="*/ 534827 h 535355"/>
                  <a:gd name="csX9" fmla="*/ 160111 w 335826"/>
                  <a:gd name="csY9" fmla="*/ 452457 h 535355"/>
                  <a:gd name="csX10" fmla="*/ 160111 w 335826"/>
                  <a:gd name="csY10" fmla="*/ 452457 h 535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35826" h="535355">
                    <a:moveTo>
                      <a:pt x="159894" y="452457"/>
                    </a:moveTo>
                    <a:cubicBezTo>
                      <a:pt x="160761" y="450626"/>
                      <a:pt x="174085" y="390222"/>
                      <a:pt x="188601" y="355121"/>
                    </a:cubicBezTo>
                    <a:cubicBezTo>
                      <a:pt x="262807" y="393991"/>
                      <a:pt x="315671" y="401312"/>
                      <a:pt x="333329" y="258323"/>
                    </a:cubicBezTo>
                    <a:cubicBezTo>
                      <a:pt x="339071" y="211808"/>
                      <a:pt x="334196" y="141821"/>
                      <a:pt x="325963" y="103813"/>
                    </a:cubicBezTo>
                    <a:cubicBezTo>
                      <a:pt x="308847" y="24888"/>
                      <a:pt x="247316" y="-738"/>
                      <a:pt x="170619" y="16"/>
                    </a:cubicBezTo>
                    <a:cubicBezTo>
                      <a:pt x="56873" y="1093"/>
                      <a:pt x="14841" y="94445"/>
                      <a:pt x="32174" y="216869"/>
                    </a:cubicBezTo>
                    <a:cubicBezTo>
                      <a:pt x="49506" y="339293"/>
                      <a:pt x="0" y="395606"/>
                      <a:pt x="0" y="395606"/>
                    </a:cubicBezTo>
                    <a:cubicBezTo>
                      <a:pt x="0" y="395606"/>
                      <a:pt x="39865" y="427584"/>
                      <a:pt x="79514" y="468285"/>
                    </a:cubicBezTo>
                    <a:cubicBezTo>
                      <a:pt x="107679" y="497249"/>
                      <a:pt x="133787" y="540641"/>
                      <a:pt x="154586" y="534827"/>
                    </a:cubicBezTo>
                    <a:cubicBezTo>
                      <a:pt x="164877" y="531919"/>
                      <a:pt x="153719" y="466347"/>
                      <a:pt x="160111" y="452457"/>
                    </a:cubicBezTo>
                    <a:lnTo>
                      <a:pt x="160111" y="452457"/>
                    </a:lnTo>
                    <a:close/>
                  </a:path>
                </a:pathLst>
              </a:custGeom>
              <a:solidFill>
                <a:srgbClr val="FFFFFF"/>
              </a:solidFill>
              <a:ln w="10812" cap="flat">
                <a:noFill/>
                <a:prstDash val="solid"/>
                <a:miter/>
              </a:ln>
            </p:spPr>
            <p:txBody>
              <a:bodyPr/>
              <a:lstStyle/>
              <a:p>
                <a:endParaRPr lang="ja-JP" altLang="en-US"/>
              </a:p>
            </p:txBody>
          </p:sp>
          <p:sp>
            <p:nvSpPr>
              <p:cNvPr id="122" name="フリーフォーム 121">
                <a:extLst>
                  <a:ext uri="{FF2B5EF4-FFF2-40B4-BE49-F238E27FC236}">
                    <a16:creationId xmlns:a16="http://schemas.microsoft.com/office/drawing/2014/main" id="{8DC1408E-20D8-22F1-D1EB-0EB01CE2DE77}"/>
                  </a:ext>
                </a:extLst>
              </p:cNvPr>
              <p:cNvSpPr/>
              <p:nvPr/>
            </p:nvSpPr>
            <p:spPr>
              <a:xfrm>
                <a:off x="1205369" y="4084617"/>
                <a:ext cx="335826" cy="535355"/>
              </a:xfrm>
              <a:custGeom>
                <a:avLst/>
                <a:gdLst>
                  <a:gd name="csX0" fmla="*/ 159894 w 335826"/>
                  <a:gd name="csY0" fmla="*/ 452457 h 535355"/>
                  <a:gd name="csX1" fmla="*/ 188601 w 335826"/>
                  <a:gd name="csY1" fmla="*/ 355121 h 535355"/>
                  <a:gd name="csX2" fmla="*/ 333329 w 335826"/>
                  <a:gd name="csY2" fmla="*/ 258323 h 535355"/>
                  <a:gd name="csX3" fmla="*/ 325963 w 335826"/>
                  <a:gd name="csY3" fmla="*/ 103813 h 535355"/>
                  <a:gd name="csX4" fmla="*/ 170619 w 335826"/>
                  <a:gd name="csY4" fmla="*/ 16 h 535355"/>
                  <a:gd name="csX5" fmla="*/ 32174 w 335826"/>
                  <a:gd name="csY5" fmla="*/ 216869 h 535355"/>
                  <a:gd name="csX6" fmla="*/ 0 w 335826"/>
                  <a:gd name="csY6" fmla="*/ 395606 h 535355"/>
                  <a:gd name="csX7" fmla="*/ 79514 w 335826"/>
                  <a:gd name="csY7" fmla="*/ 468285 h 535355"/>
                  <a:gd name="csX8" fmla="*/ 154586 w 335826"/>
                  <a:gd name="csY8" fmla="*/ 534827 h 535355"/>
                  <a:gd name="csX9" fmla="*/ 160111 w 335826"/>
                  <a:gd name="csY9" fmla="*/ 452457 h 535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826" h="535355">
                    <a:moveTo>
                      <a:pt x="159894" y="452457"/>
                    </a:moveTo>
                    <a:cubicBezTo>
                      <a:pt x="160761" y="450626"/>
                      <a:pt x="174085" y="390222"/>
                      <a:pt x="188601" y="355121"/>
                    </a:cubicBezTo>
                    <a:cubicBezTo>
                      <a:pt x="262807" y="393991"/>
                      <a:pt x="315671" y="401312"/>
                      <a:pt x="333329" y="258323"/>
                    </a:cubicBezTo>
                    <a:cubicBezTo>
                      <a:pt x="339071" y="211808"/>
                      <a:pt x="334196" y="141821"/>
                      <a:pt x="325963" y="103813"/>
                    </a:cubicBezTo>
                    <a:cubicBezTo>
                      <a:pt x="308847" y="24888"/>
                      <a:pt x="247316" y="-738"/>
                      <a:pt x="170619" y="16"/>
                    </a:cubicBezTo>
                    <a:cubicBezTo>
                      <a:pt x="56873" y="1093"/>
                      <a:pt x="14841" y="94445"/>
                      <a:pt x="32174" y="216869"/>
                    </a:cubicBezTo>
                    <a:cubicBezTo>
                      <a:pt x="49506" y="339293"/>
                      <a:pt x="0" y="395606"/>
                      <a:pt x="0" y="395606"/>
                    </a:cubicBezTo>
                    <a:cubicBezTo>
                      <a:pt x="0" y="395606"/>
                      <a:pt x="39865" y="427584"/>
                      <a:pt x="79514" y="468285"/>
                    </a:cubicBezTo>
                    <a:cubicBezTo>
                      <a:pt x="107679" y="497249"/>
                      <a:pt x="133787" y="540641"/>
                      <a:pt x="154586" y="534827"/>
                    </a:cubicBezTo>
                    <a:cubicBezTo>
                      <a:pt x="164877" y="531919"/>
                      <a:pt x="153719" y="466347"/>
                      <a:pt x="160111" y="452457"/>
                    </a:cubicBezTo>
                    <a:close/>
                  </a:path>
                </a:pathLst>
              </a:custGeom>
              <a:noFill/>
              <a:ln w="4649" cap="rnd">
                <a:solidFill>
                  <a:srgbClr val="00006D"/>
                </a:solidFill>
                <a:prstDash val="solid"/>
                <a:round/>
              </a:ln>
            </p:spPr>
            <p:txBody>
              <a:bodyPr/>
              <a:lstStyle/>
              <a:p>
                <a:endParaRPr lang="ja-JP" altLang="en-US"/>
              </a:p>
            </p:txBody>
          </p:sp>
          <p:sp>
            <p:nvSpPr>
              <p:cNvPr id="123" name="フリーフォーム 122">
                <a:extLst>
                  <a:ext uri="{FF2B5EF4-FFF2-40B4-BE49-F238E27FC236}">
                    <a16:creationId xmlns:a16="http://schemas.microsoft.com/office/drawing/2014/main" id="{1C815180-163C-18FC-4C86-27F821D16DB8}"/>
                  </a:ext>
                </a:extLst>
              </p:cNvPr>
              <p:cNvSpPr/>
              <p:nvPr/>
            </p:nvSpPr>
            <p:spPr>
              <a:xfrm>
                <a:off x="1185686" y="4038683"/>
                <a:ext cx="356045" cy="353786"/>
              </a:xfrm>
              <a:custGeom>
                <a:avLst/>
                <a:gdLst>
                  <a:gd name="csX0" fmla="*/ 356046 w 356045"/>
                  <a:gd name="csY0" fmla="*/ 99356 h 353786"/>
                  <a:gd name="csX1" fmla="*/ 171453 w 356045"/>
                  <a:gd name="csY1" fmla="*/ 265172 h 353786"/>
                  <a:gd name="csX2" fmla="*/ 102014 w 356045"/>
                  <a:gd name="csY2" fmla="*/ 293490 h 353786"/>
                  <a:gd name="csX3" fmla="*/ 37450 w 356045"/>
                  <a:gd name="csY3" fmla="*/ 353787 h 353786"/>
                  <a:gd name="csX4" fmla="*/ 23800 w 356045"/>
                  <a:gd name="csY4" fmla="*/ 276047 h 353786"/>
                  <a:gd name="csX5" fmla="*/ 28242 w 356045"/>
                  <a:gd name="csY5" fmla="*/ 74699 h 353786"/>
                  <a:gd name="csX6" fmla="*/ 355938 w 356045"/>
                  <a:gd name="csY6" fmla="*/ 99464 h 353786"/>
                  <a:gd name="csX7" fmla="*/ 355938 w 356045"/>
                  <a:gd name="csY7" fmla="*/ 99464 h 3537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6045" h="353786">
                    <a:moveTo>
                      <a:pt x="356046" y="99356"/>
                    </a:moveTo>
                    <a:cubicBezTo>
                      <a:pt x="356046" y="99356"/>
                      <a:pt x="320622" y="258712"/>
                      <a:pt x="171453" y="265172"/>
                    </a:cubicBezTo>
                    <a:cubicBezTo>
                      <a:pt x="133646" y="216181"/>
                      <a:pt x="94648" y="261619"/>
                      <a:pt x="102014" y="293490"/>
                    </a:cubicBezTo>
                    <a:cubicBezTo>
                      <a:pt x="72982" y="337421"/>
                      <a:pt x="67132" y="353249"/>
                      <a:pt x="37450" y="353787"/>
                    </a:cubicBezTo>
                    <a:cubicBezTo>
                      <a:pt x="1268" y="343773"/>
                      <a:pt x="23800" y="276047"/>
                      <a:pt x="23800" y="276047"/>
                    </a:cubicBezTo>
                    <a:cubicBezTo>
                      <a:pt x="-2957" y="252682"/>
                      <a:pt x="-14223" y="148886"/>
                      <a:pt x="28242" y="74699"/>
                    </a:cubicBezTo>
                    <a:cubicBezTo>
                      <a:pt x="70707" y="405"/>
                      <a:pt x="286824" y="-57308"/>
                      <a:pt x="355938" y="99464"/>
                    </a:cubicBezTo>
                    <a:lnTo>
                      <a:pt x="355938" y="99464"/>
                    </a:lnTo>
                    <a:close/>
                  </a:path>
                </a:pathLst>
              </a:custGeom>
              <a:solidFill>
                <a:srgbClr val="00006D"/>
              </a:solidFill>
              <a:ln w="10812" cap="flat">
                <a:noFill/>
                <a:prstDash val="solid"/>
                <a:miter/>
              </a:ln>
            </p:spPr>
            <p:txBody>
              <a:bodyPr/>
              <a:lstStyle/>
              <a:p>
                <a:endParaRPr lang="ja-JP" altLang="en-US"/>
              </a:p>
            </p:txBody>
          </p:sp>
          <p:sp>
            <p:nvSpPr>
              <p:cNvPr id="124" name="フリーフォーム 123">
                <a:extLst>
                  <a:ext uri="{FF2B5EF4-FFF2-40B4-BE49-F238E27FC236}">
                    <a16:creationId xmlns:a16="http://schemas.microsoft.com/office/drawing/2014/main" id="{2EE01686-564B-BE7C-31A8-E07BA9D1FF9C}"/>
                  </a:ext>
                </a:extLst>
              </p:cNvPr>
              <p:cNvSpPr/>
              <p:nvPr/>
            </p:nvSpPr>
            <p:spPr>
              <a:xfrm>
                <a:off x="1185686" y="4038683"/>
                <a:ext cx="356045" cy="353786"/>
              </a:xfrm>
              <a:custGeom>
                <a:avLst/>
                <a:gdLst>
                  <a:gd name="csX0" fmla="*/ 356046 w 356045"/>
                  <a:gd name="csY0" fmla="*/ 99356 h 353786"/>
                  <a:gd name="csX1" fmla="*/ 171453 w 356045"/>
                  <a:gd name="csY1" fmla="*/ 265172 h 353786"/>
                  <a:gd name="csX2" fmla="*/ 102014 w 356045"/>
                  <a:gd name="csY2" fmla="*/ 293490 h 353786"/>
                  <a:gd name="csX3" fmla="*/ 37450 w 356045"/>
                  <a:gd name="csY3" fmla="*/ 353787 h 353786"/>
                  <a:gd name="csX4" fmla="*/ 23800 w 356045"/>
                  <a:gd name="csY4" fmla="*/ 276047 h 353786"/>
                  <a:gd name="csX5" fmla="*/ 28242 w 356045"/>
                  <a:gd name="csY5" fmla="*/ 74699 h 353786"/>
                  <a:gd name="csX6" fmla="*/ 355938 w 356045"/>
                  <a:gd name="csY6" fmla="*/ 99464 h 3537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6045" h="353786">
                    <a:moveTo>
                      <a:pt x="356046" y="99356"/>
                    </a:moveTo>
                    <a:cubicBezTo>
                      <a:pt x="356046" y="99356"/>
                      <a:pt x="320622" y="258712"/>
                      <a:pt x="171453" y="265172"/>
                    </a:cubicBezTo>
                    <a:cubicBezTo>
                      <a:pt x="133646" y="216181"/>
                      <a:pt x="94648" y="261619"/>
                      <a:pt x="102014" y="293490"/>
                    </a:cubicBezTo>
                    <a:cubicBezTo>
                      <a:pt x="72982" y="337421"/>
                      <a:pt x="67132" y="353249"/>
                      <a:pt x="37450" y="353787"/>
                    </a:cubicBezTo>
                    <a:cubicBezTo>
                      <a:pt x="1268" y="343773"/>
                      <a:pt x="23800" y="276047"/>
                      <a:pt x="23800" y="276047"/>
                    </a:cubicBezTo>
                    <a:cubicBezTo>
                      <a:pt x="-2957" y="252682"/>
                      <a:pt x="-14223" y="148886"/>
                      <a:pt x="28242" y="74699"/>
                    </a:cubicBezTo>
                    <a:cubicBezTo>
                      <a:pt x="70707" y="405"/>
                      <a:pt x="286824" y="-57308"/>
                      <a:pt x="355938" y="99464"/>
                    </a:cubicBezTo>
                    <a:close/>
                  </a:path>
                </a:pathLst>
              </a:custGeom>
              <a:noFill/>
              <a:ln w="4649" cap="rnd">
                <a:solidFill>
                  <a:srgbClr val="00006D"/>
                </a:solidFill>
                <a:prstDash val="solid"/>
                <a:round/>
              </a:ln>
            </p:spPr>
            <p:txBody>
              <a:bodyPr/>
              <a:lstStyle/>
              <a:p>
                <a:endParaRPr lang="ja-JP" altLang="en-US"/>
              </a:p>
            </p:txBody>
          </p:sp>
          <p:sp>
            <p:nvSpPr>
              <p:cNvPr id="125" name="フリーフォーム 124">
                <a:extLst>
                  <a:ext uri="{FF2B5EF4-FFF2-40B4-BE49-F238E27FC236}">
                    <a16:creationId xmlns:a16="http://schemas.microsoft.com/office/drawing/2014/main" id="{D97B65B2-F82C-BB0C-0664-125B0E9DC573}"/>
                  </a:ext>
                </a:extLst>
              </p:cNvPr>
              <p:cNvSpPr/>
              <p:nvPr/>
            </p:nvSpPr>
            <p:spPr>
              <a:xfrm>
                <a:off x="1344564" y="4263370"/>
                <a:ext cx="56664" cy="97605"/>
              </a:xfrm>
              <a:custGeom>
                <a:avLst/>
                <a:gdLst>
                  <a:gd name="csX0" fmla="*/ 56665 w 56664"/>
                  <a:gd name="csY0" fmla="*/ 0 h 97605"/>
                  <a:gd name="csX1" fmla="*/ 36191 w 56664"/>
                  <a:gd name="csY1" fmla="*/ 91199 h 97605"/>
                  <a:gd name="csX2" fmla="*/ 21458 w 56664"/>
                  <a:gd name="csY2" fmla="*/ 90660 h 97605"/>
                  <a:gd name="csX3" fmla="*/ 1417 w 56664"/>
                  <a:gd name="csY3" fmla="*/ 9583 h 97605"/>
                  <a:gd name="csX4" fmla="*/ 56665 w 56664"/>
                  <a:gd name="csY4" fmla="*/ 0 h 97605"/>
                  <a:gd name="csX5" fmla="*/ 56665 w 56664"/>
                  <a:gd name="csY5" fmla="*/ 0 h 97605"/>
                </a:gdLst>
                <a:ahLst/>
                <a:cxnLst>
                  <a:cxn ang="0">
                    <a:pos x="csX0" y="csY0"/>
                  </a:cxn>
                  <a:cxn ang="0">
                    <a:pos x="csX1" y="csY1"/>
                  </a:cxn>
                  <a:cxn ang="0">
                    <a:pos x="csX2" y="csY2"/>
                  </a:cxn>
                  <a:cxn ang="0">
                    <a:pos x="csX3" y="csY3"/>
                  </a:cxn>
                  <a:cxn ang="0">
                    <a:pos x="csX4" y="csY4"/>
                  </a:cxn>
                  <a:cxn ang="0">
                    <a:pos x="csX5" y="csY5"/>
                  </a:cxn>
                </a:cxnLst>
                <a:rect l="l" t="t" r="r" b="b"/>
                <a:pathLst>
                  <a:path w="56664" h="97605">
                    <a:moveTo>
                      <a:pt x="56665" y="0"/>
                    </a:moveTo>
                    <a:lnTo>
                      <a:pt x="36191" y="91199"/>
                    </a:lnTo>
                    <a:cubicBezTo>
                      <a:pt x="31641" y="100351"/>
                      <a:pt x="26766" y="99274"/>
                      <a:pt x="21458" y="90660"/>
                    </a:cubicBezTo>
                    <a:cubicBezTo>
                      <a:pt x="21458" y="90660"/>
                      <a:pt x="13333" y="17874"/>
                      <a:pt x="1417" y="9583"/>
                    </a:cubicBezTo>
                    <a:cubicBezTo>
                      <a:pt x="-10499" y="1292"/>
                      <a:pt x="56665" y="0"/>
                      <a:pt x="56665" y="0"/>
                    </a:cubicBezTo>
                    <a:lnTo>
                      <a:pt x="56665" y="0"/>
                    </a:lnTo>
                    <a:close/>
                  </a:path>
                </a:pathLst>
              </a:custGeom>
              <a:solidFill>
                <a:srgbClr val="00006D"/>
              </a:solidFill>
              <a:ln w="10812" cap="flat">
                <a:noFill/>
                <a:prstDash val="solid"/>
                <a:miter/>
              </a:ln>
            </p:spPr>
            <p:txBody>
              <a:bodyPr/>
              <a:lstStyle/>
              <a:p>
                <a:endParaRPr lang="ja-JP" altLang="en-US"/>
              </a:p>
            </p:txBody>
          </p:sp>
          <p:sp>
            <p:nvSpPr>
              <p:cNvPr id="126" name="フリーフォーム 125">
                <a:extLst>
                  <a:ext uri="{FF2B5EF4-FFF2-40B4-BE49-F238E27FC236}">
                    <a16:creationId xmlns:a16="http://schemas.microsoft.com/office/drawing/2014/main" id="{8AA69778-CE68-B4C0-0DA2-9B234BFD2230}"/>
                  </a:ext>
                </a:extLst>
              </p:cNvPr>
              <p:cNvSpPr/>
              <p:nvPr/>
            </p:nvSpPr>
            <p:spPr>
              <a:xfrm>
                <a:off x="1344564" y="4263370"/>
                <a:ext cx="56664" cy="97605"/>
              </a:xfrm>
              <a:custGeom>
                <a:avLst/>
                <a:gdLst>
                  <a:gd name="csX0" fmla="*/ 56665 w 56664"/>
                  <a:gd name="csY0" fmla="*/ 0 h 97605"/>
                  <a:gd name="csX1" fmla="*/ 36191 w 56664"/>
                  <a:gd name="csY1" fmla="*/ 91199 h 97605"/>
                  <a:gd name="csX2" fmla="*/ 21458 w 56664"/>
                  <a:gd name="csY2" fmla="*/ 90660 h 97605"/>
                  <a:gd name="csX3" fmla="*/ 1417 w 56664"/>
                  <a:gd name="csY3" fmla="*/ 9583 h 97605"/>
                  <a:gd name="csX4" fmla="*/ 56665 w 56664"/>
                  <a:gd name="csY4" fmla="*/ 0 h 97605"/>
                </a:gdLst>
                <a:ahLst/>
                <a:cxnLst>
                  <a:cxn ang="0">
                    <a:pos x="csX0" y="csY0"/>
                  </a:cxn>
                  <a:cxn ang="0">
                    <a:pos x="csX1" y="csY1"/>
                  </a:cxn>
                  <a:cxn ang="0">
                    <a:pos x="csX2" y="csY2"/>
                  </a:cxn>
                  <a:cxn ang="0">
                    <a:pos x="csX3" y="csY3"/>
                  </a:cxn>
                  <a:cxn ang="0">
                    <a:pos x="csX4" y="csY4"/>
                  </a:cxn>
                </a:cxnLst>
                <a:rect l="l" t="t" r="r" b="b"/>
                <a:pathLst>
                  <a:path w="56664" h="97605">
                    <a:moveTo>
                      <a:pt x="56665" y="0"/>
                    </a:moveTo>
                    <a:lnTo>
                      <a:pt x="36191" y="91199"/>
                    </a:lnTo>
                    <a:cubicBezTo>
                      <a:pt x="31641" y="100351"/>
                      <a:pt x="26766" y="99274"/>
                      <a:pt x="21458" y="90660"/>
                    </a:cubicBezTo>
                    <a:cubicBezTo>
                      <a:pt x="21458" y="90660"/>
                      <a:pt x="13333" y="17874"/>
                      <a:pt x="1417" y="9583"/>
                    </a:cubicBezTo>
                    <a:cubicBezTo>
                      <a:pt x="-10499" y="1292"/>
                      <a:pt x="56665" y="0"/>
                      <a:pt x="56665" y="0"/>
                    </a:cubicBezTo>
                    <a:close/>
                  </a:path>
                </a:pathLst>
              </a:custGeom>
              <a:noFill/>
              <a:ln w="4649" cap="rnd">
                <a:solidFill>
                  <a:srgbClr val="00006D"/>
                </a:solidFill>
                <a:prstDash val="solid"/>
                <a:round/>
              </a:ln>
            </p:spPr>
            <p:txBody>
              <a:bodyPr/>
              <a:lstStyle/>
              <a:p>
                <a:endParaRPr lang="ja-JP" altLang="en-US"/>
              </a:p>
            </p:txBody>
          </p:sp>
          <p:sp>
            <p:nvSpPr>
              <p:cNvPr id="127" name="フリーフォーム 126">
                <a:extLst>
                  <a:ext uri="{FF2B5EF4-FFF2-40B4-BE49-F238E27FC236}">
                    <a16:creationId xmlns:a16="http://schemas.microsoft.com/office/drawing/2014/main" id="{082123CD-760E-C9E6-B55C-08B54AF02EEC}"/>
                  </a:ext>
                </a:extLst>
              </p:cNvPr>
              <p:cNvSpPr/>
              <p:nvPr/>
            </p:nvSpPr>
            <p:spPr>
              <a:xfrm>
                <a:off x="1123497" y="4250665"/>
                <a:ext cx="92163" cy="75478"/>
              </a:xfrm>
              <a:custGeom>
                <a:avLst/>
                <a:gdLst>
                  <a:gd name="csX0" fmla="*/ 66490 w 92163"/>
                  <a:gd name="csY0" fmla="*/ 0 h 75478"/>
                  <a:gd name="csX1" fmla="*/ 84 w 92163"/>
                  <a:gd name="csY1" fmla="*/ 43715 h 75478"/>
                  <a:gd name="csX2" fmla="*/ 37999 w 92163"/>
                  <a:gd name="csY2" fmla="*/ 75479 h 75478"/>
                  <a:gd name="csX3" fmla="*/ 92164 w 92163"/>
                  <a:gd name="csY3" fmla="*/ 57282 h 75478"/>
                  <a:gd name="csX4" fmla="*/ 66490 w 92163"/>
                  <a:gd name="csY4" fmla="*/ 108 h 75478"/>
                </a:gdLst>
                <a:ahLst/>
                <a:cxnLst>
                  <a:cxn ang="0">
                    <a:pos x="csX0" y="csY0"/>
                  </a:cxn>
                  <a:cxn ang="0">
                    <a:pos x="csX1" y="csY1"/>
                  </a:cxn>
                  <a:cxn ang="0">
                    <a:pos x="csX2" y="csY2"/>
                  </a:cxn>
                  <a:cxn ang="0">
                    <a:pos x="csX3" y="csY3"/>
                  </a:cxn>
                  <a:cxn ang="0">
                    <a:pos x="csX4" y="csY4"/>
                  </a:cxn>
                </a:cxnLst>
                <a:rect l="l" t="t" r="r" b="b"/>
                <a:pathLst>
                  <a:path w="92163" h="75478">
                    <a:moveTo>
                      <a:pt x="66490" y="0"/>
                    </a:moveTo>
                    <a:cubicBezTo>
                      <a:pt x="66490" y="0"/>
                      <a:pt x="-2733" y="18735"/>
                      <a:pt x="84" y="43715"/>
                    </a:cubicBezTo>
                    <a:cubicBezTo>
                      <a:pt x="19041" y="68372"/>
                      <a:pt x="37999" y="75479"/>
                      <a:pt x="37999" y="75479"/>
                    </a:cubicBezTo>
                    <a:lnTo>
                      <a:pt x="92164" y="57282"/>
                    </a:lnTo>
                    <a:lnTo>
                      <a:pt x="66490" y="108"/>
                    </a:lnTo>
                    <a:close/>
                  </a:path>
                </a:pathLst>
              </a:custGeom>
              <a:solidFill>
                <a:srgbClr val="00006D"/>
              </a:solidFill>
              <a:ln w="10812" cap="flat">
                <a:noFill/>
                <a:prstDash val="solid"/>
                <a:miter/>
              </a:ln>
            </p:spPr>
            <p:txBody>
              <a:bodyPr/>
              <a:lstStyle/>
              <a:p>
                <a:endParaRPr lang="ja-JP" altLang="en-US"/>
              </a:p>
            </p:txBody>
          </p:sp>
          <p:sp>
            <p:nvSpPr>
              <p:cNvPr id="128" name="フリーフォーム 127">
                <a:extLst>
                  <a:ext uri="{FF2B5EF4-FFF2-40B4-BE49-F238E27FC236}">
                    <a16:creationId xmlns:a16="http://schemas.microsoft.com/office/drawing/2014/main" id="{78179699-5BF7-9FED-1571-9257D0FBB92A}"/>
                  </a:ext>
                </a:extLst>
              </p:cNvPr>
              <p:cNvSpPr/>
              <p:nvPr/>
            </p:nvSpPr>
            <p:spPr>
              <a:xfrm>
                <a:off x="1123497" y="4250665"/>
                <a:ext cx="92163" cy="75478"/>
              </a:xfrm>
              <a:custGeom>
                <a:avLst/>
                <a:gdLst>
                  <a:gd name="csX0" fmla="*/ 66490 w 92163"/>
                  <a:gd name="csY0" fmla="*/ 0 h 75478"/>
                  <a:gd name="csX1" fmla="*/ 84 w 92163"/>
                  <a:gd name="csY1" fmla="*/ 43715 h 75478"/>
                  <a:gd name="csX2" fmla="*/ 37999 w 92163"/>
                  <a:gd name="csY2" fmla="*/ 75479 h 75478"/>
                  <a:gd name="csX3" fmla="*/ 92164 w 92163"/>
                  <a:gd name="csY3" fmla="*/ 57282 h 75478"/>
                  <a:gd name="csX4" fmla="*/ 66490 w 92163"/>
                  <a:gd name="csY4" fmla="*/ 108 h 75478"/>
                </a:gdLst>
                <a:ahLst/>
                <a:cxnLst>
                  <a:cxn ang="0">
                    <a:pos x="csX0" y="csY0"/>
                  </a:cxn>
                  <a:cxn ang="0">
                    <a:pos x="csX1" y="csY1"/>
                  </a:cxn>
                  <a:cxn ang="0">
                    <a:pos x="csX2" y="csY2"/>
                  </a:cxn>
                  <a:cxn ang="0">
                    <a:pos x="csX3" y="csY3"/>
                  </a:cxn>
                  <a:cxn ang="0">
                    <a:pos x="csX4" y="csY4"/>
                  </a:cxn>
                </a:cxnLst>
                <a:rect l="l" t="t" r="r" b="b"/>
                <a:pathLst>
                  <a:path w="92163" h="75478">
                    <a:moveTo>
                      <a:pt x="66490" y="0"/>
                    </a:moveTo>
                    <a:cubicBezTo>
                      <a:pt x="66490" y="0"/>
                      <a:pt x="-2733" y="18735"/>
                      <a:pt x="84" y="43715"/>
                    </a:cubicBezTo>
                    <a:cubicBezTo>
                      <a:pt x="19041" y="68372"/>
                      <a:pt x="37999" y="75479"/>
                      <a:pt x="37999" y="75479"/>
                    </a:cubicBezTo>
                    <a:lnTo>
                      <a:pt x="92164" y="57282"/>
                    </a:lnTo>
                    <a:lnTo>
                      <a:pt x="66490" y="108"/>
                    </a:lnTo>
                    <a:close/>
                  </a:path>
                </a:pathLst>
              </a:custGeom>
              <a:noFill/>
              <a:ln w="4649" cap="rnd">
                <a:solidFill>
                  <a:srgbClr val="00006D"/>
                </a:solidFill>
                <a:prstDash val="solid"/>
                <a:round/>
              </a:ln>
            </p:spPr>
            <p:txBody>
              <a:bodyPr/>
              <a:lstStyle/>
              <a:p>
                <a:endParaRPr lang="ja-JP" altLang="en-US"/>
              </a:p>
            </p:txBody>
          </p:sp>
          <p:sp>
            <p:nvSpPr>
              <p:cNvPr id="129" name="フリーフォーム 128">
                <a:extLst>
                  <a:ext uri="{FF2B5EF4-FFF2-40B4-BE49-F238E27FC236}">
                    <a16:creationId xmlns:a16="http://schemas.microsoft.com/office/drawing/2014/main" id="{DF98FA7B-16AB-42D9-8159-6A1848F71B0B}"/>
                  </a:ext>
                </a:extLst>
              </p:cNvPr>
              <p:cNvSpPr/>
              <p:nvPr/>
            </p:nvSpPr>
            <p:spPr>
              <a:xfrm>
                <a:off x="1174603" y="4678766"/>
                <a:ext cx="258149" cy="524694"/>
              </a:xfrm>
              <a:custGeom>
                <a:avLst/>
                <a:gdLst>
                  <a:gd name="csX0" fmla="*/ 224892 w 258149"/>
                  <a:gd name="csY0" fmla="*/ 511235 h 524694"/>
                  <a:gd name="csX1" fmla="*/ 233017 w 258149"/>
                  <a:gd name="csY1" fmla="*/ 517588 h 524694"/>
                  <a:gd name="csX2" fmla="*/ 216768 w 258149"/>
                  <a:gd name="csY2" fmla="*/ 524694 h 524694"/>
                  <a:gd name="csX3" fmla="*/ 33908 w 258149"/>
                  <a:gd name="csY3" fmla="*/ 524694 h 524694"/>
                  <a:gd name="csX4" fmla="*/ 1 w 258149"/>
                  <a:gd name="csY4" fmla="*/ 118983 h 524694"/>
                  <a:gd name="csX5" fmla="*/ 73881 w 258149"/>
                  <a:gd name="csY5" fmla="*/ 42428 h 524694"/>
                  <a:gd name="csX6" fmla="*/ 245475 w 258149"/>
                  <a:gd name="csY6" fmla="*/ 70638 h 524694"/>
                  <a:gd name="csX7" fmla="*/ 250566 w 258149"/>
                  <a:gd name="csY7" fmla="*/ 96372 h 524694"/>
                  <a:gd name="csX8" fmla="*/ 258150 w 258149"/>
                  <a:gd name="csY8" fmla="*/ 167113 h 524694"/>
                  <a:gd name="csX9" fmla="*/ 224892 w 258149"/>
                  <a:gd name="csY9" fmla="*/ 511235 h 5246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8149" h="524694">
                    <a:moveTo>
                      <a:pt x="224892" y="511235"/>
                    </a:moveTo>
                    <a:cubicBezTo>
                      <a:pt x="226626" y="513065"/>
                      <a:pt x="229442" y="515219"/>
                      <a:pt x="233017" y="517588"/>
                    </a:cubicBezTo>
                    <a:cubicBezTo>
                      <a:pt x="227601" y="519741"/>
                      <a:pt x="222184" y="522110"/>
                      <a:pt x="216768" y="524694"/>
                    </a:cubicBezTo>
                    <a:lnTo>
                      <a:pt x="33908" y="524694"/>
                    </a:lnTo>
                    <a:cubicBezTo>
                      <a:pt x="-649" y="379121"/>
                      <a:pt x="1" y="118983"/>
                      <a:pt x="1" y="118983"/>
                    </a:cubicBezTo>
                    <a:cubicBezTo>
                      <a:pt x="1" y="118983"/>
                      <a:pt x="31850" y="76560"/>
                      <a:pt x="73881" y="42428"/>
                    </a:cubicBezTo>
                    <a:cubicBezTo>
                      <a:pt x="130104" y="-3333"/>
                      <a:pt x="204527" y="-34343"/>
                      <a:pt x="245475" y="70638"/>
                    </a:cubicBezTo>
                    <a:cubicBezTo>
                      <a:pt x="247533" y="79683"/>
                      <a:pt x="249158" y="88297"/>
                      <a:pt x="250566" y="96372"/>
                    </a:cubicBezTo>
                    <a:cubicBezTo>
                      <a:pt x="258150" y="138687"/>
                      <a:pt x="258150" y="167113"/>
                      <a:pt x="258150" y="167113"/>
                    </a:cubicBezTo>
                    <a:cubicBezTo>
                      <a:pt x="258150" y="167113"/>
                      <a:pt x="191852" y="477749"/>
                      <a:pt x="224892" y="511235"/>
                    </a:cubicBezTo>
                    <a:close/>
                  </a:path>
                </a:pathLst>
              </a:custGeom>
              <a:solidFill>
                <a:srgbClr val="5067EF"/>
              </a:solidFill>
              <a:ln w="10812" cap="flat">
                <a:noFill/>
                <a:prstDash val="solid"/>
                <a:miter/>
              </a:ln>
            </p:spPr>
            <p:txBody>
              <a:bodyPr/>
              <a:lstStyle/>
              <a:p>
                <a:endParaRPr lang="ja-JP" altLang="en-US"/>
              </a:p>
            </p:txBody>
          </p:sp>
          <p:sp>
            <p:nvSpPr>
              <p:cNvPr id="130" name="フリーフォーム 129">
                <a:extLst>
                  <a:ext uri="{FF2B5EF4-FFF2-40B4-BE49-F238E27FC236}">
                    <a16:creationId xmlns:a16="http://schemas.microsoft.com/office/drawing/2014/main" id="{18866800-C9E1-7A39-AB4C-85D1FCDE9822}"/>
                  </a:ext>
                </a:extLst>
              </p:cNvPr>
              <p:cNvSpPr/>
              <p:nvPr/>
            </p:nvSpPr>
            <p:spPr>
              <a:xfrm>
                <a:off x="1174603" y="4678766"/>
                <a:ext cx="258149" cy="524694"/>
              </a:xfrm>
              <a:custGeom>
                <a:avLst/>
                <a:gdLst>
                  <a:gd name="csX0" fmla="*/ 224892 w 258149"/>
                  <a:gd name="csY0" fmla="*/ 511235 h 524694"/>
                  <a:gd name="csX1" fmla="*/ 233017 w 258149"/>
                  <a:gd name="csY1" fmla="*/ 517588 h 524694"/>
                  <a:gd name="csX2" fmla="*/ 216768 w 258149"/>
                  <a:gd name="csY2" fmla="*/ 524694 h 524694"/>
                  <a:gd name="csX3" fmla="*/ 33908 w 258149"/>
                  <a:gd name="csY3" fmla="*/ 524694 h 524694"/>
                  <a:gd name="csX4" fmla="*/ 1 w 258149"/>
                  <a:gd name="csY4" fmla="*/ 118983 h 524694"/>
                  <a:gd name="csX5" fmla="*/ 73881 w 258149"/>
                  <a:gd name="csY5" fmla="*/ 42428 h 524694"/>
                  <a:gd name="csX6" fmla="*/ 245475 w 258149"/>
                  <a:gd name="csY6" fmla="*/ 70638 h 524694"/>
                  <a:gd name="csX7" fmla="*/ 250566 w 258149"/>
                  <a:gd name="csY7" fmla="*/ 96372 h 524694"/>
                  <a:gd name="csX8" fmla="*/ 258150 w 258149"/>
                  <a:gd name="csY8" fmla="*/ 167113 h 524694"/>
                  <a:gd name="csX9" fmla="*/ 224892 w 258149"/>
                  <a:gd name="csY9" fmla="*/ 511235 h 5246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8149" h="524694">
                    <a:moveTo>
                      <a:pt x="224892" y="511235"/>
                    </a:moveTo>
                    <a:cubicBezTo>
                      <a:pt x="226626" y="513065"/>
                      <a:pt x="229442" y="515219"/>
                      <a:pt x="233017" y="517588"/>
                    </a:cubicBezTo>
                    <a:cubicBezTo>
                      <a:pt x="227601" y="519741"/>
                      <a:pt x="222184" y="522110"/>
                      <a:pt x="216768" y="524694"/>
                    </a:cubicBezTo>
                    <a:lnTo>
                      <a:pt x="33908" y="524694"/>
                    </a:lnTo>
                    <a:cubicBezTo>
                      <a:pt x="-649" y="379121"/>
                      <a:pt x="1" y="118983"/>
                      <a:pt x="1" y="118983"/>
                    </a:cubicBezTo>
                    <a:cubicBezTo>
                      <a:pt x="1" y="118983"/>
                      <a:pt x="31850" y="76560"/>
                      <a:pt x="73881" y="42428"/>
                    </a:cubicBezTo>
                    <a:cubicBezTo>
                      <a:pt x="130104" y="-3333"/>
                      <a:pt x="204527" y="-34343"/>
                      <a:pt x="245475" y="70638"/>
                    </a:cubicBezTo>
                    <a:cubicBezTo>
                      <a:pt x="247533" y="79683"/>
                      <a:pt x="249158" y="88297"/>
                      <a:pt x="250566" y="96372"/>
                    </a:cubicBezTo>
                    <a:cubicBezTo>
                      <a:pt x="258150" y="138687"/>
                      <a:pt x="258150" y="167113"/>
                      <a:pt x="258150" y="167113"/>
                    </a:cubicBezTo>
                    <a:cubicBezTo>
                      <a:pt x="258150" y="167113"/>
                      <a:pt x="191852" y="477749"/>
                      <a:pt x="224892" y="511235"/>
                    </a:cubicBezTo>
                    <a:close/>
                  </a:path>
                </a:pathLst>
              </a:custGeom>
              <a:noFill/>
              <a:ln w="4649" cap="rnd">
                <a:solidFill>
                  <a:srgbClr val="00006D"/>
                </a:solidFill>
                <a:prstDash val="solid"/>
                <a:round/>
              </a:ln>
            </p:spPr>
            <p:txBody>
              <a:bodyPr/>
              <a:lstStyle/>
              <a:p>
                <a:endParaRPr lang="ja-JP" altLang="en-US"/>
              </a:p>
            </p:txBody>
          </p:sp>
          <p:sp>
            <p:nvSpPr>
              <p:cNvPr id="131" name="フリーフォーム 130">
                <a:extLst>
                  <a:ext uri="{FF2B5EF4-FFF2-40B4-BE49-F238E27FC236}">
                    <a16:creationId xmlns:a16="http://schemas.microsoft.com/office/drawing/2014/main" id="{732C72C7-F4C6-9912-78A7-99DEE272A09D}"/>
                  </a:ext>
                </a:extLst>
              </p:cNvPr>
              <p:cNvSpPr/>
              <p:nvPr/>
            </p:nvSpPr>
            <p:spPr>
              <a:xfrm>
                <a:off x="2261471" y="4746605"/>
                <a:ext cx="156752" cy="155479"/>
              </a:xfrm>
              <a:custGeom>
                <a:avLst/>
                <a:gdLst>
                  <a:gd name="csX0" fmla="*/ 123604 w 156752"/>
                  <a:gd name="csY0" fmla="*/ 155479 h 155479"/>
                  <a:gd name="csX1" fmla="*/ 33149 w 156752"/>
                  <a:gd name="csY1" fmla="*/ 155479 h 155479"/>
                  <a:gd name="csX2" fmla="*/ 0 w 156752"/>
                  <a:gd name="csY2" fmla="*/ 122639 h 155479"/>
                  <a:gd name="csX3" fmla="*/ 0 w 156752"/>
                  <a:gd name="csY3" fmla="*/ 32840 h 155479"/>
                  <a:gd name="csX4" fmla="*/ 33149 w 156752"/>
                  <a:gd name="csY4" fmla="*/ 0 h 155479"/>
                  <a:gd name="csX5" fmla="*/ 123604 w 156752"/>
                  <a:gd name="csY5" fmla="*/ 0 h 155479"/>
                  <a:gd name="csX6" fmla="*/ 156752 w 156752"/>
                  <a:gd name="csY6" fmla="*/ 32840 h 155479"/>
                  <a:gd name="csX7" fmla="*/ 156752 w 156752"/>
                  <a:gd name="csY7" fmla="*/ 122639 h 155479"/>
                  <a:gd name="csX8" fmla="*/ 123604 w 156752"/>
                  <a:gd name="csY8" fmla="*/ 155479 h 155479"/>
                  <a:gd name="csX9" fmla="*/ 123604 w 156752"/>
                  <a:gd name="csY9" fmla="*/ 155479 h 1554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752" h="155479">
                    <a:moveTo>
                      <a:pt x="123604" y="155479"/>
                    </a:moveTo>
                    <a:lnTo>
                      <a:pt x="33149" y="155479"/>
                    </a:lnTo>
                    <a:cubicBezTo>
                      <a:pt x="14841" y="155479"/>
                      <a:pt x="0" y="140728"/>
                      <a:pt x="0" y="122639"/>
                    </a:cubicBezTo>
                    <a:lnTo>
                      <a:pt x="0" y="32840"/>
                    </a:lnTo>
                    <a:cubicBezTo>
                      <a:pt x="0" y="14643"/>
                      <a:pt x="14841" y="0"/>
                      <a:pt x="33149" y="0"/>
                    </a:cubicBezTo>
                    <a:lnTo>
                      <a:pt x="123604" y="0"/>
                    </a:lnTo>
                    <a:cubicBezTo>
                      <a:pt x="141911" y="0"/>
                      <a:pt x="156752" y="14751"/>
                      <a:pt x="156752" y="32840"/>
                    </a:cubicBezTo>
                    <a:lnTo>
                      <a:pt x="156752" y="122639"/>
                    </a:lnTo>
                    <a:cubicBezTo>
                      <a:pt x="156752" y="140836"/>
                      <a:pt x="141911" y="155479"/>
                      <a:pt x="123604" y="155479"/>
                    </a:cubicBezTo>
                    <a:lnTo>
                      <a:pt x="123604" y="155479"/>
                    </a:lnTo>
                    <a:close/>
                  </a:path>
                </a:pathLst>
              </a:custGeom>
              <a:solidFill>
                <a:srgbClr val="00006D"/>
              </a:solidFill>
              <a:ln w="10812" cap="flat">
                <a:noFill/>
                <a:prstDash val="solid"/>
                <a:miter/>
              </a:ln>
            </p:spPr>
            <p:txBody>
              <a:bodyPr/>
              <a:lstStyle/>
              <a:p>
                <a:endParaRPr lang="ja-JP" altLang="en-US"/>
              </a:p>
            </p:txBody>
          </p:sp>
          <p:sp>
            <p:nvSpPr>
              <p:cNvPr id="132" name="フリーフォーム 131">
                <a:extLst>
                  <a:ext uri="{FF2B5EF4-FFF2-40B4-BE49-F238E27FC236}">
                    <a16:creationId xmlns:a16="http://schemas.microsoft.com/office/drawing/2014/main" id="{7A26955E-E38A-2EC5-7D04-CF5C4453F594}"/>
                  </a:ext>
                </a:extLst>
              </p:cNvPr>
              <p:cNvSpPr/>
              <p:nvPr/>
            </p:nvSpPr>
            <p:spPr>
              <a:xfrm>
                <a:off x="2261580" y="4746390"/>
                <a:ext cx="156644" cy="155587"/>
              </a:xfrm>
              <a:custGeom>
                <a:avLst/>
                <a:gdLst>
                  <a:gd name="csX0" fmla="*/ 33040 w 156644"/>
                  <a:gd name="csY0" fmla="*/ 0 h 155587"/>
                  <a:gd name="csX1" fmla="*/ 123495 w 156644"/>
                  <a:gd name="csY1" fmla="*/ 0 h 155587"/>
                  <a:gd name="csX2" fmla="*/ 156644 w 156644"/>
                  <a:gd name="csY2" fmla="*/ 32948 h 155587"/>
                  <a:gd name="csX3" fmla="*/ 156644 w 156644"/>
                  <a:gd name="csY3" fmla="*/ 122747 h 155587"/>
                  <a:gd name="csX4" fmla="*/ 123604 w 156644"/>
                  <a:gd name="csY4" fmla="*/ 155587 h 155587"/>
                  <a:gd name="csX5" fmla="*/ 33149 w 156644"/>
                  <a:gd name="csY5" fmla="*/ 155587 h 155587"/>
                  <a:gd name="csX6" fmla="*/ 0 w 156644"/>
                  <a:gd name="csY6" fmla="*/ 122639 h 155587"/>
                  <a:gd name="csX7" fmla="*/ 0 w 156644"/>
                  <a:gd name="csY7" fmla="*/ 32840 h 155587"/>
                  <a:gd name="csX8" fmla="*/ 33040 w 156644"/>
                  <a:gd name="csY8" fmla="*/ 0 h 155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6644" h="155587">
                    <a:moveTo>
                      <a:pt x="33040" y="0"/>
                    </a:moveTo>
                    <a:lnTo>
                      <a:pt x="123495" y="0"/>
                    </a:lnTo>
                    <a:cubicBezTo>
                      <a:pt x="141803" y="0"/>
                      <a:pt x="156644" y="14751"/>
                      <a:pt x="156644" y="32948"/>
                    </a:cubicBezTo>
                    <a:lnTo>
                      <a:pt x="156644" y="122747"/>
                    </a:lnTo>
                    <a:cubicBezTo>
                      <a:pt x="156644" y="140944"/>
                      <a:pt x="141803" y="155587"/>
                      <a:pt x="123604" y="155587"/>
                    </a:cubicBezTo>
                    <a:lnTo>
                      <a:pt x="33149" y="155587"/>
                    </a:lnTo>
                    <a:cubicBezTo>
                      <a:pt x="14841" y="155587"/>
                      <a:pt x="0" y="140836"/>
                      <a:pt x="0" y="122639"/>
                    </a:cubicBezTo>
                    <a:lnTo>
                      <a:pt x="0" y="32840"/>
                    </a:lnTo>
                    <a:cubicBezTo>
                      <a:pt x="0" y="14643"/>
                      <a:pt x="14841" y="0"/>
                      <a:pt x="33040" y="0"/>
                    </a:cubicBezTo>
                    <a:close/>
                  </a:path>
                </a:pathLst>
              </a:custGeom>
              <a:noFill/>
              <a:ln w="7893" cap="rnd">
                <a:solidFill>
                  <a:srgbClr val="FFFFFF"/>
                </a:solidFill>
                <a:prstDash val="solid"/>
                <a:round/>
              </a:ln>
            </p:spPr>
            <p:txBody>
              <a:bodyPr/>
              <a:lstStyle/>
              <a:p>
                <a:endParaRPr lang="ja-JP" altLang="en-US"/>
              </a:p>
            </p:txBody>
          </p:sp>
          <p:sp>
            <p:nvSpPr>
              <p:cNvPr id="133" name="フリーフォーム 132">
                <a:extLst>
                  <a:ext uri="{FF2B5EF4-FFF2-40B4-BE49-F238E27FC236}">
                    <a16:creationId xmlns:a16="http://schemas.microsoft.com/office/drawing/2014/main" id="{B8D406C8-C78D-2903-E83D-D11D3CB2E5F1}"/>
                  </a:ext>
                </a:extLst>
              </p:cNvPr>
              <p:cNvSpPr/>
              <p:nvPr/>
            </p:nvSpPr>
            <p:spPr>
              <a:xfrm>
                <a:off x="2308920" y="4824237"/>
                <a:ext cx="61856" cy="10767"/>
              </a:xfrm>
              <a:custGeom>
                <a:avLst/>
                <a:gdLst>
                  <a:gd name="csX0" fmla="*/ 0 w 61856"/>
                  <a:gd name="csY0" fmla="*/ 0 h 10767"/>
                  <a:gd name="csX1" fmla="*/ 61856 w 61856"/>
                  <a:gd name="csY1" fmla="*/ 0 h 10767"/>
                </a:gdLst>
                <a:ahLst/>
                <a:cxnLst>
                  <a:cxn ang="0">
                    <a:pos x="csX0" y="csY0"/>
                  </a:cxn>
                  <a:cxn ang="0">
                    <a:pos x="csX1" y="csY1"/>
                  </a:cxn>
                </a:cxnLst>
                <a:rect l="l" t="t" r="r" b="b"/>
                <a:pathLst>
                  <a:path w="61856" h="10767">
                    <a:moveTo>
                      <a:pt x="0" y="0"/>
                    </a:moveTo>
                    <a:lnTo>
                      <a:pt x="61856" y="0"/>
                    </a:lnTo>
                  </a:path>
                </a:pathLst>
              </a:custGeom>
              <a:ln w="12758" cap="sq">
                <a:solidFill>
                  <a:srgbClr val="FFFFFF"/>
                </a:solidFill>
                <a:prstDash val="solid"/>
                <a:round/>
              </a:ln>
            </p:spPr>
            <p:txBody>
              <a:bodyPr/>
              <a:lstStyle/>
              <a:p>
                <a:endParaRPr lang="ja-JP" altLang="en-US"/>
              </a:p>
            </p:txBody>
          </p:sp>
          <p:sp>
            <p:nvSpPr>
              <p:cNvPr id="134" name="フリーフォーム 133">
                <a:extLst>
                  <a:ext uri="{FF2B5EF4-FFF2-40B4-BE49-F238E27FC236}">
                    <a16:creationId xmlns:a16="http://schemas.microsoft.com/office/drawing/2014/main" id="{5FDCE5C4-AEB8-8277-D4A4-84362DCA5E5B}"/>
                  </a:ext>
                </a:extLst>
              </p:cNvPr>
              <p:cNvSpPr/>
              <p:nvPr/>
            </p:nvSpPr>
            <p:spPr>
              <a:xfrm>
                <a:off x="2339793" y="4793550"/>
                <a:ext cx="10832" cy="61373"/>
              </a:xfrm>
              <a:custGeom>
                <a:avLst/>
                <a:gdLst>
                  <a:gd name="csX0" fmla="*/ 0 w 10832"/>
                  <a:gd name="csY0" fmla="*/ 0 h 61373"/>
                  <a:gd name="csX1" fmla="*/ 0 w 10832"/>
                  <a:gd name="csY1" fmla="*/ 61373 h 61373"/>
                </a:gdLst>
                <a:ahLst/>
                <a:cxnLst>
                  <a:cxn ang="0">
                    <a:pos x="csX0" y="csY0"/>
                  </a:cxn>
                  <a:cxn ang="0">
                    <a:pos x="csX1" y="csY1"/>
                  </a:cxn>
                </a:cxnLst>
                <a:rect l="l" t="t" r="r" b="b"/>
                <a:pathLst>
                  <a:path w="10832" h="61373">
                    <a:moveTo>
                      <a:pt x="0" y="0"/>
                    </a:moveTo>
                    <a:lnTo>
                      <a:pt x="0" y="61373"/>
                    </a:lnTo>
                  </a:path>
                </a:pathLst>
              </a:custGeom>
              <a:ln w="12758" cap="sq">
                <a:solidFill>
                  <a:srgbClr val="FFFFFF"/>
                </a:solidFill>
                <a:prstDash val="solid"/>
                <a:round/>
              </a:ln>
            </p:spPr>
            <p:txBody>
              <a:bodyPr/>
              <a:lstStyle/>
              <a:p>
                <a:endParaRPr lang="ja-JP" altLang="en-US"/>
              </a:p>
            </p:txBody>
          </p:sp>
          <p:sp>
            <p:nvSpPr>
              <p:cNvPr id="135" name="フリーフォーム 134">
                <a:extLst>
                  <a:ext uri="{FF2B5EF4-FFF2-40B4-BE49-F238E27FC236}">
                    <a16:creationId xmlns:a16="http://schemas.microsoft.com/office/drawing/2014/main" id="{1A529D51-2F35-A6F7-7B7D-8374B1F2A5A4}"/>
                  </a:ext>
                </a:extLst>
              </p:cNvPr>
              <p:cNvSpPr/>
              <p:nvPr/>
            </p:nvSpPr>
            <p:spPr>
              <a:xfrm>
                <a:off x="1963241" y="4389127"/>
                <a:ext cx="123062" cy="162698"/>
              </a:xfrm>
              <a:custGeom>
                <a:avLst/>
                <a:gdLst>
                  <a:gd name="csX0" fmla="*/ 44957 w 123062"/>
                  <a:gd name="csY0" fmla="*/ 162698 h 162698"/>
                  <a:gd name="csX1" fmla="*/ 123062 w 123062"/>
                  <a:gd name="csY1" fmla="*/ 85820 h 162698"/>
                  <a:gd name="csX2" fmla="*/ 113854 w 123062"/>
                  <a:gd name="csY2" fmla="*/ 82052 h 162698"/>
                  <a:gd name="csX3" fmla="*/ 91322 w 123062"/>
                  <a:gd name="csY3" fmla="*/ 99064 h 162698"/>
                  <a:gd name="csX4" fmla="*/ 105621 w 123062"/>
                  <a:gd name="csY4" fmla="*/ 16048 h 162698"/>
                  <a:gd name="csX5" fmla="*/ 96846 w 123062"/>
                  <a:gd name="csY5" fmla="*/ 866 h 162698"/>
                  <a:gd name="csX6" fmla="*/ 82114 w 123062"/>
                  <a:gd name="csY6" fmla="*/ 4204 h 162698"/>
                  <a:gd name="csX7" fmla="*/ 36290 w 123062"/>
                  <a:gd name="csY7" fmla="*/ 51796 h 162698"/>
                  <a:gd name="csX8" fmla="*/ 25024 w 123062"/>
                  <a:gd name="csY8" fmla="*/ 86682 h 162698"/>
                  <a:gd name="csX9" fmla="*/ 27841 w 123062"/>
                  <a:gd name="csY9" fmla="*/ 105632 h 162698"/>
                  <a:gd name="csX10" fmla="*/ 12783 w 123062"/>
                  <a:gd name="csY10" fmla="*/ 131689 h 162698"/>
                  <a:gd name="csX11" fmla="*/ 0 w 123062"/>
                  <a:gd name="csY11" fmla="*/ 136749 h 162698"/>
                  <a:gd name="csX12" fmla="*/ 45173 w 123062"/>
                  <a:gd name="csY12" fmla="*/ 162591 h 162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3062" h="162698">
                    <a:moveTo>
                      <a:pt x="44957" y="162698"/>
                    </a:moveTo>
                    <a:cubicBezTo>
                      <a:pt x="105188" y="151931"/>
                      <a:pt x="123062" y="85820"/>
                      <a:pt x="123062" y="85820"/>
                    </a:cubicBezTo>
                    <a:cubicBezTo>
                      <a:pt x="122412" y="81513"/>
                      <a:pt x="117321" y="79360"/>
                      <a:pt x="113854" y="82052"/>
                    </a:cubicBezTo>
                    <a:lnTo>
                      <a:pt x="91322" y="99064"/>
                    </a:lnTo>
                    <a:lnTo>
                      <a:pt x="105621" y="16048"/>
                    </a:lnTo>
                    <a:cubicBezTo>
                      <a:pt x="106704" y="9588"/>
                      <a:pt x="103021" y="3235"/>
                      <a:pt x="96846" y="866"/>
                    </a:cubicBezTo>
                    <a:cubicBezTo>
                      <a:pt x="91647" y="-1072"/>
                      <a:pt x="85905" y="328"/>
                      <a:pt x="82114" y="4204"/>
                    </a:cubicBezTo>
                    <a:lnTo>
                      <a:pt x="36290" y="51796"/>
                    </a:lnTo>
                    <a:cubicBezTo>
                      <a:pt x="27299" y="61055"/>
                      <a:pt x="23182" y="73976"/>
                      <a:pt x="25024" y="86682"/>
                    </a:cubicBezTo>
                    <a:lnTo>
                      <a:pt x="27841" y="105632"/>
                    </a:lnTo>
                    <a:cubicBezTo>
                      <a:pt x="29466" y="116722"/>
                      <a:pt x="23182" y="127489"/>
                      <a:pt x="12783" y="131689"/>
                    </a:cubicBezTo>
                    <a:lnTo>
                      <a:pt x="0" y="136749"/>
                    </a:lnTo>
                    <a:lnTo>
                      <a:pt x="45173" y="162591"/>
                    </a:lnTo>
                    <a:close/>
                  </a:path>
                </a:pathLst>
              </a:custGeom>
              <a:solidFill>
                <a:srgbClr val="FFFFFF"/>
              </a:solidFill>
              <a:ln w="10812" cap="flat">
                <a:noFill/>
                <a:prstDash val="solid"/>
                <a:miter/>
              </a:ln>
            </p:spPr>
            <p:txBody>
              <a:bodyPr/>
              <a:lstStyle/>
              <a:p>
                <a:endParaRPr lang="ja-JP" altLang="en-US"/>
              </a:p>
            </p:txBody>
          </p:sp>
          <p:sp>
            <p:nvSpPr>
              <p:cNvPr id="136" name="フリーフォーム 135">
                <a:extLst>
                  <a:ext uri="{FF2B5EF4-FFF2-40B4-BE49-F238E27FC236}">
                    <a16:creationId xmlns:a16="http://schemas.microsoft.com/office/drawing/2014/main" id="{8228E162-38BD-E2B1-6B2E-EDF9FD40BAB8}"/>
                  </a:ext>
                </a:extLst>
              </p:cNvPr>
              <p:cNvSpPr/>
              <p:nvPr/>
            </p:nvSpPr>
            <p:spPr>
              <a:xfrm>
                <a:off x="1963241" y="4389127"/>
                <a:ext cx="123062" cy="162698"/>
              </a:xfrm>
              <a:custGeom>
                <a:avLst/>
                <a:gdLst>
                  <a:gd name="csX0" fmla="*/ 44957 w 123062"/>
                  <a:gd name="csY0" fmla="*/ 162698 h 162698"/>
                  <a:gd name="csX1" fmla="*/ 123062 w 123062"/>
                  <a:gd name="csY1" fmla="*/ 85820 h 162698"/>
                  <a:gd name="csX2" fmla="*/ 113854 w 123062"/>
                  <a:gd name="csY2" fmla="*/ 82052 h 162698"/>
                  <a:gd name="csX3" fmla="*/ 91322 w 123062"/>
                  <a:gd name="csY3" fmla="*/ 99064 h 162698"/>
                  <a:gd name="csX4" fmla="*/ 105621 w 123062"/>
                  <a:gd name="csY4" fmla="*/ 16048 h 162698"/>
                  <a:gd name="csX5" fmla="*/ 96846 w 123062"/>
                  <a:gd name="csY5" fmla="*/ 866 h 162698"/>
                  <a:gd name="csX6" fmla="*/ 82114 w 123062"/>
                  <a:gd name="csY6" fmla="*/ 4204 h 162698"/>
                  <a:gd name="csX7" fmla="*/ 36290 w 123062"/>
                  <a:gd name="csY7" fmla="*/ 51796 h 162698"/>
                  <a:gd name="csX8" fmla="*/ 25024 w 123062"/>
                  <a:gd name="csY8" fmla="*/ 86682 h 162698"/>
                  <a:gd name="csX9" fmla="*/ 27841 w 123062"/>
                  <a:gd name="csY9" fmla="*/ 105632 h 162698"/>
                  <a:gd name="csX10" fmla="*/ 12783 w 123062"/>
                  <a:gd name="csY10" fmla="*/ 131689 h 162698"/>
                  <a:gd name="csX11" fmla="*/ 0 w 123062"/>
                  <a:gd name="csY11" fmla="*/ 136749 h 162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3062" h="162698">
                    <a:moveTo>
                      <a:pt x="44957" y="162698"/>
                    </a:moveTo>
                    <a:cubicBezTo>
                      <a:pt x="105188" y="151931"/>
                      <a:pt x="123062" y="85820"/>
                      <a:pt x="123062" y="85820"/>
                    </a:cubicBezTo>
                    <a:cubicBezTo>
                      <a:pt x="122412" y="81513"/>
                      <a:pt x="117321" y="79360"/>
                      <a:pt x="113854" y="82052"/>
                    </a:cubicBezTo>
                    <a:lnTo>
                      <a:pt x="91322" y="99064"/>
                    </a:lnTo>
                    <a:lnTo>
                      <a:pt x="105621" y="16048"/>
                    </a:lnTo>
                    <a:cubicBezTo>
                      <a:pt x="106704" y="9588"/>
                      <a:pt x="103021" y="3235"/>
                      <a:pt x="96846" y="866"/>
                    </a:cubicBezTo>
                    <a:cubicBezTo>
                      <a:pt x="91647" y="-1072"/>
                      <a:pt x="85905" y="328"/>
                      <a:pt x="82114" y="4204"/>
                    </a:cubicBezTo>
                    <a:lnTo>
                      <a:pt x="36290" y="51796"/>
                    </a:lnTo>
                    <a:cubicBezTo>
                      <a:pt x="27299" y="61055"/>
                      <a:pt x="23182" y="73976"/>
                      <a:pt x="25024" y="86682"/>
                    </a:cubicBezTo>
                    <a:lnTo>
                      <a:pt x="27841" y="105632"/>
                    </a:lnTo>
                    <a:cubicBezTo>
                      <a:pt x="29466" y="116722"/>
                      <a:pt x="23182" y="127489"/>
                      <a:pt x="12783" y="131689"/>
                    </a:cubicBezTo>
                    <a:lnTo>
                      <a:pt x="0" y="136749"/>
                    </a:lnTo>
                  </a:path>
                </a:pathLst>
              </a:custGeom>
              <a:noFill/>
              <a:ln w="5622" cap="rnd">
                <a:solidFill>
                  <a:srgbClr val="00006D"/>
                </a:solidFill>
                <a:prstDash val="solid"/>
                <a:round/>
              </a:ln>
            </p:spPr>
            <p:txBody>
              <a:bodyPr/>
              <a:lstStyle/>
              <a:p>
                <a:endParaRPr lang="ja-JP" altLang="en-US"/>
              </a:p>
            </p:txBody>
          </p:sp>
          <p:sp>
            <p:nvSpPr>
              <p:cNvPr id="137" name="フリーフォーム 136">
                <a:extLst>
                  <a:ext uri="{FF2B5EF4-FFF2-40B4-BE49-F238E27FC236}">
                    <a16:creationId xmlns:a16="http://schemas.microsoft.com/office/drawing/2014/main" id="{33D232AD-1853-E786-825A-2E98E2FECB6E}"/>
                  </a:ext>
                </a:extLst>
              </p:cNvPr>
              <p:cNvSpPr/>
              <p:nvPr/>
            </p:nvSpPr>
            <p:spPr>
              <a:xfrm>
                <a:off x="2390275" y="4602970"/>
                <a:ext cx="197917" cy="196718"/>
              </a:xfrm>
              <a:custGeom>
                <a:avLst/>
                <a:gdLst>
                  <a:gd name="csX0" fmla="*/ 197918 w 197917"/>
                  <a:gd name="csY0" fmla="*/ 32625 h 196718"/>
                  <a:gd name="csX1" fmla="*/ 197918 w 197917"/>
                  <a:gd name="csY1" fmla="*/ 164093 h 196718"/>
                  <a:gd name="csX2" fmla="*/ 165094 w 197917"/>
                  <a:gd name="csY2" fmla="*/ 196718 h 196718"/>
                  <a:gd name="csX3" fmla="*/ 32824 w 197917"/>
                  <a:gd name="csY3" fmla="*/ 196718 h 196718"/>
                  <a:gd name="csX4" fmla="*/ 0 w 197917"/>
                  <a:gd name="csY4" fmla="*/ 164093 h 196718"/>
                  <a:gd name="csX5" fmla="*/ 0 w 197917"/>
                  <a:gd name="csY5" fmla="*/ 32625 h 196718"/>
                  <a:gd name="csX6" fmla="*/ 32824 w 197917"/>
                  <a:gd name="csY6" fmla="*/ 0 h 196718"/>
                  <a:gd name="csX7" fmla="*/ 165094 w 197917"/>
                  <a:gd name="csY7" fmla="*/ 0 h 196718"/>
                  <a:gd name="csX8" fmla="*/ 197918 w 197917"/>
                  <a:gd name="csY8" fmla="*/ 32625 h 196718"/>
                  <a:gd name="csX9" fmla="*/ 197918 w 197917"/>
                  <a:gd name="csY9" fmla="*/ 32625 h 196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7917" h="196718">
                    <a:moveTo>
                      <a:pt x="197918" y="32625"/>
                    </a:moveTo>
                    <a:lnTo>
                      <a:pt x="197918" y="164093"/>
                    </a:lnTo>
                    <a:cubicBezTo>
                      <a:pt x="197918" y="182075"/>
                      <a:pt x="183185" y="196718"/>
                      <a:pt x="165094" y="196718"/>
                    </a:cubicBezTo>
                    <a:lnTo>
                      <a:pt x="32824" y="196718"/>
                    </a:lnTo>
                    <a:cubicBezTo>
                      <a:pt x="14625" y="196718"/>
                      <a:pt x="0" y="182075"/>
                      <a:pt x="0" y="164093"/>
                    </a:cubicBezTo>
                    <a:lnTo>
                      <a:pt x="0" y="32625"/>
                    </a:lnTo>
                    <a:cubicBezTo>
                      <a:pt x="0" y="14643"/>
                      <a:pt x="14733" y="0"/>
                      <a:pt x="32824" y="0"/>
                    </a:cubicBezTo>
                    <a:lnTo>
                      <a:pt x="165094" y="0"/>
                    </a:lnTo>
                    <a:cubicBezTo>
                      <a:pt x="183185" y="0"/>
                      <a:pt x="197918" y="14643"/>
                      <a:pt x="197918" y="32625"/>
                    </a:cubicBezTo>
                    <a:lnTo>
                      <a:pt x="197918" y="32625"/>
                    </a:lnTo>
                    <a:close/>
                  </a:path>
                </a:pathLst>
              </a:custGeom>
              <a:solidFill>
                <a:srgbClr val="FFFFFF"/>
              </a:solidFill>
              <a:ln w="10812" cap="flat">
                <a:noFill/>
                <a:prstDash val="solid"/>
                <a:miter/>
              </a:ln>
            </p:spPr>
            <p:txBody>
              <a:bodyPr/>
              <a:lstStyle/>
              <a:p>
                <a:endParaRPr lang="ja-JP" altLang="en-US"/>
              </a:p>
            </p:txBody>
          </p:sp>
          <p:sp>
            <p:nvSpPr>
              <p:cNvPr id="138" name="フリーフォーム 137">
                <a:extLst>
                  <a:ext uri="{FF2B5EF4-FFF2-40B4-BE49-F238E27FC236}">
                    <a16:creationId xmlns:a16="http://schemas.microsoft.com/office/drawing/2014/main" id="{03751623-70E2-F6D2-55DA-64430700A245}"/>
                  </a:ext>
                </a:extLst>
              </p:cNvPr>
              <p:cNvSpPr/>
              <p:nvPr/>
            </p:nvSpPr>
            <p:spPr>
              <a:xfrm>
                <a:off x="2390275" y="4602970"/>
                <a:ext cx="197917" cy="196718"/>
              </a:xfrm>
              <a:custGeom>
                <a:avLst/>
                <a:gdLst>
                  <a:gd name="csX0" fmla="*/ 32824 w 197917"/>
                  <a:gd name="csY0" fmla="*/ 0 h 196718"/>
                  <a:gd name="csX1" fmla="*/ 165094 w 197917"/>
                  <a:gd name="csY1" fmla="*/ 0 h 196718"/>
                  <a:gd name="csX2" fmla="*/ 197918 w 197917"/>
                  <a:gd name="csY2" fmla="*/ 32625 h 196718"/>
                  <a:gd name="csX3" fmla="*/ 197918 w 197917"/>
                  <a:gd name="csY3" fmla="*/ 164093 h 196718"/>
                  <a:gd name="csX4" fmla="*/ 165094 w 197917"/>
                  <a:gd name="csY4" fmla="*/ 196718 h 196718"/>
                  <a:gd name="csX5" fmla="*/ 32824 w 197917"/>
                  <a:gd name="csY5" fmla="*/ 196718 h 196718"/>
                  <a:gd name="csX6" fmla="*/ 0 w 197917"/>
                  <a:gd name="csY6" fmla="*/ 164093 h 196718"/>
                  <a:gd name="csX7" fmla="*/ 0 w 197917"/>
                  <a:gd name="csY7" fmla="*/ 32625 h 196718"/>
                  <a:gd name="csX8" fmla="*/ 32824 w 197917"/>
                  <a:gd name="csY8" fmla="*/ 0 h 196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917" h="196718">
                    <a:moveTo>
                      <a:pt x="32824" y="0"/>
                    </a:moveTo>
                    <a:lnTo>
                      <a:pt x="165094" y="0"/>
                    </a:lnTo>
                    <a:cubicBezTo>
                      <a:pt x="183185" y="0"/>
                      <a:pt x="197918" y="14643"/>
                      <a:pt x="197918" y="32625"/>
                    </a:cubicBezTo>
                    <a:lnTo>
                      <a:pt x="197918" y="164093"/>
                    </a:lnTo>
                    <a:cubicBezTo>
                      <a:pt x="197918" y="182075"/>
                      <a:pt x="183185" y="196718"/>
                      <a:pt x="165094" y="196718"/>
                    </a:cubicBezTo>
                    <a:lnTo>
                      <a:pt x="32824" y="196718"/>
                    </a:lnTo>
                    <a:cubicBezTo>
                      <a:pt x="14733" y="196718"/>
                      <a:pt x="0" y="182075"/>
                      <a:pt x="0" y="164093"/>
                    </a:cubicBezTo>
                    <a:lnTo>
                      <a:pt x="0" y="32625"/>
                    </a:lnTo>
                    <a:cubicBezTo>
                      <a:pt x="0" y="14643"/>
                      <a:pt x="14733" y="0"/>
                      <a:pt x="32824" y="0"/>
                    </a:cubicBezTo>
                    <a:close/>
                  </a:path>
                </a:pathLst>
              </a:custGeom>
              <a:noFill/>
              <a:ln w="5947" cap="rnd">
                <a:solidFill>
                  <a:srgbClr val="00006D"/>
                </a:solidFill>
                <a:prstDash val="solid"/>
                <a:round/>
              </a:ln>
            </p:spPr>
            <p:txBody>
              <a:bodyPr/>
              <a:lstStyle/>
              <a:p>
                <a:endParaRPr lang="ja-JP" altLang="en-US"/>
              </a:p>
            </p:txBody>
          </p:sp>
          <p:sp>
            <p:nvSpPr>
              <p:cNvPr id="139" name="フリーフォーム 138">
                <a:extLst>
                  <a:ext uri="{FF2B5EF4-FFF2-40B4-BE49-F238E27FC236}">
                    <a16:creationId xmlns:a16="http://schemas.microsoft.com/office/drawing/2014/main" id="{2F1C210B-9797-AD7D-6858-DD4A11D64A75}"/>
                  </a:ext>
                </a:extLst>
              </p:cNvPr>
              <p:cNvSpPr/>
              <p:nvPr/>
            </p:nvSpPr>
            <p:spPr>
              <a:xfrm>
                <a:off x="2418549" y="4595863"/>
                <a:ext cx="199759" cy="161078"/>
              </a:xfrm>
              <a:custGeom>
                <a:avLst/>
                <a:gdLst>
                  <a:gd name="csX0" fmla="*/ 172677 w 199759"/>
                  <a:gd name="csY0" fmla="*/ 0 h 161078"/>
                  <a:gd name="csX1" fmla="*/ 64781 w 199759"/>
                  <a:gd name="csY1" fmla="*/ 107242 h 161078"/>
                  <a:gd name="csX2" fmla="*/ 27082 w 199759"/>
                  <a:gd name="csY2" fmla="*/ 69880 h 161078"/>
                  <a:gd name="csX3" fmla="*/ 0 w 199759"/>
                  <a:gd name="csY3" fmla="*/ 96798 h 161078"/>
                  <a:gd name="csX4" fmla="*/ 64781 w 199759"/>
                  <a:gd name="csY4" fmla="*/ 161078 h 161078"/>
                  <a:gd name="csX5" fmla="*/ 91863 w 199759"/>
                  <a:gd name="csY5" fmla="*/ 134160 h 161078"/>
                  <a:gd name="csX6" fmla="*/ 199759 w 199759"/>
                  <a:gd name="csY6" fmla="*/ 26918 h 161078"/>
                  <a:gd name="csX7" fmla="*/ 172677 w 199759"/>
                  <a:gd name="csY7" fmla="*/ 0 h 161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9759" h="161078">
                    <a:moveTo>
                      <a:pt x="172677" y="0"/>
                    </a:moveTo>
                    <a:lnTo>
                      <a:pt x="64781" y="107242"/>
                    </a:lnTo>
                    <a:lnTo>
                      <a:pt x="27082" y="69880"/>
                    </a:lnTo>
                    <a:lnTo>
                      <a:pt x="0" y="96798"/>
                    </a:lnTo>
                    <a:lnTo>
                      <a:pt x="64781" y="161078"/>
                    </a:lnTo>
                    <a:lnTo>
                      <a:pt x="91863" y="134160"/>
                    </a:lnTo>
                    <a:lnTo>
                      <a:pt x="199759" y="26918"/>
                    </a:lnTo>
                    <a:lnTo>
                      <a:pt x="172677" y="0"/>
                    </a:lnTo>
                    <a:close/>
                  </a:path>
                </a:pathLst>
              </a:custGeom>
              <a:solidFill>
                <a:srgbClr val="C0FF00"/>
              </a:solidFill>
              <a:ln w="10812" cap="flat">
                <a:noFill/>
                <a:prstDash val="solid"/>
                <a:miter/>
              </a:ln>
            </p:spPr>
            <p:txBody>
              <a:bodyPr/>
              <a:lstStyle/>
              <a:p>
                <a:endParaRPr lang="ja-JP" altLang="en-US"/>
              </a:p>
            </p:txBody>
          </p:sp>
          <p:sp>
            <p:nvSpPr>
              <p:cNvPr id="140" name="フリーフォーム 139">
                <a:extLst>
                  <a:ext uri="{FF2B5EF4-FFF2-40B4-BE49-F238E27FC236}">
                    <a16:creationId xmlns:a16="http://schemas.microsoft.com/office/drawing/2014/main" id="{3AC246ED-F239-DEAA-8604-C75448987921}"/>
                  </a:ext>
                </a:extLst>
              </p:cNvPr>
              <p:cNvSpPr/>
              <p:nvPr/>
            </p:nvSpPr>
            <p:spPr>
              <a:xfrm>
                <a:off x="2418549" y="4595863"/>
                <a:ext cx="199759" cy="161078"/>
              </a:xfrm>
              <a:custGeom>
                <a:avLst/>
                <a:gdLst>
                  <a:gd name="csX0" fmla="*/ 172677 w 199759"/>
                  <a:gd name="csY0" fmla="*/ 0 h 161078"/>
                  <a:gd name="csX1" fmla="*/ 64781 w 199759"/>
                  <a:gd name="csY1" fmla="*/ 107242 h 161078"/>
                  <a:gd name="csX2" fmla="*/ 27082 w 199759"/>
                  <a:gd name="csY2" fmla="*/ 69880 h 161078"/>
                  <a:gd name="csX3" fmla="*/ 0 w 199759"/>
                  <a:gd name="csY3" fmla="*/ 96798 h 161078"/>
                  <a:gd name="csX4" fmla="*/ 64781 w 199759"/>
                  <a:gd name="csY4" fmla="*/ 161078 h 161078"/>
                  <a:gd name="csX5" fmla="*/ 91863 w 199759"/>
                  <a:gd name="csY5" fmla="*/ 134160 h 161078"/>
                  <a:gd name="csX6" fmla="*/ 199759 w 199759"/>
                  <a:gd name="csY6" fmla="*/ 26918 h 161078"/>
                  <a:gd name="csX7" fmla="*/ 172677 w 199759"/>
                  <a:gd name="csY7" fmla="*/ 0 h 161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9759" h="161078">
                    <a:moveTo>
                      <a:pt x="172677" y="0"/>
                    </a:moveTo>
                    <a:lnTo>
                      <a:pt x="64781" y="107242"/>
                    </a:lnTo>
                    <a:lnTo>
                      <a:pt x="27082" y="69880"/>
                    </a:lnTo>
                    <a:lnTo>
                      <a:pt x="0" y="96798"/>
                    </a:lnTo>
                    <a:lnTo>
                      <a:pt x="64781" y="161078"/>
                    </a:lnTo>
                    <a:lnTo>
                      <a:pt x="91863" y="134160"/>
                    </a:lnTo>
                    <a:lnTo>
                      <a:pt x="199759" y="26918"/>
                    </a:lnTo>
                    <a:lnTo>
                      <a:pt x="172677" y="0"/>
                    </a:lnTo>
                    <a:close/>
                  </a:path>
                </a:pathLst>
              </a:custGeom>
              <a:noFill/>
              <a:ln w="5730" cap="rnd">
                <a:solidFill>
                  <a:srgbClr val="00006D"/>
                </a:solidFill>
                <a:prstDash val="solid"/>
                <a:round/>
              </a:ln>
            </p:spPr>
            <p:txBody>
              <a:bodyPr/>
              <a:lstStyle/>
              <a:p>
                <a:endParaRPr lang="ja-JP" altLang="en-US"/>
              </a:p>
            </p:txBody>
          </p:sp>
        </p:grpSp>
      </p:grpSp>
    </p:spTree>
    <p:extLst>
      <p:ext uri="{BB962C8B-B14F-4D97-AF65-F5344CB8AC3E}">
        <p14:creationId xmlns:p14="http://schemas.microsoft.com/office/powerpoint/2010/main" val="1816987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角丸四角形 27">
            <a:extLst>
              <a:ext uri="{FF2B5EF4-FFF2-40B4-BE49-F238E27FC236}">
                <a16:creationId xmlns:a16="http://schemas.microsoft.com/office/drawing/2014/main" id="{04A782ED-A167-FF3A-4877-7141CCC59AF1}"/>
              </a:ext>
            </a:extLst>
          </p:cNvPr>
          <p:cNvSpPr/>
          <p:nvPr/>
        </p:nvSpPr>
        <p:spPr>
          <a:xfrm>
            <a:off x="550862" y="1495092"/>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graphicFrame>
        <p:nvGraphicFramePr>
          <p:cNvPr id="4" name="グラフ 3">
            <a:extLst>
              <a:ext uri="{FF2B5EF4-FFF2-40B4-BE49-F238E27FC236}">
                <a16:creationId xmlns:a16="http://schemas.microsoft.com/office/drawing/2014/main" id="{4607425D-8A7C-378F-936E-CC1C0280D02E}"/>
              </a:ext>
            </a:extLst>
          </p:cNvPr>
          <p:cNvGraphicFramePr/>
          <p:nvPr>
            <p:extLst>
              <p:ext uri="{D42A27DB-BD31-4B8C-83A1-F6EECF244321}">
                <p14:modId xmlns:p14="http://schemas.microsoft.com/office/powerpoint/2010/main" val="2575932313"/>
              </p:ext>
            </p:extLst>
          </p:nvPr>
        </p:nvGraphicFramePr>
        <p:xfrm>
          <a:off x="7525489" y="2127716"/>
          <a:ext cx="4328127" cy="38419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グラフ 18">
            <a:extLst>
              <a:ext uri="{FF2B5EF4-FFF2-40B4-BE49-F238E27FC236}">
                <a16:creationId xmlns:a16="http://schemas.microsoft.com/office/drawing/2014/main" id="{BDA8A90E-7C47-8B1D-6F32-720457E2B5C1}"/>
              </a:ext>
            </a:extLst>
          </p:cNvPr>
          <p:cNvGraphicFramePr/>
          <p:nvPr>
            <p:extLst>
              <p:ext uri="{D42A27DB-BD31-4B8C-83A1-F6EECF244321}">
                <p14:modId xmlns:p14="http://schemas.microsoft.com/office/powerpoint/2010/main" val="1833473415"/>
              </p:ext>
            </p:extLst>
          </p:nvPr>
        </p:nvGraphicFramePr>
        <p:xfrm>
          <a:off x="919598" y="2806558"/>
          <a:ext cx="2884991" cy="304031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4" name="グラフ 53">
            <a:extLst>
              <a:ext uri="{FF2B5EF4-FFF2-40B4-BE49-F238E27FC236}">
                <a16:creationId xmlns:a16="http://schemas.microsoft.com/office/drawing/2014/main" id="{0D402AF8-C652-B98C-A40B-A336C4490AEA}"/>
              </a:ext>
            </a:extLst>
          </p:cNvPr>
          <p:cNvGraphicFramePr/>
          <p:nvPr>
            <p:extLst>
              <p:ext uri="{D42A27DB-BD31-4B8C-83A1-F6EECF244321}">
                <p14:modId xmlns:p14="http://schemas.microsoft.com/office/powerpoint/2010/main" val="3085028563"/>
              </p:ext>
            </p:extLst>
          </p:nvPr>
        </p:nvGraphicFramePr>
        <p:xfrm>
          <a:off x="1105431" y="2313089"/>
          <a:ext cx="2884991" cy="3533788"/>
        </p:xfrm>
        <a:graphic>
          <a:graphicData uri="http://schemas.openxmlformats.org/drawingml/2006/chart">
            <c:chart xmlns:c="http://schemas.openxmlformats.org/drawingml/2006/chart" xmlns:r="http://schemas.openxmlformats.org/officeDocument/2006/relationships" r:id="rId5"/>
          </a:graphicData>
        </a:graphic>
      </p:graphicFrame>
      <p:sp>
        <p:nvSpPr>
          <p:cNvPr id="2" name="テキスト プレースホルダー 1">
            <a:extLst>
              <a:ext uri="{FF2B5EF4-FFF2-40B4-BE49-F238E27FC236}">
                <a16:creationId xmlns:a16="http://schemas.microsoft.com/office/drawing/2014/main" id="{E2B522CD-4CD5-BE63-E8F5-81436E6C5B62}"/>
              </a:ext>
            </a:extLst>
          </p:cNvPr>
          <p:cNvSpPr>
            <a:spLocks noGrp="1"/>
          </p:cNvSpPr>
          <p:nvPr>
            <p:ph type="body" sz="quarter" idx="12"/>
          </p:nvPr>
        </p:nvSpPr>
        <p:spPr/>
        <p:txBody>
          <a:bodyPr/>
          <a:lstStyle/>
          <a:p>
            <a:r>
              <a:rPr lang="en-US" altLang="ja-JP" dirty="0"/>
              <a:t>FY2026 </a:t>
            </a:r>
            <a:r>
              <a:rPr lang="en" altLang="ja-JP" dirty="0"/>
              <a:t>Performance Plan</a:t>
            </a:r>
            <a:endParaRPr lang="ja-JP" altLang="en-US" dirty="0"/>
          </a:p>
        </p:txBody>
      </p:sp>
      <p:sp>
        <p:nvSpPr>
          <p:cNvPr id="3" name="タイトル 2">
            <a:extLst>
              <a:ext uri="{FF2B5EF4-FFF2-40B4-BE49-F238E27FC236}">
                <a16:creationId xmlns:a16="http://schemas.microsoft.com/office/drawing/2014/main" id="{23902AA0-1BA6-6E1E-DC0E-542E55FC2894}"/>
              </a:ext>
            </a:extLst>
          </p:cNvPr>
          <p:cNvSpPr>
            <a:spLocks noGrp="1"/>
          </p:cNvSpPr>
          <p:nvPr>
            <p:ph type="ctrTitle"/>
          </p:nvPr>
        </p:nvSpPr>
        <p:spPr/>
        <p:txBody>
          <a:bodyPr/>
          <a:lstStyle/>
          <a:p>
            <a:r>
              <a:rPr lang="ja-JP" altLang="ja-JP" dirty="0">
                <a:ea typeface="M PLUS 1p Medium" panose="020B0502020203020207"/>
              </a:rPr>
              <a:t>Accelerating </a:t>
            </a:r>
            <a:r>
              <a:rPr lang="en-US" altLang="ja-JP" dirty="0">
                <a:ea typeface="M PLUS 1p Medium" panose="020B0502020203020207"/>
              </a:rPr>
              <a:t>growth with </a:t>
            </a:r>
            <a:r>
              <a:rPr lang="en-US" altLang="ja-JP" dirty="0">
                <a:solidFill>
                  <a:srgbClr val="C0FF00"/>
                </a:solidFill>
                <a:ea typeface="M PLUS 1p Medium" panose="020B0502020203020207"/>
              </a:rPr>
              <a:t>1.4x subscription billing sales</a:t>
            </a:r>
            <a:r>
              <a:rPr lang="en-US" altLang="ja-JP" dirty="0">
                <a:ea typeface="M PLUS 1p Medium" panose="020B0502020203020207"/>
              </a:rPr>
              <a:t>, </a:t>
            </a:r>
            <a:br>
              <a:rPr lang="en-US" altLang="ja-JP" dirty="0">
                <a:ea typeface="M PLUS 1p Medium" panose="020B0502020203020207"/>
              </a:rPr>
            </a:br>
            <a:r>
              <a:rPr lang="en-US" altLang="ja-JP" dirty="0">
                <a:ea typeface="M PLUS 1p Medium" panose="020B0502020203020207"/>
              </a:rPr>
              <a:t>driving further profit expansion</a:t>
            </a:r>
            <a:endParaRPr lang="ja-JP" altLang="en-US" dirty="0">
              <a:ea typeface="M PLUS 1p Medium" panose="020B0502020203020207"/>
            </a:endParaRPr>
          </a:p>
        </p:txBody>
      </p:sp>
      <p:cxnSp>
        <p:nvCxnSpPr>
          <p:cNvPr id="5" name="直線コネクタ 4">
            <a:extLst>
              <a:ext uri="{FF2B5EF4-FFF2-40B4-BE49-F238E27FC236}">
                <a16:creationId xmlns:a16="http://schemas.microsoft.com/office/drawing/2014/main" id="{985160B1-DCAE-6AB6-5A73-E91E40A98311}"/>
              </a:ext>
            </a:extLst>
          </p:cNvPr>
          <p:cNvCxnSpPr>
            <a:cxnSpLocks/>
          </p:cNvCxnSpPr>
          <p:nvPr/>
        </p:nvCxnSpPr>
        <p:spPr>
          <a:xfrm>
            <a:off x="7944379"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7" name="直線コネクタ 6">
            <a:extLst>
              <a:ext uri="{FF2B5EF4-FFF2-40B4-BE49-F238E27FC236}">
                <a16:creationId xmlns:a16="http://schemas.microsoft.com/office/drawing/2014/main" id="{C22EA81B-1470-DD20-774B-FC908A535E06}"/>
              </a:ext>
            </a:extLst>
          </p:cNvPr>
          <p:cNvCxnSpPr>
            <a:cxnSpLocks/>
          </p:cNvCxnSpPr>
          <p:nvPr/>
        </p:nvCxnSpPr>
        <p:spPr>
          <a:xfrm>
            <a:off x="4247621"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47A0C3D0-DE1E-8AD5-FFA0-EE75EAECA025}"/>
              </a:ext>
            </a:extLst>
          </p:cNvPr>
          <p:cNvSpPr txBox="1"/>
          <p:nvPr/>
        </p:nvSpPr>
        <p:spPr>
          <a:xfrm>
            <a:off x="2284118" y="2053200"/>
            <a:ext cx="184731" cy="278923"/>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Tx/>
              <a:buSzTx/>
              <a:buFontTx/>
              <a:buNone/>
              <a:tabLst/>
              <a:defRPr/>
            </a:pPr>
            <a:endParaRPr kumimoji="1" lang="en-US" altLang="ja-JP" sz="11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endParaRPr>
          </a:p>
        </p:txBody>
      </p:sp>
      <p:sp>
        <p:nvSpPr>
          <p:cNvPr id="21" name="テキスト ボックス 20">
            <a:extLst>
              <a:ext uri="{FF2B5EF4-FFF2-40B4-BE49-F238E27FC236}">
                <a16:creationId xmlns:a16="http://schemas.microsoft.com/office/drawing/2014/main" id="{552709A6-9393-B1E4-8AAB-5EEE5219732C}"/>
              </a:ext>
            </a:extLst>
          </p:cNvPr>
          <p:cNvSpPr txBox="1"/>
          <p:nvPr/>
        </p:nvSpPr>
        <p:spPr>
          <a:xfrm>
            <a:off x="1486973" y="2263846"/>
            <a:ext cx="1824538" cy="266740"/>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Tx/>
              <a:buSzTx/>
              <a:buFontTx/>
              <a:buNone/>
              <a:tabLst/>
              <a:defRPr/>
            </a:pPr>
            <a:r>
              <a:rPr kumimoji="1" lang="ja-JP" altLang="en-US" sz="800" b="0" i="0" u="none" strike="noStrike" kern="1200" cap="none" spc="0" normalizeH="0" baseline="0" noProof="0">
                <a:ln>
                  <a:noFill/>
                </a:ln>
                <a:solidFill>
                  <a:srgbClr val="00A7FF"/>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00A7FF"/>
                </a:solidFill>
                <a:effectLst/>
                <a:uLnTx/>
                <a:uFillTx/>
                <a:latin typeface="Poppins" pitchFamily="2" charset="0"/>
                <a:ea typeface="M PLUS 1p Medium" panose="020B0502020203020207" pitchFamily="34" charset="-128"/>
                <a:cs typeface="Poppins" pitchFamily="2" charset="0"/>
              </a:rPr>
              <a:t> </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Net Sales</a:t>
            </a:r>
            <a:r>
              <a:rPr kumimoji="1" lang="ja-JP" altLang="en-US" sz="800" b="0" i="0" u="none" strike="noStrike" kern="1200" cap="none" spc="0" normalizeH="0" baseline="0" noProof="0">
                <a:ln>
                  <a:noFill/>
                </a:ln>
                <a:solidFill>
                  <a:srgbClr val="00A7FF"/>
                </a:solidFill>
                <a:effectLst/>
                <a:uLnTx/>
                <a:uFillTx/>
                <a:latin typeface="Poppins" pitchFamily="2" charset="0"/>
                <a:ea typeface="M PLUS 1p Medium" panose="020B0502020203020207" pitchFamily="34" charset="-128"/>
                <a:cs typeface="Poppins" pitchFamily="2" charset="0"/>
              </a:rPr>
              <a:t>　</a:t>
            </a:r>
            <a:r>
              <a:rPr kumimoji="1" lang="ja-JP" altLang="en-US" sz="800" b="0" i="0" u="none" strike="noStrike" kern="1200" cap="none" spc="0" normalizeH="0" baseline="0" noProof="0">
                <a:ln>
                  <a:noFill/>
                </a:ln>
                <a:solidFill>
                  <a:srgbClr val="142FA4"/>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00A7FF"/>
                </a:solidFill>
                <a:effectLst/>
                <a:uLnTx/>
                <a:uFillTx/>
                <a:latin typeface="Poppins" pitchFamily="2" charset="0"/>
                <a:ea typeface="M PLUS 1p Medium" panose="020B0502020203020207" pitchFamily="34" charset="-128"/>
                <a:cs typeface="Poppins" pitchFamily="2" charset="0"/>
              </a:rPr>
              <a:t> </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Operating Profit</a:t>
            </a:r>
          </a:p>
        </p:txBody>
      </p:sp>
      <p:grpSp>
        <p:nvGrpSpPr>
          <p:cNvPr id="6" name="グループ化 5">
            <a:extLst>
              <a:ext uri="{FF2B5EF4-FFF2-40B4-BE49-F238E27FC236}">
                <a16:creationId xmlns:a16="http://schemas.microsoft.com/office/drawing/2014/main" id="{CB405056-7FFD-F6F6-B6B1-C51DF8161BDC}"/>
              </a:ext>
            </a:extLst>
          </p:cNvPr>
          <p:cNvGrpSpPr/>
          <p:nvPr/>
        </p:nvGrpSpPr>
        <p:grpSpPr>
          <a:xfrm>
            <a:off x="4513116" y="1993040"/>
            <a:ext cx="3119145" cy="663513"/>
            <a:chOff x="4413672" y="2100627"/>
            <a:chExt cx="3031701" cy="663513"/>
          </a:xfrm>
        </p:grpSpPr>
        <p:sp>
          <p:nvSpPr>
            <p:cNvPr id="15" name="テキスト ボックス 14">
              <a:extLst>
                <a:ext uri="{FF2B5EF4-FFF2-40B4-BE49-F238E27FC236}">
                  <a16:creationId xmlns:a16="http://schemas.microsoft.com/office/drawing/2014/main" id="{F1285839-65A5-5F18-62BC-5BCEE4BB89DE}"/>
                </a:ext>
              </a:extLst>
            </p:cNvPr>
            <p:cNvSpPr txBox="1"/>
            <p:nvPr/>
          </p:nvSpPr>
          <p:spPr>
            <a:xfrm>
              <a:off x="5558644" y="2100627"/>
              <a:ext cx="1446195" cy="265201"/>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
                  <a:srgbClr val="A1DEFF"/>
                </a:buClr>
                <a:buSzTx/>
                <a:buFontTx/>
                <a:buNone/>
                <a:tabLst/>
                <a:defRPr/>
              </a:pPr>
              <a:r>
                <a:rPr kumimoji="1" lang="ja-JP" altLang="en-US" sz="800" b="0" i="0" u="none" strike="noStrike" kern="1200" cap="none" spc="0" normalizeH="0" baseline="0" noProof="0" dirty="0">
                  <a:ln>
                    <a:noFill/>
                  </a:ln>
                  <a:solidFill>
                    <a:srgbClr val="A1DEFF"/>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 Mobile Segment Profit </a:t>
              </a:r>
            </a:p>
          </p:txBody>
        </p:sp>
        <p:sp>
          <p:nvSpPr>
            <p:cNvPr id="16" name="テキスト ボックス 15">
              <a:extLst>
                <a:ext uri="{FF2B5EF4-FFF2-40B4-BE49-F238E27FC236}">
                  <a16:creationId xmlns:a16="http://schemas.microsoft.com/office/drawing/2014/main" id="{CE9926EB-0DD7-097B-DE8B-17DD55547D01}"/>
                </a:ext>
              </a:extLst>
            </p:cNvPr>
            <p:cNvSpPr txBox="1"/>
            <p:nvPr/>
          </p:nvSpPr>
          <p:spPr>
            <a:xfrm>
              <a:off x="4413672" y="2106290"/>
              <a:ext cx="925802" cy="265201"/>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
                  <a:srgbClr val="00A7FF"/>
                </a:buClr>
                <a:buSzTx/>
                <a:buFontTx/>
                <a:buNone/>
                <a:tabLst/>
                <a:defRPr/>
              </a:pPr>
              <a:r>
                <a:rPr kumimoji="1" lang="ja-JP" altLang="en-US" sz="800" b="0" i="0" u="none" strike="noStrike" kern="1200" cap="none" spc="0" normalizeH="0" baseline="0" noProof="0" dirty="0">
                  <a:ln>
                    <a:noFill/>
                  </a:ln>
                  <a:solidFill>
                    <a:srgbClr val="00A7FF"/>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00A7FF"/>
                  </a:solidFill>
                  <a:effectLst/>
                  <a:uLnTx/>
                  <a:uFillTx/>
                  <a:latin typeface="Poppins" pitchFamily="2" charset="0"/>
                  <a:ea typeface="M PLUS 1p Medium" panose="020B0502020203020207" pitchFamily="34" charset="-128"/>
                  <a:cs typeface="Poppins" pitchFamily="2" charset="0"/>
                </a:rPr>
                <a:t> </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Mobile Sales</a:t>
              </a:r>
            </a:p>
          </p:txBody>
        </p:sp>
        <p:sp>
          <p:nvSpPr>
            <p:cNvPr id="17" name="テキスト ボックス 16">
              <a:extLst>
                <a:ext uri="{FF2B5EF4-FFF2-40B4-BE49-F238E27FC236}">
                  <a16:creationId xmlns:a16="http://schemas.microsoft.com/office/drawing/2014/main" id="{CF308987-D5F0-9DF0-F252-A16BB28CB779}"/>
                </a:ext>
              </a:extLst>
            </p:cNvPr>
            <p:cNvSpPr txBox="1"/>
            <p:nvPr/>
          </p:nvSpPr>
          <p:spPr>
            <a:xfrm>
              <a:off x="5558639" y="2242123"/>
              <a:ext cx="1542795" cy="265201"/>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
                  <a:srgbClr val="A1BFFF"/>
                </a:buClr>
                <a:buSzTx/>
                <a:buFontTx/>
                <a:buNone/>
                <a:tabLst/>
                <a:defRPr/>
              </a:pPr>
              <a:r>
                <a:rPr kumimoji="1" lang="ja-JP" altLang="en-US" sz="800" b="0" i="0" u="none" strike="noStrike" kern="1200" cap="none" spc="0" normalizeH="0" baseline="0" noProof="0" dirty="0">
                  <a:ln>
                    <a:noFill/>
                  </a:ln>
                  <a:solidFill>
                    <a:srgbClr val="A1BFFF"/>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A1BFFF"/>
                  </a:solidFill>
                  <a:effectLst/>
                  <a:uLnTx/>
                  <a:uFillTx/>
                  <a:latin typeface="Poppins" pitchFamily="2" charset="0"/>
                  <a:ea typeface="M PLUS 1p Medium" panose="020B0502020203020207" pitchFamily="34" charset="-128"/>
                  <a:cs typeface="Poppins" pitchFamily="2" charset="0"/>
                </a:rPr>
                <a:t> </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Solutions Segment Profit </a:t>
              </a:r>
            </a:p>
          </p:txBody>
        </p:sp>
        <p:sp>
          <p:nvSpPr>
            <p:cNvPr id="18" name="テキスト ボックス 17">
              <a:extLst>
                <a:ext uri="{FF2B5EF4-FFF2-40B4-BE49-F238E27FC236}">
                  <a16:creationId xmlns:a16="http://schemas.microsoft.com/office/drawing/2014/main" id="{1F7AF8D7-505A-F1D6-62A1-C184B87C9A97}"/>
                </a:ext>
              </a:extLst>
            </p:cNvPr>
            <p:cNvSpPr txBox="1"/>
            <p:nvPr/>
          </p:nvSpPr>
          <p:spPr>
            <a:xfrm>
              <a:off x="4413672" y="2242123"/>
              <a:ext cx="1048889" cy="265201"/>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 Solutions</a:t>
              </a:r>
              <a:r>
                <a:rPr kumimoji="1" lang="ja-JP" altLang="en-US"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 </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Sales</a:t>
              </a:r>
            </a:p>
          </p:txBody>
        </p:sp>
        <p:sp>
          <p:nvSpPr>
            <p:cNvPr id="30" name="テキスト ボックス 29">
              <a:extLst>
                <a:ext uri="{FF2B5EF4-FFF2-40B4-BE49-F238E27FC236}">
                  <a16:creationId xmlns:a16="http://schemas.microsoft.com/office/drawing/2014/main" id="{549EE7D6-415F-B5C8-32D4-A91E9B5EB5BB}"/>
                </a:ext>
              </a:extLst>
            </p:cNvPr>
            <p:cNvSpPr txBox="1"/>
            <p:nvPr/>
          </p:nvSpPr>
          <p:spPr>
            <a:xfrm>
              <a:off x="4413672" y="2425586"/>
              <a:ext cx="1334056" cy="338554"/>
            </a:xfrm>
            <a:prstGeom prst="rect">
              <a:avLst/>
            </a:prstGeom>
            <a:noFill/>
          </p:spPr>
          <p:txBody>
            <a:bodyPr wrap="square" rtlCol="0">
              <a:spAutoFit/>
            </a:bodyPr>
            <a:lstStyle/>
            <a:p>
              <a:pPr marL="126000" marR="0" lvl="0" indent="-126000" algn="l" defTabSz="914400" rtl="0" eaLnBrk="1" fontAlgn="auto" latinLnBrk="0" hangingPunct="1">
                <a:lnSpc>
                  <a:spcPct val="100000"/>
                </a:lnSpc>
                <a:spcBef>
                  <a:spcPts val="0"/>
                </a:spcBef>
                <a:spcAft>
                  <a:spcPts val="0"/>
                </a:spcAft>
                <a:buClr>
                  <a:srgbClr val="D44ED9"/>
                </a:buClr>
                <a:buSzTx/>
                <a:buFontTx/>
                <a:buNone/>
                <a:tabLst/>
                <a:defRPr/>
              </a:pPr>
              <a:r>
                <a:rPr kumimoji="1" lang="ja-JP" altLang="en-US" sz="800" b="0" i="0" u="none" strike="noStrike" kern="1200" cap="none" spc="0" normalizeH="0" baseline="0" noProof="0" dirty="0">
                  <a:ln>
                    <a:noFill/>
                  </a:ln>
                  <a:solidFill>
                    <a:srgbClr val="D44ED9"/>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D44ED9"/>
                  </a:solidFill>
                  <a:effectLst/>
                  <a:uLnTx/>
                  <a:uFillTx/>
                  <a:latin typeface="Poppins" pitchFamily="2" charset="0"/>
                  <a:ea typeface="M PLUS 1p Medium" panose="020B0502020203020207" pitchFamily="34" charset="-128"/>
                  <a:cs typeface="Poppins" pitchFamily="2" charset="0"/>
                </a:rPr>
                <a:t> </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AI Singing Voice Synthesis Sales</a:t>
              </a:r>
            </a:p>
          </p:txBody>
        </p:sp>
        <p:sp>
          <p:nvSpPr>
            <p:cNvPr id="31" name="テキスト ボックス 30">
              <a:extLst>
                <a:ext uri="{FF2B5EF4-FFF2-40B4-BE49-F238E27FC236}">
                  <a16:creationId xmlns:a16="http://schemas.microsoft.com/office/drawing/2014/main" id="{425E9AF3-48F0-D4C3-C291-30B2436BAC63}"/>
                </a:ext>
              </a:extLst>
            </p:cNvPr>
            <p:cNvSpPr txBox="1"/>
            <p:nvPr/>
          </p:nvSpPr>
          <p:spPr>
            <a:xfrm>
              <a:off x="5558639" y="2425586"/>
              <a:ext cx="1886734" cy="338554"/>
            </a:xfrm>
            <a:prstGeom prst="rect">
              <a:avLst/>
            </a:prstGeom>
            <a:noFill/>
          </p:spPr>
          <p:txBody>
            <a:bodyPr wrap="square" rtlCol="0">
              <a:spAutoFit/>
            </a:bodyPr>
            <a:lstStyle/>
            <a:p>
              <a:pPr marL="127000" marR="0" lvl="0" indent="-127000" algn="l" defTabSz="914400" rtl="0" eaLnBrk="1" fontAlgn="auto" latinLnBrk="0" hangingPunct="1">
                <a:lnSpc>
                  <a:spcPct val="100000"/>
                </a:lnSpc>
                <a:spcBef>
                  <a:spcPts val="0"/>
                </a:spcBef>
                <a:spcAft>
                  <a:spcPts val="0"/>
                </a:spcAft>
                <a:buClr>
                  <a:srgbClr val="FDA6FF"/>
                </a:buClr>
                <a:buSzTx/>
                <a:buFontTx/>
                <a:buNone/>
                <a:tabLst/>
                <a:defRPr/>
              </a:pPr>
              <a:r>
                <a:rPr kumimoji="1" lang="ja-JP" altLang="en-US" sz="800" b="0" i="0" u="none" strike="noStrike" kern="1200" cap="none" spc="0" normalizeH="0" baseline="0" noProof="0" dirty="0">
                  <a:ln>
                    <a:noFill/>
                  </a:ln>
                  <a:solidFill>
                    <a:srgbClr val="FDA6FF"/>
                  </a:solidFill>
                  <a:effectLst/>
                  <a:uLnTx/>
                  <a:uFillTx/>
                  <a:latin typeface="Poppins" pitchFamily="2" charset="0"/>
                  <a:ea typeface="M PLUS 1p Medium" panose="020B0502020203020207" pitchFamily="34" charset="-128"/>
                  <a:cs typeface="Poppins" pitchFamily="2" charset="0"/>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	AI Voice Singing Synthesis Segment Profit </a:t>
              </a:r>
            </a:p>
          </p:txBody>
        </p:sp>
      </p:grpSp>
      <p:sp>
        <p:nvSpPr>
          <p:cNvPr id="48" name="テキスト ボックス 47">
            <a:extLst>
              <a:ext uri="{FF2B5EF4-FFF2-40B4-BE49-F238E27FC236}">
                <a16:creationId xmlns:a16="http://schemas.microsoft.com/office/drawing/2014/main" id="{6D9B3B2C-8151-8E8A-A911-68E18D6FA1F6}"/>
              </a:ext>
            </a:extLst>
          </p:cNvPr>
          <p:cNvSpPr txBox="1"/>
          <p:nvPr/>
        </p:nvSpPr>
        <p:spPr>
          <a:xfrm>
            <a:off x="3017762" y="2669952"/>
            <a:ext cx="1117614"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(millions of yen)</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88" name="テキスト ボックス 87">
            <a:extLst>
              <a:ext uri="{FF2B5EF4-FFF2-40B4-BE49-F238E27FC236}">
                <a16:creationId xmlns:a16="http://schemas.microsoft.com/office/drawing/2014/main" id="{A6C1CA7A-1AF3-CF31-AF2C-B324C93D82CC}"/>
              </a:ext>
            </a:extLst>
          </p:cNvPr>
          <p:cNvSpPr txBox="1"/>
          <p:nvPr/>
        </p:nvSpPr>
        <p:spPr>
          <a:xfrm>
            <a:off x="6662379" y="2669952"/>
            <a:ext cx="1117614"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(millions of yen)</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97" name="テキスト ボックス 96">
            <a:extLst>
              <a:ext uri="{FF2B5EF4-FFF2-40B4-BE49-F238E27FC236}">
                <a16:creationId xmlns:a16="http://schemas.microsoft.com/office/drawing/2014/main" id="{0FB91FD5-E564-890D-0D1A-6CBB7C9EA67E}"/>
              </a:ext>
            </a:extLst>
          </p:cNvPr>
          <p:cNvSpPr txBox="1"/>
          <p:nvPr/>
        </p:nvSpPr>
        <p:spPr>
          <a:xfrm>
            <a:off x="871557" y="5701115"/>
            <a:ext cx="1325219" cy="421782"/>
          </a:xfrm>
          <a:prstGeom prst="rect">
            <a:avLst/>
          </a:prstGeom>
          <a:noFill/>
        </p:spPr>
        <p:txBody>
          <a:bodyPr wrap="square">
            <a:spAutoFit/>
          </a:bodyPr>
          <a:lstStyle/>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FY2025 </a:t>
            </a:r>
          </a:p>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Results</a:t>
            </a:r>
            <a:endParaRPr kumimoji="1" lang="ja-JP" altLang="en-US" sz="1050" b="0" i="0" u="none" strike="noStrike" kern="1200" cap="none" spc="0" normalizeH="0" baseline="0" noProof="0">
              <a:ln>
                <a:noFill/>
              </a:ln>
              <a:solidFill>
                <a:srgbClr val="142FA4"/>
              </a:solidFill>
              <a:effectLst/>
              <a:uLnTx/>
              <a:uFillTx/>
              <a:latin typeface="Poppins" pitchFamily="2" charset="0"/>
              <a:ea typeface="游ゴシック" panose="020B0400000000000000" pitchFamily="50" charset="-128"/>
            </a:endParaRPr>
          </a:p>
        </p:txBody>
      </p:sp>
      <p:sp>
        <p:nvSpPr>
          <p:cNvPr id="98" name="テキスト ボックス 97">
            <a:extLst>
              <a:ext uri="{FF2B5EF4-FFF2-40B4-BE49-F238E27FC236}">
                <a16:creationId xmlns:a16="http://schemas.microsoft.com/office/drawing/2014/main" id="{AAA864E7-552A-6FD7-4D9D-E9E527AB3153}"/>
              </a:ext>
            </a:extLst>
          </p:cNvPr>
          <p:cNvSpPr txBox="1"/>
          <p:nvPr/>
        </p:nvSpPr>
        <p:spPr>
          <a:xfrm>
            <a:off x="2628168" y="5701115"/>
            <a:ext cx="1325219" cy="421141"/>
          </a:xfrm>
          <a:prstGeom prst="rect">
            <a:avLst/>
          </a:prstGeom>
          <a:noFill/>
        </p:spPr>
        <p:txBody>
          <a:bodyPr wrap="square">
            <a:spAutoFit/>
          </a:bodyPr>
          <a:lstStyle/>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FY2026 </a:t>
            </a:r>
          </a:p>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Plan</a:t>
            </a:r>
          </a:p>
        </p:txBody>
      </p:sp>
      <p:sp>
        <p:nvSpPr>
          <p:cNvPr id="114" name="テキスト ボックス 113">
            <a:extLst>
              <a:ext uri="{FF2B5EF4-FFF2-40B4-BE49-F238E27FC236}">
                <a16:creationId xmlns:a16="http://schemas.microsoft.com/office/drawing/2014/main" id="{B3E20AB6-D36E-8E57-4BEB-C3BEF010A643}"/>
              </a:ext>
            </a:extLst>
          </p:cNvPr>
          <p:cNvSpPr txBox="1"/>
          <p:nvPr/>
        </p:nvSpPr>
        <p:spPr>
          <a:xfrm>
            <a:off x="10338432" y="2348390"/>
            <a:ext cx="1117614"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(millions of yen)</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pic>
        <p:nvPicPr>
          <p:cNvPr id="94" name="図 93">
            <a:extLst>
              <a:ext uri="{FF2B5EF4-FFF2-40B4-BE49-F238E27FC236}">
                <a16:creationId xmlns:a16="http://schemas.microsoft.com/office/drawing/2014/main" id="{0A6C1EED-A3E1-C7DA-8D26-5D9C594F2C0B}"/>
              </a:ext>
            </a:extLst>
          </p:cNvPr>
          <p:cNvPicPr>
            <a:picLocks noGrp="1" noRot="1" noChangeAspect="1" noMove="1" noResize="1" noEditPoints="1" noAdjustHandles="1" noChangeArrowheads="1" noChangeShapeType="1" noCrop="1"/>
          </p:cNvPicPr>
          <p:nvPr/>
        </p:nvPicPr>
        <p:blipFill>
          <a:blip r:embed="rId6" cstate="email">
            <a:extLst>
              <a:ext uri="{28A0092B-C50C-407E-A947-70E740481C1C}">
                <a14:useLocalDpi xmlns:a14="http://schemas.microsoft.com/office/drawing/2010/main"/>
              </a:ext>
            </a:extLst>
          </a:blip>
          <a:stretch>
            <a:fillRect/>
          </a:stretch>
        </p:blipFill>
        <p:spPr>
          <a:xfrm>
            <a:off x="-11724" y="1299621"/>
            <a:ext cx="576000" cy="4977392"/>
          </a:xfrm>
          <a:prstGeom prst="rect">
            <a:avLst/>
          </a:prstGeom>
        </p:spPr>
      </p:pic>
      <p:cxnSp>
        <p:nvCxnSpPr>
          <p:cNvPr id="22" name="直線矢印コネクタ 21">
            <a:extLst>
              <a:ext uri="{FF2B5EF4-FFF2-40B4-BE49-F238E27FC236}">
                <a16:creationId xmlns:a16="http://schemas.microsoft.com/office/drawing/2014/main" id="{11C27A66-ABC8-B974-9A93-D584EC71C529}"/>
              </a:ext>
            </a:extLst>
          </p:cNvPr>
          <p:cNvCxnSpPr>
            <a:cxnSpLocks/>
          </p:cNvCxnSpPr>
          <p:nvPr/>
        </p:nvCxnSpPr>
        <p:spPr>
          <a:xfrm flipV="1">
            <a:off x="1877139" y="3616548"/>
            <a:ext cx="960660" cy="302704"/>
          </a:xfrm>
          <a:prstGeom prst="straightConnector1">
            <a:avLst/>
          </a:prstGeom>
          <a:ln w="25400">
            <a:solidFill>
              <a:srgbClr val="142FA4"/>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矢印コネクタ 22">
            <a:extLst>
              <a:ext uri="{FF2B5EF4-FFF2-40B4-BE49-F238E27FC236}">
                <a16:creationId xmlns:a16="http://schemas.microsoft.com/office/drawing/2014/main" id="{AA72CBCD-7F53-FDF0-ACC0-356D6C6DBFE3}"/>
              </a:ext>
            </a:extLst>
          </p:cNvPr>
          <p:cNvCxnSpPr>
            <a:cxnSpLocks/>
          </p:cNvCxnSpPr>
          <p:nvPr/>
        </p:nvCxnSpPr>
        <p:spPr>
          <a:xfrm flipV="1">
            <a:off x="2080662" y="5217319"/>
            <a:ext cx="929247" cy="103428"/>
          </a:xfrm>
          <a:prstGeom prst="straightConnector1">
            <a:avLst/>
          </a:prstGeom>
          <a:ln w="25400">
            <a:solidFill>
              <a:srgbClr val="00A7FF"/>
            </a:solidFill>
            <a:tailEnd type="triangle"/>
          </a:ln>
        </p:spPr>
        <p:style>
          <a:lnRef idx="2">
            <a:schemeClr val="accent1"/>
          </a:lnRef>
          <a:fillRef idx="0">
            <a:schemeClr val="accent1"/>
          </a:fillRef>
          <a:effectRef idx="1">
            <a:schemeClr val="accent1"/>
          </a:effectRef>
          <a:fontRef idx="minor">
            <a:schemeClr val="tx1"/>
          </a:fontRef>
        </p:style>
      </p:cxnSp>
      <p:sp>
        <p:nvSpPr>
          <p:cNvPr id="24" name="テキスト ボックス 23">
            <a:extLst>
              <a:ext uri="{FF2B5EF4-FFF2-40B4-BE49-F238E27FC236}">
                <a16:creationId xmlns:a16="http://schemas.microsoft.com/office/drawing/2014/main" id="{1A108CBD-E8B9-75B5-C823-535717A6ACB7}"/>
              </a:ext>
            </a:extLst>
          </p:cNvPr>
          <p:cNvSpPr txBox="1"/>
          <p:nvPr/>
        </p:nvSpPr>
        <p:spPr>
          <a:xfrm>
            <a:off x="1122667" y="3726030"/>
            <a:ext cx="72861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5,005</a:t>
            </a:r>
          </a:p>
        </p:txBody>
      </p:sp>
      <p:sp>
        <p:nvSpPr>
          <p:cNvPr id="25" name="テキスト ボックス 24">
            <a:extLst>
              <a:ext uri="{FF2B5EF4-FFF2-40B4-BE49-F238E27FC236}">
                <a16:creationId xmlns:a16="http://schemas.microsoft.com/office/drawing/2014/main" id="{FD767A46-FAA9-4218-D16B-1E30FA1BCA7C}"/>
              </a:ext>
            </a:extLst>
          </p:cNvPr>
          <p:cNvSpPr txBox="1"/>
          <p:nvPr/>
        </p:nvSpPr>
        <p:spPr>
          <a:xfrm>
            <a:off x="2762036" y="3543819"/>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5,454</a:t>
            </a:r>
          </a:p>
        </p:txBody>
      </p:sp>
      <p:sp>
        <p:nvSpPr>
          <p:cNvPr id="26" name="テキスト ボックス 25">
            <a:extLst>
              <a:ext uri="{FF2B5EF4-FFF2-40B4-BE49-F238E27FC236}">
                <a16:creationId xmlns:a16="http://schemas.microsoft.com/office/drawing/2014/main" id="{1457B930-4D50-63AB-25B3-90642218F499}"/>
              </a:ext>
            </a:extLst>
          </p:cNvPr>
          <p:cNvSpPr txBox="1"/>
          <p:nvPr/>
        </p:nvSpPr>
        <p:spPr>
          <a:xfrm>
            <a:off x="1221995" y="5159245"/>
            <a:ext cx="929247"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1,201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a:t>
            </a:r>
            <a:r>
              <a:rPr kumimoji="1" lang="en-US" altLang="ja-JP"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24.0%</a:t>
            </a:r>
            <a:r>
              <a:rPr kumimoji="1" lang="ja-JP" altLang="en-US"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a:t>
            </a:r>
            <a:endParaRPr kumimoji="1" lang="en-US" altLang="ja-JP"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32" name="テキスト ボックス 31">
            <a:extLst>
              <a:ext uri="{FF2B5EF4-FFF2-40B4-BE49-F238E27FC236}">
                <a16:creationId xmlns:a16="http://schemas.microsoft.com/office/drawing/2014/main" id="{4350D4B6-A799-E7CC-5E3F-FCA9836D28F9}"/>
              </a:ext>
            </a:extLst>
          </p:cNvPr>
          <p:cNvSpPr txBox="1"/>
          <p:nvPr/>
        </p:nvSpPr>
        <p:spPr>
          <a:xfrm>
            <a:off x="2942510" y="5159245"/>
            <a:ext cx="929247"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1,355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a:t>
            </a:r>
            <a:r>
              <a:rPr kumimoji="1" lang="en-US" altLang="ja-JP"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24.9%</a:t>
            </a:r>
            <a:r>
              <a:rPr kumimoji="1" lang="ja-JP" altLang="en-US"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a:t>
            </a:r>
            <a:endParaRPr kumimoji="1" lang="en-US" altLang="ja-JP" sz="11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endParaRPr>
          </a:p>
        </p:txBody>
      </p:sp>
      <p:cxnSp>
        <p:nvCxnSpPr>
          <p:cNvPr id="33" name="直線コネクタ 32">
            <a:extLst>
              <a:ext uri="{FF2B5EF4-FFF2-40B4-BE49-F238E27FC236}">
                <a16:creationId xmlns:a16="http://schemas.microsoft.com/office/drawing/2014/main" id="{843A4CD3-6A15-0E64-68C8-53657D4B4815}"/>
              </a:ext>
            </a:extLst>
          </p:cNvPr>
          <p:cNvCxnSpPr>
            <a:cxnSpLocks/>
          </p:cNvCxnSpPr>
          <p:nvPr/>
        </p:nvCxnSpPr>
        <p:spPr>
          <a:xfrm flipH="1">
            <a:off x="843538" y="5704176"/>
            <a:ext cx="3158280"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41" name="円/楕円 40">
            <a:extLst>
              <a:ext uri="{FF2B5EF4-FFF2-40B4-BE49-F238E27FC236}">
                <a16:creationId xmlns:a16="http://schemas.microsoft.com/office/drawing/2014/main" id="{6404C8CC-FFF1-FA08-491F-5B04DC4562C3}"/>
              </a:ext>
            </a:extLst>
          </p:cNvPr>
          <p:cNvSpPr>
            <a:spLocks noChangeAspect="1"/>
          </p:cNvSpPr>
          <p:nvPr/>
        </p:nvSpPr>
        <p:spPr>
          <a:xfrm>
            <a:off x="2174491" y="4980307"/>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2" name="円/楕円 41">
            <a:extLst>
              <a:ext uri="{FF2B5EF4-FFF2-40B4-BE49-F238E27FC236}">
                <a16:creationId xmlns:a16="http://schemas.microsoft.com/office/drawing/2014/main" id="{65A8A6CF-51B3-667D-EAAC-7A38462B057B}"/>
              </a:ext>
            </a:extLst>
          </p:cNvPr>
          <p:cNvSpPr>
            <a:spLocks noChangeAspect="1"/>
          </p:cNvSpPr>
          <p:nvPr/>
        </p:nvSpPr>
        <p:spPr>
          <a:xfrm>
            <a:off x="2007530" y="3432189"/>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46" name="テキスト ボックス 45">
            <a:extLst>
              <a:ext uri="{FF2B5EF4-FFF2-40B4-BE49-F238E27FC236}">
                <a16:creationId xmlns:a16="http://schemas.microsoft.com/office/drawing/2014/main" id="{F4FCD680-F856-60CE-0944-0C2028451120}"/>
              </a:ext>
            </a:extLst>
          </p:cNvPr>
          <p:cNvSpPr txBox="1"/>
          <p:nvPr/>
        </p:nvSpPr>
        <p:spPr>
          <a:xfrm>
            <a:off x="1800579" y="3567471"/>
            <a:ext cx="106039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+9.0</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47" name="テキスト ボックス 46">
            <a:extLst>
              <a:ext uri="{FF2B5EF4-FFF2-40B4-BE49-F238E27FC236}">
                <a16:creationId xmlns:a16="http://schemas.microsoft.com/office/drawing/2014/main" id="{F444F5AB-1285-D8E7-245B-932971DAD295}"/>
              </a:ext>
            </a:extLst>
          </p:cNvPr>
          <p:cNvSpPr txBox="1"/>
          <p:nvPr/>
        </p:nvSpPr>
        <p:spPr>
          <a:xfrm>
            <a:off x="2045008" y="5131492"/>
            <a:ext cx="8901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+12.8</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graphicFrame>
        <p:nvGraphicFramePr>
          <p:cNvPr id="59" name="グラフ 58">
            <a:extLst>
              <a:ext uri="{FF2B5EF4-FFF2-40B4-BE49-F238E27FC236}">
                <a16:creationId xmlns:a16="http://schemas.microsoft.com/office/drawing/2014/main" id="{17E4D7F9-31EA-558B-11BE-F85BCB8A0A94}"/>
              </a:ext>
            </a:extLst>
          </p:cNvPr>
          <p:cNvGraphicFramePr/>
          <p:nvPr>
            <p:extLst>
              <p:ext uri="{D42A27DB-BD31-4B8C-83A1-F6EECF244321}">
                <p14:modId xmlns:p14="http://schemas.microsoft.com/office/powerpoint/2010/main" val="2512588256"/>
              </p:ext>
            </p:extLst>
          </p:nvPr>
        </p:nvGraphicFramePr>
        <p:xfrm>
          <a:off x="4277586" y="3170462"/>
          <a:ext cx="3597314" cy="268291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0" name="グラフ 59">
            <a:extLst>
              <a:ext uri="{FF2B5EF4-FFF2-40B4-BE49-F238E27FC236}">
                <a16:creationId xmlns:a16="http://schemas.microsoft.com/office/drawing/2014/main" id="{F16B60B7-A246-FED0-F0ED-2B2E2530A63E}"/>
              </a:ext>
            </a:extLst>
          </p:cNvPr>
          <p:cNvGraphicFramePr/>
          <p:nvPr>
            <p:extLst>
              <p:ext uri="{D42A27DB-BD31-4B8C-83A1-F6EECF244321}">
                <p14:modId xmlns:p14="http://schemas.microsoft.com/office/powerpoint/2010/main" val="2823572338"/>
              </p:ext>
            </p:extLst>
          </p:nvPr>
        </p:nvGraphicFramePr>
        <p:xfrm>
          <a:off x="4418575" y="3037420"/>
          <a:ext cx="3612017" cy="3240980"/>
        </p:xfrm>
        <a:graphic>
          <a:graphicData uri="http://schemas.openxmlformats.org/drawingml/2006/chart">
            <c:chart xmlns:c="http://schemas.openxmlformats.org/drawingml/2006/chart" xmlns:r="http://schemas.openxmlformats.org/officeDocument/2006/relationships" r:id="rId8"/>
          </a:graphicData>
        </a:graphic>
      </p:graphicFrame>
      <p:sp>
        <p:nvSpPr>
          <p:cNvPr id="61" name="テキスト ボックス 60">
            <a:extLst>
              <a:ext uri="{FF2B5EF4-FFF2-40B4-BE49-F238E27FC236}">
                <a16:creationId xmlns:a16="http://schemas.microsoft.com/office/drawing/2014/main" id="{801ABED7-2133-2A70-606D-89D98EEF0558}"/>
              </a:ext>
            </a:extLst>
          </p:cNvPr>
          <p:cNvSpPr txBox="1"/>
          <p:nvPr/>
        </p:nvSpPr>
        <p:spPr>
          <a:xfrm>
            <a:off x="4516389" y="3485037"/>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3,084</a:t>
            </a:r>
          </a:p>
        </p:txBody>
      </p:sp>
      <p:sp>
        <p:nvSpPr>
          <p:cNvPr id="62" name="テキスト ボックス 61">
            <a:extLst>
              <a:ext uri="{FF2B5EF4-FFF2-40B4-BE49-F238E27FC236}">
                <a16:creationId xmlns:a16="http://schemas.microsoft.com/office/drawing/2014/main" id="{E02E6685-C2E2-2976-FDA3-4144D13F64A1}"/>
              </a:ext>
            </a:extLst>
          </p:cNvPr>
          <p:cNvSpPr txBox="1"/>
          <p:nvPr/>
        </p:nvSpPr>
        <p:spPr>
          <a:xfrm>
            <a:off x="5617964" y="4008475"/>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2,196</a:t>
            </a:r>
          </a:p>
        </p:txBody>
      </p:sp>
      <p:sp>
        <p:nvSpPr>
          <p:cNvPr id="63" name="テキスト ボックス 62">
            <a:extLst>
              <a:ext uri="{FF2B5EF4-FFF2-40B4-BE49-F238E27FC236}">
                <a16:creationId xmlns:a16="http://schemas.microsoft.com/office/drawing/2014/main" id="{AD290DAE-34EB-7D6D-65FD-0279806ACD5A}"/>
              </a:ext>
            </a:extLst>
          </p:cNvPr>
          <p:cNvSpPr txBox="1"/>
          <p:nvPr/>
        </p:nvSpPr>
        <p:spPr>
          <a:xfrm>
            <a:off x="6694818" y="5361146"/>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174</a:t>
            </a:r>
          </a:p>
        </p:txBody>
      </p:sp>
      <p:sp>
        <p:nvSpPr>
          <p:cNvPr id="84" name="テキスト ボックス 83">
            <a:extLst>
              <a:ext uri="{FF2B5EF4-FFF2-40B4-BE49-F238E27FC236}">
                <a16:creationId xmlns:a16="http://schemas.microsoft.com/office/drawing/2014/main" id="{0B28149A-5100-077A-6437-6D90F573E365}"/>
              </a:ext>
            </a:extLst>
          </p:cNvPr>
          <p:cNvSpPr txBox="1"/>
          <p:nvPr/>
        </p:nvSpPr>
        <p:spPr>
          <a:xfrm>
            <a:off x="5762091" y="5457045"/>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289</a:t>
            </a:r>
          </a:p>
        </p:txBody>
      </p:sp>
      <p:sp>
        <p:nvSpPr>
          <p:cNvPr id="87" name="テキスト ボックス 86">
            <a:extLst>
              <a:ext uri="{FF2B5EF4-FFF2-40B4-BE49-F238E27FC236}">
                <a16:creationId xmlns:a16="http://schemas.microsoft.com/office/drawing/2014/main" id="{461934CC-6FB7-F47C-5955-B9E6BCF319CF}"/>
              </a:ext>
            </a:extLst>
          </p:cNvPr>
          <p:cNvSpPr txBox="1"/>
          <p:nvPr/>
        </p:nvSpPr>
        <p:spPr>
          <a:xfrm>
            <a:off x="4643717" y="4516843"/>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1,618</a:t>
            </a:r>
          </a:p>
        </p:txBody>
      </p:sp>
      <p:sp>
        <p:nvSpPr>
          <p:cNvPr id="89" name="テキスト ボックス 88">
            <a:extLst>
              <a:ext uri="{FF2B5EF4-FFF2-40B4-BE49-F238E27FC236}">
                <a16:creationId xmlns:a16="http://schemas.microsoft.com/office/drawing/2014/main" id="{AA547731-D585-9C0D-9183-F3CCFF84027D}"/>
              </a:ext>
            </a:extLst>
          </p:cNvPr>
          <p:cNvSpPr txBox="1"/>
          <p:nvPr/>
        </p:nvSpPr>
        <p:spPr>
          <a:xfrm>
            <a:off x="6816677" y="5758805"/>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-55</a:t>
            </a:r>
          </a:p>
        </p:txBody>
      </p:sp>
      <p:sp>
        <p:nvSpPr>
          <p:cNvPr id="96" name="テキスト ボックス 95">
            <a:extLst>
              <a:ext uri="{FF2B5EF4-FFF2-40B4-BE49-F238E27FC236}">
                <a16:creationId xmlns:a16="http://schemas.microsoft.com/office/drawing/2014/main" id="{9B6C00CF-5299-A4B1-38C2-CE2CA767140E}"/>
              </a:ext>
            </a:extLst>
          </p:cNvPr>
          <p:cNvSpPr txBox="1"/>
          <p:nvPr/>
        </p:nvSpPr>
        <p:spPr>
          <a:xfrm>
            <a:off x="4745394" y="2970071"/>
            <a:ext cx="530915" cy="2308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rPr>
              <a:t>成長率</a:t>
            </a:r>
            <a:endParaRPr kumimoji="1" lang="ja-JP" altLang="en-US" sz="900" b="0" i="0" u="none" strike="noStrike" kern="1200" cap="none" spc="0" normalizeH="0" baseline="3000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cxnSp>
        <p:nvCxnSpPr>
          <p:cNvPr id="100" name="直線コネクタ 99">
            <a:extLst>
              <a:ext uri="{FF2B5EF4-FFF2-40B4-BE49-F238E27FC236}">
                <a16:creationId xmlns:a16="http://schemas.microsoft.com/office/drawing/2014/main" id="{0A0EEAE2-E93D-DBA6-05EA-FE3A7191CDEF}"/>
              </a:ext>
            </a:extLst>
          </p:cNvPr>
          <p:cNvCxnSpPr>
            <a:cxnSpLocks/>
          </p:cNvCxnSpPr>
          <p:nvPr/>
        </p:nvCxnSpPr>
        <p:spPr>
          <a:xfrm flipH="1">
            <a:off x="4554960" y="5710677"/>
            <a:ext cx="3158280"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01" name="円/楕円 100">
            <a:extLst>
              <a:ext uri="{FF2B5EF4-FFF2-40B4-BE49-F238E27FC236}">
                <a16:creationId xmlns:a16="http://schemas.microsoft.com/office/drawing/2014/main" id="{E90B6AE4-8548-66B1-5356-CE3EEF9823B2}"/>
              </a:ext>
            </a:extLst>
          </p:cNvPr>
          <p:cNvSpPr>
            <a:spLocks noChangeAspect="1"/>
          </p:cNvSpPr>
          <p:nvPr/>
        </p:nvSpPr>
        <p:spPr>
          <a:xfrm>
            <a:off x="5755733" y="3294406"/>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02" name="テキスト ボックス 101">
            <a:extLst>
              <a:ext uri="{FF2B5EF4-FFF2-40B4-BE49-F238E27FC236}">
                <a16:creationId xmlns:a16="http://schemas.microsoft.com/office/drawing/2014/main" id="{00A6E420-CE36-6202-737A-CF7B9BCE3B78}"/>
              </a:ext>
            </a:extLst>
          </p:cNvPr>
          <p:cNvSpPr txBox="1"/>
          <p:nvPr/>
        </p:nvSpPr>
        <p:spPr>
          <a:xfrm>
            <a:off x="5644654" y="3209817"/>
            <a:ext cx="894796" cy="5078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Sales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Growth Rate</a:t>
            </a:r>
            <a:endPar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103" name="テキスト ボックス 102">
            <a:extLst>
              <a:ext uri="{FF2B5EF4-FFF2-40B4-BE49-F238E27FC236}">
                <a16:creationId xmlns:a16="http://schemas.microsoft.com/office/drawing/2014/main" id="{CD622D24-3980-0094-77D5-8C25927C3967}"/>
              </a:ext>
            </a:extLst>
          </p:cNvPr>
          <p:cNvSpPr txBox="1"/>
          <p:nvPr/>
        </p:nvSpPr>
        <p:spPr>
          <a:xfrm>
            <a:off x="5326288" y="3548477"/>
            <a:ext cx="15134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+6.8</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104" name="円/楕円 103">
            <a:extLst>
              <a:ext uri="{FF2B5EF4-FFF2-40B4-BE49-F238E27FC236}">
                <a16:creationId xmlns:a16="http://schemas.microsoft.com/office/drawing/2014/main" id="{2120AC6B-CDE3-5702-42B5-91B865B1500F}"/>
              </a:ext>
            </a:extLst>
          </p:cNvPr>
          <p:cNvSpPr>
            <a:spLocks noChangeAspect="1"/>
          </p:cNvSpPr>
          <p:nvPr/>
        </p:nvSpPr>
        <p:spPr>
          <a:xfrm>
            <a:off x="4647179" y="2736998"/>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07" name="テキスト ボックス 106">
            <a:extLst>
              <a:ext uri="{FF2B5EF4-FFF2-40B4-BE49-F238E27FC236}">
                <a16:creationId xmlns:a16="http://schemas.microsoft.com/office/drawing/2014/main" id="{90A6E99A-E55A-A7A0-9FAA-E7E5A3B0CF06}"/>
              </a:ext>
            </a:extLst>
          </p:cNvPr>
          <p:cNvSpPr txBox="1"/>
          <p:nvPr/>
        </p:nvSpPr>
        <p:spPr>
          <a:xfrm>
            <a:off x="4531577" y="2674856"/>
            <a:ext cx="8947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Sales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Growth Rate</a:t>
            </a:r>
            <a:endParaRPr kumimoji="1" lang="en-US" altLang="ja-JP" sz="900" b="0" i="0" u="none" strike="noStrike" kern="1200" cap="none" spc="0" normalizeH="0" baseline="0" noProof="0" dirty="0">
              <a:ln>
                <a:noFill/>
              </a:ln>
              <a:solidFill>
                <a:srgbClr val="142FA4"/>
              </a:solidFill>
              <a:effectLst/>
              <a:uLnTx/>
              <a:uFillTx/>
              <a:latin typeface="Poppins" panose="00000500000000000000" pitchFamily="2" charset="0"/>
              <a:ea typeface="M PLUS 1p" panose="020B0502020203020207" pitchFamily="34" charset="-128"/>
              <a:cs typeface="Poppins" pitchFamily="2" charset="0"/>
            </a:endParaRPr>
          </a:p>
        </p:txBody>
      </p:sp>
      <p:sp>
        <p:nvSpPr>
          <p:cNvPr id="109" name="テキスト ボックス 108">
            <a:extLst>
              <a:ext uri="{FF2B5EF4-FFF2-40B4-BE49-F238E27FC236}">
                <a16:creationId xmlns:a16="http://schemas.microsoft.com/office/drawing/2014/main" id="{95488FE3-8E6C-ACA8-B1C5-E95B922609C2}"/>
              </a:ext>
            </a:extLst>
          </p:cNvPr>
          <p:cNvSpPr txBox="1"/>
          <p:nvPr/>
        </p:nvSpPr>
        <p:spPr>
          <a:xfrm>
            <a:off x="4206055" y="3012852"/>
            <a:ext cx="15134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+9.0</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110" name="円/楕円 109">
            <a:extLst>
              <a:ext uri="{FF2B5EF4-FFF2-40B4-BE49-F238E27FC236}">
                <a16:creationId xmlns:a16="http://schemas.microsoft.com/office/drawing/2014/main" id="{805262B0-929D-4E41-EDD5-3DA7BD15A0A7}"/>
              </a:ext>
            </a:extLst>
          </p:cNvPr>
          <p:cNvSpPr>
            <a:spLocks noChangeAspect="1"/>
          </p:cNvSpPr>
          <p:nvPr/>
        </p:nvSpPr>
        <p:spPr>
          <a:xfrm>
            <a:off x="6864654" y="4695901"/>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游ゴシック" panose="020B0400000000000000" pitchFamily="50" charset="-128"/>
              <a:cs typeface="+mn-cs"/>
            </a:endParaRPr>
          </a:p>
        </p:txBody>
      </p:sp>
      <p:sp>
        <p:nvSpPr>
          <p:cNvPr id="111" name="テキスト ボックス 110">
            <a:extLst>
              <a:ext uri="{FF2B5EF4-FFF2-40B4-BE49-F238E27FC236}">
                <a16:creationId xmlns:a16="http://schemas.microsoft.com/office/drawing/2014/main" id="{9C339A49-3299-7726-E145-F0DEA6628409}"/>
              </a:ext>
            </a:extLst>
          </p:cNvPr>
          <p:cNvSpPr txBox="1"/>
          <p:nvPr/>
        </p:nvSpPr>
        <p:spPr>
          <a:xfrm>
            <a:off x="6749617" y="4663709"/>
            <a:ext cx="894796" cy="5078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Sales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Growth Rate</a:t>
            </a:r>
            <a:endPar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112" name="テキスト ボックス 111">
            <a:extLst>
              <a:ext uri="{FF2B5EF4-FFF2-40B4-BE49-F238E27FC236}">
                <a16:creationId xmlns:a16="http://schemas.microsoft.com/office/drawing/2014/main" id="{62E4687F-B3C0-37DA-FB99-71D7ED983382}"/>
              </a:ext>
            </a:extLst>
          </p:cNvPr>
          <p:cNvSpPr txBox="1"/>
          <p:nvPr/>
        </p:nvSpPr>
        <p:spPr>
          <a:xfrm>
            <a:off x="6423528" y="4989608"/>
            <a:ext cx="15134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+46.3</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113" name="テキスト ボックス 112">
            <a:extLst>
              <a:ext uri="{FF2B5EF4-FFF2-40B4-BE49-F238E27FC236}">
                <a16:creationId xmlns:a16="http://schemas.microsoft.com/office/drawing/2014/main" id="{E18337A8-580E-790F-3AB8-1EDB93B33C06}"/>
              </a:ext>
            </a:extLst>
          </p:cNvPr>
          <p:cNvSpPr txBox="1"/>
          <p:nvPr/>
        </p:nvSpPr>
        <p:spPr>
          <a:xfrm>
            <a:off x="5433391" y="5701115"/>
            <a:ext cx="1325219" cy="421141"/>
          </a:xfrm>
          <a:prstGeom prst="rect">
            <a:avLst/>
          </a:prstGeom>
          <a:noFill/>
        </p:spPr>
        <p:txBody>
          <a:bodyPr wrap="square">
            <a:spAutoFit/>
          </a:bodyPr>
          <a:lstStyle/>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FY2026 </a:t>
            </a:r>
          </a:p>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rPr>
              <a:t>Plan</a:t>
            </a:r>
          </a:p>
        </p:txBody>
      </p:sp>
      <p:sp>
        <p:nvSpPr>
          <p:cNvPr id="9" name="テキスト ボックス 8">
            <a:extLst>
              <a:ext uri="{FF2B5EF4-FFF2-40B4-BE49-F238E27FC236}">
                <a16:creationId xmlns:a16="http://schemas.microsoft.com/office/drawing/2014/main" id="{111B4C97-4666-D56E-674A-9227E3B3F09B}"/>
              </a:ext>
            </a:extLst>
          </p:cNvPr>
          <p:cNvSpPr txBox="1"/>
          <p:nvPr/>
        </p:nvSpPr>
        <p:spPr>
          <a:xfrm>
            <a:off x="8583617" y="4037497"/>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1,202</a:t>
            </a:r>
          </a:p>
        </p:txBody>
      </p:sp>
      <p:sp>
        <p:nvSpPr>
          <p:cNvPr id="10" name="テキスト ボックス 9">
            <a:extLst>
              <a:ext uri="{FF2B5EF4-FFF2-40B4-BE49-F238E27FC236}">
                <a16:creationId xmlns:a16="http://schemas.microsoft.com/office/drawing/2014/main" id="{BCF24D47-236A-38A7-5609-2AABFBBFF2CF}"/>
              </a:ext>
            </a:extLst>
          </p:cNvPr>
          <p:cNvSpPr txBox="1"/>
          <p:nvPr/>
        </p:nvSpPr>
        <p:spPr>
          <a:xfrm>
            <a:off x="10096699" y="3294406"/>
            <a:ext cx="9292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white"/>
                </a:solidFill>
                <a:effectLst/>
                <a:uLnTx/>
                <a:uFillTx/>
                <a:latin typeface="Poppins SemiBold" pitchFamily="2" charset="0"/>
                <a:ea typeface="M PLUS 1p" panose="020B0502020203020207" pitchFamily="34" charset="-128"/>
                <a:cs typeface="Poppins SemiBold" pitchFamily="2" charset="0"/>
              </a:rPr>
              <a:t>1,731</a:t>
            </a:r>
          </a:p>
        </p:txBody>
      </p:sp>
      <p:cxnSp>
        <p:nvCxnSpPr>
          <p:cNvPr id="13" name="直線矢印コネクタ 12">
            <a:extLst>
              <a:ext uri="{FF2B5EF4-FFF2-40B4-BE49-F238E27FC236}">
                <a16:creationId xmlns:a16="http://schemas.microsoft.com/office/drawing/2014/main" id="{7C8A8871-E1BC-4FC8-D125-92221DDEF584}"/>
              </a:ext>
            </a:extLst>
          </p:cNvPr>
          <p:cNvCxnSpPr>
            <a:cxnSpLocks/>
          </p:cNvCxnSpPr>
          <p:nvPr/>
        </p:nvCxnSpPr>
        <p:spPr>
          <a:xfrm flipV="1">
            <a:off x="9424687" y="3746853"/>
            <a:ext cx="734383" cy="908369"/>
          </a:xfrm>
          <a:prstGeom prst="straightConnector1">
            <a:avLst/>
          </a:prstGeom>
          <a:ln w="25400">
            <a:solidFill>
              <a:srgbClr val="142FA4"/>
            </a:solidFill>
            <a:tailEnd type="triangle"/>
          </a:ln>
        </p:spPr>
        <p:style>
          <a:lnRef idx="2">
            <a:schemeClr val="accent1"/>
          </a:lnRef>
          <a:fillRef idx="0">
            <a:schemeClr val="accent1"/>
          </a:fillRef>
          <a:effectRef idx="1">
            <a:schemeClr val="accent1"/>
          </a:effectRef>
          <a:fontRef idx="minor">
            <a:schemeClr val="tx1"/>
          </a:fontRef>
        </p:style>
      </p:cxnSp>
      <p:sp>
        <p:nvSpPr>
          <p:cNvPr id="14" name="円/楕円 13">
            <a:extLst>
              <a:ext uri="{FF2B5EF4-FFF2-40B4-BE49-F238E27FC236}">
                <a16:creationId xmlns:a16="http://schemas.microsoft.com/office/drawing/2014/main" id="{ADD55C4C-6129-B2BF-92F9-50937BD199FE}"/>
              </a:ext>
            </a:extLst>
          </p:cNvPr>
          <p:cNvSpPr>
            <a:spLocks noChangeAspect="1"/>
          </p:cNvSpPr>
          <p:nvPr/>
        </p:nvSpPr>
        <p:spPr>
          <a:xfrm>
            <a:off x="9450087" y="3885497"/>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34" name="テキスト ボックス 33">
            <a:extLst>
              <a:ext uri="{FF2B5EF4-FFF2-40B4-BE49-F238E27FC236}">
                <a16:creationId xmlns:a16="http://schemas.microsoft.com/office/drawing/2014/main" id="{8A562724-272A-AAE0-83EA-23A02BC2FCEB}"/>
              </a:ext>
            </a:extLst>
          </p:cNvPr>
          <p:cNvSpPr txBox="1"/>
          <p:nvPr/>
        </p:nvSpPr>
        <p:spPr>
          <a:xfrm>
            <a:off x="9021663" y="4186451"/>
            <a:ext cx="15134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+44.1</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36" name="テキスト ボックス 35">
            <a:extLst>
              <a:ext uri="{FF2B5EF4-FFF2-40B4-BE49-F238E27FC236}">
                <a16:creationId xmlns:a16="http://schemas.microsoft.com/office/drawing/2014/main" id="{37EC9CB0-982A-97BB-46F0-635FF9749E5D}"/>
              </a:ext>
            </a:extLst>
          </p:cNvPr>
          <p:cNvSpPr txBox="1"/>
          <p:nvPr/>
        </p:nvSpPr>
        <p:spPr>
          <a:xfrm>
            <a:off x="9317261" y="3792814"/>
            <a:ext cx="904415" cy="6001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Subscription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Billing Sales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9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Growth Rate</a:t>
            </a:r>
            <a:endParaRPr kumimoji="1" lang="en-US" altLang="ja-JP" sz="900" b="0" i="0" u="none" strike="noStrike" kern="1200" cap="none" spc="0" normalizeH="0" baseline="0" noProof="0" dirty="0">
              <a:ln>
                <a:noFill/>
              </a:ln>
              <a:solidFill>
                <a:srgbClr val="142FA4"/>
              </a:solidFill>
              <a:effectLst/>
              <a:uLnTx/>
              <a:uFillTx/>
              <a:latin typeface="Poppins" panose="00000500000000000000" pitchFamily="2" charset="0"/>
              <a:ea typeface="M PLUS 1p" panose="020B0502020203020207" pitchFamily="34" charset="-128"/>
              <a:cs typeface="Poppins"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3000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cxnSp>
        <p:nvCxnSpPr>
          <p:cNvPr id="37" name="直線コネクタ 36">
            <a:extLst>
              <a:ext uri="{FF2B5EF4-FFF2-40B4-BE49-F238E27FC236}">
                <a16:creationId xmlns:a16="http://schemas.microsoft.com/office/drawing/2014/main" id="{58EFA9F2-D6F2-B322-0657-A922EF1D26F7}"/>
              </a:ext>
            </a:extLst>
          </p:cNvPr>
          <p:cNvCxnSpPr>
            <a:cxnSpLocks/>
          </p:cNvCxnSpPr>
          <p:nvPr/>
        </p:nvCxnSpPr>
        <p:spPr>
          <a:xfrm flipH="1">
            <a:off x="8213619" y="5710677"/>
            <a:ext cx="3158280"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38" name="円/楕円 37">
            <a:extLst>
              <a:ext uri="{FF2B5EF4-FFF2-40B4-BE49-F238E27FC236}">
                <a16:creationId xmlns:a16="http://schemas.microsoft.com/office/drawing/2014/main" id="{75EEEBC0-8B0C-9174-3201-872E79892BEB}"/>
              </a:ext>
            </a:extLst>
          </p:cNvPr>
          <p:cNvSpPr>
            <a:spLocks noChangeAspect="1"/>
          </p:cNvSpPr>
          <p:nvPr/>
        </p:nvSpPr>
        <p:spPr>
          <a:xfrm>
            <a:off x="9450087" y="2640897"/>
            <a:ext cx="631196" cy="631346"/>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39" name="テキスト ボックス 38">
            <a:extLst>
              <a:ext uri="{FF2B5EF4-FFF2-40B4-BE49-F238E27FC236}">
                <a16:creationId xmlns:a16="http://schemas.microsoft.com/office/drawing/2014/main" id="{2C6D8DB4-B7CB-4F8D-7021-1AA405C8D6DA}"/>
              </a:ext>
            </a:extLst>
          </p:cNvPr>
          <p:cNvSpPr txBox="1"/>
          <p:nvPr/>
        </p:nvSpPr>
        <p:spPr>
          <a:xfrm>
            <a:off x="9021663" y="2890669"/>
            <a:ext cx="15134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+37.7</a:t>
            </a:r>
            <a:r>
              <a:rPr kumimoji="1" lang="en-US" altLang="ja-JP"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05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40" name="テキスト ボックス 39">
            <a:extLst>
              <a:ext uri="{FF2B5EF4-FFF2-40B4-BE49-F238E27FC236}">
                <a16:creationId xmlns:a16="http://schemas.microsoft.com/office/drawing/2014/main" id="{ADD02E60-B98E-D74F-0AB3-D568FA4A3D0C}"/>
              </a:ext>
            </a:extLst>
          </p:cNvPr>
          <p:cNvSpPr txBox="1"/>
          <p:nvPr/>
        </p:nvSpPr>
        <p:spPr>
          <a:xfrm>
            <a:off x="9341582" y="2650962"/>
            <a:ext cx="849912"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Subscription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Growth Rate</a:t>
            </a:r>
            <a:endParaRPr kumimoji="1" lang="ja-JP" altLang="en-US"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endParaRPr>
          </a:p>
        </p:txBody>
      </p:sp>
      <p:sp>
        <p:nvSpPr>
          <p:cNvPr id="43" name="テキスト ボックス 42">
            <a:extLst>
              <a:ext uri="{FF2B5EF4-FFF2-40B4-BE49-F238E27FC236}">
                <a16:creationId xmlns:a16="http://schemas.microsoft.com/office/drawing/2014/main" id="{26E4B560-59B6-3322-4ED9-10723910EA54}"/>
              </a:ext>
            </a:extLst>
          </p:cNvPr>
          <p:cNvSpPr txBox="1"/>
          <p:nvPr/>
        </p:nvSpPr>
        <p:spPr>
          <a:xfrm>
            <a:off x="9929485" y="5701115"/>
            <a:ext cx="1325219" cy="421141"/>
          </a:xfrm>
          <a:prstGeom prst="rect">
            <a:avLst/>
          </a:prstGeom>
          <a:noFill/>
        </p:spPr>
        <p:txBody>
          <a:bodyPr wrap="square">
            <a:spAutoFit/>
          </a:bodyPr>
          <a:lstStyle/>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rPr>
              <a:t>FY2026 </a:t>
            </a:r>
          </a:p>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rPr>
              <a:t>Plan</a:t>
            </a:r>
            <a:endParaRPr kumimoji="1" lang="ja-JP" altLang="en-US" sz="105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endParaRPr>
          </a:p>
        </p:txBody>
      </p:sp>
      <p:sp>
        <p:nvSpPr>
          <p:cNvPr id="45" name="テキスト ボックス 44">
            <a:extLst>
              <a:ext uri="{FF2B5EF4-FFF2-40B4-BE49-F238E27FC236}">
                <a16:creationId xmlns:a16="http://schemas.microsoft.com/office/drawing/2014/main" id="{254DAAC7-4FF3-F8E2-E249-CE596D2A6D48}"/>
              </a:ext>
            </a:extLst>
          </p:cNvPr>
          <p:cNvSpPr txBox="1"/>
          <p:nvPr/>
        </p:nvSpPr>
        <p:spPr>
          <a:xfrm>
            <a:off x="8417843" y="5701115"/>
            <a:ext cx="1325219" cy="421141"/>
          </a:xfrm>
          <a:prstGeom prst="rect">
            <a:avLst/>
          </a:prstGeom>
          <a:noFill/>
        </p:spPr>
        <p:txBody>
          <a:bodyPr wrap="square">
            <a:spAutoFit/>
          </a:bodyPr>
          <a:lstStyle/>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rPr>
              <a:t>FY2025 </a:t>
            </a:r>
          </a:p>
          <a:p>
            <a:pPr marL="0" marR="0" lvl="0" indent="0" algn="ctr" defTabSz="914400" rtl="0" eaLnBrk="1" fontAlgn="auto" latinLnBrk="0" hangingPunct="1">
              <a:lnSpc>
                <a:spcPts val="126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rPr>
              <a:t>Results</a:t>
            </a:r>
            <a:endParaRPr kumimoji="1" lang="ja-JP" altLang="en-US" sz="105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endParaRPr>
          </a:p>
        </p:txBody>
      </p:sp>
      <p:sp>
        <p:nvSpPr>
          <p:cNvPr id="49" name="テキスト ボックス 48">
            <a:extLst>
              <a:ext uri="{FF2B5EF4-FFF2-40B4-BE49-F238E27FC236}">
                <a16:creationId xmlns:a16="http://schemas.microsoft.com/office/drawing/2014/main" id="{D6E852AD-F77C-830B-6C6D-65C9CDECB8C2}"/>
              </a:ext>
            </a:extLst>
          </p:cNvPr>
          <p:cNvSpPr txBox="1"/>
          <p:nvPr/>
        </p:nvSpPr>
        <p:spPr>
          <a:xfrm>
            <a:off x="8384360" y="2058863"/>
            <a:ext cx="2813591" cy="266740"/>
          </a:xfrm>
          <a:prstGeom prst="rect">
            <a:avLst/>
          </a:prstGeom>
          <a:noFill/>
        </p:spPr>
        <p:txBody>
          <a:bodyPr wrap="none" rtlCol="0">
            <a:spAutoFit/>
          </a:bodyPr>
          <a:lstStyle/>
          <a:p>
            <a:pPr marL="0" marR="0" lvl="0" indent="0" algn="l" defTabSz="914400" rtl="0" eaLnBrk="1" fontAlgn="auto" latinLnBrk="0" hangingPunct="1">
              <a:lnSpc>
                <a:spcPts val="152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rPr>
              <a:t> </a:t>
            </a:r>
            <a:r>
              <a:rPr kumimoji="1" lang="en-AU" altLang="ja-JP"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Sales </a:t>
            </a:r>
            <a:r>
              <a:rPr kumimoji="1" lang="ja-JP" altLang="en-US" sz="800" b="0" i="0" u="none" strike="noStrike" kern="1200" cap="none" spc="0" normalizeH="0" baseline="0" noProof="0" dirty="0">
                <a:ln>
                  <a:noFill/>
                </a:ln>
                <a:solidFill>
                  <a:prstClr val="black"/>
                </a:solidFill>
                <a:effectLst/>
                <a:uLnTx/>
                <a:uFillTx/>
                <a:latin typeface="Poppins" panose="00000500000000000000" pitchFamily="2" charset="0"/>
                <a:ea typeface="M PLUS 1p Medium" panose="020B0502020203020207" pitchFamily="34" charset="-128"/>
                <a:cs typeface="Poppins" panose="00000500000000000000" pitchFamily="2" charset="0"/>
              </a:rPr>
              <a:t>　</a:t>
            </a:r>
            <a:r>
              <a:rPr kumimoji="1" lang="ja-JP" altLang="en-US" sz="8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a:t>
            </a:r>
            <a:r>
              <a:rPr kumimoji="1" lang="en-US" altLang="ja-JP" sz="8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rPr>
              <a:t>  </a:t>
            </a:r>
            <a:r>
              <a:rPr kumimoji="1" lang="en-AU" altLang="ja-JP"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Subscription Contracts (thousands</a:t>
            </a:r>
            <a:r>
              <a:rPr kumimoji="1" lang="ja-JP" altLang="en-US"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a:t>
            </a:r>
            <a:endParaRPr kumimoji="1" lang="en-US" altLang="ja-JP" sz="8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endParaRPr>
          </a:p>
        </p:txBody>
      </p:sp>
      <p:sp>
        <p:nvSpPr>
          <p:cNvPr id="64" name="テキスト ボックス 63">
            <a:extLst>
              <a:ext uri="{FF2B5EF4-FFF2-40B4-BE49-F238E27FC236}">
                <a16:creationId xmlns:a16="http://schemas.microsoft.com/office/drawing/2014/main" id="{C1860965-FF40-D2DF-183C-C9C8C3A96817}"/>
              </a:ext>
            </a:extLst>
          </p:cNvPr>
          <p:cNvSpPr txBox="1"/>
          <p:nvPr/>
        </p:nvSpPr>
        <p:spPr>
          <a:xfrm>
            <a:off x="8973801" y="1736224"/>
            <a:ext cx="1583767"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Subscriptions: Sales</a:t>
            </a:r>
          </a:p>
        </p:txBody>
      </p:sp>
      <p:sp>
        <p:nvSpPr>
          <p:cNvPr id="78" name="テキスト ボックス 77">
            <a:extLst>
              <a:ext uri="{FF2B5EF4-FFF2-40B4-BE49-F238E27FC236}">
                <a16:creationId xmlns:a16="http://schemas.microsoft.com/office/drawing/2014/main" id="{6474B5E4-1DB7-D867-92ED-3D34D4C9D42E}"/>
              </a:ext>
            </a:extLst>
          </p:cNvPr>
          <p:cNvSpPr txBox="1"/>
          <p:nvPr/>
        </p:nvSpPr>
        <p:spPr>
          <a:xfrm>
            <a:off x="4428877" y="1736224"/>
            <a:ext cx="3334246"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By Segment: Net Sales and Operating Profit</a:t>
            </a:r>
          </a:p>
        </p:txBody>
      </p:sp>
      <p:sp>
        <p:nvSpPr>
          <p:cNvPr id="79" name="テキスト ボックス 78">
            <a:extLst>
              <a:ext uri="{FF2B5EF4-FFF2-40B4-BE49-F238E27FC236}">
                <a16:creationId xmlns:a16="http://schemas.microsoft.com/office/drawing/2014/main" id="{A9AE8CFE-D9A9-4ECC-A212-7EED4D29441A}"/>
              </a:ext>
            </a:extLst>
          </p:cNvPr>
          <p:cNvSpPr txBox="1"/>
          <p:nvPr/>
        </p:nvSpPr>
        <p:spPr>
          <a:xfrm>
            <a:off x="1765254" y="1736224"/>
            <a:ext cx="1267975"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Company-wide:</a:t>
            </a:r>
          </a:p>
        </p:txBody>
      </p:sp>
      <p:sp>
        <p:nvSpPr>
          <p:cNvPr id="80" name="テキスト ボックス 79">
            <a:extLst>
              <a:ext uri="{FF2B5EF4-FFF2-40B4-BE49-F238E27FC236}">
                <a16:creationId xmlns:a16="http://schemas.microsoft.com/office/drawing/2014/main" id="{F85573CF-8FFA-EC4D-49D1-1F399A022ECB}"/>
              </a:ext>
            </a:extLst>
          </p:cNvPr>
          <p:cNvSpPr txBox="1"/>
          <p:nvPr/>
        </p:nvSpPr>
        <p:spPr>
          <a:xfrm>
            <a:off x="1236263" y="1947239"/>
            <a:ext cx="2325957" cy="184666"/>
          </a:xfrm>
          <a:prstGeom prst="rect">
            <a:avLst/>
          </a:prstGeom>
          <a:solidFill>
            <a:srgbClr val="C0FF00"/>
          </a:solidFill>
          <a:scene3d>
            <a:camera prst="orthographicFront">
              <a:rot lat="4500000" lon="0" rev="0"/>
            </a:camera>
            <a:lightRig rig="flat" dir="t"/>
          </a:scene3d>
          <a:sp3d z="508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Net Sales and Operating Profit</a:t>
            </a:r>
          </a:p>
        </p:txBody>
      </p:sp>
      <p:cxnSp>
        <p:nvCxnSpPr>
          <p:cNvPr id="8" name="直線コネクタ 7">
            <a:extLst>
              <a:ext uri="{FF2B5EF4-FFF2-40B4-BE49-F238E27FC236}">
                <a16:creationId xmlns:a16="http://schemas.microsoft.com/office/drawing/2014/main" id="{F72041E5-53CF-0989-7A5A-C7617B7DE0AF}"/>
              </a:ext>
            </a:extLst>
          </p:cNvPr>
          <p:cNvCxnSpPr>
            <a:cxnSpLocks/>
          </p:cNvCxnSpPr>
          <p:nvPr/>
        </p:nvCxnSpPr>
        <p:spPr>
          <a:xfrm flipH="1">
            <a:off x="8963814" y="2209874"/>
            <a:ext cx="168854" cy="0"/>
          </a:xfrm>
          <a:prstGeom prst="line">
            <a:avLst/>
          </a:prstGeom>
          <a:ln w="19050">
            <a:solidFill>
              <a:srgbClr val="00A7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8392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6B91-71DD-DDCB-3787-5C1C5DA4B49D}"/>
            </a:ext>
          </a:extLst>
        </p:cNvPr>
        <p:cNvGrpSpPr/>
        <p:nvPr/>
      </p:nvGrpSpPr>
      <p:grpSpPr>
        <a:xfrm>
          <a:off x="0" y="0"/>
          <a:ext cx="0" cy="0"/>
          <a:chOff x="0" y="0"/>
          <a:chExt cx="0" cy="0"/>
        </a:xfrm>
      </p:grpSpPr>
      <p:sp>
        <p:nvSpPr>
          <p:cNvPr id="3" name="角丸四角形 2">
            <a:extLst>
              <a:ext uri="{FF2B5EF4-FFF2-40B4-BE49-F238E27FC236}">
                <a16:creationId xmlns:a16="http://schemas.microsoft.com/office/drawing/2014/main" id="{08167E51-8D2B-7DC6-AD24-BE5AFE56E545}"/>
              </a:ext>
            </a:extLst>
          </p:cNvPr>
          <p:cNvSpPr/>
          <p:nvPr/>
        </p:nvSpPr>
        <p:spPr>
          <a:xfrm>
            <a:off x="235528" y="1604075"/>
            <a:ext cx="11720944" cy="4669725"/>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graphicFrame>
        <p:nvGraphicFramePr>
          <p:cNvPr id="13" name="表 12">
            <a:extLst>
              <a:ext uri="{FF2B5EF4-FFF2-40B4-BE49-F238E27FC236}">
                <a16:creationId xmlns:a16="http://schemas.microsoft.com/office/drawing/2014/main" id="{BD3BD821-9D79-6424-A10C-94ED2F0578DA}"/>
              </a:ext>
            </a:extLst>
          </p:cNvPr>
          <p:cNvGraphicFramePr>
            <a:graphicFrameLocks noGrp="1"/>
          </p:cNvGraphicFramePr>
          <p:nvPr>
            <p:extLst>
              <p:ext uri="{D42A27DB-BD31-4B8C-83A1-F6EECF244321}">
                <p14:modId xmlns:p14="http://schemas.microsoft.com/office/powerpoint/2010/main" val="4079307552"/>
              </p:ext>
            </p:extLst>
          </p:nvPr>
        </p:nvGraphicFramePr>
        <p:xfrm>
          <a:off x="422199" y="1759145"/>
          <a:ext cx="11347603" cy="4338002"/>
        </p:xfrm>
        <a:graphic>
          <a:graphicData uri="http://schemas.openxmlformats.org/drawingml/2006/table">
            <a:tbl>
              <a:tblPr firstRow="1" bandRow="1">
                <a:tableStyleId>{5C22544A-7EE6-4342-B048-85BDC9FD1C3A}</a:tableStyleId>
              </a:tblPr>
              <a:tblGrid>
                <a:gridCol w="4537255">
                  <a:extLst>
                    <a:ext uri="{9D8B030D-6E8A-4147-A177-3AD203B41FA5}">
                      <a16:colId xmlns:a16="http://schemas.microsoft.com/office/drawing/2014/main" val="1410425446"/>
                    </a:ext>
                  </a:extLst>
                </a:gridCol>
                <a:gridCol w="1135058">
                  <a:extLst>
                    <a:ext uri="{9D8B030D-6E8A-4147-A177-3AD203B41FA5}">
                      <a16:colId xmlns:a16="http://schemas.microsoft.com/office/drawing/2014/main" val="818836505"/>
                    </a:ext>
                  </a:extLst>
                </a:gridCol>
                <a:gridCol w="1135058">
                  <a:extLst>
                    <a:ext uri="{9D8B030D-6E8A-4147-A177-3AD203B41FA5}">
                      <a16:colId xmlns:a16="http://schemas.microsoft.com/office/drawing/2014/main" val="1630535487"/>
                    </a:ext>
                  </a:extLst>
                </a:gridCol>
                <a:gridCol w="1135058">
                  <a:extLst>
                    <a:ext uri="{9D8B030D-6E8A-4147-A177-3AD203B41FA5}">
                      <a16:colId xmlns:a16="http://schemas.microsoft.com/office/drawing/2014/main" val="1121811051"/>
                    </a:ext>
                  </a:extLst>
                </a:gridCol>
                <a:gridCol w="1135058">
                  <a:extLst>
                    <a:ext uri="{9D8B030D-6E8A-4147-A177-3AD203B41FA5}">
                      <a16:colId xmlns:a16="http://schemas.microsoft.com/office/drawing/2014/main" val="636456726"/>
                    </a:ext>
                  </a:extLst>
                </a:gridCol>
                <a:gridCol w="1135058">
                  <a:extLst>
                    <a:ext uri="{9D8B030D-6E8A-4147-A177-3AD203B41FA5}">
                      <a16:colId xmlns:a16="http://schemas.microsoft.com/office/drawing/2014/main" val="218235059"/>
                    </a:ext>
                  </a:extLst>
                </a:gridCol>
                <a:gridCol w="1135058">
                  <a:extLst>
                    <a:ext uri="{9D8B030D-6E8A-4147-A177-3AD203B41FA5}">
                      <a16:colId xmlns:a16="http://schemas.microsoft.com/office/drawing/2014/main" val="1937909780"/>
                    </a:ext>
                  </a:extLst>
                </a:gridCol>
              </a:tblGrid>
              <a:tr h="303952">
                <a:tc>
                  <a:txBody>
                    <a:bodyPr/>
                    <a:lstStyle/>
                    <a:p>
                      <a:pPr algn="l" fontAlgn="ctr">
                        <a:buNone/>
                      </a:pPr>
                      <a:r>
                        <a:rPr lang="ja-JP" altLang="en-US" sz="1100" b="0" i="0" u="none" strike="noStrike" dirty="0">
                          <a:solidFill>
                            <a:schemeClr val="bg1"/>
                          </a:solidFill>
                          <a:effectLst/>
                          <a:latin typeface="Poppins Medium"/>
                          <a:ea typeface="M PLUS 1p Medium"/>
                          <a:cs typeface="Poppins Medium"/>
                        </a:rPr>
                        <a:t>　</a:t>
                      </a:r>
                    </a:p>
                  </a:txBody>
                  <a:tcPr marL="9375" marR="9375" marT="9375" marB="0" anchor="ctr">
                    <a:lnL w="635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142FA4"/>
                    </a:solidFill>
                  </a:tcPr>
                </a:tc>
                <a:tc gridSpan="2">
                  <a:txBody>
                    <a:bodyPr/>
                    <a:lstStyle/>
                    <a:p>
                      <a:pPr algn="ctr" fontAlgn="ctr">
                        <a:buNone/>
                      </a:pPr>
                      <a:r>
                        <a:rPr lang="en-AU" altLang="ja-JP" sz="1400" b="0" i="0" dirty="0">
                          <a:latin typeface="Poppins"/>
                        </a:rPr>
                        <a:t>Results</a:t>
                      </a:r>
                      <a:endParaRPr lang="ja-JP" altLang="en-US" sz="1400" b="0" i="0" u="none" strike="noStrike" dirty="0">
                        <a:solidFill>
                          <a:schemeClr val="bg1"/>
                        </a:solidFill>
                        <a:effectLst/>
                        <a:latin typeface="Poppins"/>
                        <a:ea typeface="M PLUS 1p" panose="020B0502020203020207" pitchFamily="34" charset="-128"/>
                        <a:cs typeface="Poppins" pitchFamily="2" charset="0"/>
                      </a:endParaRPr>
                    </a:p>
                  </a:txBody>
                  <a:tcPr marL="90467" marR="90467" marT="45233" marB="45233"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2FA4"/>
                    </a:solidFill>
                  </a:tcPr>
                </a:tc>
                <a:tc hMerge="1">
                  <a:txBody>
                    <a:bodyPr/>
                    <a:lstStyle/>
                    <a:p>
                      <a:endParaRPr kumimoji="1" lang="ja-JP" altLang="en-US"/>
                    </a:p>
                  </a:txBody>
                  <a:tcPr/>
                </a:tc>
                <a:tc gridSpan="4">
                  <a:txBody>
                    <a:bodyPr/>
                    <a:lstStyle/>
                    <a:p>
                      <a:pPr algn="ctr" fontAlgn="ctr">
                        <a:buNone/>
                      </a:pPr>
                      <a:r>
                        <a:rPr lang="en-US" altLang="ja-JP" sz="1400" b="0" i="0" u="none" strike="noStrike" dirty="0">
                          <a:solidFill>
                            <a:schemeClr val="bg1"/>
                          </a:solidFill>
                          <a:effectLst/>
                          <a:latin typeface="Poppins"/>
                          <a:ea typeface="M PLUS 1p"/>
                          <a:cs typeface="Poppins"/>
                        </a:rPr>
                        <a:t>Plan</a:t>
                      </a:r>
                      <a:endParaRPr lang="ja-JP" altLang="en-US" sz="1400" b="0" i="0" u="none" strike="noStrike" dirty="0">
                        <a:solidFill>
                          <a:schemeClr val="bg1"/>
                        </a:solidFill>
                        <a:effectLst/>
                        <a:latin typeface="Poppins"/>
                        <a:ea typeface="M PLUS 1p"/>
                        <a:cs typeface="Poppins"/>
                      </a:endParaRPr>
                    </a:p>
                  </a:txBody>
                  <a:tcPr marL="90467" marR="90467" marT="45233" marB="45233" anchor="ctr">
                    <a:lnL w="952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2FA4"/>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48185269"/>
                  </a:ext>
                </a:extLst>
              </a:tr>
              <a:tr h="299732">
                <a:tc>
                  <a:txBody>
                    <a:bodyPr/>
                    <a:lstStyle/>
                    <a:p>
                      <a:pPr algn="r" fontAlgn="ctr">
                        <a:buNone/>
                      </a:pPr>
                      <a:r>
                        <a:rPr lang="ja-JP" altLang="en-US" sz="1100" b="0" i="0" u="none" strike="noStrike">
                          <a:solidFill>
                            <a:schemeClr val="bg1"/>
                          </a:solidFill>
                          <a:effectLst/>
                          <a:latin typeface="Poppins"/>
                          <a:ea typeface="M PLUS 1p"/>
                          <a:cs typeface="Poppins"/>
                        </a:rPr>
                        <a:t>　（</a:t>
                      </a:r>
                      <a:r>
                        <a:rPr lang="en-AU" altLang="ja-JP" sz="1100" b="0" i="0" dirty="0">
                          <a:solidFill>
                            <a:schemeClr val="bg1"/>
                          </a:solidFill>
                          <a:latin typeface="Poppins"/>
                          <a:cs typeface="Poppins"/>
                        </a:rPr>
                        <a:t>Unit: million yen</a:t>
                      </a:r>
                      <a:r>
                        <a:rPr lang="ja-JP" altLang="en-US" sz="1100" b="0" i="0" u="none" strike="noStrike">
                          <a:solidFill>
                            <a:schemeClr val="bg1"/>
                          </a:solidFill>
                          <a:effectLst/>
                          <a:latin typeface="Poppins"/>
                          <a:ea typeface="M PLUS 1p"/>
                          <a:cs typeface="Poppins"/>
                        </a:rPr>
                        <a:t>）</a:t>
                      </a:r>
                    </a:p>
                  </a:txBody>
                  <a:tcPr marL="9375" marR="9375" marT="9375" marB="0" anchor="ctr">
                    <a:lnL w="635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8100" cmpd="sng">
                      <a:noFill/>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142FA4"/>
                    </a:solidFill>
                  </a:tcPr>
                </a:tc>
                <a:tc>
                  <a:txBody>
                    <a:bodyPr/>
                    <a:lstStyle/>
                    <a:p>
                      <a:pPr algn="ctr" fontAlgn="ctr">
                        <a:buNone/>
                      </a:pPr>
                      <a:r>
                        <a:rPr lang="en-US" sz="1400" b="0" i="0" u="none" strike="noStrike" dirty="0">
                          <a:solidFill>
                            <a:schemeClr val="bg1"/>
                          </a:solidFill>
                          <a:effectLst/>
                          <a:latin typeface="Poppins"/>
                          <a:ea typeface="M PLUS 1p"/>
                          <a:cs typeface="Poppins"/>
                        </a:rPr>
                        <a:t>FY2024</a:t>
                      </a:r>
                    </a:p>
                  </a:txBody>
                  <a:tcPr marL="9375" marR="9375" marT="9375"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142FA4"/>
                    </a:solidFill>
                  </a:tcPr>
                </a:tc>
                <a:tc>
                  <a:txBody>
                    <a:bodyPr/>
                    <a:lstStyle/>
                    <a:p>
                      <a:pPr algn="ctr" fontAlgn="ctr">
                        <a:buNone/>
                      </a:pPr>
                      <a:r>
                        <a:rPr lang="en-US" sz="1400" b="0" i="0" u="none" strike="noStrike" dirty="0">
                          <a:solidFill>
                            <a:schemeClr val="bg1"/>
                          </a:solidFill>
                          <a:effectLst/>
                          <a:latin typeface="Poppins"/>
                          <a:ea typeface="M PLUS 1p"/>
                          <a:cs typeface="Poppins"/>
                        </a:rPr>
                        <a:t>FY2025</a:t>
                      </a:r>
                    </a:p>
                  </a:txBody>
                  <a:tcPr marL="9375" marR="9375" marT="9375"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142FA4"/>
                    </a:solidFill>
                  </a:tcPr>
                </a:tc>
                <a:tc>
                  <a:txBody>
                    <a:bodyPr/>
                    <a:lstStyle/>
                    <a:p>
                      <a:pPr algn="ctr" fontAlgn="ctr">
                        <a:buNone/>
                      </a:pPr>
                      <a:r>
                        <a:rPr lang="en-US" sz="1400" b="0" i="0" u="none" strike="noStrike" dirty="0">
                          <a:solidFill>
                            <a:schemeClr val="bg1"/>
                          </a:solidFill>
                          <a:effectLst/>
                          <a:latin typeface="Poppins"/>
                          <a:ea typeface="M PLUS 1p"/>
                          <a:cs typeface="Poppins"/>
                        </a:rPr>
                        <a:t>FY2026</a:t>
                      </a:r>
                    </a:p>
                  </a:txBody>
                  <a:tcPr marL="9375" marR="9375" marT="9375"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D44ED9"/>
                    </a:solidFill>
                  </a:tcPr>
                </a:tc>
                <a:tc>
                  <a:txBody>
                    <a:bodyPr/>
                    <a:lstStyle/>
                    <a:p>
                      <a:pPr algn="ctr" fontAlgn="ctr">
                        <a:buNone/>
                      </a:pPr>
                      <a:r>
                        <a:rPr lang="en-US" sz="1400" b="0" i="0" u="none" strike="noStrike" dirty="0">
                          <a:solidFill>
                            <a:schemeClr val="bg1"/>
                          </a:solidFill>
                          <a:effectLst/>
                          <a:latin typeface="Poppins"/>
                          <a:ea typeface="M PLUS 1p"/>
                          <a:cs typeface="Poppins"/>
                        </a:rPr>
                        <a:t>FY2027</a:t>
                      </a:r>
                    </a:p>
                  </a:txBody>
                  <a:tcPr marL="9375" marR="9375" marT="9375"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D44ED9"/>
                    </a:solidFill>
                  </a:tcPr>
                </a:tc>
                <a:tc>
                  <a:txBody>
                    <a:bodyPr/>
                    <a:lstStyle/>
                    <a:p>
                      <a:pPr algn="ctr" fontAlgn="ctr">
                        <a:buNone/>
                      </a:pPr>
                      <a:r>
                        <a:rPr lang="en-US" sz="1400" b="0" i="0" u="none" strike="noStrike" dirty="0">
                          <a:solidFill>
                            <a:schemeClr val="bg1"/>
                          </a:solidFill>
                          <a:effectLst/>
                          <a:latin typeface="Poppins"/>
                          <a:ea typeface="M PLUS 1p"/>
                          <a:cs typeface="Poppins"/>
                        </a:rPr>
                        <a:t>FY2028</a:t>
                      </a:r>
                    </a:p>
                  </a:txBody>
                  <a:tcPr marL="9375" marR="9375" marT="9375"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D44ED9"/>
                    </a:solidFill>
                  </a:tcPr>
                </a:tc>
                <a:tc>
                  <a:txBody>
                    <a:bodyPr/>
                    <a:lstStyle/>
                    <a:p>
                      <a:pPr algn="ctr" fontAlgn="ctr">
                        <a:buNone/>
                      </a:pPr>
                      <a:r>
                        <a:rPr lang="en-US" sz="1400" b="0" i="0" u="none" strike="noStrike" dirty="0">
                          <a:solidFill>
                            <a:schemeClr val="bg1"/>
                          </a:solidFill>
                          <a:effectLst/>
                          <a:latin typeface="Poppins"/>
                          <a:ea typeface="M PLUS 1p"/>
                          <a:cs typeface="Poppins"/>
                        </a:rPr>
                        <a:t>CAGR</a:t>
                      </a:r>
                    </a:p>
                  </a:txBody>
                  <a:tcPr marL="9375" marR="9375" marT="9375" marB="0" anchor="ctr">
                    <a:lnL w="952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142FA4"/>
                      </a:solidFill>
                      <a:prstDash val="solid"/>
                      <a:round/>
                      <a:headEnd type="none" w="med" len="med"/>
                      <a:tailEnd type="none" w="med" len="med"/>
                    </a:lnB>
                    <a:lnTlToBr w="12700" cmpd="sng">
                      <a:noFill/>
                      <a:prstDash val="solid"/>
                    </a:lnTlToBr>
                    <a:lnBlToTr w="12700" cmpd="sng">
                      <a:noFill/>
                      <a:prstDash val="solid"/>
                    </a:lnBlToTr>
                    <a:solidFill>
                      <a:srgbClr val="142FA4"/>
                    </a:solidFill>
                  </a:tcPr>
                </a:tc>
                <a:extLst>
                  <a:ext uri="{0D108BD9-81ED-4DB2-BD59-A6C34878D82A}">
                    <a16:rowId xmlns:a16="http://schemas.microsoft.com/office/drawing/2014/main" val="1069653616"/>
                  </a:ext>
                </a:extLst>
              </a:tr>
              <a:tr h="266737">
                <a:tc>
                  <a:txBody>
                    <a:bodyPr/>
                    <a:lstStyle/>
                    <a:p>
                      <a:pPr algn="l" fontAlgn="ctr">
                        <a:buNone/>
                      </a:pPr>
                      <a:r>
                        <a:rPr lang="ja-JP" altLang="en-US" sz="1400" b="0" i="0" u="none" strike="noStrike" dirty="0">
                          <a:solidFill>
                            <a:srgbClr val="142FA4"/>
                          </a:solidFill>
                          <a:effectLst/>
                          <a:latin typeface="Poppins Medium"/>
                          <a:ea typeface="M PLUS 1p Medium"/>
                          <a:cs typeface="Poppins Medium"/>
                        </a:rPr>
                        <a:t>　</a:t>
                      </a:r>
                      <a:r>
                        <a:rPr lang="en-AU" altLang="ja-JP" sz="1400" b="1" i="0" dirty="0">
                          <a:solidFill>
                            <a:srgbClr val="142FA4"/>
                          </a:solidFill>
                          <a:latin typeface="Poppins SemiBold"/>
                          <a:cs typeface="Poppins SemiBold"/>
                        </a:rPr>
                        <a:t>Net Sales</a:t>
                      </a:r>
                      <a:endParaRPr lang="ja-JP" altLang="en-US" sz="1400" b="1" i="0" u="none" strike="noStrike" dirty="0">
                        <a:solidFill>
                          <a:srgbClr val="142FA4"/>
                        </a:solidFill>
                        <a:effectLst/>
                        <a:latin typeface="Poppins SemiBold"/>
                        <a:ea typeface="M PLUS 1p Medium" panose="020B0502020203020207" pitchFamily="34" charset="-128"/>
                        <a:cs typeface="Poppins SemiBold"/>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4,625</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5,005</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5,454</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6,327</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7,427</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14.1%</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extLst>
                  <a:ext uri="{0D108BD9-81ED-4DB2-BD59-A6C34878D82A}">
                    <a16:rowId xmlns:a16="http://schemas.microsoft.com/office/drawing/2014/main" val="807408084"/>
                  </a:ext>
                </a:extLst>
              </a:tr>
              <a:tr h="266737">
                <a:tc>
                  <a:txBody>
                    <a:bodyPr/>
                    <a:lstStyle/>
                    <a:p>
                      <a:pPr algn="r" fontAlgn="ctr">
                        <a:buNone/>
                      </a:pPr>
                      <a:r>
                        <a:rPr lang="en-US" altLang="ja-JP" sz="1400" b="0" i="0" u="none" strike="noStrike" dirty="0">
                          <a:solidFill>
                            <a:srgbClr val="142FA4"/>
                          </a:solidFill>
                          <a:effectLst/>
                          <a:latin typeface="Poppins"/>
                          <a:ea typeface="M PLUS 1p"/>
                          <a:cs typeface="Poppins"/>
                        </a:rPr>
                        <a:t>YoY(%)</a:t>
                      </a:r>
                      <a:r>
                        <a:rPr lang="ja-JP" altLang="en-US" sz="1400" b="0" i="0" u="none" strike="noStrike" dirty="0">
                          <a:solidFill>
                            <a:srgbClr val="142FA4"/>
                          </a:solidFill>
                          <a:effectLst/>
                          <a:latin typeface="Poppins"/>
                          <a:ea typeface="M PLUS 1p"/>
                          <a:cs typeface="Poppins"/>
                        </a:rPr>
                        <a:t>　　</a:t>
                      </a:r>
                      <a:endParaRPr lang="en-US" altLang="ja-JP" sz="1400" b="0" i="0" u="none" strike="noStrike" dirty="0">
                        <a:solidFill>
                          <a:srgbClr val="142FA4"/>
                        </a:solidFill>
                        <a:effectLst/>
                        <a:latin typeface="Poppins"/>
                        <a:ea typeface="M PLUS 1p"/>
                        <a:cs typeface="Poppins"/>
                      </a:endParaRPr>
                    </a:p>
                  </a:txBody>
                  <a:tcPr marL="9375" marR="18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500" b="0" i="0" u="none" strike="noStrike" dirty="0">
                          <a:solidFill>
                            <a:srgbClr val="142FA4"/>
                          </a:solidFill>
                          <a:effectLst/>
                          <a:latin typeface="Poppins"/>
                          <a:ea typeface="M PLUS 1p"/>
                          <a:cs typeface="Poppins"/>
                        </a:rPr>
                        <a:t>8.2%</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500" b="0" i="0" u="none" strike="noStrike" dirty="0">
                          <a:solidFill>
                            <a:srgbClr val="142FA4"/>
                          </a:solidFill>
                          <a:effectLst/>
                          <a:latin typeface="Poppins"/>
                          <a:ea typeface="M PLUS 1p"/>
                          <a:cs typeface="Poppins"/>
                        </a:rPr>
                        <a:t>9.0%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16.0%</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17.4%</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1394288341"/>
                  </a:ext>
                </a:extLst>
              </a:tr>
              <a:tr h="266737">
                <a:tc>
                  <a:txBody>
                    <a:bodyPr/>
                    <a:lstStyle/>
                    <a:p>
                      <a:pPr algn="l" fontAlgn="ctr">
                        <a:buNone/>
                      </a:pPr>
                      <a:r>
                        <a:rPr lang="ja-JP" altLang="en-US" sz="1400" b="0" i="0" u="none" strike="noStrike" dirty="0">
                          <a:solidFill>
                            <a:srgbClr val="142FA4"/>
                          </a:solidFill>
                          <a:effectLst/>
                          <a:latin typeface="Poppins"/>
                          <a:ea typeface="M PLUS 1p"/>
                          <a:cs typeface="Poppins"/>
                        </a:rPr>
                        <a:t>　　</a:t>
                      </a:r>
                      <a:r>
                        <a:rPr lang="en-AU" altLang="ja-JP" sz="1400" b="0" i="0" dirty="0">
                          <a:solidFill>
                            <a:srgbClr val="142FA4"/>
                          </a:solidFill>
                          <a:latin typeface="Poppins"/>
                          <a:cs typeface="Poppins"/>
                        </a:rPr>
                        <a:t>Mobile Segment Sales</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2,611</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2,830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3,084</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3,591</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4,110</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4902"/>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13.2%</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1535958713"/>
                  </a:ext>
                </a:extLst>
              </a:tr>
              <a:tr h="266737">
                <a:tc>
                  <a:txBody>
                    <a:bodyPr/>
                    <a:lstStyle/>
                    <a:p>
                      <a:pPr algn="l" fontAlgn="ctr">
                        <a:buNone/>
                      </a:pPr>
                      <a:r>
                        <a:rPr lang="ja-JP" altLang="en-US" sz="1400" b="0" i="0" u="none" strike="noStrike" dirty="0">
                          <a:solidFill>
                            <a:srgbClr val="142FA4"/>
                          </a:solidFill>
                          <a:effectLst/>
                          <a:latin typeface="Poppins"/>
                          <a:ea typeface="M PLUS 1p"/>
                          <a:cs typeface="Poppins"/>
                        </a:rPr>
                        <a:t>　</a:t>
                      </a:r>
                      <a:r>
                        <a:rPr lang="en-US" altLang="ja-JP" sz="1400" b="0" i="0" u="none" strike="noStrike" dirty="0">
                          <a:solidFill>
                            <a:srgbClr val="142FA4"/>
                          </a:solidFill>
                          <a:effectLst/>
                          <a:latin typeface="Poppins"/>
                          <a:ea typeface="M PLUS 1p"/>
                          <a:cs typeface="Poppins"/>
                        </a:rPr>
                        <a:t>  </a:t>
                      </a:r>
                      <a:r>
                        <a:rPr lang="ja-JP" altLang="en-US" sz="1400" b="0" i="0" u="none" strike="noStrike" dirty="0">
                          <a:solidFill>
                            <a:srgbClr val="142FA4"/>
                          </a:solidFill>
                          <a:effectLst/>
                          <a:latin typeface="Poppins"/>
                          <a:ea typeface="M PLUS 1p"/>
                          <a:cs typeface="Poppins"/>
                        </a:rPr>
                        <a:t>　</a:t>
                      </a:r>
                      <a:r>
                        <a:rPr lang="en-AU" altLang="ja-JP" sz="1400" b="0" i="0" dirty="0">
                          <a:solidFill>
                            <a:srgbClr val="142FA4"/>
                          </a:solidFill>
                          <a:latin typeface="Poppins"/>
                          <a:cs typeface="Poppins"/>
                        </a:rPr>
                        <a:t>Subscription Billing Sales</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687</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1,202</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1,731</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2,255</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2,791</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32.4%</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588"/>
                      </a:srgbClr>
                    </a:solidFill>
                  </a:tcPr>
                </a:tc>
                <a:extLst>
                  <a:ext uri="{0D108BD9-81ED-4DB2-BD59-A6C34878D82A}">
                    <a16:rowId xmlns:a16="http://schemas.microsoft.com/office/drawing/2014/main" val="1895404680"/>
                  </a:ext>
                </a:extLst>
              </a:tr>
              <a:tr h="266737">
                <a:tc>
                  <a:txBody>
                    <a:bodyPr/>
                    <a:lstStyle/>
                    <a:p>
                      <a:pPr algn="l" fontAlgn="ctr">
                        <a:buNone/>
                      </a:pPr>
                      <a:r>
                        <a:rPr lang="ja-JP" altLang="en-US" sz="1400" b="0" i="0" u="none" strike="noStrike" dirty="0">
                          <a:solidFill>
                            <a:srgbClr val="142FA4"/>
                          </a:solidFill>
                          <a:effectLst/>
                          <a:latin typeface="Poppins"/>
                          <a:ea typeface="M PLUS 1p"/>
                          <a:cs typeface="Poppins"/>
                        </a:rPr>
                        <a:t>　　</a:t>
                      </a:r>
                      <a:r>
                        <a:rPr lang="en-AU" altLang="ja-JP" sz="1400" b="0" i="0" dirty="0">
                          <a:solidFill>
                            <a:srgbClr val="142FA4"/>
                          </a:solidFill>
                          <a:latin typeface="Poppins"/>
                          <a:cs typeface="Poppins"/>
                        </a:rPr>
                        <a:t>Solutions Segment Sales</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2,014</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2,055</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2,196</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2,525</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3,030</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13.8%</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2035392781"/>
                  </a:ext>
                </a:extLst>
              </a:tr>
              <a:tr h="266737">
                <a:tc>
                  <a:txBody>
                    <a:bodyPr/>
                    <a:lstStyle/>
                    <a:p>
                      <a:pPr algn="l" fontAlgn="ctr">
                        <a:buNone/>
                      </a:pPr>
                      <a:r>
                        <a:rPr lang="en-US" altLang="ja-JP" sz="1400" b="0" i="0" dirty="0">
                          <a:solidFill>
                            <a:srgbClr val="142FA4"/>
                          </a:solidFill>
                          <a:latin typeface="Poppins"/>
                          <a:cs typeface="Poppins"/>
                        </a:rPr>
                        <a:t>       AI Singing Voice Synthesis Segment Sales</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118</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174</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210</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286</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34.0%</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2857932769"/>
                  </a:ext>
                </a:extLst>
              </a:tr>
              <a:tr h="266737">
                <a:tc>
                  <a:txBody>
                    <a:bodyPr/>
                    <a:lstStyle/>
                    <a:p>
                      <a:pPr algn="l" fontAlgn="ctr">
                        <a:buNone/>
                      </a:pPr>
                      <a:r>
                        <a:rPr lang="ja-JP" altLang="en-US" sz="1400" b="0" i="0" u="none" strike="noStrike" dirty="0">
                          <a:solidFill>
                            <a:srgbClr val="142FA4"/>
                          </a:solidFill>
                          <a:effectLst/>
                          <a:latin typeface="Poppins"/>
                          <a:ea typeface="M PLUS 1p Medium"/>
                          <a:cs typeface="Poppins"/>
                        </a:rPr>
                        <a:t>　</a:t>
                      </a:r>
                      <a:r>
                        <a:rPr lang="en-AU" altLang="ja-JP" sz="1400" b="1" i="0" dirty="0">
                          <a:solidFill>
                            <a:srgbClr val="142FA4"/>
                          </a:solidFill>
                          <a:latin typeface="Poppins SemiBold"/>
                          <a:cs typeface="Poppins SemiBold"/>
                        </a:rPr>
                        <a:t>Operating Profit</a:t>
                      </a:r>
                      <a:endParaRPr lang="ja-JP" altLang="en-US" sz="1400" b="1" i="0" u="none" strike="noStrike" dirty="0">
                        <a:solidFill>
                          <a:srgbClr val="142FA4"/>
                        </a:solidFill>
                        <a:effectLst/>
                        <a:latin typeface="Poppins SemiBold"/>
                        <a:ea typeface="M PLUS 1p Medium" panose="020B0502020203020207" pitchFamily="34" charset="-128"/>
                        <a:cs typeface="Poppins SemiBold"/>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1,155</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1,201</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1,355</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1,634</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1,988</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18.3%</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49804"/>
                      </a:srgbClr>
                    </a:solidFill>
                  </a:tcPr>
                </a:tc>
                <a:extLst>
                  <a:ext uri="{0D108BD9-81ED-4DB2-BD59-A6C34878D82A}">
                    <a16:rowId xmlns:a16="http://schemas.microsoft.com/office/drawing/2014/main" val="1067954009"/>
                  </a:ext>
                </a:extLst>
              </a:tr>
              <a:tr h="266737">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400" b="0" i="0" u="none" strike="noStrike" dirty="0">
                          <a:solidFill>
                            <a:srgbClr val="142FA4"/>
                          </a:solidFill>
                          <a:effectLst/>
                          <a:latin typeface="Poppins"/>
                          <a:ea typeface="M PLUS 1p"/>
                          <a:cs typeface="Poppins"/>
                        </a:rPr>
                        <a:t>YoY(%)</a:t>
                      </a:r>
                      <a:endParaRPr lang="ja-JP" altLang="en-US" sz="1400" b="0" i="0" u="none" strike="noStrike" dirty="0">
                        <a:solidFill>
                          <a:srgbClr val="142FA4"/>
                        </a:solidFill>
                        <a:effectLst/>
                        <a:latin typeface="Poppins"/>
                        <a:ea typeface="M PLUS 1p"/>
                        <a:cs typeface="Poppins"/>
                      </a:endParaRPr>
                    </a:p>
                  </a:txBody>
                  <a:tcPr marL="9375" marR="18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Medium"/>
                          <a:ea typeface="M PLUS 1p"/>
                          <a:cs typeface="Poppins Medium"/>
                        </a:rPr>
                        <a:t>-</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500" b="0" i="0" u="none" strike="noStrike" dirty="0">
                          <a:solidFill>
                            <a:srgbClr val="142FA4"/>
                          </a:solidFill>
                          <a:effectLst/>
                          <a:latin typeface="Poppins"/>
                          <a:ea typeface="M PLUS 1p"/>
                          <a:cs typeface="Poppins"/>
                        </a:rPr>
                        <a:t>4.0%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500" b="0" i="0" u="none" strike="noStrike" dirty="0">
                          <a:solidFill>
                            <a:srgbClr val="142FA4"/>
                          </a:solidFill>
                          <a:effectLst/>
                          <a:latin typeface="Poppins"/>
                          <a:ea typeface="M PLUS 1p"/>
                          <a:cs typeface="Poppins"/>
                        </a:rPr>
                        <a:t>12.8%</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20.6%</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21.6%</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3443524034"/>
                  </a:ext>
                </a:extLst>
              </a:tr>
              <a:tr h="266737">
                <a:tc>
                  <a:txBody>
                    <a:bodyPr/>
                    <a:lstStyle/>
                    <a:p>
                      <a:pPr algn="l" fontAlgn="ctr">
                        <a:buNone/>
                      </a:pPr>
                      <a:r>
                        <a:rPr lang="ja-JP" altLang="en-US" sz="1400" b="0" i="0" u="none" strike="noStrike" dirty="0">
                          <a:solidFill>
                            <a:srgbClr val="142FA4"/>
                          </a:solidFill>
                          <a:effectLst/>
                          <a:latin typeface="Poppins"/>
                          <a:ea typeface="M PLUS 1p"/>
                          <a:cs typeface="Poppins"/>
                        </a:rPr>
                        <a:t>　　</a:t>
                      </a:r>
                      <a:r>
                        <a:rPr lang="en-AU" altLang="ja-JP" sz="1400" b="0" i="0" dirty="0">
                          <a:solidFill>
                            <a:srgbClr val="142FA4"/>
                          </a:solidFill>
                          <a:latin typeface="Poppins"/>
                          <a:cs typeface="Poppins"/>
                        </a:rPr>
                        <a:t>Operating Margin</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25.0%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24.0%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24.9%</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25.8%</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26.8%</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403743574"/>
                  </a:ext>
                </a:extLst>
              </a:tr>
              <a:tr h="266737">
                <a:tc>
                  <a:txBody>
                    <a:bodyPr/>
                    <a:lstStyle/>
                    <a:p>
                      <a:pPr algn="l" fontAlgn="ctr">
                        <a:buNone/>
                      </a:pPr>
                      <a:r>
                        <a:rPr lang="ja-JP" altLang="en-US" sz="1400" b="0" i="0" u="none" strike="noStrike" dirty="0">
                          <a:solidFill>
                            <a:srgbClr val="142FA4"/>
                          </a:solidFill>
                          <a:effectLst/>
                          <a:latin typeface="Poppins Medium"/>
                          <a:ea typeface="M PLUS 1p Medium"/>
                          <a:cs typeface="Poppins Medium"/>
                        </a:rPr>
                        <a:t>　</a:t>
                      </a:r>
                      <a:r>
                        <a:rPr lang="en-US" altLang="ja-JP" sz="1400" b="1" i="0" u="none" strike="noStrike" dirty="0">
                          <a:solidFill>
                            <a:srgbClr val="142FA4"/>
                          </a:solidFill>
                          <a:effectLst/>
                          <a:latin typeface="Poppins Medium"/>
                          <a:ea typeface="M PLUS 1p Medium"/>
                          <a:cs typeface="Poppins Medium"/>
                        </a:rPr>
                        <a:t>Net</a:t>
                      </a:r>
                      <a:r>
                        <a:rPr lang="en-US" altLang="ja-JP" sz="1400" b="0" i="0" u="none" strike="noStrike" dirty="0">
                          <a:solidFill>
                            <a:srgbClr val="142FA4"/>
                          </a:solidFill>
                          <a:effectLst/>
                          <a:latin typeface="Poppins Medium"/>
                          <a:ea typeface="M PLUS 1p Medium"/>
                          <a:cs typeface="Poppins Medium"/>
                        </a:rPr>
                        <a:t> </a:t>
                      </a:r>
                      <a:r>
                        <a:rPr lang="en-US" altLang="ja-JP" sz="1400" b="1" i="0" dirty="0">
                          <a:solidFill>
                            <a:srgbClr val="142FA4"/>
                          </a:solidFill>
                          <a:latin typeface="Poppins SemiBold"/>
                          <a:cs typeface="Poppins SemiBold"/>
                        </a:rPr>
                        <a:t>Profit Attributable to Owners of the Parent</a:t>
                      </a:r>
                      <a:endParaRPr lang="ja-JP" altLang="en-US" sz="1400" b="1" i="0" u="none" strike="noStrike" dirty="0">
                        <a:solidFill>
                          <a:srgbClr val="142FA4"/>
                        </a:solidFill>
                        <a:effectLst/>
                        <a:latin typeface="Poppins SemiBold"/>
                        <a:ea typeface="M PLUS 1p Medium" panose="020B0502020203020207" pitchFamily="34" charset="-128"/>
                        <a:cs typeface="Poppins SemiBold"/>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839</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848</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940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1,093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1,339</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16.4%</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extLst>
                  <a:ext uri="{0D108BD9-81ED-4DB2-BD59-A6C34878D82A}">
                    <a16:rowId xmlns:a16="http://schemas.microsoft.com/office/drawing/2014/main" val="4144980849"/>
                  </a:ext>
                </a:extLst>
              </a:tr>
              <a:tr h="266737">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400" b="0" i="0" u="none" strike="noStrike" dirty="0">
                          <a:solidFill>
                            <a:srgbClr val="142FA4"/>
                          </a:solidFill>
                          <a:effectLst/>
                          <a:latin typeface="Poppins"/>
                          <a:ea typeface="M PLUS 1p"/>
                          <a:cs typeface="Poppins"/>
                        </a:rPr>
                        <a:t>YoY(%)</a:t>
                      </a:r>
                      <a:endParaRPr lang="ja-JP" altLang="en-US" sz="1400" b="0" i="0" u="none" strike="noStrike" dirty="0">
                        <a:solidFill>
                          <a:srgbClr val="142FA4"/>
                        </a:solidFill>
                        <a:effectLst/>
                        <a:latin typeface="Poppins"/>
                        <a:ea typeface="M PLUS 1p"/>
                        <a:cs typeface="Poppins"/>
                      </a:endParaRPr>
                    </a:p>
                  </a:txBody>
                  <a:tcPr marL="9375" marR="18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500" b="0" i="0" u="none" strike="noStrike" dirty="0">
                          <a:solidFill>
                            <a:srgbClr val="142FA4"/>
                          </a:solidFill>
                          <a:effectLst/>
                          <a:latin typeface="Poppins"/>
                          <a:ea typeface="M PLUS 1p"/>
                          <a:cs typeface="Poppins"/>
                        </a:rPr>
                        <a:t>1.2%</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500" b="0" i="0" u="none" strike="noStrike" dirty="0">
                          <a:solidFill>
                            <a:srgbClr val="142FA4"/>
                          </a:solidFill>
                          <a:effectLst/>
                          <a:latin typeface="Poppins"/>
                          <a:ea typeface="M PLUS 1p"/>
                          <a:cs typeface="Poppins"/>
                        </a:rPr>
                        <a:t>10.8%</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16.3%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22.5%</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2015244500"/>
                  </a:ext>
                </a:extLst>
              </a:tr>
              <a:tr h="266737">
                <a:tc>
                  <a:txBody>
                    <a:bodyPr/>
                    <a:lstStyle/>
                    <a:p>
                      <a:pPr algn="l" fontAlgn="ctr">
                        <a:buNone/>
                      </a:pPr>
                      <a:r>
                        <a:rPr lang="ja-JP" altLang="en-US" sz="1400" b="0" i="0" u="none" strike="noStrike" dirty="0">
                          <a:solidFill>
                            <a:srgbClr val="142FA4"/>
                          </a:solidFill>
                          <a:effectLst/>
                          <a:latin typeface="Poppins Medium"/>
                          <a:ea typeface="M PLUS 1p Medium"/>
                          <a:cs typeface="Poppins Medium"/>
                        </a:rPr>
                        <a:t>　</a:t>
                      </a:r>
                      <a:r>
                        <a:rPr lang="en-US" altLang="ja-JP" sz="1400" b="0" i="0" u="none" strike="noStrike" dirty="0">
                          <a:solidFill>
                            <a:srgbClr val="142FA4"/>
                          </a:solidFill>
                          <a:effectLst/>
                          <a:latin typeface="Poppins Medium"/>
                          <a:ea typeface="M PLUS 1p Medium"/>
                          <a:cs typeface="Poppins Medium"/>
                        </a:rPr>
                        <a:t>    </a:t>
                      </a:r>
                      <a:r>
                        <a:rPr lang="en-AU" altLang="ja-JP" sz="1400" b="0" i="0" dirty="0" err="1">
                          <a:solidFill>
                            <a:srgbClr val="142FA4"/>
                          </a:solidFill>
                          <a:latin typeface="Poppins"/>
                          <a:cs typeface="Poppins"/>
                        </a:rPr>
                        <a:t>ibisPaint</a:t>
                      </a:r>
                      <a:r>
                        <a:rPr lang="en-AU" altLang="ja-JP" sz="1400" b="0" i="0" dirty="0">
                          <a:solidFill>
                            <a:srgbClr val="142FA4"/>
                          </a:solidFill>
                          <a:latin typeface="Poppins"/>
                          <a:cs typeface="Poppins"/>
                        </a:rPr>
                        <a:t> Subscription Contracts (thousands)</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232.0</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397.6</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tc>
                  <a:txBody>
                    <a:bodyPr/>
                    <a:lstStyle/>
                    <a:p>
                      <a:pPr algn="ctr" fontAlgn="ctr">
                        <a:buNone/>
                      </a:pPr>
                      <a:r>
                        <a:rPr lang="en-US" altLang="ja-JP" sz="1500" b="0" i="0" u="none" strike="noStrike" dirty="0">
                          <a:solidFill>
                            <a:srgbClr val="142FA4"/>
                          </a:solidFill>
                          <a:effectLst/>
                          <a:latin typeface="Poppins"/>
                          <a:ea typeface="M PLUS 1p"/>
                          <a:cs typeface="Poppins"/>
                        </a:rPr>
                        <a:t>547.4</a:t>
                      </a:r>
                    </a:p>
                  </a:txBody>
                  <a:tcPr marL="9375" marR="9375" marT="9375"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700.6</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853.9</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29.0%</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C0FF00">
                        <a:alpha val="50196"/>
                      </a:srgbClr>
                    </a:solidFill>
                  </a:tcPr>
                </a:tc>
                <a:extLst>
                  <a:ext uri="{0D108BD9-81ED-4DB2-BD59-A6C34878D82A}">
                    <a16:rowId xmlns:a16="http://schemas.microsoft.com/office/drawing/2014/main" val="503443926"/>
                  </a:ext>
                </a:extLst>
              </a:tr>
              <a:tr h="266737">
                <a:tc>
                  <a:txBody>
                    <a:bodyPr/>
                    <a:lstStyle/>
                    <a:p>
                      <a:pPr algn="l" fontAlgn="ctr">
                        <a:buNone/>
                      </a:pPr>
                      <a:r>
                        <a:rPr lang="ja-JP" altLang="en-US" sz="1400" b="0" i="0" u="none" strike="noStrike" dirty="0">
                          <a:solidFill>
                            <a:srgbClr val="142FA4"/>
                          </a:solidFill>
                          <a:effectLst/>
                          <a:latin typeface="Poppins"/>
                          <a:ea typeface="M PLUS 1p"/>
                          <a:cs typeface="Poppins"/>
                        </a:rPr>
                        <a:t>　　</a:t>
                      </a:r>
                      <a:r>
                        <a:rPr lang="en-AU" altLang="ja-JP" sz="1400" b="0" i="0" dirty="0">
                          <a:solidFill>
                            <a:srgbClr val="142FA4"/>
                          </a:solidFill>
                          <a:latin typeface="Poppins"/>
                          <a:cs typeface="Poppins"/>
                        </a:rPr>
                        <a:t>ROE (Return on Equity)</a:t>
                      </a:r>
                      <a:r>
                        <a:rPr lang="ja-JP" altLang="en-US" sz="1400" b="0" i="0" u="none" strike="noStrike">
                          <a:solidFill>
                            <a:srgbClr val="142FA4"/>
                          </a:solidFill>
                          <a:effectLst/>
                          <a:latin typeface="Poppins"/>
                          <a:ea typeface="M PLUS 1p"/>
                          <a:cs typeface="Poppins"/>
                        </a:rPr>
                        <a:t>（</a:t>
                      </a:r>
                      <a:r>
                        <a:rPr lang="en-US" altLang="ja-JP" sz="1400" b="0" i="0" u="none" strike="noStrike" dirty="0">
                          <a:solidFill>
                            <a:srgbClr val="142FA4"/>
                          </a:solidFill>
                          <a:effectLst/>
                          <a:latin typeface="Poppins"/>
                          <a:ea typeface="M PLUS 1p"/>
                          <a:cs typeface="Poppins"/>
                        </a:rPr>
                        <a:t>%</a:t>
                      </a:r>
                      <a:r>
                        <a:rPr lang="ja-JP" altLang="en-US" sz="1400" b="0" i="0" u="none" strike="noStrike">
                          <a:solidFill>
                            <a:srgbClr val="142FA4"/>
                          </a:solidFill>
                          <a:effectLst/>
                          <a:latin typeface="Poppins"/>
                          <a:ea typeface="M PLUS 1p"/>
                          <a:cs typeface="Poppins"/>
                        </a:rPr>
                        <a:t>）</a:t>
                      </a: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49.7%</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29.9%</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no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29.3%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27.3%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27.0%</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3175"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2577289868"/>
                  </a:ext>
                </a:extLst>
              </a:tr>
              <a:tr h="266737">
                <a:tc>
                  <a:txBody>
                    <a:bodyPr/>
                    <a:lstStyle/>
                    <a:p>
                      <a:pPr algn="l" fontAlgn="ctr">
                        <a:buNone/>
                      </a:pPr>
                      <a:r>
                        <a:rPr lang="ja-JP" altLang="en-US" sz="1400" b="0" i="0" u="none" strike="noStrike" dirty="0">
                          <a:solidFill>
                            <a:srgbClr val="142FA4"/>
                          </a:solidFill>
                          <a:effectLst/>
                          <a:latin typeface="Poppins"/>
                          <a:ea typeface="M PLUS 1p"/>
                          <a:cs typeface="Poppins"/>
                        </a:rPr>
                        <a:t>　　</a:t>
                      </a:r>
                      <a:r>
                        <a:rPr lang="en-US" altLang="ja-JP" sz="1400" b="0" i="0" dirty="0">
                          <a:solidFill>
                            <a:srgbClr val="142FA4"/>
                          </a:solidFill>
                          <a:latin typeface="Poppins"/>
                          <a:cs typeface="Poppins"/>
                        </a:rPr>
                        <a:t>EPS (Earnings per Share) (yen)</a:t>
                      </a:r>
                      <a:endParaRPr lang="ja-JP" altLang="en-US" sz="1400" b="0" i="0" u="none" strike="noStrike" dirty="0">
                        <a:solidFill>
                          <a:srgbClr val="142FA4"/>
                        </a:solidFill>
                        <a:effectLst/>
                        <a:latin typeface="Poppins"/>
                        <a:ea typeface="M PLUS 1p" panose="020B0502020203020207" pitchFamily="34" charset="-128"/>
                        <a:cs typeface="Poppins"/>
                      </a:endParaRPr>
                    </a:p>
                  </a:txBody>
                  <a:tcPr marL="9375" marR="9375" marT="9375" marB="0" anchor="ctr">
                    <a:lnL w="6350" cap="flat" cmpd="sng" algn="ctr">
                      <a:no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46.0</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46.3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51.3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59.3</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72.7</a:t>
                      </a:r>
                    </a:p>
                  </a:txBody>
                  <a:tcPr marL="6350" marR="6350" marT="6350" marB="0" anchor="ctr">
                    <a:lnL w="6350" cap="flat" cmpd="sng" algn="ctr">
                      <a:solidFill>
                        <a:srgbClr val="A1BFFF"/>
                      </a:solidFill>
                      <a:prstDash val="solid"/>
                      <a:round/>
                      <a:headEnd type="none" w="med" len="med"/>
                      <a:tailEnd type="none" w="med" len="med"/>
                    </a:lnL>
                    <a:lnR w="6350" cap="flat" cmpd="sng" algn="ctr">
                      <a:solidFill>
                        <a:srgbClr val="A1BFFF"/>
                      </a:solid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rgbClr val="D44ED9">
                        <a:alpha val="15294"/>
                      </a:srgbClr>
                    </a:solidFill>
                  </a:tcPr>
                </a:tc>
                <a:tc>
                  <a:txBody>
                    <a:bodyPr/>
                    <a:lstStyle/>
                    <a:p>
                      <a:pPr algn="ctr" fontAlgn="ctr">
                        <a:buNone/>
                      </a:pPr>
                      <a:r>
                        <a:rPr lang="en-US" altLang="ja-JP" sz="1500" b="0" i="0" u="none" strike="noStrike" dirty="0">
                          <a:solidFill>
                            <a:srgbClr val="142FA4"/>
                          </a:solidFill>
                          <a:effectLst/>
                          <a:latin typeface="Poppins"/>
                          <a:ea typeface="游ゴシック"/>
                          <a:cs typeface="Poppins"/>
                        </a:rPr>
                        <a:t>16.2%</a:t>
                      </a:r>
                    </a:p>
                  </a:txBody>
                  <a:tcPr marL="6350" marR="6350" marT="6350" marB="0" anchor="ctr">
                    <a:lnL w="6350" cap="flat" cmpd="sng" algn="ctr">
                      <a:solidFill>
                        <a:srgbClr val="A1BFFF"/>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142FA4"/>
                      </a:solidFill>
                      <a:prstDash val="solid"/>
                      <a:round/>
                      <a:headEnd type="none" w="med" len="med"/>
                      <a:tailEnd type="none" w="med" len="med"/>
                    </a:lnT>
                    <a:lnB w="12700" cap="flat" cmpd="sng" algn="ctr">
                      <a:solidFill>
                        <a:srgbClr val="142FA4"/>
                      </a:solidFill>
                      <a:prstDash val="solid"/>
                      <a:round/>
                      <a:headEnd type="none" w="med" len="med"/>
                      <a:tailEnd type="none" w="med" len="med"/>
                    </a:lnB>
                    <a:solidFill>
                      <a:schemeClr val="bg1"/>
                    </a:solidFill>
                  </a:tcPr>
                </a:tc>
                <a:extLst>
                  <a:ext uri="{0D108BD9-81ED-4DB2-BD59-A6C34878D82A}">
                    <a16:rowId xmlns:a16="http://schemas.microsoft.com/office/drawing/2014/main" val="3243458544"/>
                  </a:ext>
                </a:extLst>
              </a:tr>
            </a:tbl>
          </a:graphicData>
        </a:graphic>
      </p:graphicFrame>
      <p:sp>
        <p:nvSpPr>
          <p:cNvPr id="2" name="コンテンツ プレースホルダー 1">
            <a:extLst>
              <a:ext uri="{FF2B5EF4-FFF2-40B4-BE49-F238E27FC236}">
                <a16:creationId xmlns:a16="http://schemas.microsoft.com/office/drawing/2014/main" id="{B83E543D-47D4-E99E-F984-6CA0AA68B8F4}"/>
              </a:ext>
            </a:extLst>
          </p:cNvPr>
          <p:cNvSpPr txBox="1">
            <a:spLocks/>
          </p:cNvSpPr>
          <p:nvPr/>
        </p:nvSpPr>
        <p:spPr>
          <a:xfrm>
            <a:off x="5406106" y="6277352"/>
            <a:ext cx="6021305" cy="456164"/>
          </a:xfrm>
          <a:prstGeom prst="rect">
            <a:avLst/>
          </a:prstGeom>
        </p:spPr>
        <p:txBody>
          <a:bodyPr vert="horz" lIns="91440" tIns="45720" rIns="91440" bIns="45720" rtlCol="0" anchor="b"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ts val="820"/>
              </a:lnSpc>
              <a:spcBef>
                <a:spcPts val="0"/>
              </a:spcBef>
              <a:spcAft>
                <a:spcPts val="0"/>
              </a:spcAft>
              <a:buClrTx/>
              <a:buSzTx/>
              <a:buFontTx/>
              <a:buNone/>
              <a:tabLst/>
              <a:defRPr/>
            </a:pPr>
            <a:endParaRPr kumimoji="1" lang="ja-JP" altLang="en-US" sz="650" b="0" i="0" u="none" strike="noStrike" kern="1200" cap="none" spc="0" normalizeH="0" baseline="0" noProof="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7" name="テキスト プレースホルダー 6">
            <a:extLst>
              <a:ext uri="{FF2B5EF4-FFF2-40B4-BE49-F238E27FC236}">
                <a16:creationId xmlns:a16="http://schemas.microsoft.com/office/drawing/2014/main" id="{28F1FEE4-71BC-A2AD-380D-B164A3C9F29B}"/>
              </a:ext>
            </a:extLst>
          </p:cNvPr>
          <p:cNvSpPr>
            <a:spLocks noGrp="1"/>
          </p:cNvSpPr>
          <p:nvPr>
            <p:ph type="body" sz="quarter" idx="12"/>
          </p:nvPr>
        </p:nvSpPr>
        <p:spPr/>
        <p:txBody>
          <a:bodyPr>
            <a:normAutofit/>
          </a:bodyPr>
          <a:lstStyle/>
          <a:p>
            <a:r>
              <a:rPr lang="en-US" altLang="ja-JP" dirty="0">
                <a:latin typeface="Poppins Medium" pitchFamily="2" charset="0"/>
                <a:cs typeface="Poppins Medium" pitchFamily="2" charset="0"/>
              </a:rPr>
              <a:t>Key Consolidated Management Indicators (FY2026–FY2028)</a:t>
            </a:r>
          </a:p>
        </p:txBody>
      </p:sp>
      <p:sp>
        <p:nvSpPr>
          <p:cNvPr id="12" name="タイトル 11">
            <a:extLst>
              <a:ext uri="{FF2B5EF4-FFF2-40B4-BE49-F238E27FC236}">
                <a16:creationId xmlns:a16="http://schemas.microsoft.com/office/drawing/2014/main" id="{B5436B12-CA7C-A7E1-C5B0-DBAE527F61FC}"/>
              </a:ext>
            </a:extLst>
          </p:cNvPr>
          <p:cNvSpPr>
            <a:spLocks noGrp="1"/>
          </p:cNvSpPr>
          <p:nvPr>
            <p:ph type="ctrTitle"/>
          </p:nvPr>
        </p:nvSpPr>
        <p:spPr>
          <a:xfrm>
            <a:off x="265132" y="747742"/>
            <a:ext cx="11661737" cy="622579"/>
          </a:xfrm>
        </p:spPr>
        <p:txBody>
          <a:bodyPr/>
          <a:lstStyle/>
          <a:p>
            <a:pPr lvl="0">
              <a:lnSpc>
                <a:spcPct val="100000"/>
              </a:lnSpc>
              <a:defRPr/>
            </a:pPr>
            <a:r>
              <a:rPr lang="en-US" altLang="ja-JP" sz="1800" b="1" dirty="0">
                <a:solidFill>
                  <a:prstClr val="white"/>
                </a:solidFill>
                <a:latin typeface="Poppins SemiBold"/>
                <a:ea typeface="M PLUS 1p"/>
                <a:cs typeface="Poppins SemiBold"/>
              </a:rPr>
              <a:t>Disclosure of New Key Consolidated Financial Targets for the Next 3 Years</a:t>
            </a:r>
            <a:br>
              <a:rPr lang="en-US" altLang="ja-JP" sz="1800" dirty="0">
                <a:solidFill>
                  <a:prstClr val="black"/>
                </a:solidFill>
                <a:ea typeface="M PLUS 1p" panose="020B0502020203020207" pitchFamily="34" charset="-128"/>
              </a:rPr>
            </a:br>
            <a:r>
              <a:rPr lang="en-US" altLang="ja-JP" sz="1800" b="1" dirty="0">
                <a:solidFill>
                  <a:prstClr val="white"/>
                </a:solidFill>
                <a:latin typeface="Poppins SemiBold"/>
                <a:ea typeface="M PLUS 1p"/>
                <a:cs typeface="Poppins SemiBold"/>
              </a:rPr>
              <a:t>Targeting Subscription Billing Sales of </a:t>
            </a:r>
            <a:r>
              <a:rPr lang="en-US" altLang="ja-JP" sz="1800" b="1" dirty="0">
                <a:solidFill>
                  <a:srgbClr val="C0FF00"/>
                </a:solidFill>
                <a:latin typeface="Poppins SemiBold"/>
                <a:ea typeface="M PLUS 1p"/>
                <a:cs typeface="Poppins SemiBold"/>
              </a:rPr>
              <a:t>JPY 2.79 Billion, 2.3x FY2025 Levels</a:t>
            </a:r>
            <a:br>
              <a:rPr lang="en-US" altLang="ja-JP" sz="1800" dirty="0">
                <a:solidFill>
                  <a:prstClr val="black"/>
                </a:solidFill>
                <a:ea typeface="M PLUS 1p" panose="020B0502020203020207" pitchFamily="34" charset="-128"/>
              </a:rPr>
            </a:br>
            <a:r>
              <a:rPr lang="en-US" altLang="ja-JP" sz="1800" b="1" dirty="0">
                <a:solidFill>
                  <a:prstClr val="white"/>
                </a:solidFill>
                <a:latin typeface="Poppins SemiBold"/>
                <a:ea typeface="M PLUS 1p"/>
                <a:cs typeface="Poppins SemiBold"/>
              </a:rPr>
              <a:t>Operating Profit Growth Target: </a:t>
            </a:r>
            <a:r>
              <a:rPr lang="en-US" altLang="ja-JP" sz="1800" b="1" dirty="0">
                <a:solidFill>
                  <a:srgbClr val="C0FF00"/>
                </a:solidFill>
                <a:latin typeface="Poppins SemiBold"/>
                <a:ea typeface="M PLUS 1p"/>
                <a:cs typeface="Poppins SemiBold"/>
              </a:rPr>
              <a:t>20% or Higher from FY2027 Onward</a:t>
            </a:r>
            <a:endParaRPr lang="en-US" altLang="ja-JP" sz="1800" dirty="0">
              <a:solidFill>
                <a:srgbClr val="C0FF00"/>
              </a:solidFill>
              <a:latin typeface="Poppins SemiBold"/>
              <a:ea typeface="M PLUS 1p"/>
              <a:cs typeface="Poppins SemiBold"/>
            </a:endParaRPr>
          </a:p>
        </p:txBody>
      </p:sp>
      <p:sp>
        <p:nvSpPr>
          <p:cNvPr id="17" name="テキスト プレースホルダー 16">
            <a:extLst>
              <a:ext uri="{FF2B5EF4-FFF2-40B4-BE49-F238E27FC236}">
                <a16:creationId xmlns:a16="http://schemas.microsoft.com/office/drawing/2014/main" id="{B4A9F2D3-3B69-D123-EA25-0F309C8C1606}"/>
              </a:ext>
            </a:extLst>
          </p:cNvPr>
          <p:cNvSpPr>
            <a:spLocks noGrp="1"/>
          </p:cNvSpPr>
          <p:nvPr>
            <p:ph type="body" sz="quarter" idx="14"/>
          </p:nvPr>
        </p:nvSpPr>
        <p:spPr>
          <a:xfrm>
            <a:off x="4967383" y="6310211"/>
            <a:ext cx="6785893" cy="444389"/>
          </a:xfrm>
        </p:spPr>
        <p:txBody>
          <a:bodyPr>
            <a:noAutofit/>
          </a:bodyPr>
          <a:lstStyle/>
          <a:p>
            <a:r>
              <a:rPr lang="en" altLang="ja-JP" dirty="0"/>
              <a:t>* The planned figures on this page are based on the 2026 consolidated medium-term management plan. </a:t>
            </a:r>
          </a:p>
          <a:p>
            <a:r>
              <a:rPr lang="en" altLang="ja-JP" dirty="0"/>
              <a:t>   FY2025/12 YoY indicates the ratio of FY2025/12 consolidated results to FY2024/12 non-consolidated results</a:t>
            </a:r>
          </a:p>
          <a:p>
            <a:r>
              <a:rPr lang="en" altLang="ja-JP" dirty="0"/>
              <a:t>* CAGR is not calculated for margin metrics such as operating margin. This plan assumes organic growth and excludes the impact of M&amp;A</a:t>
            </a:r>
          </a:p>
        </p:txBody>
      </p:sp>
    </p:spTree>
    <p:extLst>
      <p:ext uri="{BB962C8B-B14F-4D97-AF65-F5344CB8AC3E}">
        <p14:creationId xmlns:p14="http://schemas.microsoft.com/office/powerpoint/2010/main" val="2543637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1F74-76ED-B59B-DC2F-7C44430C41BC}"/>
            </a:ext>
          </a:extLst>
        </p:cNvPr>
        <p:cNvGrpSpPr/>
        <p:nvPr/>
      </p:nvGrpSpPr>
      <p:grpSpPr>
        <a:xfrm>
          <a:off x="0" y="0"/>
          <a:ext cx="0" cy="0"/>
          <a:chOff x="0" y="0"/>
          <a:chExt cx="0" cy="0"/>
        </a:xfrm>
      </p:grpSpPr>
      <p:pic>
        <p:nvPicPr>
          <p:cNvPr id="38" name="図 37" descr="挿絵 が含まれている画像&#10;&#10;AI 生成コンテンツは誤りを含む可能性があります。">
            <a:extLst>
              <a:ext uri="{FF2B5EF4-FFF2-40B4-BE49-F238E27FC236}">
                <a16:creationId xmlns:a16="http://schemas.microsoft.com/office/drawing/2014/main" id="{3D43C330-F487-B036-267A-3EF612D0819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724" y="3238771"/>
            <a:ext cx="576000" cy="3038242"/>
          </a:xfrm>
          <a:prstGeom prst="rect">
            <a:avLst/>
          </a:prstGeom>
        </p:spPr>
      </p:pic>
      <p:sp>
        <p:nvSpPr>
          <p:cNvPr id="45" name="角丸四角形 44">
            <a:extLst>
              <a:ext uri="{FF2B5EF4-FFF2-40B4-BE49-F238E27FC236}">
                <a16:creationId xmlns:a16="http://schemas.microsoft.com/office/drawing/2014/main" id="{93511A47-C93E-36DA-4001-F091C3A8A748}"/>
              </a:ext>
            </a:extLst>
          </p:cNvPr>
          <p:cNvSpPr/>
          <p:nvPr/>
        </p:nvSpPr>
        <p:spPr>
          <a:xfrm>
            <a:off x="550862" y="1495092"/>
            <a:ext cx="11090276" cy="4778708"/>
          </a:xfrm>
          <a:prstGeom prst="roundRect">
            <a:avLst>
              <a:gd name="adj" fmla="val 3620"/>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3" name="テキスト プレースホルダー 2">
            <a:extLst>
              <a:ext uri="{FF2B5EF4-FFF2-40B4-BE49-F238E27FC236}">
                <a16:creationId xmlns:a16="http://schemas.microsoft.com/office/drawing/2014/main" id="{14468921-D6F2-9D80-3DDF-564F059536DA}"/>
              </a:ext>
            </a:extLst>
          </p:cNvPr>
          <p:cNvSpPr>
            <a:spLocks noGrp="1"/>
          </p:cNvSpPr>
          <p:nvPr>
            <p:ph type="body" sz="quarter" idx="12"/>
          </p:nvPr>
        </p:nvSpPr>
        <p:spPr/>
        <p:txBody>
          <a:bodyPr/>
          <a:lstStyle/>
          <a:p>
            <a:r>
              <a:rPr lang="en-US" altLang="ja-JP" dirty="0"/>
              <a:t>Shareholder Returns </a:t>
            </a:r>
          </a:p>
        </p:txBody>
      </p:sp>
      <p:sp>
        <p:nvSpPr>
          <p:cNvPr id="5" name="タイトル 4">
            <a:extLst>
              <a:ext uri="{FF2B5EF4-FFF2-40B4-BE49-F238E27FC236}">
                <a16:creationId xmlns:a16="http://schemas.microsoft.com/office/drawing/2014/main" id="{BEAB0F43-111C-A8D0-8706-7F4662CAA33F}"/>
              </a:ext>
            </a:extLst>
          </p:cNvPr>
          <p:cNvSpPr>
            <a:spLocks noGrp="1"/>
          </p:cNvSpPr>
          <p:nvPr>
            <p:ph type="ctrTitle"/>
          </p:nvPr>
        </p:nvSpPr>
        <p:spPr/>
        <p:txBody>
          <a:bodyPr/>
          <a:lstStyle/>
          <a:p>
            <a:r>
              <a:rPr kumimoji="1" lang="en-US" altLang="ja-JP" sz="2650" b="0" i="0" u="none" strike="noStrike" kern="1200" cap="none" spc="0" normalizeH="0" baseline="0" noProof="0" dirty="0">
                <a:ln>
                  <a:noFill/>
                </a:ln>
                <a:solidFill>
                  <a:prstClr val="white"/>
                </a:solidFill>
                <a:effectLst/>
                <a:uLnTx/>
                <a:uFillTx/>
                <a:latin typeface="Poppins SemiBold" pitchFamily="2" charset="0"/>
                <a:cs typeface="Poppins SemiBold" pitchFamily="2" charset="0"/>
              </a:rPr>
              <a:t>Leveraging our world-class technological capabilities </a:t>
            </a:r>
            <a:br>
              <a:rPr kumimoji="1" lang="en-US" altLang="ja-JP" sz="2650" b="0" i="0" u="none" strike="noStrike" kern="1200" cap="none" spc="0" normalizeH="0" baseline="0" noProof="0" dirty="0">
                <a:ln>
                  <a:noFill/>
                </a:ln>
                <a:solidFill>
                  <a:prstClr val="white"/>
                </a:solidFill>
                <a:effectLst/>
                <a:uLnTx/>
                <a:uFillTx/>
                <a:latin typeface="Poppins SemiBold" pitchFamily="2" charset="0"/>
                <a:cs typeface="Poppins SemiBold" pitchFamily="2" charset="0"/>
              </a:rPr>
            </a:br>
            <a:r>
              <a:rPr kumimoji="1" lang="en-US" altLang="ja-JP" sz="2650" b="0" i="0" u="none" strike="noStrike" kern="1200" cap="none" spc="0" normalizeH="0" baseline="0" noProof="0" dirty="0">
                <a:ln>
                  <a:noFill/>
                </a:ln>
                <a:solidFill>
                  <a:prstClr val="white"/>
                </a:solidFill>
                <a:effectLst/>
                <a:uLnTx/>
                <a:uFillTx/>
                <a:latin typeface="Poppins SemiBold" pitchFamily="2" charset="0"/>
                <a:cs typeface="Poppins SemiBold" pitchFamily="2" charset="0"/>
              </a:rPr>
              <a:t>to </a:t>
            </a:r>
            <a:r>
              <a:rPr kumimoji="1" lang="en-US" altLang="ja-JP" sz="2650" b="0" i="0" u="none" strike="noStrike" kern="1200" cap="none" spc="0" normalizeH="0" baseline="0" noProof="0" dirty="0">
                <a:ln>
                  <a:noFill/>
                </a:ln>
                <a:solidFill>
                  <a:srgbClr val="C0FF00"/>
                </a:solidFill>
                <a:effectLst/>
                <a:uLnTx/>
                <a:uFillTx/>
                <a:latin typeface="Poppins SemiBold" pitchFamily="2" charset="0"/>
                <a:cs typeface="Poppins SemiBold" pitchFamily="2" charset="0"/>
              </a:rPr>
              <a:t>deliver sustainable growth and shareholder returns</a:t>
            </a:r>
            <a:endParaRPr lang="ja-JP" altLang="en-US" dirty="0"/>
          </a:p>
        </p:txBody>
      </p:sp>
      <p:sp>
        <p:nvSpPr>
          <p:cNvPr id="16" name="テキスト プレースホルダー 15">
            <a:extLst>
              <a:ext uri="{FF2B5EF4-FFF2-40B4-BE49-F238E27FC236}">
                <a16:creationId xmlns:a16="http://schemas.microsoft.com/office/drawing/2014/main" id="{7406CE37-ED0E-C1F6-2D20-144E9C8F4AC1}"/>
              </a:ext>
            </a:extLst>
          </p:cNvPr>
          <p:cNvSpPr>
            <a:spLocks noGrp="1"/>
          </p:cNvSpPr>
          <p:nvPr>
            <p:ph type="body" sz="quarter" idx="14"/>
          </p:nvPr>
        </p:nvSpPr>
        <p:spPr>
          <a:xfrm>
            <a:off x="6957868" y="6310211"/>
            <a:ext cx="6246813" cy="444389"/>
          </a:xfrm>
        </p:spPr>
        <p:txBody>
          <a:bodyPr>
            <a:normAutofit/>
          </a:bodyPr>
          <a:lstStyle/>
          <a:p>
            <a:r>
              <a:rPr lang="en-US" altLang="ja-JP" dirty="0">
                <a:solidFill>
                  <a:srgbClr val="142FA4"/>
                </a:solidFill>
                <a:ea typeface="M PLUS 1p" panose="020B0502020203020207" pitchFamily="34" charset="-128"/>
              </a:rPr>
              <a:t>* Stock split: Effective October 1, 2025, each share of common stock will be split into five shares</a:t>
            </a:r>
            <a:endParaRPr lang="ja-JP" altLang="en-US">
              <a:solidFill>
                <a:srgbClr val="142FA4"/>
              </a:solidFill>
              <a:ea typeface="M PLUS 1p" panose="020B0502020203020207" pitchFamily="34" charset="-128"/>
            </a:endParaRPr>
          </a:p>
        </p:txBody>
      </p:sp>
      <p:cxnSp>
        <p:nvCxnSpPr>
          <p:cNvPr id="7" name="直線コネクタ 6">
            <a:extLst>
              <a:ext uri="{FF2B5EF4-FFF2-40B4-BE49-F238E27FC236}">
                <a16:creationId xmlns:a16="http://schemas.microsoft.com/office/drawing/2014/main" id="{92FE9CA8-BE14-C9A0-2066-5661C3147262}"/>
              </a:ext>
            </a:extLst>
          </p:cNvPr>
          <p:cNvCxnSpPr>
            <a:cxnSpLocks/>
          </p:cNvCxnSpPr>
          <p:nvPr/>
        </p:nvCxnSpPr>
        <p:spPr>
          <a:xfrm>
            <a:off x="5035128"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2B83F5A0-CC99-EDED-3E6D-C81A0E0EC78F}"/>
              </a:ext>
            </a:extLst>
          </p:cNvPr>
          <p:cNvCxnSpPr>
            <a:cxnSpLocks/>
          </p:cNvCxnSpPr>
          <p:nvPr/>
        </p:nvCxnSpPr>
        <p:spPr>
          <a:xfrm flipH="1">
            <a:off x="874021" y="3328538"/>
            <a:ext cx="384427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21" name="円/楕円 20">
            <a:extLst>
              <a:ext uri="{FF2B5EF4-FFF2-40B4-BE49-F238E27FC236}">
                <a16:creationId xmlns:a16="http://schemas.microsoft.com/office/drawing/2014/main" id="{6824250C-6C43-8CBB-810B-34757550DA9F}"/>
              </a:ext>
            </a:extLst>
          </p:cNvPr>
          <p:cNvSpPr>
            <a:spLocks noChangeAspect="1"/>
          </p:cNvSpPr>
          <p:nvPr/>
        </p:nvSpPr>
        <p:spPr>
          <a:xfrm>
            <a:off x="874021" y="2338383"/>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22" name="テキスト ボックス 21">
            <a:extLst>
              <a:ext uri="{FF2B5EF4-FFF2-40B4-BE49-F238E27FC236}">
                <a16:creationId xmlns:a16="http://schemas.microsoft.com/office/drawing/2014/main" id="{169C77D8-009D-85EC-C8BA-AFB425F7B0BD}"/>
              </a:ext>
            </a:extLst>
          </p:cNvPr>
          <p:cNvSpPr txBox="1"/>
          <p:nvPr/>
        </p:nvSpPr>
        <p:spPr>
          <a:xfrm>
            <a:off x="994588" y="2446183"/>
            <a:ext cx="296876" cy="4289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1</a:t>
            </a:r>
            <a:endParaRPr kumimoji="1" lang="ja-JP" altLang="en-US"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3" name="円/楕円 22">
            <a:extLst>
              <a:ext uri="{FF2B5EF4-FFF2-40B4-BE49-F238E27FC236}">
                <a16:creationId xmlns:a16="http://schemas.microsoft.com/office/drawing/2014/main" id="{EE4E4408-5164-54E2-611F-5C77AF081DEA}"/>
              </a:ext>
            </a:extLst>
          </p:cNvPr>
          <p:cNvSpPr>
            <a:spLocks noChangeAspect="1"/>
          </p:cNvSpPr>
          <p:nvPr/>
        </p:nvSpPr>
        <p:spPr>
          <a:xfrm>
            <a:off x="874021" y="3767502"/>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24" name="テキスト ボックス 23">
            <a:extLst>
              <a:ext uri="{FF2B5EF4-FFF2-40B4-BE49-F238E27FC236}">
                <a16:creationId xmlns:a16="http://schemas.microsoft.com/office/drawing/2014/main" id="{40993CAB-14EE-682C-2CCA-0975F54CBE39}"/>
              </a:ext>
            </a:extLst>
          </p:cNvPr>
          <p:cNvSpPr txBox="1"/>
          <p:nvPr/>
        </p:nvSpPr>
        <p:spPr>
          <a:xfrm>
            <a:off x="951724" y="3860645"/>
            <a:ext cx="369012" cy="4289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2</a:t>
            </a:r>
            <a:endParaRPr kumimoji="1" lang="ja-JP" altLang="en-US"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5" name="円/楕円 24">
            <a:extLst>
              <a:ext uri="{FF2B5EF4-FFF2-40B4-BE49-F238E27FC236}">
                <a16:creationId xmlns:a16="http://schemas.microsoft.com/office/drawing/2014/main" id="{DFF607FB-9729-670C-00E3-B4EFC7F131CF}"/>
              </a:ext>
            </a:extLst>
          </p:cNvPr>
          <p:cNvSpPr>
            <a:spLocks noChangeAspect="1"/>
          </p:cNvSpPr>
          <p:nvPr/>
        </p:nvSpPr>
        <p:spPr>
          <a:xfrm>
            <a:off x="874021" y="5220357"/>
            <a:ext cx="540000" cy="540130"/>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26" name="テキスト ボックス 25">
            <a:extLst>
              <a:ext uri="{FF2B5EF4-FFF2-40B4-BE49-F238E27FC236}">
                <a16:creationId xmlns:a16="http://schemas.microsoft.com/office/drawing/2014/main" id="{EF08C686-4A41-8F44-E24E-6EB5578DF99C}"/>
              </a:ext>
            </a:extLst>
          </p:cNvPr>
          <p:cNvSpPr txBox="1"/>
          <p:nvPr/>
        </p:nvSpPr>
        <p:spPr>
          <a:xfrm>
            <a:off x="951724" y="5302822"/>
            <a:ext cx="375424" cy="428964"/>
          </a:xfrm>
          <a:prstGeom prst="rect">
            <a:avLst/>
          </a:prstGeom>
          <a:noFill/>
        </p:spPr>
        <p:txBody>
          <a:bodyPr wrap="none" rtlCol="0">
            <a:spAutoFit/>
          </a:body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3</a:t>
            </a:r>
            <a:endParaRPr kumimoji="1" lang="ja-JP" altLang="en-US" sz="25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27" name="テキスト ボックス 26">
            <a:extLst>
              <a:ext uri="{FF2B5EF4-FFF2-40B4-BE49-F238E27FC236}">
                <a16:creationId xmlns:a16="http://schemas.microsoft.com/office/drawing/2014/main" id="{0C6B197C-0A48-2D10-7049-8449B93467BB}"/>
              </a:ext>
            </a:extLst>
          </p:cNvPr>
          <p:cNvSpPr txBox="1"/>
          <p:nvPr/>
        </p:nvSpPr>
        <p:spPr>
          <a:xfrm>
            <a:off x="1467132" y="2251940"/>
            <a:ext cx="2783134" cy="356508"/>
          </a:xfrm>
          <a:prstGeom prst="rect">
            <a:avLst/>
          </a:prstGeom>
          <a:noFill/>
        </p:spPr>
        <p:txBody>
          <a:bodyPr wrap="none" rtlCol="0">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Growth Investments</a:t>
            </a:r>
          </a:p>
        </p:txBody>
      </p:sp>
      <p:sp>
        <p:nvSpPr>
          <p:cNvPr id="29" name="テキスト ボックス 28">
            <a:extLst>
              <a:ext uri="{FF2B5EF4-FFF2-40B4-BE49-F238E27FC236}">
                <a16:creationId xmlns:a16="http://schemas.microsoft.com/office/drawing/2014/main" id="{D0C153A0-EE55-B251-48FA-676E524BAE1C}"/>
              </a:ext>
            </a:extLst>
          </p:cNvPr>
          <p:cNvSpPr txBox="1"/>
          <p:nvPr/>
        </p:nvSpPr>
        <p:spPr>
          <a:xfrm>
            <a:off x="1466203" y="3401788"/>
            <a:ext cx="338265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2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Strengthening </a:t>
            </a:r>
            <a:endParaRPr kumimoji="1" lang="en-US" altLang="ja-JP" sz="2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2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Our Business Foundation</a:t>
            </a:r>
            <a:endParaRPr kumimoji="1" lang="en-US" altLang="ja-JP" sz="2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endParaRPr>
          </a:p>
        </p:txBody>
      </p:sp>
      <p:sp>
        <p:nvSpPr>
          <p:cNvPr id="30" name="テキスト ボックス 29">
            <a:extLst>
              <a:ext uri="{FF2B5EF4-FFF2-40B4-BE49-F238E27FC236}">
                <a16:creationId xmlns:a16="http://schemas.microsoft.com/office/drawing/2014/main" id="{DA51213A-8A2F-1B7F-CD90-3219E53ECCE1}"/>
              </a:ext>
            </a:extLst>
          </p:cNvPr>
          <p:cNvSpPr txBox="1"/>
          <p:nvPr/>
        </p:nvSpPr>
        <p:spPr>
          <a:xfrm>
            <a:off x="1466203" y="5020566"/>
            <a:ext cx="2815194" cy="356508"/>
          </a:xfrm>
          <a:prstGeom prst="rect">
            <a:avLst/>
          </a:prstGeom>
          <a:noFill/>
        </p:spPr>
        <p:txBody>
          <a:bodyPr wrap="none" rtlCol="0">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1" lang="en-US" altLang="ja-JP" sz="20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Shareholder Returns</a:t>
            </a:r>
          </a:p>
        </p:txBody>
      </p:sp>
      <p:graphicFrame>
        <p:nvGraphicFramePr>
          <p:cNvPr id="43" name="グラフ 42">
            <a:extLst>
              <a:ext uri="{FF2B5EF4-FFF2-40B4-BE49-F238E27FC236}">
                <a16:creationId xmlns:a16="http://schemas.microsoft.com/office/drawing/2014/main" id="{80118B05-411C-8BF9-F84B-492CABBFF7DB}"/>
              </a:ext>
            </a:extLst>
          </p:cNvPr>
          <p:cNvGraphicFramePr/>
          <p:nvPr/>
        </p:nvGraphicFramePr>
        <p:xfrm>
          <a:off x="5028037" y="2499478"/>
          <a:ext cx="6410247" cy="3533577"/>
        </p:xfrm>
        <a:graphic>
          <a:graphicData uri="http://schemas.openxmlformats.org/drawingml/2006/chart">
            <c:chart xmlns:c="http://schemas.openxmlformats.org/drawingml/2006/chart" xmlns:r="http://schemas.openxmlformats.org/officeDocument/2006/relationships" r:id="rId4"/>
          </a:graphicData>
        </a:graphic>
      </p:graphicFrame>
      <p:sp>
        <p:nvSpPr>
          <p:cNvPr id="17" name="テキスト ボックス 16">
            <a:extLst>
              <a:ext uri="{FF2B5EF4-FFF2-40B4-BE49-F238E27FC236}">
                <a16:creationId xmlns:a16="http://schemas.microsoft.com/office/drawing/2014/main" id="{648ABF01-013C-707B-6CB1-662A6D0710E5}"/>
              </a:ext>
            </a:extLst>
          </p:cNvPr>
          <p:cNvSpPr txBox="1"/>
          <p:nvPr/>
        </p:nvSpPr>
        <p:spPr>
          <a:xfrm>
            <a:off x="6623651" y="4403069"/>
            <a:ext cx="92924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00A7FF"/>
                </a:solidFill>
                <a:effectLst/>
                <a:uLnTx/>
                <a:uFillTx/>
                <a:latin typeface="Poppins SemiBold" pitchFamily="2" charset="0"/>
                <a:ea typeface="M PLUS 1p" panose="020B0502020203020207" pitchFamily="34" charset="-128"/>
                <a:cs typeface="Poppins SemiBold" pitchFamily="2" charset="0"/>
              </a:rPr>
              <a:t>280</a:t>
            </a:r>
            <a:endParaRPr kumimoji="1" lang="ja-JP" altLang="en-US" sz="1000" b="0" i="0" u="none" strike="noStrike" kern="1200" cap="none" spc="0" normalizeH="0" baseline="0" noProof="0" dirty="0">
              <a:ln>
                <a:noFill/>
              </a:ln>
              <a:solidFill>
                <a:srgbClr val="00A7FF"/>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18" name="テキスト ボックス 17">
            <a:extLst>
              <a:ext uri="{FF2B5EF4-FFF2-40B4-BE49-F238E27FC236}">
                <a16:creationId xmlns:a16="http://schemas.microsoft.com/office/drawing/2014/main" id="{394AC411-B1DF-4ED1-993B-A5DA8BEBB7E8}"/>
              </a:ext>
            </a:extLst>
          </p:cNvPr>
          <p:cNvSpPr txBox="1"/>
          <p:nvPr/>
        </p:nvSpPr>
        <p:spPr>
          <a:xfrm>
            <a:off x="7768536" y="2801340"/>
            <a:ext cx="92924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00A7FF"/>
                </a:solidFill>
                <a:effectLst/>
                <a:uLnTx/>
                <a:uFillTx/>
                <a:latin typeface="Poppins SemiBold" pitchFamily="2" charset="0"/>
                <a:ea typeface="M PLUS 1p" panose="020B0502020203020207" pitchFamily="34" charset="-128"/>
                <a:cs typeface="Poppins SemiBold" pitchFamily="2" charset="0"/>
              </a:rPr>
              <a:t>830</a:t>
            </a:r>
            <a:endParaRPr kumimoji="1" lang="ja-JP" altLang="en-US" sz="1000" b="0" i="0" u="none" strike="noStrike" kern="1200" cap="none" spc="0" normalizeH="0" baseline="0" noProof="0" dirty="0">
              <a:ln>
                <a:noFill/>
              </a:ln>
              <a:solidFill>
                <a:srgbClr val="00A7FF"/>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19" name="テキスト ボックス 18">
            <a:extLst>
              <a:ext uri="{FF2B5EF4-FFF2-40B4-BE49-F238E27FC236}">
                <a16:creationId xmlns:a16="http://schemas.microsoft.com/office/drawing/2014/main" id="{58420C2E-E806-5B84-E726-768D93C0AC59}"/>
              </a:ext>
            </a:extLst>
          </p:cNvPr>
          <p:cNvSpPr txBox="1"/>
          <p:nvPr/>
        </p:nvSpPr>
        <p:spPr>
          <a:xfrm>
            <a:off x="8928983" y="2761600"/>
            <a:ext cx="92924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00A7FF"/>
                </a:solidFill>
                <a:effectLst/>
                <a:uLnTx/>
                <a:uFillTx/>
                <a:latin typeface="Poppins SemiBold" pitchFamily="2" charset="0"/>
                <a:ea typeface="M PLUS 1p" panose="020B0502020203020207" pitchFamily="34" charset="-128"/>
                <a:cs typeface="Poppins SemiBold" pitchFamily="2" charset="0"/>
              </a:rPr>
              <a:t>840</a:t>
            </a:r>
            <a:endParaRPr kumimoji="1" lang="ja-JP" altLang="en-US" sz="1000" b="0" i="0" u="none" strike="noStrike" kern="1200" cap="none" spc="0" normalizeH="0" baseline="0" noProof="0" dirty="0">
              <a:ln>
                <a:noFill/>
              </a:ln>
              <a:solidFill>
                <a:srgbClr val="00A7FF"/>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20" name="テキスト ボックス 19">
            <a:extLst>
              <a:ext uri="{FF2B5EF4-FFF2-40B4-BE49-F238E27FC236}">
                <a16:creationId xmlns:a16="http://schemas.microsoft.com/office/drawing/2014/main" id="{583047AA-9543-DE34-90C6-3396C7FF2B66}"/>
              </a:ext>
            </a:extLst>
          </p:cNvPr>
          <p:cNvSpPr txBox="1"/>
          <p:nvPr/>
        </p:nvSpPr>
        <p:spPr>
          <a:xfrm>
            <a:off x="10055733" y="2490584"/>
            <a:ext cx="92924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00A7FF"/>
                </a:solidFill>
                <a:effectLst/>
                <a:uLnTx/>
                <a:uFillTx/>
                <a:latin typeface="Poppins SemiBold" pitchFamily="2" charset="0"/>
                <a:ea typeface="M PLUS 1p" panose="020B0502020203020207" pitchFamily="34" charset="-128"/>
                <a:cs typeface="Poppins SemiBold" pitchFamily="2" charset="0"/>
              </a:rPr>
              <a:t>940</a:t>
            </a:r>
            <a:endParaRPr kumimoji="1" lang="ja-JP" altLang="en-US" sz="1000" b="0" i="0" u="none" strike="noStrike" kern="1200" cap="none" spc="0" normalizeH="0" baseline="0" noProof="0" dirty="0">
              <a:ln>
                <a:noFill/>
              </a:ln>
              <a:solidFill>
                <a:srgbClr val="00A7FF"/>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28" name="テキスト ボックス 27">
            <a:extLst>
              <a:ext uri="{FF2B5EF4-FFF2-40B4-BE49-F238E27FC236}">
                <a16:creationId xmlns:a16="http://schemas.microsoft.com/office/drawing/2014/main" id="{14CA2E15-2745-5A73-55F4-507D3F768193}"/>
              </a:ext>
            </a:extLst>
          </p:cNvPr>
          <p:cNvSpPr txBox="1"/>
          <p:nvPr/>
        </p:nvSpPr>
        <p:spPr>
          <a:xfrm>
            <a:off x="6383585" y="4765266"/>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\14</a:t>
            </a:r>
            <a:endParaRPr kumimoji="1" lang="ja-JP" altLang="en-US" sz="10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36" name="テキスト ボックス 35">
            <a:extLst>
              <a:ext uri="{FF2B5EF4-FFF2-40B4-BE49-F238E27FC236}">
                <a16:creationId xmlns:a16="http://schemas.microsoft.com/office/drawing/2014/main" id="{2E46D696-48AD-9F8E-403B-983AEB870203}"/>
              </a:ext>
            </a:extLst>
          </p:cNvPr>
          <p:cNvSpPr txBox="1"/>
          <p:nvPr/>
        </p:nvSpPr>
        <p:spPr>
          <a:xfrm>
            <a:off x="7476281" y="3678208"/>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\40</a:t>
            </a:r>
            <a:endParaRPr kumimoji="1" lang="ja-JP" altLang="en-US" sz="10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grpSp>
        <p:nvGrpSpPr>
          <p:cNvPr id="6" name="グループ化 5">
            <a:extLst>
              <a:ext uri="{FF2B5EF4-FFF2-40B4-BE49-F238E27FC236}">
                <a16:creationId xmlns:a16="http://schemas.microsoft.com/office/drawing/2014/main" id="{D57F1A3D-DAFD-9F21-4B3E-5B1C0E8F0B68}"/>
              </a:ext>
            </a:extLst>
          </p:cNvPr>
          <p:cNvGrpSpPr/>
          <p:nvPr/>
        </p:nvGrpSpPr>
        <p:grpSpPr>
          <a:xfrm>
            <a:off x="5268308" y="2236192"/>
            <a:ext cx="1513443" cy="1042533"/>
            <a:chOff x="7125314" y="2928091"/>
            <a:chExt cx="1513443" cy="1042533"/>
          </a:xfrm>
        </p:grpSpPr>
        <p:sp>
          <p:nvSpPr>
            <p:cNvPr id="39" name="円/楕円 38">
              <a:extLst>
                <a:ext uri="{FF2B5EF4-FFF2-40B4-BE49-F238E27FC236}">
                  <a16:creationId xmlns:a16="http://schemas.microsoft.com/office/drawing/2014/main" id="{E48EAD59-B4BA-65FD-3F1A-33DBD30DD651}"/>
                </a:ext>
              </a:extLst>
            </p:cNvPr>
            <p:cNvSpPr>
              <a:spLocks noChangeAspect="1"/>
            </p:cNvSpPr>
            <p:nvPr/>
          </p:nvSpPr>
          <p:spPr>
            <a:xfrm>
              <a:off x="7370326" y="2928091"/>
              <a:ext cx="1042284" cy="1042533"/>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40" name="テキスト ボックス 39">
              <a:extLst>
                <a:ext uri="{FF2B5EF4-FFF2-40B4-BE49-F238E27FC236}">
                  <a16:creationId xmlns:a16="http://schemas.microsoft.com/office/drawing/2014/main" id="{01BCC2E5-5DAC-ED4C-67C4-56CA3FC2F7E2}"/>
                </a:ext>
              </a:extLst>
            </p:cNvPr>
            <p:cNvSpPr txBox="1"/>
            <p:nvPr/>
          </p:nvSpPr>
          <p:spPr>
            <a:xfrm>
              <a:off x="7125314" y="3282835"/>
              <a:ext cx="1513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a:t>
              </a:r>
              <a:r>
                <a:rPr kumimoji="1" lang="en-US" altLang="ja-JP" sz="24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20.0</a:t>
              </a:r>
              <a:r>
                <a:rPr kumimoji="1" lang="en-US" altLang="ja-JP" sz="12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2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41" name="テキスト ボックス 40">
              <a:extLst>
                <a:ext uri="{FF2B5EF4-FFF2-40B4-BE49-F238E27FC236}">
                  <a16:creationId xmlns:a16="http://schemas.microsoft.com/office/drawing/2014/main" id="{2C0DFDE0-23AB-C339-56D5-0AA602B46989}"/>
                </a:ext>
              </a:extLst>
            </p:cNvPr>
            <p:cNvSpPr txBox="1"/>
            <p:nvPr/>
          </p:nvSpPr>
          <p:spPr>
            <a:xfrm>
              <a:off x="7344886" y="3155480"/>
              <a:ext cx="105425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Dividend</a:t>
              </a:r>
              <a:r>
                <a:rPr kumimoji="1" lang="ja-JP" altLang="en-US" sz="8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 </a:t>
              </a:r>
              <a:r>
                <a:rPr kumimoji="1" lang="en-US" altLang="ja-JP" sz="8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YoY</a:t>
              </a:r>
            </a:p>
          </p:txBody>
        </p:sp>
      </p:grpSp>
      <p:sp>
        <p:nvSpPr>
          <p:cNvPr id="51" name="テキスト ボックス 50">
            <a:extLst>
              <a:ext uri="{FF2B5EF4-FFF2-40B4-BE49-F238E27FC236}">
                <a16:creationId xmlns:a16="http://schemas.microsoft.com/office/drawing/2014/main" id="{FAB4401F-5010-6688-C3F7-7DB470683979}"/>
              </a:ext>
            </a:extLst>
          </p:cNvPr>
          <p:cNvSpPr txBox="1"/>
          <p:nvPr/>
        </p:nvSpPr>
        <p:spPr>
          <a:xfrm>
            <a:off x="1748638" y="1743839"/>
            <a:ext cx="2088713"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Capital Allocation Priorities</a:t>
            </a:r>
          </a:p>
        </p:txBody>
      </p:sp>
      <p:sp>
        <p:nvSpPr>
          <p:cNvPr id="54" name="テキスト ボックス 53">
            <a:extLst>
              <a:ext uri="{FF2B5EF4-FFF2-40B4-BE49-F238E27FC236}">
                <a16:creationId xmlns:a16="http://schemas.microsoft.com/office/drawing/2014/main" id="{08B4F166-169D-66D1-CCD7-216A864FB6B7}"/>
              </a:ext>
            </a:extLst>
          </p:cNvPr>
          <p:cNvSpPr txBox="1"/>
          <p:nvPr/>
        </p:nvSpPr>
        <p:spPr>
          <a:xfrm>
            <a:off x="7418009" y="1743839"/>
            <a:ext cx="1840248" cy="184666"/>
          </a:xfrm>
          <a:prstGeom prst="rect">
            <a:avLst/>
          </a:prstGeom>
          <a:solidFill>
            <a:srgbClr val="C0FF00"/>
          </a:solidFill>
          <a:scene3d>
            <a:camera prst="orthographicFront">
              <a:rot lat="4500000" lon="0" rev="0"/>
            </a:camera>
            <a:lightRig rig="flat" dir="t"/>
          </a:scene3d>
          <a:sp3d z="76200" prstMaterial="matte"/>
        </p:spPr>
        <p:txBody>
          <a:bodyPr wrap="none" lIns="0" tIns="0" rIns="0" bIns="0" rtlCol="0">
            <a:spAutoFit/>
            <a:flatTx/>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Profit &amp; Dividend Trends</a:t>
            </a:r>
          </a:p>
        </p:txBody>
      </p:sp>
      <p:sp>
        <p:nvSpPr>
          <p:cNvPr id="52" name="テキスト ボックス 51">
            <a:extLst>
              <a:ext uri="{FF2B5EF4-FFF2-40B4-BE49-F238E27FC236}">
                <a16:creationId xmlns:a16="http://schemas.microsoft.com/office/drawing/2014/main" id="{F0C9AD64-9540-5521-1D7D-722740F52561}"/>
              </a:ext>
            </a:extLst>
          </p:cNvPr>
          <p:cNvSpPr txBox="1"/>
          <p:nvPr/>
        </p:nvSpPr>
        <p:spPr>
          <a:xfrm>
            <a:off x="8490902" y="4106803"/>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29.9</a:t>
            </a:r>
            <a:r>
              <a:rPr kumimoji="1" lang="en-US" altLang="ja-JP" sz="1050" b="0" i="0" u="none" strike="noStrike" kern="1200" cap="none" spc="0" normalizeH="0" baseline="0" noProof="0" dirty="0">
                <a:ln>
                  <a:noFill/>
                </a:ln>
                <a:solidFill>
                  <a:srgbClr val="D44ED9"/>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a:t>
            </a:r>
            <a:endParaRPr kumimoji="1" lang="ja-JP" altLang="en-US" sz="1000" b="0" i="0" u="none" strike="noStrike" kern="1200" cap="none" spc="0" normalizeH="0" baseline="0" noProof="0" dirty="0">
              <a:ln>
                <a:noFill/>
              </a:ln>
              <a:solidFill>
                <a:srgbClr val="D44ED9"/>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55" name="テキスト ボックス 54">
            <a:extLst>
              <a:ext uri="{FF2B5EF4-FFF2-40B4-BE49-F238E27FC236}">
                <a16:creationId xmlns:a16="http://schemas.microsoft.com/office/drawing/2014/main" id="{6DE64751-CE9D-618F-65C5-6F6D8A40A2F8}"/>
              </a:ext>
            </a:extLst>
          </p:cNvPr>
          <p:cNvSpPr txBox="1"/>
          <p:nvPr/>
        </p:nvSpPr>
        <p:spPr>
          <a:xfrm>
            <a:off x="7329625" y="3289356"/>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49.7</a:t>
            </a:r>
            <a:r>
              <a:rPr kumimoji="1" lang="en-US" altLang="ja-JP" sz="1050" b="0" i="0" u="none" strike="noStrike" kern="1200" cap="none" spc="0" normalizeH="0" baseline="0" noProof="0" dirty="0">
                <a:ln>
                  <a:noFill/>
                </a:ln>
                <a:solidFill>
                  <a:srgbClr val="D44ED9"/>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a:t>
            </a:r>
            <a:endParaRPr kumimoji="1" lang="ja-JP" altLang="en-US" sz="1000" b="0" i="0" u="none" strike="noStrike" kern="1200" cap="none" spc="0" normalizeH="0" baseline="0" noProof="0" dirty="0">
              <a:ln>
                <a:noFill/>
              </a:ln>
              <a:solidFill>
                <a:srgbClr val="D44ED9"/>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57" name="テキスト ボックス 56">
            <a:extLst>
              <a:ext uri="{FF2B5EF4-FFF2-40B4-BE49-F238E27FC236}">
                <a16:creationId xmlns:a16="http://schemas.microsoft.com/office/drawing/2014/main" id="{77E42E0F-3E88-6725-C399-C8B6005F797E}"/>
              </a:ext>
            </a:extLst>
          </p:cNvPr>
          <p:cNvSpPr txBox="1"/>
          <p:nvPr/>
        </p:nvSpPr>
        <p:spPr>
          <a:xfrm>
            <a:off x="10740629" y="4164838"/>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D44ED9"/>
                </a:solidFill>
                <a:effectLst/>
                <a:uLnTx/>
                <a:uFillTx/>
                <a:latin typeface="Poppins SemiBold" pitchFamily="2" charset="0"/>
                <a:ea typeface="M PLUS 1p" panose="020B0502020203020207" pitchFamily="34" charset="-128"/>
                <a:cs typeface="Poppins SemiBold" pitchFamily="2" charset="0"/>
              </a:rPr>
              <a:t>29.3</a:t>
            </a:r>
            <a:r>
              <a:rPr kumimoji="1" lang="en-US" altLang="ja-JP" sz="1050" b="0" i="0" u="none" strike="noStrike" kern="1200" cap="none" spc="0" normalizeH="0" baseline="0" noProof="0" dirty="0">
                <a:ln>
                  <a:noFill/>
                </a:ln>
                <a:solidFill>
                  <a:srgbClr val="D44ED9"/>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a:t>
            </a:r>
            <a:endParaRPr kumimoji="1" lang="ja-JP" altLang="en-US" sz="1000" b="0" i="0" u="none" strike="noStrike" kern="1200" cap="none" spc="0" normalizeH="0" baseline="0" noProof="0" dirty="0">
              <a:ln>
                <a:noFill/>
              </a:ln>
              <a:solidFill>
                <a:srgbClr val="D44ED9"/>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grpSp>
        <p:nvGrpSpPr>
          <p:cNvPr id="60" name="グループ化 59">
            <a:extLst>
              <a:ext uri="{FF2B5EF4-FFF2-40B4-BE49-F238E27FC236}">
                <a16:creationId xmlns:a16="http://schemas.microsoft.com/office/drawing/2014/main" id="{8A5D2D8F-3760-6F06-9E8B-87693295C887}"/>
              </a:ext>
            </a:extLst>
          </p:cNvPr>
          <p:cNvGrpSpPr/>
          <p:nvPr/>
        </p:nvGrpSpPr>
        <p:grpSpPr>
          <a:xfrm>
            <a:off x="9517911" y="3328803"/>
            <a:ext cx="1038441" cy="966785"/>
            <a:chOff x="9673785" y="3339398"/>
            <a:chExt cx="1038441" cy="966785"/>
          </a:xfrm>
        </p:grpSpPr>
        <p:sp>
          <p:nvSpPr>
            <p:cNvPr id="8" name="テキスト ボックス 7">
              <a:extLst>
                <a:ext uri="{FF2B5EF4-FFF2-40B4-BE49-F238E27FC236}">
                  <a16:creationId xmlns:a16="http://schemas.microsoft.com/office/drawing/2014/main" id="{59F36DB6-B677-0479-23A1-EA4C9B1F8573}"/>
                </a:ext>
              </a:extLst>
            </p:cNvPr>
            <p:cNvSpPr txBox="1"/>
            <p:nvPr/>
          </p:nvSpPr>
          <p:spPr>
            <a:xfrm>
              <a:off x="9735109" y="3446992"/>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\50</a:t>
              </a:r>
              <a:endParaRPr kumimoji="1" lang="ja-JP" altLang="en-US" sz="10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10" name="テキスト ボックス 9">
              <a:extLst>
                <a:ext uri="{FF2B5EF4-FFF2-40B4-BE49-F238E27FC236}">
                  <a16:creationId xmlns:a16="http://schemas.microsoft.com/office/drawing/2014/main" id="{3CC1528C-91D6-39D9-24A7-C0F4B91509D5}"/>
                </a:ext>
              </a:extLst>
            </p:cNvPr>
            <p:cNvSpPr txBox="1"/>
            <p:nvPr/>
          </p:nvSpPr>
          <p:spPr>
            <a:xfrm>
              <a:off x="9673785" y="3339398"/>
              <a:ext cx="88344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Pre-Split</a:t>
              </a: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1" lang="ja-JP" altLang="en-US" sz="700" b="0" i="0" u="none" strike="noStrike" kern="1200" cap="none" spc="0" normalizeH="0" baseline="3000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cxnSp>
          <p:nvCxnSpPr>
            <p:cNvPr id="48" name="直線矢印コネクタ 47">
              <a:extLst>
                <a:ext uri="{FF2B5EF4-FFF2-40B4-BE49-F238E27FC236}">
                  <a16:creationId xmlns:a16="http://schemas.microsoft.com/office/drawing/2014/main" id="{42362C68-2468-32FE-C633-C6275748DAB1}"/>
                </a:ext>
              </a:extLst>
            </p:cNvPr>
            <p:cNvCxnSpPr>
              <a:cxnSpLocks/>
            </p:cNvCxnSpPr>
            <p:nvPr/>
          </p:nvCxnSpPr>
          <p:spPr>
            <a:xfrm>
              <a:off x="9982265" y="3722668"/>
              <a:ext cx="0" cy="146421"/>
            </a:xfrm>
            <a:prstGeom prst="straightConnector1">
              <a:avLst/>
            </a:prstGeom>
            <a:ln w="25400">
              <a:solidFill>
                <a:srgbClr val="142FA4"/>
              </a:solidFill>
              <a:tailEnd type="triangle"/>
            </a:ln>
          </p:spPr>
          <p:style>
            <a:lnRef idx="2">
              <a:schemeClr val="accent1"/>
            </a:lnRef>
            <a:fillRef idx="0">
              <a:schemeClr val="accent1"/>
            </a:fillRef>
            <a:effectRef idx="1">
              <a:schemeClr val="accent1"/>
            </a:effectRef>
            <a:fontRef idx="minor">
              <a:schemeClr val="tx1"/>
            </a:fontRef>
          </p:style>
        </p:cxnSp>
        <p:sp>
          <p:nvSpPr>
            <p:cNvPr id="58" name="テキスト ボックス 57">
              <a:extLst>
                <a:ext uri="{FF2B5EF4-FFF2-40B4-BE49-F238E27FC236}">
                  <a16:creationId xmlns:a16="http://schemas.microsoft.com/office/drawing/2014/main" id="{C25EDA24-1911-000F-7103-93F9DE5171EE}"/>
                </a:ext>
              </a:extLst>
            </p:cNvPr>
            <p:cNvSpPr txBox="1"/>
            <p:nvPr/>
          </p:nvSpPr>
          <p:spPr>
            <a:xfrm>
              <a:off x="9782979" y="3967629"/>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\10</a:t>
              </a:r>
              <a:endParaRPr kumimoji="1" lang="ja-JP" altLang="en-US" sz="10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59" name="テキスト ボックス 58">
              <a:extLst>
                <a:ext uri="{FF2B5EF4-FFF2-40B4-BE49-F238E27FC236}">
                  <a16:creationId xmlns:a16="http://schemas.microsoft.com/office/drawing/2014/main" id="{D30702C2-2326-5E53-E2B8-19D93C440B22}"/>
                </a:ext>
              </a:extLst>
            </p:cNvPr>
            <p:cNvSpPr txBox="1"/>
            <p:nvPr/>
          </p:nvSpPr>
          <p:spPr>
            <a:xfrm>
              <a:off x="9673786" y="3860035"/>
              <a:ext cx="92924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Post-Split</a:t>
              </a: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1" lang="ja-JP" altLang="en-US" sz="700" b="0" i="0" u="none" strike="noStrike" kern="1200" cap="none" spc="0" normalizeH="0" baseline="3000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grpSp>
      <p:grpSp>
        <p:nvGrpSpPr>
          <p:cNvPr id="61" name="グループ化 60">
            <a:extLst>
              <a:ext uri="{FF2B5EF4-FFF2-40B4-BE49-F238E27FC236}">
                <a16:creationId xmlns:a16="http://schemas.microsoft.com/office/drawing/2014/main" id="{EBEE2D39-C5B9-6D3B-E54E-EB9C68F7A3F9}"/>
              </a:ext>
            </a:extLst>
          </p:cNvPr>
          <p:cNvGrpSpPr/>
          <p:nvPr/>
        </p:nvGrpSpPr>
        <p:grpSpPr>
          <a:xfrm>
            <a:off x="10676500" y="2895567"/>
            <a:ext cx="1038441" cy="966785"/>
            <a:chOff x="9673785" y="3339398"/>
            <a:chExt cx="1038441" cy="966785"/>
          </a:xfrm>
        </p:grpSpPr>
        <p:sp>
          <p:nvSpPr>
            <p:cNvPr id="62" name="テキスト ボックス 61">
              <a:extLst>
                <a:ext uri="{FF2B5EF4-FFF2-40B4-BE49-F238E27FC236}">
                  <a16:creationId xmlns:a16="http://schemas.microsoft.com/office/drawing/2014/main" id="{75E1A2F7-C870-13CB-3B6F-CAE4192ED0AE}"/>
                </a:ext>
              </a:extLst>
            </p:cNvPr>
            <p:cNvSpPr txBox="1"/>
            <p:nvPr/>
          </p:nvSpPr>
          <p:spPr>
            <a:xfrm>
              <a:off x="9735109" y="3446992"/>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\60</a:t>
              </a:r>
              <a:endParaRPr kumimoji="1" lang="ja-JP" altLang="en-US" sz="10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63" name="テキスト ボックス 62">
              <a:extLst>
                <a:ext uri="{FF2B5EF4-FFF2-40B4-BE49-F238E27FC236}">
                  <a16:creationId xmlns:a16="http://schemas.microsoft.com/office/drawing/2014/main" id="{67B83591-4983-5EB6-BD6D-BEE1694F7B67}"/>
                </a:ext>
              </a:extLst>
            </p:cNvPr>
            <p:cNvSpPr txBox="1"/>
            <p:nvPr/>
          </p:nvSpPr>
          <p:spPr>
            <a:xfrm>
              <a:off x="9673786" y="3339398"/>
              <a:ext cx="92924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Pre-Split</a:t>
              </a: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1" lang="ja-JP" altLang="en-US" sz="700" b="0" i="0" u="none" strike="noStrike" kern="1200" cap="none" spc="0" normalizeH="0" baseline="3000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cxnSp>
          <p:nvCxnSpPr>
            <p:cNvPr id="64" name="直線矢印コネクタ 63">
              <a:extLst>
                <a:ext uri="{FF2B5EF4-FFF2-40B4-BE49-F238E27FC236}">
                  <a16:creationId xmlns:a16="http://schemas.microsoft.com/office/drawing/2014/main" id="{05E25A29-9AB3-C832-3098-0A91DBFE5007}"/>
                </a:ext>
              </a:extLst>
            </p:cNvPr>
            <p:cNvCxnSpPr>
              <a:cxnSpLocks/>
            </p:cNvCxnSpPr>
            <p:nvPr/>
          </p:nvCxnSpPr>
          <p:spPr>
            <a:xfrm>
              <a:off x="9982265" y="3722668"/>
              <a:ext cx="0" cy="146421"/>
            </a:xfrm>
            <a:prstGeom prst="straightConnector1">
              <a:avLst/>
            </a:prstGeom>
            <a:ln w="25400">
              <a:solidFill>
                <a:srgbClr val="142FA4"/>
              </a:solidFill>
              <a:tailEnd type="triangle"/>
            </a:ln>
          </p:spPr>
          <p:style>
            <a:lnRef idx="2">
              <a:schemeClr val="accent1"/>
            </a:lnRef>
            <a:fillRef idx="0">
              <a:schemeClr val="accent1"/>
            </a:fillRef>
            <a:effectRef idx="1">
              <a:schemeClr val="accent1"/>
            </a:effectRef>
            <a:fontRef idx="minor">
              <a:schemeClr val="tx1"/>
            </a:fontRef>
          </p:style>
        </p:cxnSp>
        <p:sp>
          <p:nvSpPr>
            <p:cNvPr id="65" name="テキスト ボックス 64">
              <a:extLst>
                <a:ext uri="{FF2B5EF4-FFF2-40B4-BE49-F238E27FC236}">
                  <a16:creationId xmlns:a16="http://schemas.microsoft.com/office/drawing/2014/main" id="{ED5F8765-A45B-575B-B78A-3BBF7EFC91A9}"/>
                </a:ext>
              </a:extLst>
            </p:cNvPr>
            <p:cNvSpPr txBox="1"/>
            <p:nvPr/>
          </p:nvSpPr>
          <p:spPr>
            <a:xfrm>
              <a:off x="9782979" y="3967629"/>
              <a:ext cx="9292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\12</a:t>
              </a:r>
              <a:endParaRPr kumimoji="1" lang="ja-JP" altLang="en-US" sz="10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66" name="テキスト ボックス 65">
              <a:extLst>
                <a:ext uri="{FF2B5EF4-FFF2-40B4-BE49-F238E27FC236}">
                  <a16:creationId xmlns:a16="http://schemas.microsoft.com/office/drawing/2014/main" id="{5CBB7276-AF57-C930-4665-DE695F76DF57}"/>
                </a:ext>
              </a:extLst>
            </p:cNvPr>
            <p:cNvSpPr txBox="1"/>
            <p:nvPr/>
          </p:nvSpPr>
          <p:spPr>
            <a:xfrm>
              <a:off x="9673785" y="3860035"/>
              <a:ext cx="96463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r>
                <a:rPr kumimoji="1" lang="en-US" altLang="ja-JP" sz="8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Post-Split</a:t>
              </a:r>
              <a:r>
                <a:rPr kumimoji="1" lang="ja-JP" altLang="en-US" sz="700" b="0" i="0" u="none" strike="noStrike" kern="1200" cap="none" spc="0" normalizeH="0" baseline="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rPr>
                <a:t>）</a:t>
              </a:r>
              <a:endParaRPr kumimoji="1" lang="ja-JP" altLang="en-US" sz="700" b="0" i="0" u="none" strike="noStrike" kern="1200" cap="none" spc="0" normalizeH="0" baseline="30000" noProof="0" dirty="0">
                <a:ln>
                  <a:noFill/>
                </a:ln>
                <a:solidFill>
                  <a:srgbClr val="142FA4"/>
                </a:solidFill>
                <a:effectLst/>
                <a:uLnTx/>
                <a:uFillTx/>
                <a:latin typeface="M PLUS 1p" panose="020B0502020203020207" pitchFamily="34" charset="-128"/>
                <a:ea typeface="M PLUS 1p" panose="020B0502020203020207" pitchFamily="34" charset="-128"/>
                <a:cs typeface="M PLUS 1p" panose="020B0502020203020207" pitchFamily="34" charset="-128"/>
              </a:endParaRPr>
            </a:p>
          </p:txBody>
        </p:sp>
      </p:grpSp>
      <p:grpSp>
        <p:nvGrpSpPr>
          <p:cNvPr id="47" name="グループ化 46">
            <a:extLst>
              <a:ext uri="{FF2B5EF4-FFF2-40B4-BE49-F238E27FC236}">
                <a16:creationId xmlns:a16="http://schemas.microsoft.com/office/drawing/2014/main" id="{034F2E62-4D8A-E324-F498-6A6EB601B239}"/>
              </a:ext>
            </a:extLst>
          </p:cNvPr>
          <p:cNvGrpSpPr/>
          <p:nvPr/>
        </p:nvGrpSpPr>
        <p:grpSpPr>
          <a:xfrm>
            <a:off x="5291168" y="3390622"/>
            <a:ext cx="1513443" cy="1042533"/>
            <a:chOff x="7148174" y="2928091"/>
            <a:chExt cx="1513443" cy="1042533"/>
          </a:xfrm>
        </p:grpSpPr>
        <p:sp>
          <p:nvSpPr>
            <p:cNvPr id="49" name="円/楕円 48">
              <a:extLst>
                <a:ext uri="{FF2B5EF4-FFF2-40B4-BE49-F238E27FC236}">
                  <a16:creationId xmlns:a16="http://schemas.microsoft.com/office/drawing/2014/main" id="{75C619DF-A316-C1AA-CCC0-EE1526BF5130}"/>
                </a:ext>
              </a:extLst>
            </p:cNvPr>
            <p:cNvSpPr>
              <a:spLocks noChangeAspect="1"/>
            </p:cNvSpPr>
            <p:nvPr/>
          </p:nvSpPr>
          <p:spPr>
            <a:xfrm>
              <a:off x="7370326" y="2928091"/>
              <a:ext cx="1042284" cy="1042533"/>
            </a:xfrm>
            <a:prstGeom prst="ellipse">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sp>
          <p:nvSpPr>
            <p:cNvPr id="50" name="テキスト ボックス 49">
              <a:extLst>
                <a:ext uri="{FF2B5EF4-FFF2-40B4-BE49-F238E27FC236}">
                  <a16:creationId xmlns:a16="http://schemas.microsoft.com/office/drawing/2014/main" id="{7C9E412B-C775-6FD8-05BB-2B8733CF7B0A}"/>
                </a:ext>
              </a:extLst>
            </p:cNvPr>
            <p:cNvSpPr txBox="1"/>
            <p:nvPr/>
          </p:nvSpPr>
          <p:spPr>
            <a:xfrm>
              <a:off x="7148174" y="3282835"/>
              <a:ext cx="1513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dirty="0">
                  <a:ln>
                    <a:noFill/>
                  </a:ln>
                  <a:solidFill>
                    <a:srgbClr val="142FA4"/>
                  </a:solidFill>
                  <a:effectLst/>
                  <a:uLnTx/>
                  <a:uFillTx/>
                  <a:latin typeface="Poppins SemiBold" pitchFamily="2" charset="0"/>
                  <a:ea typeface="M PLUS 1p" panose="020B0502020203020207" pitchFamily="34" charset="-128"/>
                  <a:cs typeface="Poppins SemiBold" pitchFamily="2" charset="0"/>
                </a:rPr>
                <a:t>36.3</a:t>
              </a:r>
              <a:r>
                <a:rPr kumimoji="1" lang="en-US" altLang="ja-JP" sz="12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rPr>
                <a:t>%</a:t>
              </a:r>
              <a:endParaRPr kumimoji="1" lang="ja-JP" altLang="en-US" sz="1200" b="1"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53" name="テキスト ボックス 52">
              <a:extLst>
                <a:ext uri="{FF2B5EF4-FFF2-40B4-BE49-F238E27FC236}">
                  <a16:creationId xmlns:a16="http://schemas.microsoft.com/office/drawing/2014/main" id="{0A79A088-266C-21D3-9553-5F022C1A8E80}"/>
                </a:ext>
              </a:extLst>
            </p:cNvPr>
            <p:cNvSpPr txBox="1"/>
            <p:nvPr/>
          </p:nvSpPr>
          <p:spPr>
            <a:xfrm>
              <a:off x="7377769" y="3053700"/>
              <a:ext cx="105425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rPr>
                <a:t>ROE 3-Year Average</a:t>
              </a:r>
              <a:endParaRPr kumimoji="1" lang="ja-JP" altLang="en-US" sz="800" b="0" i="0" u="none" strike="noStrike" kern="1200" cap="none" spc="0" normalizeH="0" baseline="0" noProof="0" dirty="0">
                <a:ln>
                  <a:noFill/>
                </a:ln>
                <a:solidFill>
                  <a:srgbClr val="142FA4"/>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grpSp>
      <p:cxnSp>
        <p:nvCxnSpPr>
          <p:cNvPr id="70" name="直線コネクタ 69">
            <a:extLst>
              <a:ext uri="{FF2B5EF4-FFF2-40B4-BE49-F238E27FC236}">
                <a16:creationId xmlns:a16="http://schemas.microsoft.com/office/drawing/2014/main" id="{0ACB0164-B396-74A0-E312-B850E32DD048}"/>
              </a:ext>
            </a:extLst>
          </p:cNvPr>
          <p:cNvCxnSpPr>
            <a:cxnSpLocks/>
          </p:cNvCxnSpPr>
          <p:nvPr/>
        </p:nvCxnSpPr>
        <p:spPr>
          <a:xfrm flipH="1">
            <a:off x="874021" y="4770332"/>
            <a:ext cx="3844271" cy="0"/>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cxnSp>
        <p:nvCxnSpPr>
          <p:cNvPr id="73" name="直線コネクタ 72">
            <a:extLst>
              <a:ext uri="{FF2B5EF4-FFF2-40B4-BE49-F238E27FC236}">
                <a16:creationId xmlns:a16="http://schemas.microsoft.com/office/drawing/2014/main" id="{98D27B0D-B746-DB90-B05B-5D8FC7EBDCEE}"/>
              </a:ext>
            </a:extLst>
          </p:cNvPr>
          <p:cNvCxnSpPr>
            <a:cxnSpLocks/>
          </p:cNvCxnSpPr>
          <p:nvPr/>
        </p:nvCxnSpPr>
        <p:spPr>
          <a:xfrm>
            <a:off x="550862" y="1766706"/>
            <a:ext cx="0" cy="4266349"/>
          </a:xfrm>
          <a:prstGeom prst="line">
            <a:avLst/>
          </a:prstGeom>
          <a:ln w="9525">
            <a:solidFill>
              <a:srgbClr val="142FA4"/>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2E3E670C-6CE4-86F9-0626-C7453B90BA2D}"/>
              </a:ext>
            </a:extLst>
          </p:cNvPr>
          <p:cNvSpPr txBox="1"/>
          <p:nvPr/>
        </p:nvSpPr>
        <p:spPr>
          <a:xfrm>
            <a:off x="1455966" y="2533819"/>
            <a:ext cx="3063494" cy="446854"/>
          </a:xfrm>
          <a:prstGeom prst="rect">
            <a:avLst/>
          </a:prstGeom>
          <a:noFill/>
        </p:spPr>
        <p:txBody>
          <a:bodyPr wrap="square">
            <a:spAutoFit/>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Strategic investments in the expansion of new business areas and M&amp;A</a:t>
            </a:r>
          </a:p>
        </p:txBody>
      </p:sp>
      <p:sp>
        <p:nvSpPr>
          <p:cNvPr id="14" name="テキスト ボックス 13">
            <a:extLst>
              <a:ext uri="{FF2B5EF4-FFF2-40B4-BE49-F238E27FC236}">
                <a16:creationId xmlns:a16="http://schemas.microsoft.com/office/drawing/2014/main" id="{BE328095-5E10-F93D-4D18-99919B63E094}"/>
              </a:ext>
            </a:extLst>
          </p:cNvPr>
          <p:cNvSpPr txBox="1"/>
          <p:nvPr/>
        </p:nvSpPr>
        <p:spPr>
          <a:xfrm>
            <a:off x="1455966" y="4016762"/>
            <a:ext cx="3063494" cy="446854"/>
          </a:xfrm>
          <a:prstGeom prst="rect">
            <a:avLst/>
          </a:prstGeom>
          <a:noFill/>
        </p:spPr>
        <p:txBody>
          <a:bodyPr wrap="square">
            <a:spAutoFit/>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Investing in human capital to</a:t>
            </a:r>
          </a:p>
          <a:p>
            <a:pPr marL="0" marR="0" lvl="0" indent="0" algn="l" defTabSz="914400" rtl="0" eaLnBrk="1" fontAlgn="auto" latinLnBrk="0" hangingPunct="1">
              <a:lnSpc>
                <a:spcPts val="14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enhance long-term business sustainability</a:t>
            </a:r>
          </a:p>
        </p:txBody>
      </p:sp>
      <p:sp>
        <p:nvSpPr>
          <p:cNvPr id="15" name="テキスト ボックス 14">
            <a:extLst>
              <a:ext uri="{FF2B5EF4-FFF2-40B4-BE49-F238E27FC236}">
                <a16:creationId xmlns:a16="http://schemas.microsoft.com/office/drawing/2014/main" id="{7661A3AF-31BF-42FE-12E5-5811067CD333}"/>
              </a:ext>
            </a:extLst>
          </p:cNvPr>
          <p:cNvSpPr txBox="1"/>
          <p:nvPr/>
        </p:nvSpPr>
        <p:spPr>
          <a:xfrm>
            <a:off x="1455966" y="5302822"/>
            <a:ext cx="3063494" cy="626390"/>
          </a:xfrm>
          <a:prstGeom prst="rect">
            <a:avLst/>
          </a:prstGeom>
          <a:noFill/>
        </p:spPr>
        <p:txBody>
          <a:bodyPr wrap="square">
            <a:spAutoFit/>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Dividend payout ratio targeted at 20–25%; </a:t>
            </a:r>
          </a:p>
          <a:p>
            <a:pPr marL="0" marR="0" lvl="0" indent="0" algn="l" defTabSz="914400" rtl="0" eaLnBrk="1" fontAlgn="auto" latinLnBrk="0" hangingPunct="1">
              <a:lnSpc>
                <a:spcPts val="14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considering further dividend increases aligned with profit growth</a:t>
            </a:r>
          </a:p>
        </p:txBody>
      </p:sp>
      <p:sp>
        <p:nvSpPr>
          <p:cNvPr id="37" name="テキスト ボックス 36">
            <a:extLst>
              <a:ext uri="{FF2B5EF4-FFF2-40B4-BE49-F238E27FC236}">
                <a16:creationId xmlns:a16="http://schemas.microsoft.com/office/drawing/2014/main" id="{473376E6-BB4E-EB24-687E-DDD98C486B92}"/>
              </a:ext>
            </a:extLst>
          </p:cNvPr>
          <p:cNvSpPr txBox="1"/>
          <p:nvPr/>
        </p:nvSpPr>
        <p:spPr>
          <a:xfrm>
            <a:off x="5480144" y="4757892"/>
            <a:ext cx="92924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00A7FF"/>
                </a:solidFill>
                <a:effectLst/>
                <a:uLnTx/>
                <a:uFillTx/>
                <a:latin typeface="Poppins SemiBold" pitchFamily="2" charset="0"/>
                <a:ea typeface="M PLUS 1p" panose="020B0502020203020207" pitchFamily="34" charset="-128"/>
                <a:cs typeface="Poppins SemiBold" pitchFamily="2" charset="0"/>
              </a:rPr>
              <a:t>160</a:t>
            </a:r>
            <a:endParaRPr kumimoji="1" lang="ja-JP" altLang="en-US" sz="1000" b="0" i="0" u="none" strike="noStrike" kern="1200" cap="none" spc="0" normalizeH="0" baseline="0" noProof="0" dirty="0">
              <a:ln>
                <a:noFill/>
              </a:ln>
              <a:solidFill>
                <a:srgbClr val="00A7FF"/>
              </a:solidFill>
              <a:effectLst/>
              <a:uLnTx/>
              <a:uFillTx/>
              <a:latin typeface="M PLUS 1p Medium" panose="020B0502020203020207" pitchFamily="34" charset="-128"/>
              <a:ea typeface="M PLUS 1p Medium" panose="020B0502020203020207" pitchFamily="34" charset="-128"/>
              <a:cs typeface="M PLUS 1p Medium" panose="020B0502020203020207" pitchFamily="34" charset="-128"/>
            </a:endParaRPr>
          </a:p>
        </p:txBody>
      </p:sp>
      <p:sp>
        <p:nvSpPr>
          <p:cNvPr id="44" name="テキスト ボックス 43">
            <a:extLst>
              <a:ext uri="{FF2B5EF4-FFF2-40B4-BE49-F238E27FC236}">
                <a16:creationId xmlns:a16="http://schemas.microsoft.com/office/drawing/2014/main" id="{388A6895-DF82-0E07-E73D-29AB277DEFD5}"/>
              </a:ext>
            </a:extLst>
          </p:cNvPr>
          <p:cNvSpPr txBox="1"/>
          <p:nvPr/>
        </p:nvSpPr>
        <p:spPr>
          <a:xfrm>
            <a:off x="5002576" y="2005360"/>
            <a:ext cx="1117614"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142FA4"/>
                </a:solidFill>
                <a:effectLst/>
                <a:uLnTx/>
                <a:uFillTx/>
                <a:latin typeface="Poppins" pitchFamily="2" charset="0"/>
                <a:ea typeface="M PLUS 1p" panose="020B0502020203020207" pitchFamily="34" charset="-128"/>
                <a:cs typeface="Poppins" pitchFamily="2" charset="0"/>
              </a:rPr>
              <a:t>(millions of yen)</a:t>
            </a:r>
            <a:endParaRPr kumimoji="1" lang="ja-JP" altLang="en-US" sz="900" b="0" i="0" u="none" strike="noStrike" kern="1200" cap="none" spc="0" normalizeH="0" baseline="30000" noProof="0" dirty="0">
              <a:ln>
                <a:noFill/>
              </a:ln>
              <a:solidFill>
                <a:srgbClr val="142FA4"/>
              </a:solidFill>
              <a:effectLst/>
              <a:uLnTx/>
              <a:uFillTx/>
              <a:latin typeface="Poppins" pitchFamily="2" charset="0"/>
              <a:ea typeface="M PLUS 1p" panose="020B0502020203020207" pitchFamily="34" charset="-128"/>
              <a:cs typeface="Poppins" pitchFamily="2" charset="0"/>
            </a:endParaRPr>
          </a:p>
        </p:txBody>
      </p:sp>
      <p:sp>
        <p:nvSpPr>
          <p:cNvPr id="46" name="テキスト ボックス 45">
            <a:extLst>
              <a:ext uri="{FF2B5EF4-FFF2-40B4-BE49-F238E27FC236}">
                <a16:creationId xmlns:a16="http://schemas.microsoft.com/office/drawing/2014/main" id="{03672444-9009-6745-58E4-039EB999C6B0}"/>
              </a:ext>
            </a:extLst>
          </p:cNvPr>
          <p:cNvSpPr txBox="1"/>
          <p:nvPr/>
        </p:nvSpPr>
        <p:spPr>
          <a:xfrm>
            <a:off x="8182513" y="2106290"/>
            <a:ext cx="1715534" cy="278923"/>
          </a:xfrm>
          <a:prstGeom prst="rect">
            <a:avLst/>
          </a:prstGeom>
          <a:noFill/>
        </p:spPr>
        <p:txBody>
          <a:bodyPr wrap="none" rtlCol="0">
            <a:spAutoFit/>
          </a:bodyPr>
          <a:lstStyle/>
          <a:p>
            <a:pPr marL="171450" marR="0" lvl="0" indent="-171450" algn="l" defTabSz="914400" rtl="0" eaLnBrk="1" fontAlgn="auto" latinLnBrk="0" hangingPunct="1">
              <a:lnSpc>
                <a:spcPts val="1520"/>
              </a:lnSpc>
              <a:spcBef>
                <a:spcPts val="0"/>
              </a:spcBef>
              <a:spcAft>
                <a:spcPts val="0"/>
              </a:spcAft>
              <a:buClrTx/>
              <a:buSzTx/>
              <a:buFont typeface="Wingdings" pitchFamily="2" charset="2"/>
              <a:buChar char="l"/>
              <a:tabLst/>
              <a:defRPr/>
            </a:pPr>
            <a:r>
              <a:rPr kumimoji="1" lang="ja-JP" altLang="ja-JP" sz="11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Dividend </a:t>
            </a:r>
            <a:r>
              <a:rPr kumimoji="1" lang="en-US" altLang="ja-JP" sz="11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P</a:t>
            </a:r>
            <a:r>
              <a:rPr kumimoji="1" lang="ja-JP" altLang="ja-JP" sz="11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er </a:t>
            </a:r>
            <a:r>
              <a:rPr kumimoji="1" lang="en-US" altLang="ja-JP" sz="11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S</a:t>
            </a:r>
            <a:r>
              <a:rPr kumimoji="1" lang="ja-JP" altLang="ja-JP" sz="1100" b="0" i="0" u="none" strike="noStrike" kern="1200" cap="none" spc="0" normalizeH="0" baseline="0" noProof="0" dirty="0">
                <a:ln>
                  <a:noFill/>
                </a:ln>
                <a:solidFill>
                  <a:srgbClr val="142FA4"/>
                </a:solidFill>
                <a:effectLst/>
                <a:uLnTx/>
                <a:uFillTx/>
                <a:latin typeface="Poppins" pitchFamily="2" charset="0"/>
                <a:ea typeface="游ゴシック" panose="020B0400000000000000" pitchFamily="50" charset="-128"/>
                <a:cs typeface="Poppins" pitchFamily="2" charset="0"/>
              </a:rPr>
              <a:t>hare </a:t>
            </a:r>
            <a:endParaRPr kumimoji="1" lang="en-US" altLang="ja-JP" sz="1100" b="0" i="0" u="none" strike="noStrike" kern="1200" cap="none" spc="0" normalizeH="0" baseline="0" noProof="0" dirty="0">
              <a:ln>
                <a:noFill/>
              </a:ln>
              <a:solidFill>
                <a:srgbClr val="142FA4"/>
              </a:solidFill>
              <a:effectLst/>
              <a:uLnTx/>
              <a:uFillTx/>
              <a:latin typeface="Poppins" pitchFamily="2" charset="0"/>
              <a:ea typeface="M PLUS 1p Medium" panose="020B0502020203020207" pitchFamily="34" charset="-128"/>
              <a:cs typeface="Poppins" pitchFamily="2" charset="0"/>
            </a:endParaRPr>
          </a:p>
        </p:txBody>
      </p:sp>
      <p:cxnSp>
        <p:nvCxnSpPr>
          <p:cNvPr id="56" name="直線コネクタ 55">
            <a:extLst>
              <a:ext uri="{FF2B5EF4-FFF2-40B4-BE49-F238E27FC236}">
                <a16:creationId xmlns:a16="http://schemas.microsoft.com/office/drawing/2014/main" id="{147503B9-932B-4A74-71C3-F4C0AF910AC5}"/>
              </a:ext>
            </a:extLst>
          </p:cNvPr>
          <p:cNvCxnSpPr>
            <a:cxnSpLocks/>
          </p:cNvCxnSpPr>
          <p:nvPr/>
        </p:nvCxnSpPr>
        <p:spPr>
          <a:xfrm flipH="1">
            <a:off x="8239125" y="2244020"/>
            <a:ext cx="168854" cy="0"/>
          </a:xfrm>
          <a:prstGeom prst="line">
            <a:avLst/>
          </a:prstGeom>
          <a:ln w="19050">
            <a:solidFill>
              <a:srgbClr val="142FA4"/>
            </a:solidFill>
          </a:ln>
        </p:spPr>
        <p:style>
          <a:lnRef idx="2">
            <a:schemeClr val="accent1"/>
          </a:lnRef>
          <a:fillRef idx="0">
            <a:schemeClr val="accent1"/>
          </a:fillRef>
          <a:effectRef idx="1">
            <a:schemeClr val="accent1"/>
          </a:effectRef>
          <a:fontRef idx="minor">
            <a:schemeClr val="tx1"/>
          </a:fontRef>
        </p:style>
      </p:cxnSp>
      <p:sp>
        <p:nvSpPr>
          <p:cNvPr id="67" name="テキスト ボックス 66">
            <a:extLst>
              <a:ext uri="{FF2B5EF4-FFF2-40B4-BE49-F238E27FC236}">
                <a16:creationId xmlns:a16="http://schemas.microsoft.com/office/drawing/2014/main" id="{26B01B77-3CF3-3317-6F8E-17E2E57F3C17}"/>
              </a:ext>
            </a:extLst>
          </p:cNvPr>
          <p:cNvSpPr txBox="1"/>
          <p:nvPr/>
        </p:nvSpPr>
        <p:spPr>
          <a:xfrm>
            <a:off x="9867964" y="2106290"/>
            <a:ext cx="627095" cy="278923"/>
          </a:xfrm>
          <a:prstGeom prst="rect">
            <a:avLst/>
          </a:prstGeom>
          <a:noFill/>
        </p:spPr>
        <p:txBody>
          <a:bodyPr wrap="none" rtlCol="0">
            <a:spAutoFit/>
          </a:bodyPr>
          <a:lstStyle/>
          <a:p>
            <a:pPr marL="171450" marR="0" lvl="0" indent="-171450" algn="l" defTabSz="914400" rtl="0" eaLnBrk="1" fontAlgn="auto" latinLnBrk="0" hangingPunct="1">
              <a:lnSpc>
                <a:spcPts val="1520"/>
              </a:lnSpc>
              <a:spcBef>
                <a:spcPts val="0"/>
              </a:spcBef>
              <a:spcAft>
                <a:spcPts val="0"/>
              </a:spcAft>
              <a:buClr>
                <a:srgbClr val="D44ED9"/>
              </a:buClr>
              <a:buSzTx/>
              <a:buFont typeface="Wingdings" pitchFamily="2" charset="2"/>
              <a:buChar char="l"/>
              <a:tabLst/>
              <a:defRPr/>
            </a:pPr>
            <a:r>
              <a:rPr kumimoji="1" lang="en-US" altLang="ja-JP" sz="1100" b="0" i="0" u="none" strike="noStrike" kern="1200" cap="none" spc="0" normalizeH="0" baseline="0" noProof="0" dirty="0">
                <a:ln>
                  <a:noFill/>
                </a:ln>
                <a:solidFill>
                  <a:srgbClr val="D44ED9"/>
                </a:solidFill>
                <a:effectLst/>
                <a:uLnTx/>
                <a:uFillTx/>
                <a:latin typeface="Poppins" pitchFamily="2" charset="0"/>
                <a:ea typeface="M PLUS 1p Medium" panose="020B0502020203020207" pitchFamily="34" charset="-128"/>
                <a:cs typeface="Poppins" pitchFamily="2" charset="0"/>
              </a:rPr>
              <a:t>ROE</a:t>
            </a:r>
          </a:p>
        </p:txBody>
      </p:sp>
      <p:cxnSp>
        <p:nvCxnSpPr>
          <p:cNvPr id="68" name="直線コネクタ 67">
            <a:extLst>
              <a:ext uri="{FF2B5EF4-FFF2-40B4-BE49-F238E27FC236}">
                <a16:creationId xmlns:a16="http://schemas.microsoft.com/office/drawing/2014/main" id="{0398A586-7528-BEB7-B478-07339F65400C}"/>
              </a:ext>
            </a:extLst>
          </p:cNvPr>
          <p:cNvCxnSpPr>
            <a:cxnSpLocks/>
          </p:cNvCxnSpPr>
          <p:nvPr/>
        </p:nvCxnSpPr>
        <p:spPr>
          <a:xfrm flipH="1">
            <a:off x="9921127" y="2244020"/>
            <a:ext cx="168854" cy="0"/>
          </a:xfrm>
          <a:prstGeom prst="line">
            <a:avLst/>
          </a:prstGeom>
          <a:ln w="19050">
            <a:solidFill>
              <a:srgbClr val="D44ED9"/>
            </a:solidFill>
          </a:ln>
        </p:spPr>
        <p:style>
          <a:lnRef idx="2">
            <a:schemeClr val="accent1"/>
          </a:lnRef>
          <a:fillRef idx="0">
            <a:schemeClr val="accent1"/>
          </a:fillRef>
          <a:effectRef idx="1">
            <a:schemeClr val="accent1"/>
          </a:effectRef>
          <a:fontRef idx="minor">
            <a:schemeClr val="tx1"/>
          </a:fontRef>
        </p:style>
      </p:cxnSp>
      <p:sp>
        <p:nvSpPr>
          <p:cNvPr id="69" name="テキスト ボックス 68">
            <a:extLst>
              <a:ext uri="{FF2B5EF4-FFF2-40B4-BE49-F238E27FC236}">
                <a16:creationId xmlns:a16="http://schemas.microsoft.com/office/drawing/2014/main" id="{866E8720-7B28-F837-F772-4392A6B8A119}"/>
              </a:ext>
            </a:extLst>
          </p:cNvPr>
          <p:cNvSpPr txBox="1"/>
          <p:nvPr/>
        </p:nvSpPr>
        <p:spPr>
          <a:xfrm>
            <a:off x="6506970" y="2128030"/>
            <a:ext cx="1840248" cy="600164"/>
          </a:xfrm>
          <a:prstGeom prst="rect">
            <a:avLst/>
          </a:prstGeom>
          <a:noFill/>
        </p:spPr>
        <p:txBody>
          <a:bodyPr wrap="square" rtlCol="0">
            <a:spAutoFit/>
          </a:bodyPr>
          <a:lstStyle/>
          <a:p>
            <a:pPr marL="179388" marR="0" lvl="0" indent="-179388"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A7FF"/>
                </a:solidFill>
                <a:effectLst/>
                <a:uLnTx/>
                <a:uFillTx/>
                <a:latin typeface="Poppins" pitchFamily="2" charset="0"/>
                <a:ea typeface="游ゴシック" panose="020B0400000000000000" pitchFamily="50" charset="-128"/>
                <a:cs typeface="Poppins" pitchFamily="2" charset="0"/>
              </a:rPr>
              <a:t>■ Consolidated Net Profit Attributable to Owners of the Parent</a:t>
            </a:r>
            <a:endParaRPr kumimoji="1" lang="ja-JP" altLang="en-US" sz="1100" b="0" i="0" u="none" strike="noStrike" kern="1200" cap="none" spc="0" normalizeH="0" baseline="0" noProof="0" dirty="0">
              <a:ln>
                <a:noFill/>
              </a:ln>
              <a:solidFill>
                <a:srgbClr val="00A7FF"/>
              </a:solidFill>
              <a:effectLst/>
              <a:uLnTx/>
              <a:uFillTx/>
              <a:latin typeface="Poppins" pitchFamily="2" charset="0"/>
              <a:ea typeface="游ゴシック" panose="020B0400000000000000" pitchFamily="50" charset="-128"/>
              <a:cs typeface="Poppins" pitchFamily="2" charset="0"/>
            </a:endParaRPr>
          </a:p>
        </p:txBody>
      </p:sp>
    </p:spTree>
    <p:extLst>
      <p:ext uri="{BB962C8B-B14F-4D97-AF65-F5344CB8AC3E}">
        <p14:creationId xmlns:p14="http://schemas.microsoft.com/office/powerpoint/2010/main" val="3658757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6F094-5D82-5ACF-B536-B3CE79A92E12}"/>
            </a:ext>
          </a:extLst>
        </p:cNvPr>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849CAC7-4E19-5371-FEB3-EA74A5F57565}"/>
              </a:ext>
            </a:extLst>
          </p:cNvPr>
          <p:cNvSpPr>
            <a:spLocks noGrp="1"/>
          </p:cNvSpPr>
          <p:nvPr>
            <p:ph type="body" sz="quarter" idx="12"/>
          </p:nvPr>
        </p:nvSpPr>
        <p:spPr/>
        <p:txBody>
          <a:bodyPr>
            <a:normAutofit/>
          </a:bodyPr>
          <a:lstStyle/>
          <a:p>
            <a:r>
              <a:rPr lang="en-US" altLang="ja-JP" dirty="0"/>
              <a:t>Risk Management, Governance and Sustainability</a:t>
            </a:r>
            <a:endParaRPr lang="ja-JP" altLang="en-US" dirty="0"/>
          </a:p>
        </p:txBody>
      </p:sp>
      <p:sp>
        <p:nvSpPr>
          <p:cNvPr id="12" name="タイトル 9">
            <a:extLst>
              <a:ext uri="{FF2B5EF4-FFF2-40B4-BE49-F238E27FC236}">
                <a16:creationId xmlns:a16="http://schemas.microsoft.com/office/drawing/2014/main" id="{AFA20E7C-5408-CE42-45F7-0582769F710C}"/>
              </a:ext>
            </a:extLst>
          </p:cNvPr>
          <p:cNvSpPr>
            <a:spLocks noGrp="1"/>
          </p:cNvSpPr>
          <p:nvPr>
            <p:ph type="ctrTitle"/>
          </p:nvPr>
        </p:nvSpPr>
        <p:spPr/>
        <p:txBody>
          <a:bodyPr/>
          <a:lstStyle/>
          <a:p>
            <a:r>
              <a:rPr lang="en-US" altLang="ja-JP" dirty="0"/>
              <a:t>Strengthening </a:t>
            </a:r>
            <a:r>
              <a:rPr lang="en-US" altLang="ja-JP" dirty="0">
                <a:solidFill>
                  <a:srgbClr val="C0FF00"/>
                </a:solidFill>
              </a:rPr>
              <a:t>the management foundation for sustainable growth</a:t>
            </a:r>
            <a:endParaRPr lang="ja-JP" altLang="en-US" dirty="0">
              <a:solidFill>
                <a:srgbClr val="C0FF00"/>
              </a:solidFill>
            </a:endParaRPr>
          </a:p>
        </p:txBody>
      </p:sp>
      <p:sp>
        <p:nvSpPr>
          <p:cNvPr id="6" name="テキスト プレースホルダー 5">
            <a:extLst>
              <a:ext uri="{FF2B5EF4-FFF2-40B4-BE49-F238E27FC236}">
                <a16:creationId xmlns:a16="http://schemas.microsoft.com/office/drawing/2014/main" id="{2C68A8D7-990D-0B62-301F-FD7C45921379}"/>
              </a:ext>
            </a:extLst>
          </p:cNvPr>
          <p:cNvSpPr>
            <a:spLocks noGrp="1"/>
          </p:cNvSpPr>
          <p:nvPr>
            <p:ph type="body" sz="quarter" idx="14"/>
          </p:nvPr>
        </p:nvSpPr>
        <p:spPr>
          <a:xfrm>
            <a:off x="7905901" y="6310211"/>
            <a:ext cx="6246813" cy="444389"/>
          </a:xfrm>
        </p:spPr>
        <p:txBody>
          <a:bodyPr>
            <a:normAutofit/>
          </a:bodyPr>
          <a:lstStyle/>
          <a:p>
            <a:r>
              <a:rPr lang="en" altLang="ja-JP" dirty="0"/>
              <a:t>* Details of each initiative are disclosed in the Growth Potential Materials</a:t>
            </a:r>
            <a:endParaRPr lang="ja-JP" altLang="en-US" dirty="0"/>
          </a:p>
        </p:txBody>
      </p:sp>
      <p:sp>
        <p:nvSpPr>
          <p:cNvPr id="17" name="角丸四角形 16">
            <a:extLst>
              <a:ext uri="{FF2B5EF4-FFF2-40B4-BE49-F238E27FC236}">
                <a16:creationId xmlns:a16="http://schemas.microsoft.com/office/drawing/2014/main" id="{95F4A29A-629F-DA39-CAA0-34F6F50FE476}"/>
              </a:ext>
            </a:extLst>
          </p:cNvPr>
          <p:cNvSpPr/>
          <p:nvPr/>
        </p:nvSpPr>
        <p:spPr>
          <a:xfrm>
            <a:off x="4344600" y="1506993"/>
            <a:ext cx="3502800" cy="4778708"/>
          </a:xfrm>
          <a:prstGeom prst="roundRect">
            <a:avLst>
              <a:gd name="adj" fmla="val 4858"/>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16" name="角丸四角形 15">
            <a:extLst>
              <a:ext uri="{FF2B5EF4-FFF2-40B4-BE49-F238E27FC236}">
                <a16:creationId xmlns:a16="http://schemas.microsoft.com/office/drawing/2014/main" id="{B2E18870-4293-5368-EEDA-7CCD7E9D8A20}"/>
              </a:ext>
            </a:extLst>
          </p:cNvPr>
          <p:cNvSpPr/>
          <p:nvPr/>
        </p:nvSpPr>
        <p:spPr>
          <a:xfrm>
            <a:off x="8135696" y="1506993"/>
            <a:ext cx="3502800" cy="4778708"/>
          </a:xfrm>
          <a:prstGeom prst="roundRect">
            <a:avLst>
              <a:gd name="adj" fmla="val 4858"/>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14" name="角丸四角形 13">
            <a:extLst>
              <a:ext uri="{FF2B5EF4-FFF2-40B4-BE49-F238E27FC236}">
                <a16:creationId xmlns:a16="http://schemas.microsoft.com/office/drawing/2014/main" id="{F2CE421F-08A8-FF7D-73B5-66FF54BEE896}"/>
              </a:ext>
            </a:extLst>
          </p:cNvPr>
          <p:cNvSpPr/>
          <p:nvPr/>
        </p:nvSpPr>
        <p:spPr>
          <a:xfrm>
            <a:off x="549117" y="1506993"/>
            <a:ext cx="3502800" cy="4778708"/>
          </a:xfrm>
          <a:prstGeom prst="roundRect">
            <a:avLst>
              <a:gd name="adj" fmla="val 4858"/>
            </a:avLst>
          </a:prstGeom>
          <a:solidFill>
            <a:schemeClr val="bg1"/>
          </a:solidFill>
          <a:ln>
            <a:noFill/>
          </a:ln>
          <a:effectLst>
            <a:outerShdw blurRad="50800" dist="38100" dir="2700000" algn="tl" rotWithShape="0">
              <a:srgbClr val="002060">
                <a:alpha val="1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pic>
        <p:nvPicPr>
          <p:cNvPr id="21" name="図 20">
            <a:extLst>
              <a:ext uri="{FF2B5EF4-FFF2-40B4-BE49-F238E27FC236}">
                <a16:creationId xmlns:a16="http://schemas.microsoft.com/office/drawing/2014/main" id="{98D3BE02-7FF0-9BCF-BB38-40BED107535F}"/>
              </a:ext>
            </a:extLst>
          </p:cNvPr>
          <p:cNvPicPr>
            <a:picLocks noChangeAspect="1"/>
          </p:cNvPicPr>
          <p:nvPr/>
        </p:nvPicPr>
        <p:blipFill>
          <a:blip r:embed="rId3"/>
          <a:stretch>
            <a:fillRect/>
          </a:stretch>
        </p:blipFill>
        <p:spPr>
          <a:xfrm>
            <a:off x="5347988" y="2954197"/>
            <a:ext cx="1521157" cy="1227600"/>
          </a:xfrm>
          <a:prstGeom prst="rect">
            <a:avLst/>
          </a:prstGeom>
        </p:spPr>
      </p:pic>
      <p:sp>
        <p:nvSpPr>
          <p:cNvPr id="32" name="テキスト ボックス 31">
            <a:extLst>
              <a:ext uri="{FF2B5EF4-FFF2-40B4-BE49-F238E27FC236}">
                <a16:creationId xmlns:a16="http://schemas.microsoft.com/office/drawing/2014/main" id="{1D7790C2-B76D-55DC-9725-A875F466CDBA}"/>
              </a:ext>
            </a:extLst>
          </p:cNvPr>
          <p:cNvSpPr txBox="1"/>
          <p:nvPr/>
        </p:nvSpPr>
        <p:spPr>
          <a:xfrm>
            <a:off x="4425511" y="2024678"/>
            <a:ext cx="3340978" cy="67095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Ensuring robust management </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142FA4"/>
                </a:solidFill>
                <a:effectLst/>
                <a:uLnTx/>
                <a:uFillTx/>
                <a:latin typeface="Poppins Medium" pitchFamily="2" charset="0"/>
                <a:ea typeface="游ゴシック" panose="020B0400000000000000" pitchFamily="50" charset="-128"/>
                <a:cs typeface="Poppins Medium" pitchFamily="2" charset="0"/>
              </a:rPr>
              <a:t>through rules and execution</a:t>
            </a:r>
            <a:endParaRPr kumimoji="1" lang="ja-JP" altLang="en-US" sz="1600" b="0" i="0" u="none" strike="noStrike" kern="1200" cap="none" spc="0" normalizeH="0" baseline="0" noProof="0" dirty="0">
              <a:ln>
                <a:noFill/>
              </a:ln>
              <a:solidFill>
                <a:srgbClr val="142FA4"/>
              </a:solidFill>
              <a:effectLst/>
              <a:uLnTx/>
              <a:uFillTx/>
              <a:latin typeface="Poppins Medium" pitchFamily="2" charset="0"/>
              <a:ea typeface="M PLUS 1p Medium" panose="020B0502020203020207" pitchFamily="34" charset="-128"/>
              <a:cs typeface="Poppins Medium" pitchFamily="2" charset="0"/>
            </a:endParaRPr>
          </a:p>
        </p:txBody>
      </p:sp>
      <p:sp>
        <p:nvSpPr>
          <p:cNvPr id="33" name="テキスト ボックス 32">
            <a:extLst>
              <a:ext uri="{FF2B5EF4-FFF2-40B4-BE49-F238E27FC236}">
                <a16:creationId xmlns:a16="http://schemas.microsoft.com/office/drawing/2014/main" id="{A4419E9D-35C2-7259-BF48-11FB21875FBB}"/>
              </a:ext>
            </a:extLst>
          </p:cNvPr>
          <p:cNvSpPr txBox="1"/>
          <p:nvPr/>
        </p:nvSpPr>
        <p:spPr>
          <a:xfrm>
            <a:off x="775099" y="2024678"/>
            <a:ext cx="3050835" cy="67095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Identifying and managing </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A7FF"/>
                </a:solidFill>
                <a:effectLst/>
                <a:uLnTx/>
                <a:uFillTx/>
                <a:latin typeface="Poppins Medium" pitchFamily="2" charset="0"/>
                <a:ea typeface="游ゴシック" panose="020B0400000000000000" pitchFamily="50" charset="-128"/>
                <a:cs typeface="Poppins Medium" pitchFamily="2" charset="0"/>
              </a:rPr>
              <a:t>key risks within our strategy</a:t>
            </a:r>
            <a:endParaRPr kumimoji="1" lang="ja-JP" altLang="en-US" sz="1600" b="0" i="0" u="none" strike="noStrike" kern="1200" cap="none" spc="0" normalizeH="0" baseline="0" noProof="0" dirty="0">
              <a:ln>
                <a:noFill/>
              </a:ln>
              <a:solidFill>
                <a:srgbClr val="00A7FF"/>
              </a:solidFill>
              <a:effectLst/>
              <a:uLnTx/>
              <a:uFillTx/>
              <a:latin typeface="Poppins Medium" pitchFamily="2" charset="0"/>
              <a:ea typeface="M PLUS 1p Medium" panose="020B0502020203020207" pitchFamily="34" charset="-128"/>
              <a:cs typeface="Poppins Medium" pitchFamily="2" charset="0"/>
            </a:endParaRPr>
          </a:p>
        </p:txBody>
      </p:sp>
      <p:sp>
        <p:nvSpPr>
          <p:cNvPr id="35" name="テキスト ボックス 34">
            <a:extLst>
              <a:ext uri="{FF2B5EF4-FFF2-40B4-BE49-F238E27FC236}">
                <a16:creationId xmlns:a16="http://schemas.microsoft.com/office/drawing/2014/main" id="{9D4E9ED7-1D3A-7F78-A7EC-2E18394DE5D2}"/>
              </a:ext>
            </a:extLst>
          </p:cNvPr>
          <p:cNvSpPr txBox="1"/>
          <p:nvPr/>
        </p:nvSpPr>
        <p:spPr>
          <a:xfrm>
            <a:off x="8264697" y="2024678"/>
            <a:ext cx="3244799" cy="67095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Strengthening human capital</a:t>
            </a:r>
            <a:br>
              <a:rPr kumimoji="1" lang="en-US" altLang="ja-JP" sz="16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br>
            <a:r>
              <a:rPr kumimoji="1" lang="en-US" altLang="ja-JP" sz="1600" b="0" i="0" u="none" strike="noStrike" kern="1200" cap="none" spc="0" normalizeH="0" baseline="0" noProof="0" dirty="0">
                <a:ln>
                  <a:noFill/>
                </a:ln>
                <a:solidFill>
                  <a:srgbClr val="D44ED9"/>
                </a:solidFill>
                <a:effectLst/>
                <a:uLnTx/>
                <a:uFillTx/>
                <a:latin typeface="Poppins Medium" pitchFamily="2" charset="0"/>
                <a:ea typeface="游ゴシック" panose="020B0400000000000000" pitchFamily="50" charset="-128"/>
                <a:cs typeface="Poppins Medium" pitchFamily="2" charset="0"/>
              </a:rPr>
              <a:t>as a source of value creation</a:t>
            </a:r>
            <a:endParaRPr kumimoji="1" lang="ja-JP" altLang="en-US" sz="1600" b="0" i="0" u="none" strike="noStrike" kern="1200" cap="none" spc="0" normalizeH="0" baseline="0" noProof="0" dirty="0">
              <a:ln>
                <a:noFill/>
              </a:ln>
              <a:solidFill>
                <a:srgbClr val="D44ED9"/>
              </a:solidFill>
              <a:effectLst/>
              <a:uLnTx/>
              <a:uFillTx/>
              <a:latin typeface="Poppins Medium" pitchFamily="2" charset="0"/>
              <a:ea typeface="M PLUS 1p Medium" panose="020B0502020203020207" pitchFamily="34" charset="-128"/>
              <a:cs typeface="Poppins Medium" pitchFamily="2" charset="0"/>
            </a:endParaRPr>
          </a:p>
        </p:txBody>
      </p:sp>
      <p:sp>
        <p:nvSpPr>
          <p:cNvPr id="10" name="角丸四角形 9">
            <a:extLst>
              <a:ext uri="{FF2B5EF4-FFF2-40B4-BE49-F238E27FC236}">
                <a16:creationId xmlns:a16="http://schemas.microsoft.com/office/drawing/2014/main" id="{689E573C-96DB-240E-E103-9C5F18671743}"/>
              </a:ext>
            </a:extLst>
          </p:cNvPr>
          <p:cNvSpPr/>
          <p:nvPr/>
        </p:nvSpPr>
        <p:spPr>
          <a:xfrm>
            <a:off x="5355053" y="4494608"/>
            <a:ext cx="1481895"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000" b="0"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Key Initiatives</a:t>
            </a:r>
            <a:endParaRPr kumimoji="1" lang="ja-JP" altLang="en-US" sz="10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49" name="角丸四角形 48">
            <a:extLst>
              <a:ext uri="{FF2B5EF4-FFF2-40B4-BE49-F238E27FC236}">
                <a16:creationId xmlns:a16="http://schemas.microsoft.com/office/drawing/2014/main" id="{55811187-DC70-721F-AF58-D6ECA403F92B}"/>
              </a:ext>
            </a:extLst>
          </p:cNvPr>
          <p:cNvSpPr/>
          <p:nvPr/>
        </p:nvSpPr>
        <p:spPr>
          <a:xfrm>
            <a:off x="9146149" y="4494608"/>
            <a:ext cx="1481895"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000" b="0"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Key Initiatives</a:t>
            </a:r>
            <a:endParaRPr kumimoji="1" lang="ja-JP" altLang="en-US" sz="10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sp>
        <p:nvSpPr>
          <p:cNvPr id="73" name="角丸四角形 72">
            <a:extLst>
              <a:ext uri="{FF2B5EF4-FFF2-40B4-BE49-F238E27FC236}">
                <a16:creationId xmlns:a16="http://schemas.microsoft.com/office/drawing/2014/main" id="{42ED99D9-DA82-A8C4-F171-23E5B8DDED95}"/>
              </a:ext>
            </a:extLst>
          </p:cNvPr>
          <p:cNvSpPr/>
          <p:nvPr/>
        </p:nvSpPr>
        <p:spPr>
          <a:xfrm>
            <a:off x="1559570" y="4494608"/>
            <a:ext cx="1481895"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142FA4"/>
                </a:solidFill>
                <a:effectLst/>
                <a:uLnTx/>
                <a:uFillTx/>
                <a:latin typeface="Poppins Medium" pitchFamily="2" charset="0"/>
                <a:ea typeface="M PLUS 1p Medium" panose="020B0502020203020207" pitchFamily="34" charset="-128"/>
                <a:cs typeface="Poppins Medium" pitchFamily="2" charset="0"/>
              </a:rPr>
              <a:t>主な取り組み</a:t>
            </a:r>
          </a:p>
        </p:txBody>
      </p:sp>
      <p:sp>
        <p:nvSpPr>
          <p:cNvPr id="76" name="テキスト ボックス 75">
            <a:extLst>
              <a:ext uri="{FF2B5EF4-FFF2-40B4-BE49-F238E27FC236}">
                <a16:creationId xmlns:a16="http://schemas.microsoft.com/office/drawing/2014/main" id="{1E3D47BA-932A-7181-7FC4-863EE58F08E8}"/>
              </a:ext>
            </a:extLst>
          </p:cNvPr>
          <p:cNvSpPr txBox="1"/>
          <p:nvPr/>
        </p:nvSpPr>
        <p:spPr>
          <a:xfrm>
            <a:off x="1026461" y="4786895"/>
            <a:ext cx="2591100" cy="6386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Diversifying growth drivers through M&amp;A and new businesses to reduce reliance on core products.</a:t>
            </a:r>
            <a:endParaRPr kumimoji="1" lang="ja-JP" altLang="en-US" sz="1000" b="0" i="0" u="none" strike="noStrike" kern="1200" cap="none" spc="0" normalizeH="0" baseline="0" noProof="0" dirty="0">
              <a:ln>
                <a:noFill/>
              </a:ln>
              <a:solidFill>
                <a:srgbClr val="142FA4"/>
              </a:solidFill>
              <a:effectLst/>
              <a:uLnTx/>
              <a:uFillTx/>
              <a:latin typeface="Poppins" panose="00000500000000000000" pitchFamily="2" charset="0"/>
              <a:ea typeface="M PLUS 1p Medium" panose="020B0502020203020207" pitchFamily="34" charset="-128"/>
              <a:cs typeface="Poppins" panose="00000500000000000000" pitchFamily="2" charset="0"/>
            </a:endParaRPr>
          </a:p>
        </p:txBody>
      </p:sp>
      <p:sp>
        <p:nvSpPr>
          <p:cNvPr id="78" name="角丸四角形 77">
            <a:extLst>
              <a:ext uri="{FF2B5EF4-FFF2-40B4-BE49-F238E27FC236}">
                <a16:creationId xmlns:a16="http://schemas.microsoft.com/office/drawing/2014/main" id="{263029C6-9631-A4C9-7AE0-6F1CFB30612E}"/>
              </a:ext>
            </a:extLst>
          </p:cNvPr>
          <p:cNvSpPr/>
          <p:nvPr/>
        </p:nvSpPr>
        <p:spPr>
          <a:xfrm>
            <a:off x="1559570" y="4494608"/>
            <a:ext cx="1481895" cy="214091"/>
          </a:xfrm>
          <a:prstGeom prst="roundRect">
            <a:avLst>
              <a:gd name="adj" fmla="val 50000"/>
            </a:avLst>
          </a:prstGeom>
          <a:solidFill>
            <a:srgbClr val="C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000" b="0" i="0" u="none" strike="noStrike" kern="1200" cap="none" spc="0" normalizeH="0" baseline="0" noProof="0" dirty="0">
                <a:ln>
                  <a:noFill/>
                </a:ln>
                <a:solidFill>
                  <a:srgbClr val="142FA4"/>
                </a:solidFill>
                <a:effectLst/>
                <a:uLnTx/>
                <a:uFillTx/>
                <a:latin typeface="Poppins SemiBold" pitchFamily="2" charset="0"/>
                <a:ea typeface="游ゴシック" panose="020B0400000000000000" pitchFamily="50" charset="-128"/>
                <a:cs typeface="Poppins SemiBold" pitchFamily="2" charset="0"/>
              </a:rPr>
              <a:t>Key Initiatives</a:t>
            </a:r>
            <a:endParaRPr kumimoji="1" lang="ja-JP" altLang="en-US" sz="1000" b="0" i="0" u="none" strike="noStrike" kern="1200" cap="none" spc="0" normalizeH="0" baseline="0" noProof="0" dirty="0">
              <a:ln>
                <a:noFill/>
              </a:ln>
              <a:solidFill>
                <a:srgbClr val="142FA4"/>
              </a:solidFill>
              <a:effectLst/>
              <a:uLnTx/>
              <a:uFillTx/>
              <a:latin typeface="Poppins SemiBold" pitchFamily="2" charset="0"/>
              <a:ea typeface="M PLUS 1p Medium" panose="020B0502020203020207" pitchFamily="34" charset="-128"/>
              <a:cs typeface="Poppins SemiBold" pitchFamily="2" charset="0"/>
            </a:endParaRPr>
          </a:p>
        </p:txBody>
      </p:sp>
      <p:pic>
        <p:nvPicPr>
          <p:cNvPr id="30" name="図 29">
            <a:extLst>
              <a:ext uri="{FF2B5EF4-FFF2-40B4-BE49-F238E27FC236}">
                <a16:creationId xmlns:a16="http://schemas.microsoft.com/office/drawing/2014/main" id="{871AE98D-D45A-8A6E-AD55-C820F397D8A7}"/>
              </a:ext>
            </a:extLst>
          </p:cNvPr>
          <p:cNvPicPr>
            <a:picLocks noChangeAspect="1"/>
          </p:cNvPicPr>
          <p:nvPr/>
        </p:nvPicPr>
        <p:blipFill>
          <a:blip r:embed="rId4"/>
          <a:stretch>
            <a:fillRect/>
          </a:stretch>
        </p:blipFill>
        <p:spPr>
          <a:xfrm>
            <a:off x="1131076" y="2966787"/>
            <a:ext cx="2268286" cy="1132243"/>
          </a:xfrm>
          <a:prstGeom prst="rect">
            <a:avLst/>
          </a:prstGeom>
        </p:spPr>
      </p:pic>
      <p:sp>
        <p:nvSpPr>
          <p:cNvPr id="46" name="フリーフォーム 45">
            <a:extLst>
              <a:ext uri="{FF2B5EF4-FFF2-40B4-BE49-F238E27FC236}">
                <a16:creationId xmlns:a16="http://schemas.microsoft.com/office/drawing/2014/main" id="{07094885-FC60-F48E-56B9-96B0E7392E50}"/>
              </a:ext>
            </a:extLst>
          </p:cNvPr>
          <p:cNvSpPr/>
          <p:nvPr/>
        </p:nvSpPr>
        <p:spPr>
          <a:xfrm rot="19136232">
            <a:off x="804204" y="5406384"/>
            <a:ext cx="121390" cy="71682"/>
          </a:xfrm>
          <a:custGeom>
            <a:avLst/>
            <a:gdLst>
              <a:gd name="csX0" fmla="*/ 121390 w 121390"/>
              <a:gd name="csY0" fmla="*/ 47549 h 71682"/>
              <a:gd name="csX1" fmla="*/ 121390 w 121390"/>
              <a:gd name="csY1" fmla="*/ 71682 h 71682"/>
              <a:gd name="csX2" fmla="*/ 1 w 121390"/>
              <a:gd name="csY2" fmla="*/ 71681 h 71682"/>
              <a:gd name="csX3" fmla="*/ 0 w 121390"/>
              <a:gd name="csY3" fmla="*/ 0 h 71682"/>
              <a:gd name="csX4" fmla="*/ 22461 w 121390"/>
              <a:gd name="csY4" fmla="*/ 0 h 71682"/>
              <a:gd name="csX5" fmla="*/ 22460 w 121390"/>
              <a:gd name="csY5" fmla="*/ 47549 h 71682"/>
              <a:gd name="csX6" fmla="*/ 121390 w 121390"/>
              <a:gd name="csY6" fmla="*/ 47549 h 716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1390" h="71682">
                <a:moveTo>
                  <a:pt x="121390" y="47549"/>
                </a:moveTo>
                <a:lnTo>
                  <a:pt x="121390" y="71682"/>
                </a:lnTo>
                <a:lnTo>
                  <a:pt x="1" y="71681"/>
                </a:lnTo>
                <a:lnTo>
                  <a:pt x="0" y="0"/>
                </a:lnTo>
                <a:lnTo>
                  <a:pt x="22461" y="0"/>
                </a:lnTo>
                <a:lnTo>
                  <a:pt x="22460" y="47549"/>
                </a:lnTo>
                <a:lnTo>
                  <a:pt x="121390" y="4754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50" name="フリーフォーム 49">
            <a:extLst>
              <a:ext uri="{FF2B5EF4-FFF2-40B4-BE49-F238E27FC236}">
                <a16:creationId xmlns:a16="http://schemas.microsoft.com/office/drawing/2014/main" id="{45B1C620-6133-48E0-A9FF-53F045A7A1CE}"/>
              </a:ext>
            </a:extLst>
          </p:cNvPr>
          <p:cNvSpPr/>
          <p:nvPr/>
        </p:nvSpPr>
        <p:spPr>
          <a:xfrm rot="19136232">
            <a:off x="927783" y="4861205"/>
            <a:ext cx="123930" cy="123930"/>
          </a:xfrm>
          <a:custGeom>
            <a:avLst/>
            <a:gdLst>
              <a:gd name="csX0" fmla="*/ 152274 w 183808"/>
              <a:gd name="csY0" fmla="*/ 22610 h 183808"/>
              <a:gd name="csX1" fmla="*/ 161198 w 183808"/>
              <a:gd name="csY1" fmla="*/ 152273 h 183808"/>
              <a:gd name="csX2" fmla="*/ 31534 w 183808"/>
              <a:gd name="csY2" fmla="*/ 161198 h 183808"/>
              <a:gd name="csX3" fmla="*/ 22610 w 183808"/>
              <a:gd name="csY3" fmla="*/ 31534 h 183808"/>
              <a:gd name="csX4" fmla="*/ 152274 w 183808"/>
              <a:gd name="csY4" fmla="*/ 22610 h 183808"/>
              <a:gd name="csX5" fmla="*/ 161103 w 183808"/>
              <a:gd name="csY5" fmla="*/ 91198 h 183808"/>
              <a:gd name="csX6" fmla="*/ 62173 w 183808"/>
              <a:gd name="csY6" fmla="*/ 91198 h 183808"/>
              <a:gd name="csX7" fmla="*/ 62174 w 183808"/>
              <a:gd name="csY7" fmla="*/ 43649 h 183808"/>
              <a:gd name="csX8" fmla="*/ 39713 w 183808"/>
              <a:gd name="csY8" fmla="*/ 43649 h 183808"/>
              <a:gd name="csX9" fmla="*/ 39714 w 183808"/>
              <a:gd name="csY9" fmla="*/ 115330 h 183808"/>
              <a:gd name="csX10" fmla="*/ 161103 w 183808"/>
              <a:gd name="csY10" fmla="*/ 115331 h 183808"/>
              <a:gd name="csX11" fmla="*/ 161103 w 183808"/>
              <a:gd name="csY11" fmla="*/ 91198 h 183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3808" h="183808">
                <a:moveTo>
                  <a:pt x="152274" y="22610"/>
                </a:moveTo>
                <a:cubicBezTo>
                  <a:pt x="190544" y="55951"/>
                  <a:pt x="194540" y="114003"/>
                  <a:pt x="161198" y="152273"/>
                </a:cubicBezTo>
                <a:cubicBezTo>
                  <a:pt x="127857" y="190544"/>
                  <a:pt x="69805" y="194539"/>
                  <a:pt x="31534" y="161198"/>
                </a:cubicBezTo>
                <a:cubicBezTo>
                  <a:pt x="-6736" y="127856"/>
                  <a:pt x="-10731" y="69804"/>
                  <a:pt x="22610" y="31534"/>
                </a:cubicBezTo>
                <a:cubicBezTo>
                  <a:pt x="55952" y="-6736"/>
                  <a:pt x="114004" y="-10732"/>
                  <a:pt x="152274" y="22610"/>
                </a:cubicBezTo>
                <a:close/>
                <a:moveTo>
                  <a:pt x="161103" y="91198"/>
                </a:moveTo>
                <a:lnTo>
                  <a:pt x="62173" y="91198"/>
                </a:lnTo>
                <a:lnTo>
                  <a:pt x="62174" y="43649"/>
                </a:lnTo>
                <a:lnTo>
                  <a:pt x="39713" y="43649"/>
                </a:lnTo>
                <a:lnTo>
                  <a:pt x="39714" y="115330"/>
                </a:lnTo>
                <a:lnTo>
                  <a:pt x="161103" y="115331"/>
                </a:lnTo>
                <a:lnTo>
                  <a:pt x="161103" y="91198"/>
                </a:lnTo>
                <a:close/>
              </a:path>
            </a:pathLst>
          </a:cu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pic>
        <p:nvPicPr>
          <p:cNvPr id="3" name="図 2">
            <a:extLst>
              <a:ext uri="{FF2B5EF4-FFF2-40B4-BE49-F238E27FC236}">
                <a16:creationId xmlns:a16="http://schemas.microsoft.com/office/drawing/2014/main" id="{49B10AC4-5485-3C6B-7A38-BF4B47AEE509}"/>
              </a:ext>
            </a:extLst>
          </p:cNvPr>
          <p:cNvPicPr>
            <a:picLocks noChangeAspect="1"/>
          </p:cNvPicPr>
          <p:nvPr/>
        </p:nvPicPr>
        <p:blipFill>
          <a:blip r:embed="rId5"/>
          <a:srcRect b="42226"/>
          <a:stretch>
            <a:fillRect/>
          </a:stretch>
        </p:blipFill>
        <p:spPr>
          <a:xfrm>
            <a:off x="9008792" y="2883830"/>
            <a:ext cx="1756609" cy="1355328"/>
          </a:xfrm>
          <a:prstGeom prst="rect">
            <a:avLst/>
          </a:prstGeom>
        </p:spPr>
      </p:pic>
      <p:sp>
        <p:nvSpPr>
          <p:cNvPr id="5" name="テキスト ボックス 4">
            <a:extLst>
              <a:ext uri="{FF2B5EF4-FFF2-40B4-BE49-F238E27FC236}">
                <a16:creationId xmlns:a16="http://schemas.microsoft.com/office/drawing/2014/main" id="{A6608CD7-409F-45F1-E43E-5F679869D67B}"/>
              </a:ext>
            </a:extLst>
          </p:cNvPr>
          <p:cNvSpPr txBox="1"/>
          <p:nvPr/>
        </p:nvSpPr>
        <p:spPr>
          <a:xfrm>
            <a:off x="1026460" y="5446113"/>
            <a:ext cx="2849507" cy="6386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Strengthen development capacity through talent investment and workplace improvements amid IT labor shortages.</a:t>
            </a:r>
          </a:p>
        </p:txBody>
      </p:sp>
      <p:sp>
        <p:nvSpPr>
          <p:cNvPr id="8" name="フリーフォーム 7">
            <a:extLst>
              <a:ext uri="{FF2B5EF4-FFF2-40B4-BE49-F238E27FC236}">
                <a16:creationId xmlns:a16="http://schemas.microsoft.com/office/drawing/2014/main" id="{CB6AF000-42AD-B26C-ABC1-8A9F554378E6}"/>
              </a:ext>
            </a:extLst>
          </p:cNvPr>
          <p:cNvSpPr/>
          <p:nvPr/>
        </p:nvSpPr>
        <p:spPr>
          <a:xfrm rot="19136232">
            <a:off x="927783" y="5518669"/>
            <a:ext cx="123930" cy="123930"/>
          </a:xfrm>
          <a:custGeom>
            <a:avLst/>
            <a:gdLst>
              <a:gd name="csX0" fmla="*/ 152274 w 183808"/>
              <a:gd name="csY0" fmla="*/ 22610 h 183808"/>
              <a:gd name="csX1" fmla="*/ 161198 w 183808"/>
              <a:gd name="csY1" fmla="*/ 152273 h 183808"/>
              <a:gd name="csX2" fmla="*/ 31534 w 183808"/>
              <a:gd name="csY2" fmla="*/ 161198 h 183808"/>
              <a:gd name="csX3" fmla="*/ 22610 w 183808"/>
              <a:gd name="csY3" fmla="*/ 31534 h 183808"/>
              <a:gd name="csX4" fmla="*/ 152274 w 183808"/>
              <a:gd name="csY4" fmla="*/ 22610 h 183808"/>
              <a:gd name="csX5" fmla="*/ 161103 w 183808"/>
              <a:gd name="csY5" fmla="*/ 91198 h 183808"/>
              <a:gd name="csX6" fmla="*/ 62173 w 183808"/>
              <a:gd name="csY6" fmla="*/ 91198 h 183808"/>
              <a:gd name="csX7" fmla="*/ 62174 w 183808"/>
              <a:gd name="csY7" fmla="*/ 43649 h 183808"/>
              <a:gd name="csX8" fmla="*/ 39713 w 183808"/>
              <a:gd name="csY8" fmla="*/ 43649 h 183808"/>
              <a:gd name="csX9" fmla="*/ 39714 w 183808"/>
              <a:gd name="csY9" fmla="*/ 115330 h 183808"/>
              <a:gd name="csX10" fmla="*/ 161103 w 183808"/>
              <a:gd name="csY10" fmla="*/ 115331 h 183808"/>
              <a:gd name="csX11" fmla="*/ 161103 w 183808"/>
              <a:gd name="csY11" fmla="*/ 91198 h 183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3808" h="183808">
                <a:moveTo>
                  <a:pt x="152274" y="22610"/>
                </a:moveTo>
                <a:cubicBezTo>
                  <a:pt x="190544" y="55951"/>
                  <a:pt x="194540" y="114003"/>
                  <a:pt x="161198" y="152273"/>
                </a:cubicBezTo>
                <a:cubicBezTo>
                  <a:pt x="127857" y="190544"/>
                  <a:pt x="69805" y="194539"/>
                  <a:pt x="31534" y="161198"/>
                </a:cubicBezTo>
                <a:cubicBezTo>
                  <a:pt x="-6736" y="127856"/>
                  <a:pt x="-10731" y="69804"/>
                  <a:pt x="22610" y="31534"/>
                </a:cubicBezTo>
                <a:cubicBezTo>
                  <a:pt x="55952" y="-6736"/>
                  <a:pt x="114004" y="-10732"/>
                  <a:pt x="152274" y="22610"/>
                </a:cubicBezTo>
                <a:close/>
                <a:moveTo>
                  <a:pt x="161103" y="91198"/>
                </a:moveTo>
                <a:lnTo>
                  <a:pt x="62173" y="91198"/>
                </a:lnTo>
                <a:lnTo>
                  <a:pt x="62174" y="43649"/>
                </a:lnTo>
                <a:lnTo>
                  <a:pt x="39713" y="43649"/>
                </a:lnTo>
                <a:lnTo>
                  <a:pt x="39714" y="115330"/>
                </a:lnTo>
                <a:lnTo>
                  <a:pt x="161103" y="115331"/>
                </a:lnTo>
                <a:lnTo>
                  <a:pt x="161103" y="91198"/>
                </a:lnTo>
                <a:close/>
              </a:path>
            </a:pathLst>
          </a:cu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13" name="テキスト ボックス 12">
            <a:extLst>
              <a:ext uri="{FF2B5EF4-FFF2-40B4-BE49-F238E27FC236}">
                <a16:creationId xmlns:a16="http://schemas.microsoft.com/office/drawing/2014/main" id="{0177217F-7EFA-A5F1-2169-898B3175051D}"/>
              </a:ext>
            </a:extLst>
          </p:cNvPr>
          <p:cNvSpPr txBox="1"/>
          <p:nvPr/>
        </p:nvSpPr>
        <p:spPr>
          <a:xfrm>
            <a:off x="4844830" y="4786895"/>
            <a:ext cx="2319643" cy="6386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Operate a risk and compliance committee that addresses timely topics on a monthly basis.</a:t>
            </a:r>
          </a:p>
        </p:txBody>
      </p:sp>
      <p:sp>
        <p:nvSpPr>
          <p:cNvPr id="20" name="フリーフォーム 19">
            <a:extLst>
              <a:ext uri="{FF2B5EF4-FFF2-40B4-BE49-F238E27FC236}">
                <a16:creationId xmlns:a16="http://schemas.microsoft.com/office/drawing/2014/main" id="{7BA732C6-2D72-D78B-98E1-04978F66BA55}"/>
              </a:ext>
            </a:extLst>
          </p:cNvPr>
          <p:cNvSpPr/>
          <p:nvPr/>
        </p:nvSpPr>
        <p:spPr>
          <a:xfrm rot="19136232">
            <a:off x="4622573" y="5406384"/>
            <a:ext cx="121390" cy="71682"/>
          </a:xfrm>
          <a:custGeom>
            <a:avLst/>
            <a:gdLst>
              <a:gd name="csX0" fmla="*/ 121390 w 121390"/>
              <a:gd name="csY0" fmla="*/ 47549 h 71682"/>
              <a:gd name="csX1" fmla="*/ 121390 w 121390"/>
              <a:gd name="csY1" fmla="*/ 71682 h 71682"/>
              <a:gd name="csX2" fmla="*/ 1 w 121390"/>
              <a:gd name="csY2" fmla="*/ 71681 h 71682"/>
              <a:gd name="csX3" fmla="*/ 0 w 121390"/>
              <a:gd name="csY3" fmla="*/ 0 h 71682"/>
              <a:gd name="csX4" fmla="*/ 22461 w 121390"/>
              <a:gd name="csY4" fmla="*/ 0 h 71682"/>
              <a:gd name="csX5" fmla="*/ 22460 w 121390"/>
              <a:gd name="csY5" fmla="*/ 47549 h 71682"/>
              <a:gd name="csX6" fmla="*/ 121390 w 121390"/>
              <a:gd name="csY6" fmla="*/ 47549 h 716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1390" h="71682">
                <a:moveTo>
                  <a:pt x="121390" y="47549"/>
                </a:moveTo>
                <a:lnTo>
                  <a:pt x="121390" y="71682"/>
                </a:lnTo>
                <a:lnTo>
                  <a:pt x="1" y="71681"/>
                </a:lnTo>
                <a:lnTo>
                  <a:pt x="0" y="0"/>
                </a:lnTo>
                <a:lnTo>
                  <a:pt x="22461" y="0"/>
                </a:lnTo>
                <a:lnTo>
                  <a:pt x="22460" y="47549"/>
                </a:lnTo>
                <a:lnTo>
                  <a:pt x="121390" y="4754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22" name="フリーフォーム 21">
            <a:extLst>
              <a:ext uri="{FF2B5EF4-FFF2-40B4-BE49-F238E27FC236}">
                <a16:creationId xmlns:a16="http://schemas.microsoft.com/office/drawing/2014/main" id="{AFB6CC1E-885D-37CA-9F2F-74C4EB38409D}"/>
              </a:ext>
            </a:extLst>
          </p:cNvPr>
          <p:cNvSpPr/>
          <p:nvPr/>
        </p:nvSpPr>
        <p:spPr>
          <a:xfrm rot="19136232">
            <a:off x="4746152" y="4861205"/>
            <a:ext cx="123930" cy="123930"/>
          </a:xfrm>
          <a:custGeom>
            <a:avLst/>
            <a:gdLst>
              <a:gd name="csX0" fmla="*/ 152274 w 183808"/>
              <a:gd name="csY0" fmla="*/ 22610 h 183808"/>
              <a:gd name="csX1" fmla="*/ 161198 w 183808"/>
              <a:gd name="csY1" fmla="*/ 152273 h 183808"/>
              <a:gd name="csX2" fmla="*/ 31534 w 183808"/>
              <a:gd name="csY2" fmla="*/ 161198 h 183808"/>
              <a:gd name="csX3" fmla="*/ 22610 w 183808"/>
              <a:gd name="csY3" fmla="*/ 31534 h 183808"/>
              <a:gd name="csX4" fmla="*/ 152274 w 183808"/>
              <a:gd name="csY4" fmla="*/ 22610 h 183808"/>
              <a:gd name="csX5" fmla="*/ 161103 w 183808"/>
              <a:gd name="csY5" fmla="*/ 91198 h 183808"/>
              <a:gd name="csX6" fmla="*/ 62173 w 183808"/>
              <a:gd name="csY6" fmla="*/ 91198 h 183808"/>
              <a:gd name="csX7" fmla="*/ 62174 w 183808"/>
              <a:gd name="csY7" fmla="*/ 43649 h 183808"/>
              <a:gd name="csX8" fmla="*/ 39713 w 183808"/>
              <a:gd name="csY8" fmla="*/ 43649 h 183808"/>
              <a:gd name="csX9" fmla="*/ 39714 w 183808"/>
              <a:gd name="csY9" fmla="*/ 115330 h 183808"/>
              <a:gd name="csX10" fmla="*/ 161103 w 183808"/>
              <a:gd name="csY10" fmla="*/ 115331 h 183808"/>
              <a:gd name="csX11" fmla="*/ 161103 w 183808"/>
              <a:gd name="csY11" fmla="*/ 91198 h 183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3808" h="183808">
                <a:moveTo>
                  <a:pt x="152274" y="22610"/>
                </a:moveTo>
                <a:cubicBezTo>
                  <a:pt x="190544" y="55951"/>
                  <a:pt x="194540" y="114003"/>
                  <a:pt x="161198" y="152273"/>
                </a:cubicBezTo>
                <a:cubicBezTo>
                  <a:pt x="127857" y="190544"/>
                  <a:pt x="69805" y="194539"/>
                  <a:pt x="31534" y="161198"/>
                </a:cubicBezTo>
                <a:cubicBezTo>
                  <a:pt x="-6736" y="127856"/>
                  <a:pt x="-10731" y="69804"/>
                  <a:pt x="22610" y="31534"/>
                </a:cubicBezTo>
                <a:cubicBezTo>
                  <a:pt x="55952" y="-6736"/>
                  <a:pt x="114004" y="-10732"/>
                  <a:pt x="152274" y="22610"/>
                </a:cubicBezTo>
                <a:close/>
                <a:moveTo>
                  <a:pt x="161103" y="91198"/>
                </a:moveTo>
                <a:lnTo>
                  <a:pt x="62173" y="91198"/>
                </a:lnTo>
                <a:lnTo>
                  <a:pt x="62174" y="43649"/>
                </a:lnTo>
                <a:lnTo>
                  <a:pt x="39713" y="43649"/>
                </a:lnTo>
                <a:lnTo>
                  <a:pt x="39714" y="115330"/>
                </a:lnTo>
                <a:lnTo>
                  <a:pt x="161103" y="115331"/>
                </a:lnTo>
                <a:lnTo>
                  <a:pt x="161103" y="91198"/>
                </a:lnTo>
                <a:close/>
              </a:path>
            </a:pathLst>
          </a:cu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23" name="テキスト ボックス 22">
            <a:extLst>
              <a:ext uri="{FF2B5EF4-FFF2-40B4-BE49-F238E27FC236}">
                <a16:creationId xmlns:a16="http://schemas.microsoft.com/office/drawing/2014/main" id="{CAA7C830-DCBA-8FAC-948B-E0852C4EF421}"/>
              </a:ext>
            </a:extLst>
          </p:cNvPr>
          <p:cNvSpPr txBox="1"/>
          <p:nvPr/>
        </p:nvSpPr>
        <p:spPr>
          <a:xfrm>
            <a:off x="4844829" y="5446113"/>
            <a:ext cx="2849507" cy="6386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Conduct company-wide training and assessments on information security at onboarding and annually thereafter.</a:t>
            </a:r>
          </a:p>
        </p:txBody>
      </p:sp>
      <p:sp>
        <p:nvSpPr>
          <p:cNvPr id="24" name="フリーフォーム 23">
            <a:extLst>
              <a:ext uri="{FF2B5EF4-FFF2-40B4-BE49-F238E27FC236}">
                <a16:creationId xmlns:a16="http://schemas.microsoft.com/office/drawing/2014/main" id="{83A729F8-C55F-CB82-851B-3F398D257E61}"/>
              </a:ext>
            </a:extLst>
          </p:cNvPr>
          <p:cNvSpPr/>
          <p:nvPr/>
        </p:nvSpPr>
        <p:spPr>
          <a:xfrm rot="19136232">
            <a:off x="4746152" y="5518669"/>
            <a:ext cx="123930" cy="123930"/>
          </a:xfrm>
          <a:custGeom>
            <a:avLst/>
            <a:gdLst>
              <a:gd name="csX0" fmla="*/ 152274 w 183808"/>
              <a:gd name="csY0" fmla="*/ 22610 h 183808"/>
              <a:gd name="csX1" fmla="*/ 161198 w 183808"/>
              <a:gd name="csY1" fmla="*/ 152273 h 183808"/>
              <a:gd name="csX2" fmla="*/ 31534 w 183808"/>
              <a:gd name="csY2" fmla="*/ 161198 h 183808"/>
              <a:gd name="csX3" fmla="*/ 22610 w 183808"/>
              <a:gd name="csY3" fmla="*/ 31534 h 183808"/>
              <a:gd name="csX4" fmla="*/ 152274 w 183808"/>
              <a:gd name="csY4" fmla="*/ 22610 h 183808"/>
              <a:gd name="csX5" fmla="*/ 161103 w 183808"/>
              <a:gd name="csY5" fmla="*/ 91198 h 183808"/>
              <a:gd name="csX6" fmla="*/ 62173 w 183808"/>
              <a:gd name="csY6" fmla="*/ 91198 h 183808"/>
              <a:gd name="csX7" fmla="*/ 62174 w 183808"/>
              <a:gd name="csY7" fmla="*/ 43649 h 183808"/>
              <a:gd name="csX8" fmla="*/ 39713 w 183808"/>
              <a:gd name="csY8" fmla="*/ 43649 h 183808"/>
              <a:gd name="csX9" fmla="*/ 39714 w 183808"/>
              <a:gd name="csY9" fmla="*/ 115330 h 183808"/>
              <a:gd name="csX10" fmla="*/ 161103 w 183808"/>
              <a:gd name="csY10" fmla="*/ 115331 h 183808"/>
              <a:gd name="csX11" fmla="*/ 161103 w 183808"/>
              <a:gd name="csY11" fmla="*/ 91198 h 183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3808" h="183808">
                <a:moveTo>
                  <a:pt x="152274" y="22610"/>
                </a:moveTo>
                <a:cubicBezTo>
                  <a:pt x="190544" y="55951"/>
                  <a:pt x="194540" y="114003"/>
                  <a:pt x="161198" y="152273"/>
                </a:cubicBezTo>
                <a:cubicBezTo>
                  <a:pt x="127857" y="190544"/>
                  <a:pt x="69805" y="194539"/>
                  <a:pt x="31534" y="161198"/>
                </a:cubicBezTo>
                <a:cubicBezTo>
                  <a:pt x="-6736" y="127856"/>
                  <a:pt x="-10731" y="69804"/>
                  <a:pt x="22610" y="31534"/>
                </a:cubicBezTo>
                <a:cubicBezTo>
                  <a:pt x="55952" y="-6736"/>
                  <a:pt x="114004" y="-10732"/>
                  <a:pt x="152274" y="22610"/>
                </a:cubicBezTo>
                <a:close/>
                <a:moveTo>
                  <a:pt x="161103" y="91198"/>
                </a:moveTo>
                <a:lnTo>
                  <a:pt x="62173" y="91198"/>
                </a:lnTo>
                <a:lnTo>
                  <a:pt x="62174" y="43649"/>
                </a:lnTo>
                <a:lnTo>
                  <a:pt x="39713" y="43649"/>
                </a:lnTo>
                <a:lnTo>
                  <a:pt x="39714" y="115330"/>
                </a:lnTo>
                <a:lnTo>
                  <a:pt x="161103" y="115331"/>
                </a:lnTo>
                <a:lnTo>
                  <a:pt x="161103" y="91198"/>
                </a:lnTo>
                <a:close/>
              </a:path>
            </a:pathLst>
          </a:cu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26" name="テキスト ボックス 25">
            <a:extLst>
              <a:ext uri="{FF2B5EF4-FFF2-40B4-BE49-F238E27FC236}">
                <a16:creationId xmlns:a16="http://schemas.microsoft.com/office/drawing/2014/main" id="{28254F45-7B36-2BE4-CCD9-FFA8E77659D8}"/>
              </a:ext>
            </a:extLst>
          </p:cNvPr>
          <p:cNvSpPr txBox="1"/>
          <p:nvPr/>
        </p:nvSpPr>
        <p:spPr>
          <a:xfrm>
            <a:off x="8431575" y="4786895"/>
            <a:ext cx="3169766" cy="6386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Upgrading HR systems, training frameworks, and work environments to support recruitment, development, and retention</a:t>
            </a:r>
          </a:p>
        </p:txBody>
      </p:sp>
      <p:sp>
        <p:nvSpPr>
          <p:cNvPr id="27" name="フリーフォーム 26">
            <a:extLst>
              <a:ext uri="{FF2B5EF4-FFF2-40B4-BE49-F238E27FC236}">
                <a16:creationId xmlns:a16="http://schemas.microsoft.com/office/drawing/2014/main" id="{FA2E7746-711D-2316-50E4-719D4FEADD01}"/>
              </a:ext>
            </a:extLst>
          </p:cNvPr>
          <p:cNvSpPr/>
          <p:nvPr/>
        </p:nvSpPr>
        <p:spPr>
          <a:xfrm rot="19136232">
            <a:off x="8332897" y="4861205"/>
            <a:ext cx="123930" cy="123930"/>
          </a:xfrm>
          <a:custGeom>
            <a:avLst/>
            <a:gdLst>
              <a:gd name="csX0" fmla="*/ 152274 w 183808"/>
              <a:gd name="csY0" fmla="*/ 22610 h 183808"/>
              <a:gd name="csX1" fmla="*/ 161198 w 183808"/>
              <a:gd name="csY1" fmla="*/ 152273 h 183808"/>
              <a:gd name="csX2" fmla="*/ 31534 w 183808"/>
              <a:gd name="csY2" fmla="*/ 161198 h 183808"/>
              <a:gd name="csX3" fmla="*/ 22610 w 183808"/>
              <a:gd name="csY3" fmla="*/ 31534 h 183808"/>
              <a:gd name="csX4" fmla="*/ 152274 w 183808"/>
              <a:gd name="csY4" fmla="*/ 22610 h 183808"/>
              <a:gd name="csX5" fmla="*/ 161103 w 183808"/>
              <a:gd name="csY5" fmla="*/ 91198 h 183808"/>
              <a:gd name="csX6" fmla="*/ 62173 w 183808"/>
              <a:gd name="csY6" fmla="*/ 91198 h 183808"/>
              <a:gd name="csX7" fmla="*/ 62174 w 183808"/>
              <a:gd name="csY7" fmla="*/ 43649 h 183808"/>
              <a:gd name="csX8" fmla="*/ 39713 w 183808"/>
              <a:gd name="csY8" fmla="*/ 43649 h 183808"/>
              <a:gd name="csX9" fmla="*/ 39714 w 183808"/>
              <a:gd name="csY9" fmla="*/ 115330 h 183808"/>
              <a:gd name="csX10" fmla="*/ 161103 w 183808"/>
              <a:gd name="csY10" fmla="*/ 115331 h 183808"/>
              <a:gd name="csX11" fmla="*/ 161103 w 183808"/>
              <a:gd name="csY11" fmla="*/ 91198 h 183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3808" h="183808">
                <a:moveTo>
                  <a:pt x="152274" y="22610"/>
                </a:moveTo>
                <a:cubicBezTo>
                  <a:pt x="190544" y="55951"/>
                  <a:pt x="194540" y="114003"/>
                  <a:pt x="161198" y="152273"/>
                </a:cubicBezTo>
                <a:cubicBezTo>
                  <a:pt x="127857" y="190544"/>
                  <a:pt x="69805" y="194539"/>
                  <a:pt x="31534" y="161198"/>
                </a:cubicBezTo>
                <a:cubicBezTo>
                  <a:pt x="-6736" y="127856"/>
                  <a:pt x="-10731" y="69804"/>
                  <a:pt x="22610" y="31534"/>
                </a:cubicBezTo>
                <a:cubicBezTo>
                  <a:pt x="55952" y="-6736"/>
                  <a:pt x="114004" y="-10732"/>
                  <a:pt x="152274" y="22610"/>
                </a:cubicBezTo>
                <a:close/>
                <a:moveTo>
                  <a:pt x="161103" y="91198"/>
                </a:moveTo>
                <a:lnTo>
                  <a:pt x="62173" y="91198"/>
                </a:lnTo>
                <a:lnTo>
                  <a:pt x="62174" y="43649"/>
                </a:lnTo>
                <a:lnTo>
                  <a:pt x="39713" y="43649"/>
                </a:lnTo>
                <a:lnTo>
                  <a:pt x="39714" y="115330"/>
                </a:lnTo>
                <a:lnTo>
                  <a:pt x="161103" y="115331"/>
                </a:lnTo>
                <a:lnTo>
                  <a:pt x="161103" y="91198"/>
                </a:lnTo>
                <a:close/>
              </a:path>
            </a:pathLst>
          </a:cu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31" name="テキスト ボックス 30">
            <a:extLst>
              <a:ext uri="{FF2B5EF4-FFF2-40B4-BE49-F238E27FC236}">
                <a16:creationId xmlns:a16="http://schemas.microsoft.com/office/drawing/2014/main" id="{32918AAF-7E0B-0AF4-890B-B7CCA2CB247D}"/>
              </a:ext>
            </a:extLst>
          </p:cNvPr>
          <p:cNvSpPr txBox="1"/>
          <p:nvPr/>
        </p:nvSpPr>
        <p:spPr>
          <a:xfrm>
            <a:off x="8431574" y="5446113"/>
            <a:ext cx="2992224" cy="6386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142FA4"/>
                </a:solidFill>
                <a:effectLst/>
                <a:uLnTx/>
                <a:uFillTx/>
                <a:latin typeface="Poppins" panose="00000500000000000000" pitchFamily="2" charset="0"/>
                <a:ea typeface="游ゴシック" panose="020B0400000000000000" pitchFamily="50" charset="-128"/>
                <a:cs typeface="Poppins" panose="00000500000000000000" pitchFamily="2" charset="0"/>
              </a:rPr>
              <a:t>Improving employee skills through business-unit-led training and continuous learning opportunities.</a:t>
            </a:r>
          </a:p>
        </p:txBody>
      </p:sp>
      <p:sp>
        <p:nvSpPr>
          <p:cNvPr id="34" name="フリーフォーム 33">
            <a:extLst>
              <a:ext uri="{FF2B5EF4-FFF2-40B4-BE49-F238E27FC236}">
                <a16:creationId xmlns:a16="http://schemas.microsoft.com/office/drawing/2014/main" id="{CF7785CF-C14D-7AFD-7706-2A4F0706D333}"/>
              </a:ext>
            </a:extLst>
          </p:cNvPr>
          <p:cNvSpPr/>
          <p:nvPr/>
        </p:nvSpPr>
        <p:spPr>
          <a:xfrm rot="19136232">
            <a:off x="8332897" y="5518669"/>
            <a:ext cx="123930" cy="123930"/>
          </a:xfrm>
          <a:custGeom>
            <a:avLst/>
            <a:gdLst>
              <a:gd name="csX0" fmla="*/ 152274 w 183808"/>
              <a:gd name="csY0" fmla="*/ 22610 h 183808"/>
              <a:gd name="csX1" fmla="*/ 161198 w 183808"/>
              <a:gd name="csY1" fmla="*/ 152273 h 183808"/>
              <a:gd name="csX2" fmla="*/ 31534 w 183808"/>
              <a:gd name="csY2" fmla="*/ 161198 h 183808"/>
              <a:gd name="csX3" fmla="*/ 22610 w 183808"/>
              <a:gd name="csY3" fmla="*/ 31534 h 183808"/>
              <a:gd name="csX4" fmla="*/ 152274 w 183808"/>
              <a:gd name="csY4" fmla="*/ 22610 h 183808"/>
              <a:gd name="csX5" fmla="*/ 161103 w 183808"/>
              <a:gd name="csY5" fmla="*/ 91198 h 183808"/>
              <a:gd name="csX6" fmla="*/ 62173 w 183808"/>
              <a:gd name="csY6" fmla="*/ 91198 h 183808"/>
              <a:gd name="csX7" fmla="*/ 62174 w 183808"/>
              <a:gd name="csY7" fmla="*/ 43649 h 183808"/>
              <a:gd name="csX8" fmla="*/ 39713 w 183808"/>
              <a:gd name="csY8" fmla="*/ 43649 h 183808"/>
              <a:gd name="csX9" fmla="*/ 39714 w 183808"/>
              <a:gd name="csY9" fmla="*/ 115330 h 183808"/>
              <a:gd name="csX10" fmla="*/ 161103 w 183808"/>
              <a:gd name="csY10" fmla="*/ 115331 h 183808"/>
              <a:gd name="csX11" fmla="*/ 161103 w 183808"/>
              <a:gd name="csY11" fmla="*/ 91198 h 183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3808" h="183808">
                <a:moveTo>
                  <a:pt x="152274" y="22610"/>
                </a:moveTo>
                <a:cubicBezTo>
                  <a:pt x="190544" y="55951"/>
                  <a:pt x="194540" y="114003"/>
                  <a:pt x="161198" y="152273"/>
                </a:cubicBezTo>
                <a:cubicBezTo>
                  <a:pt x="127857" y="190544"/>
                  <a:pt x="69805" y="194539"/>
                  <a:pt x="31534" y="161198"/>
                </a:cubicBezTo>
                <a:cubicBezTo>
                  <a:pt x="-6736" y="127856"/>
                  <a:pt x="-10731" y="69804"/>
                  <a:pt x="22610" y="31534"/>
                </a:cubicBezTo>
                <a:cubicBezTo>
                  <a:pt x="55952" y="-6736"/>
                  <a:pt x="114004" y="-10732"/>
                  <a:pt x="152274" y="22610"/>
                </a:cubicBezTo>
                <a:close/>
                <a:moveTo>
                  <a:pt x="161103" y="91198"/>
                </a:moveTo>
                <a:lnTo>
                  <a:pt x="62173" y="91198"/>
                </a:lnTo>
                <a:lnTo>
                  <a:pt x="62174" y="43649"/>
                </a:lnTo>
                <a:lnTo>
                  <a:pt x="39713" y="43649"/>
                </a:lnTo>
                <a:lnTo>
                  <a:pt x="39714" y="115330"/>
                </a:lnTo>
                <a:lnTo>
                  <a:pt x="161103" y="115331"/>
                </a:lnTo>
                <a:lnTo>
                  <a:pt x="161103" y="91198"/>
                </a:lnTo>
                <a:close/>
              </a:path>
            </a:pathLst>
          </a:cu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sp>
        <p:nvSpPr>
          <p:cNvPr id="41" name="フリーフォーム 40">
            <a:extLst>
              <a:ext uri="{FF2B5EF4-FFF2-40B4-BE49-F238E27FC236}">
                <a16:creationId xmlns:a16="http://schemas.microsoft.com/office/drawing/2014/main" id="{E268EC38-0EA3-3A94-E5AA-FA23B8BB2180}"/>
              </a:ext>
            </a:extLst>
          </p:cNvPr>
          <p:cNvSpPr/>
          <p:nvPr/>
        </p:nvSpPr>
        <p:spPr>
          <a:xfrm>
            <a:off x="8135696" y="1506993"/>
            <a:ext cx="3502800" cy="397903"/>
          </a:xfrm>
          <a:custGeom>
            <a:avLst/>
            <a:gdLst>
              <a:gd name="csX0" fmla="*/ 170166 w 3502800"/>
              <a:gd name="csY0" fmla="*/ 0 h 397903"/>
              <a:gd name="csX1" fmla="*/ 3332634 w 3502800"/>
              <a:gd name="csY1" fmla="*/ 0 h 397903"/>
              <a:gd name="csX2" fmla="*/ 3502800 w 3502800"/>
              <a:gd name="csY2" fmla="*/ 170166 h 397903"/>
              <a:gd name="csX3" fmla="*/ 3502800 w 3502800"/>
              <a:gd name="csY3" fmla="*/ 397903 h 397903"/>
              <a:gd name="csX4" fmla="*/ 0 w 3502800"/>
              <a:gd name="csY4" fmla="*/ 397903 h 397903"/>
              <a:gd name="csX5" fmla="*/ 0 w 3502800"/>
              <a:gd name="csY5" fmla="*/ 170166 h 397903"/>
              <a:gd name="csX6" fmla="*/ 170166 w 3502800"/>
              <a:gd name="csY6" fmla="*/ 0 h 39790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02800" h="397903">
                <a:moveTo>
                  <a:pt x="170166" y="0"/>
                </a:moveTo>
                <a:lnTo>
                  <a:pt x="3332634" y="0"/>
                </a:lnTo>
                <a:cubicBezTo>
                  <a:pt x="3426614" y="0"/>
                  <a:pt x="3502800" y="76186"/>
                  <a:pt x="3502800" y="170166"/>
                </a:cubicBezTo>
                <a:lnTo>
                  <a:pt x="3502800" y="397903"/>
                </a:lnTo>
                <a:lnTo>
                  <a:pt x="0" y="397903"/>
                </a:lnTo>
                <a:lnTo>
                  <a:pt x="0" y="170166"/>
                </a:lnTo>
                <a:cubicBezTo>
                  <a:pt x="0" y="76186"/>
                  <a:pt x="76186" y="0"/>
                  <a:pt x="170166" y="0"/>
                </a:cubicBezTo>
                <a:close/>
              </a:path>
            </a:pathLst>
          </a:custGeom>
          <a:solidFill>
            <a:srgbClr val="D44E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2" name="フリーフォーム 41">
            <a:extLst>
              <a:ext uri="{FF2B5EF4-FFF2-40B4-BE49-F238E27FC236}">
                <a16:creationId xmlns:a16="http://schemas.microsoft.com/office/drawing/2014/main" id="{A8104A63-3631-41BF-AFBA-052756E075FA}"/>
              </a:ext>
            </a:extLst>
          </p:cNvPr>
          <p:cNvSpPr/>
          <p:nvPr/>
        </p:nvSpPr>
        <p:spPr>
          <a:xfrm>
            <a:off x="549117" y="1506993"/>
            <a:ext cx="3502800" cy="397903"/>
          </a:xfrm>
          <a:custGeom>
            <a:avLst/>
            <a:gdLst>
              <a:gd name="csX0" fmla="*/ 170166 w 3502800"/>
              <a:gd name="csY0" fmla="*/ 0 h 397903"/>
              <a:gd name="csX1" fmla="*/ 3332634 w 3502800"/>
              <a:gd name="csY1" fmla="*/ 0 h 397903"/>
              <a:gd name="csX2" fmla="*/ 3502800 w 3502800"/>
              <a:gd name="csY2" fmla="*/ 170166 h 397903"/>
              <a:gd name="csX3" fmla="*/ 3502800 w 3502800"/>
              <a:gd name="csY3" fmla="*/ 397903 h 397903"/>
              <a:gd name="csX4" fmla="*/ 0 w 3502800"/>
              <a:gd name="csY4" fmla="*/ 397903 h 397903"/>
              <a:gd name="csX5" fmla="*/ 0 w 3502800"/>
              <a:gd name="csY5" fmla="*/ 170166 h 397903"/>
              <a:gd name="csX6" fmla="*/ 170166 w 3502800"/>
              <a:gd name="csY6" fmla="*/ 0 h 39790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02800" h="397903">
                <a:moveTo>
                  <a:pt x="170166" y="0"/>
                </a:moveTo>
                <a:lnTo>
                  <a:pt x="3332634" y="0"/>
                </a:lnTo>
                <a:cubicBezTo>
                  <a:pt x="3426614" y="0"/>
                  <a:pt x="3502800" y="76186"/>
                  <a:pt x="3502800" y="170166"/>
                </a:cubicBezTo>
                <a:lnTo>
                  <a:pt x="3502800" y="397903"/>
                </a:lnTo>
                <a:lnTo>
                  <a:pt x="0" y="397903"/>
                </a:lnTo>
                <a:lnTo>
                  <a:pt x="0" y="170166"/>
                </a:lnTo>
                <a:cubicBezTo>
                  <a:pt x="0" y="76186"/>
                  <a:pt x="76186" y="0"/>
                  <a:pt x="170166" y="0"/>
                </a:cubicBezTo>
                <a:close/>
              </a:path>
            </a:pathLst>
          </a:custGeom>
          <a:solidFill>
            <a:srgbClr val="00A7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43" name="フリーフォーム 42">
            <a:extLst>
              <a:ext uri="{FF2B5EF4-FFF2-40B4-BE49-F238E27FC236}">
                <a16:creationId xmlns:a16="http://schemas.microsoft.com/office/drawing/2014/main" id="{DA8AA3CD-CDD8-431C-2BBB-E55B92C4299D}"/>
              </a:ext>
            </a:extLst>
          </p:cNvPr>
          <p:cNvSpPr/>
          <p:nvPr/>
        </p:nvSpPr>
        <p:spPr>
          <a:xfrm>
            <a:off x="4344600" y="1506993"/>
            <a:ext cx="3502800" cy="397903"/>
          </a:xfrm>
          <a:custGeom>
            <a:avLst/>
            <a:gdLst>
              <a:gd name="csX0" fmla="*/ 170166 w 3502800"/>
              <a:gd name="csY0" fmla="*/ 0 h 397903"/>
              <a:gd name="csX1" fmla="*/ 3332634 w 3502800"/>
              <a:gd name="csY1" fmla="*/ 0 h 397903"/>
              <a:gd name="csX2" fmla="*/ 3502800 w 3502800"/>
              <a:gd name="csY2" fmla="*/ 170166 h 397903"/>
              <a:gd name="csX3" fmla="*/ 3502800 w 3502800"/>
              <a:gd name="csY3" fmla="*/ 397903 h 397903"/>
              <a:gd name="csX4" fmla="*/ 0 w 3502800"/>
              <a:gd name="csY4" fmla="*/ 397903 h 397903"/>
              <a:gd name="csX5" fmla="*/ 0 w 3502800"/>
              <a:gd name="csY5" fmla="*/ 170166 h 397903"/>
              <a:gd name="csX6" fmla="*/ 170166 w 3502800"/>
              <a:gd name="csY6" fmla="*/ 0 h 39790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02800" h="397903">
                <a:moveTo>
                  <a:pt x="170166" y="0"/>
                </a:moveTo>
                <a:lnTo>
                  <a:pt x="3332634" y="0"/>
                </a:lnTo>
                <a:cubicBezTo>
                  <a:pt x="3426614" y="0"/>
                  <a:pt x="3502800" y="76186"/>
                  <a:pt x="3502800" y="170166"/>
                </a:cubicBezTo>
                <a:lnTo>
                  <a:pt x="3502800" y="397903"/>
                </a:lnTo>
                <a:lnTo>
                  <a:pt x="0" y="397903"/>
                </a:lnTo>
                <a:lnTo>
                  <a:pt x="0" y="170166"/>
                </a:lnTo>
                <a:cubicBezTo>
                  <a:pt x="0" y="76186"/>
                  <a:pt x="76186" y="0"/>
                  <a:pt x="170166" y="0"/>
                </a:cubicBezTo>
                <a:close/>
              </a:path>
            </a:pathLst>
          </a:custGeom>
          <a:solidFill>
            <a:srgbClr val="142FA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110004020202020204"/>
              <a:ea typeface="游ゴシック" panose="020B0400000000000000" pitchFamily="50" charset="-128"/>
              <a:cs typeface="+mn-cs"/>
            </a:endParaRPr>
          </a:p>
        </p:txBody>
      </p:sp>
      <p:sp>
        <p:nvSpPr>
          <p:cNvPr id="25" name="テキスト ボックス 24">
            <a:extLst>
              <a:ext uri="{FF2B5EF4-FFF2-40B4-BE49-F238E27FC236}">
                <a16:creationId xmlns:a16="http://schemas.microsoft.com/office/drawing/2014/main" id="{6ED84DDC-79B1-00BA-2500-A0F4550C8EE2}"/>
              </a:ext>
            </a:extLst>
          </p:cNvPr>
          <p:cNvSpPr txBox="1"/>
          <p:nvPr/>
        </p:nvSpPr>
        <p:spPr>
          <a:xfrm>
            <a:off x="813227" y="1556174"/>
            <a:ext cx="297458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4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Risk Management</a:t>
            </a:r>
            <a:endParaRPr kumimoji="1" lang="ja-JP" altLang="en-US" sz="14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28" name="テキスト ボックス 27">
            <a:extLst>
              <a:ext uri="{FF2B5EF4-FFF2-40B4-BE49-F238E27FC236}">
                <a16:creationId xmlns:a16="http://schemas.microsoft.com/office/drawing/2014/main" id="{A1B2E751-FCBE-96FD-C391-B7DFF31101F9}"/>
              </a:ext>
            </a:extLst>
          </p:cNvPr>
          <p:cNvSpPr txBox="1"/>
          <p:nvPr/>
        </p:nvSpPr>
        <p:spPr>
          <a:xfrm>
            <a:off x="8399806" y="1556174"/>
            <a:ext cx="297458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4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Sustainability</a:t>
            </a:r>
            <a:endParaRPr kumimoji="1" lang="ja-JP" altLang="en-US" sz="14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
        <p:nvSpPr>
          <p:cNvPr id="29" name="テキスト ボックス 28">
            <a:extLst>
              <a:ext uri="{FF2B5EF4-FFF2-40B4-BE49-F238E27FC236}">
                <a16:creationId xmlns:a16="http://schemas.microsoft.com/office/drawing/2014/main" id="{E1E7E2D3-D4BC-25AD-A9DE-22AF89C8E04A}"/>
              </a:ext>
            </a:extLst>
          </p:cNvPr>
          <p:cNvSpPr txBox="1"/>
          <p:nvPr/>
        </p:nvSpPr>
        <p:spPr>
          <a:xfrm>
            <a:off x="4608710" y="1556174"/>
            <a:ext cx="297458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AU" altLang="ja-JP" sz="1400" b="0" i="0" u="none" strike="noStrike" kern="1200" cap="none" spc="0" normalizeH="0" baseline="0" noProof="0" dirty="0">
                <a:ln>
                  <a:noFill/>
                </a:ln>
                <a:solidFill>
                  <a:prstClr val="white"/>
                </a:solidFill>
                <a:effectLst/>
                <a:uLnTx/>
                <a:uFillTx/>
                <a:latin typeface="Poppins Medium" pitchFamily="2" charset="0"/>
                <a:ea typeface="游ゴシック" panose="020B0400000000000000" pitchFamily="50" charset="-128"/>
                <a:cs typeface="Poppins Medium" pitchFamily="2" charset="0"/>
              </a:rPr>
              <a:t>Governance</a:t>
            </a:r>
            <a:endParaRPr kumimoji="1" lang="ja-JP" altLang="en-US" sz="1400" b="0" i="0" u="none" strike="noStrike" kern="1200" cap="none" spc="0" normalizeH="0" baseline="0" noProof="0" dirty="0">
              <a:ln>
                <a:noFill/>
              </a:ln>
              <a:solidFill>
                <a:prstClr val="white"/>
              </a:solidFill>
              <a:effectLst/>
              <a:uLnTx/>
              <a:uFillTx/>
              <a:latin typeface="Poppins Medium" pitchFamily="2" charset="0"/>
              <a:ea typeface="M PLUS 1p Medium" panose="020B0502020203020207" pitchFamily="34" charset="-128"/>
              <a:cs typeface="Poppins Medium" pitchFamily="2" charset="0"/>
            </a:endParaRPr>
          </a:p>
        </p:txBody>
      </p:sp>
    </p:spTree>
    <p:extLst>
      <p:ext uri="{BB962C8B-B14F-4D97-AF65-F5344CB8AC3E}">
        <p14:creationId xmlns:p14="http://schemas.microsoft.com/office/powerpoint/2010/main" val="1913930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CE1E45C3-A012-E294-6BD2-D25CC77DE854}"/>
              </a:ext>
            </a:extLst>
          </p:cNvPr>
          <p:cNvPicPr>
            <a:picLocks noChangeAspect="1"/>
          </p:cNvPicPr>
          <p:nvPr/>
        </p:nvPicPr>
        <p:blipFill>
          <a:blip r:embed="rId3"/>
          <a:stretch>
            <a:fillRect/>
          </a:stretch>
        </p:blipFill>
        <p:spPr>
          <a:xfrm>
            <a:off x="4902073" y="1734419"/>
            <a:ext cx="2366609" cy="1067726"/>
          </a:xfrm>
          <a:prstGeom prst="rect">
            <a:avLst/>
          </a:prstGeom>
        </p:spPr>
      </p:pic>
      <p:sp>
        <p:nvSpPr>
          <p:cNvPr id="19" name="テキスト ボックス 18">
            <a:extLst>
              <a:ext uri="{FF2B5EF4-FFF2-40B4-BE49-F238E27FC236}">
                <a16:creationId xmlns:a16="http://schemas.microsoft.com/office/drawing/2014/main" id="{EC24E470-0679-5F68-D1B8-922E5DCAD591}"/>
              </a:ext>
            </a:extLst>
          </p:cNvPr>
          <p:cNvSpPr txBox="1"/>
          <p:nvPr/>
        </p:nvSpPr>
        <p:spPr>
          <a:xfrm>
            <a:off x="1226912" y="6530477"/>
            <a:ext cx="2765965" cy="2108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5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Copyright © </a:t>
            </a:r>
            <a:r>
              <a:rPr kumimoji="1" lang="en-US" altLang="ja-JP" sz="77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ibis</a:t>
            </a:r>
            <a:r>
              <a:rPr kumimoji="1" lang="en-US" altLang="ja-JP" sz="75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 inc. All Rights Reserved.</a:t>
            </a:r>
            <a:endParaRPr kumimoji="1" lang="ja-JP" altLang="en-US" sz="75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pic>
        <p:nvPicPr>
          <p:cNvPr id="20" name="図 19">
            <a:extLst>
              <a:ext uri="{FF2B5EF4-FFF2-40B4-BE49-F238E27FC236}">
                <a16:creationId xmlns:a16="http://schemas.microsoft.com/office/drawing/2014/main" id="{59BD5450-4305-CD11-96E8-CA1DCF1A2E45}"/>
              </a:ext>
            </a:extLst>
          </p:cNvPr>
          <p:cNvPicPr>
            <a:picLocks noChangeAspect="1"/>
          </p:cNvPicPr>
          <p:nvPr/>
        </p:nvPicPr>
        <p:blipFill>
          <a:blip r:embed="rId4"/>
          <a:stretch>
            <a:fillRect/>
          </a:stretch>
        </p:blipFill>
        <p:spPr>
          <a:xfrm>
            <a:off x="558815" y="6443805"/>
            <a:ext cx="628219" cy="221040"/>
          </a:xfrm>
          <a:prstGeom prst="rect">
            <a:avLst/>
          </a:prstGeom>
        </p:spPr>
      </p:pic>
      <p:sp>
        <p:nvSpPr>
          <p:cNvPr id="11" name="コンテンツ プレースホルダー 1">
            <a:extLst>
              <a:ext uri="{FF2B5EF4-FFF2-40B4-BE49-F238E27FC236}">
                <a16:creationId xmlns:a16="http://schemas.microsoft.com/office/drawing/2014/main" id="{E495F7E6-46F9-63BC-1AA8-27B372E3018C}"/>
              </a:ext>
            </a:extLst>
          </p:cNvPr>
          <p:cNvSpPr txBox="1">
            <a:spLocks/>
          </p:cNvSpPr>
          <p:nvPr/>
        </p:nvSpPr>
        <p:spPr>
          <a:xfrm>
            <a:off x="3293922" y="4822515"/>
            <a:ext cx="1409266" cy="580741"/>
          </a:xfrm>
          <a:prstGeom prst="rect">
            <a:avLst/>
          </a:prstGeom>
        </p:spPr>
        <p:txBody>
          <a:bodyPr vert="horz" lIns="91440" tIns="45720" rIns="91440" bIns="45720" rtlCol="0" anchor="t"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620"/>
              </a:lnSpc>
              <a:spcBef>
                <a:spcPts val="0"/>
              </a:spcBef>
              <a:spcAft>
                <a:spcPts val="0"/>
              </a:spcAft>
              <a:buClrTx/>
              <a:buSzTx/>
              <a:buFontTx/>
              <a:buNone/>
              <a:tabLst/>
              <a:defRPr/>
            </a:pPr>
            <a:r>
              <a:rPr kumimoji="1" lang="en-US" altLang="ja-JP" sz="1000" b="0" i="0" u="sng" strike="noStrike" kern="1200" cap="none" spc="0" normalizeH="0" baseline="0" noProof="0" dirty="0">
                <a:ln>
                  <a:noFill/>
                </a:ln>
                <a:solidFill>
                  <a:prstClr val="white"/>
                </a:solidFill>
                <a:effectLst/>
                <a:uLnTx/>
                <a:uFillTx/>
                <a:latin typeface="Poppins" panose="00000500000000000000" pitchFamily="2" charset="0"/>
                <a:ea typeface="M PLUS 1p" panose="020B0502020203020207" pitchFamily="34" charset="-128"/>
                <a:cs typeface="Poppins" panose="00000500000000000000" pitchFamily="2" charset="0"/>
                <a:hlinkClick r:id="rId5">
                  <a:extLst>
                    <a:ext uri="{A12FA001-AC4F-418D-AE19-62706E023703}">
                      <ahyp:hlinkClr xmlns:ahyp="http://schemas.microsoft.com/office/drawing/2018/hyperlinkcolor" val="tx"/>
                    </a:ext>
                  </a:extLst>
                </a:hlinkClick>
              </a:rPr>
              <a:t>Business Plan and Growth Potential</a:t>
            </a:r>
            <a:endParaRPr kumimoji="1" lang="ja-JP" altLang="en-US" sz="1000" b="0" i="0" u="sng" strike="noStrike" kern="1200" cap="none" spc="0" normalizeH="0" baseline="0" noProof="0" dirty="0">
              <a:ln>
                <a:noFill/>
              </a:ln>
              <a:solidFill>
                <a:prstClr val="white"/>
              </a:solidFill>
              <a:effectLst/>
              <a:uLnTx/>
              <a:uFillTx/>
              <a:latin typeface="Poppins" panose="00000500000000000000" pitchFamily="2" charset="0"/>
              <a:ea typeface="M PLUS 1p" panose="020B0502020203020207" pitchFamily="34" charset="-128"/>
              <a:cs typeface="Poppins" panose="00000500000000000000" pitchFamily="2" charset="0"/>
            </a:endParaRPr>
          </a:p>
        </p:txBody>
      </p:sp>
      <p:grpSp>
        <p:nvGrpSpPr>
          <p:cNvPr id="7" name="グループ化 6">
            <a:extLst>
              <a:ext uri="{FF2B5EF4-FFF2-40B4-BE49-F238E27FC236}">
                <a16:creationId xmlns:a16="http://schemas.microsoft.com/office/drawing/2014/main" id="{F42CD4D0-00D7-3F46-9076-D36D7A6B48F4}"/>
              </a:ext>
            </a:extLst>
          </p:cNvPr>
          <p:cNvGrpSpPr/>
          <p:nvPr/>
        </p:nvGrpSpPr>
        <p:grpSpPr>
          <a:xfrm>
            <a:off x="5327570" y="3285655"/>
            <a:ext cx="1536861" cy="1536861"/>
            <a:chOff x="2249724" y="2689412"/>
            <a:chExt cx="2275847" cy="2275847"/>
          </a:xfrm>
        </p:grpSpPr>
        <p:sp>
          <p:nvSpPr>
            <p:cNvPr id="9" name="角丸四角形 8">
              <a:extLst>
                <a:ext uri="{FF2B5EF4-FFF2-40B4-BE49-F238E27FC236}">
                  <a16:creationId xmlns:a16="http://schemas.microsoft.com/office/drawing/2014/main" id="{B14409A8-FC56-2EA1-EA49-7474E10CD3B7}"/>
                </a:ext>
              </a:extLst>
            </p:cNvPr>
            <p:cNvSpPr/>
            <p:nvPr/>
          </p:nvSpPr>
          <p:spPr>
            <a:xfrm>
              <a:off x="2249724" y="2689412"/>
              <a:ext cx="2275847" cy="2275847"/>
            </a:xfrm>
            <a:prstGeom prst="roundRect">
              <a:avLst>
                <a:gd name="adj" fmla="val 898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mn-cs"/>
              </a:endParaRPr>
            </a:p>
          </p:txBody>
        </p:sp>
        <p:pic>
          <p:nvPicPr>
            <p:cNvPr id="14" name="図 13">
              <a:extLst>
                <a:ext uri="{FF2B5EF4-FFF2-40B4-BE49-F238E27FC236}">
                  <a16:creationId xmlns:a16="http://schemas.microsoft.com/office/drawing/2014/main" id="{FDF3F6D5-CC22-45F7-BD6F-E4A48414FD85}"/>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2418482" y="2873900"/>
              <a:ext cx="1906872" cy="1906872"/>
            </a:xfrm>
            <a:prstGeom prst="rect">
              <a:avLst/>
            </a:prstGeom>
          </p:spPr>
        </p:pic>
      </p:grpSp>
      <p:sp>
        <p:nvSpPr>
          <p:cNvPr id="5" name="テキスト ボックス 4">
            <a:extLst>
              <a:ext uri="{FF2B5EF4-FFF2-40B4-BE49-F238E27FC236}">
                <a16:creationId xmlns:a16="http://schemas.microsoft.com/office/drawing/2014/main" id="{9D22D52E-DD8B-4211-0587-37F2542F62E9}"/>
              </a:ext>
            </a:extLst>
          </p:cNvPr>
          <p:cNvSpPr txBox="1"/>
          <p:nvPr/>
        </p:nvSpPr>
        <p:spPr>
          <a:xfrm>
            <a:off x="1059315" y="564199"/>
            <a:ext cx="10073367" cy="96026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rPr>
              <a:t>We will continue delivering “W</a:t>
            </a:r>
            <a:r>
              <a:rPr kumimoji="1" lang="en-US"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rPr>
              <a:t>OW</a:t>
            </a:r>
            <a:r>
              <a:rPr kumimoji="1" lang="ja-JP"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rPr>
              <a:t>!” </a:t>
            </a:r>
            <a:r>
              <a:rPr kumimoji="1" lang="en-US"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rPr>
              <a:t>experience </a:t>
            </a:r>
            <a:r>
              <a:rPr kumimoji="1" lang="ja-JP"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rPr>
              <a:t>to the world </a:t>
            </a:r>
            <a:endParaRPr kumimoji="1" lang="en-US"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ja-JP" sz="2400" b="1" i="0" u="none" strike="noStrike" kern="1200" cap="none" spc="0" normalizeH="0" baseline="0" noProof="0" dirty="0">
                <a:ln>
                  <a:noFill/>
                </a:ln>
                <a:solidFill>
                  <a:prstClr val="white"/>
                </a:solidFill>
                <a:effectLst/>
                <a:uLnTx/>
                <a:uFillTx/>
                <a:latin typeface="Poppins SemiBold" pitchFamily="2" charset="0"/>
                <a:ea typeface="游ゴシック" panose="020B0400000000000000" pitchFamily="50" charset="-128"/>
                <a:cs typeface="Poppins SemiBold" pitchFamily="2" charset="0"/>
              </a:rPr>
              <a:t>through technology and creativity</a:t>
            </a:r>
          </a:p>
        </p:txBody>
      </p:sp>
      <p:sp>
        <p:nvSpPr>
          <p:cNvPr id="13" name="コンテンツ プレースホルダー 1">
            <a:extLst>
              <a:ext uri="{FF2B5EF4-FFF2-40B4-BE49-F238E27FC236}">
                <a16:creationId xmlns:a16="http://schemas.microsoft.com/office/drawing/2014/main" id="{76F04A9B-62A8-B51C-A390-157EC7BEC2FD}"/>
              </a:ext>
            </a:extLst>
          </p:cNvPr>
          <p:cNvSpPr txBox="1">
            <a:spLocks/>
          </p:cNvSpPr>
          <p:nvPr/>
        </p:nvSpPr>
        <p:spPr>
          <a:xfrm>
            <a:off x="2338419" y="5774088"/>
            <a:ext cx="7515157" cy="580741"/>
          </a:xfrm>
          <a:prstGeom prst="rect">
            <a:avLst/>
          </a:prstGeom>
        </p:spPr>
        <p:txBody>
          <a:bodyPr vert="horz" lIns="91440" tIns="45720" rIns="91440" bIns="45720" rtlCol="0" anchor="ctr" anchorCtr="0">
            <a:no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220"/>
              </a:lnSpc>
              <a:spcBef>
                <a:spcPts val="0"/>
              </a:spcBef>
              <a:spcAft>
                <a:spcPts val="0"/>
              </a:spcAft>
              <a:buClrTx/>
              <a:buSzTx/>
              <a:buFontTx/>
              <a:buNone/>
              <a:tabLst/>
              <a:defRPr/>
            </a:pPr>
            <a:r>
              <a:rPr kumimoji="1" lang="ja-JP"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This </a:t>
            </a:r>
            <a:r>
              <a:rPr kumimoji="1" lang="en-US" altLang="ja-JP" sz="8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document is prepared for informational purposes only </a:t>
            </a:r>
            <a:r>
              <a:rPr kumimoji="1" lang="ja-JP"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and </a:t>
            </a:r>
            <a:r>
              <a:rPr kumimoji="1" lang="en-US" altLang="ja-JP" sz="800" b="0" i="0" u="none"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rPr>
              <a:t>is not intended to solicit the sale or purchase of </a:t>
            </a:r>
            <a:r>
              <a:rPr kumimoji="1" lang="ja-JP"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any securities.</a:t>
            </a:r>
            <a:br>
              <a:rPr kumimoji="1" lang="ja-JP"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br>
            <a:r>
              <a:rPr kumimoji="1" lang="ja-JP" altLang="ja-JP"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rPr>
              <a:t> This document contains forward-looking statements, and actual results may differ materially due to various factors.</a:t>
            </a:r>
            <a:endParaRPr kumimoji="1" lang="ja-JP" altLang="en-US" sz="800" b="0" i="0" u="none" strike="noStrike" kern="1200" cap="none" spc="0" normalizeH="0" baseline="0" noProof="0">
              <a:ln>
                <a:noFill/>
              </a:ln>
              <a:solidFill>
                <a:prstClr val="white"/>
              </a:solidFill>
              <a:effectLst/>
              <a:uLnTx/>
              <a:uFillTx/>
              <a:latin typeface="Poppins" pitchFamily="2" charset="0"/>
              <a:ea typeface="M PLUS 1p" panose="020B0502020203020207" pitchFamily="34" charset="-128"/>
              <a:cs typeface="Poppins" pitchFamily="2" charset="0"/>
            </a:endParaRPr>
          </a:p>
        </p:txBody>
      </p:sp>
      <p:sp>
        <p:nvSpPr>
          <p:cNvPr id="22" name="コンテンツ プレースホルダー 1">
            <a:extLst>
              <a:ext uri="{FF2B5EF4-FFF2-40B4-BE49-F238E27FC236}">
                <a16:creationId xmlns:a16="http://schemas.microsoft.com/office/drawing/2014/main" id="{E177231E-103D-12AC-49E2-D348D1071CB3}"/>
              </a:ext>
            </a:extLst>
          </p:cNvPr>
          <p:cNvSpPr txBox="1">
            <a:spLocks/>
          </p:cNvSpPr>
          <p:nvPr/>
        </p:nvSpPr>
        <p:spPr>
          <a:xfrm>
            <a:off x="4958077" y="4796563"/>
            <a:ext cx="2275847" cy="580741"/>
          </a:xfrm>
          <a:prstGeom prst="rect">
            <a:avLst/>
          </a:prstGeom>
        </p:spPr>
        <p:txBody>
          <a:bodyPr vert="horz" lIns="91440" tIns="45720" rIns="91440" bIns="45720" rtlCol="0" anchor="t" anchorCtr="0">
            <a:normAutofit/>
          </a:bodyPr>
          <a:lstStyle>
            <a:lvl1pPr marL="228600" marR="0" indent="-228600" algn="r" defTabSz="914400" rtl="0" eaLnBrk="1" fontAlgn="auto" latinLnBrk="0" hangingPunct="1">
              <a:lnSpc>
                <a:spcPct val="100000"/>
              </a:lnSpc>
              <a:spcBef>
                <a:spcPts val="0"/>
              </a:spcBef>
              <a:spcAft>
                <a:spcPts val="0"/>
              </a:spcAft>
              <a:buClrTx/>
              <a:buSzTx/>
              <a:buFontTx/>
              <a:buNone/>
              <a:tabLst/>
              <a:defRPr kumimoji="1" sz="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142FA4"/>
                </a:solidFill>
                <a:latin typeface="M PLUS 1p" panose="020B0502020203020207" pitchFamily="34" charset="-128"/>
                <a:ea typeface="M PLUS 1p" panose="020B0502020203020207" pitchFamily="34" charset="-128"/>
                <a:cs typeface="M PLUS 1p" panose="020B0502020203020207" pitchFamily="34"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620"/>
              </a:lnSpc>
              <a:spcBef>
                <a:spcPts val="0"/>
              </a:spcBef>
              <a:spcAft>
                <a:spcPts val="0"/>
              </a:spcAft>
              <a:buClrTx/>
              <a:buSzTx/>
              <a:buFontTx/>
              <a:buNone/>
              <a:tabLst/>
              <a:defRPr/>
            </a:pPr>
            <a:r>
              <a:rPr kumimoji="1" lang="en-US" altLang="ja-JP" sz="1050" b="0" i="0" u="sng"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hlinkClick r:id="rId8">
                  <a:extLst>
                    <a:ext uri="{A12FA001-AC4F-418D-AE19-62706E023703}">
                      <ahyp:hlinkClr xmlns:ahyp="http://schemas.microsoft.com/office/drawing/2018/hyperlinkcolor" val="tx"/>
                    </a:ext>
                  </a:extLst>
                </a:hlinkClick>
              </a:rPr>
              <a:t>ibis IR Information</a:t>
            </a:r>
            <a:endParaRPr kumimoji="1" lang="en-US" altLang="ja-JP" sz="1050" b="0" i="0" u="sng" strike="noStrike" kern="1200" cap="none" spc="0" normalizeH="0" baseline="0" noProof="0" dirty="0">
              <a:ln>
                <a:noFill/>
              </a:ln>
              <a:solidFill>
                <a:prstClr val="white"/>
              </a:solidFill>
              <a:effectLst/>
              <a:uLnTx/>
              <a:uFillTx/>
              <a:latin typeface="Poppins" pitchFamily="2" charset="0"/>
              <a:ea typeface="M PLUS 1p" panose="020B0502020203020207" pitchFamily="34" charset="-128"/>
              <a:cs typeface="Poppins" pitchFamily="2" charset="0"/>
            </a:endParaRPr>
          </a:p>
        </p:txBody>
      </p:sp>
      <p:grpSp>
        <p:nvGrpSpPr>
          <p:cNvPr id="4" name="グループ化 3">
            <a:extLst>
              <a:ext uri="{FF2B5EF4-FFF2-40B4-BE49-F238E27FC236}">
                <a16:creationId xmlns:a16="http://schemas.microsoft.com/office/drawing/2014/main" id="{10A4B8BF-2FB4-1D2F-3CE1-F097EB10B021}"/>
              </a:ext>
            </a:extLst>
          </p:cNvPr>
          <p:cNvGrpSpPr/>
          <p:nvPr/>
        </p:nvGrpSpPr>
        <p:grpSpPr>
          <a:xfrm>
            <a:off x="3236469" y="3283381"/>
            <a:ext cx="1536861" cy="1536861"/>
            <a:chOff x="2249724" y="2689412"/>
            <a:chExt cx="2275847" cy="2275847"/>
          </a:xfrm>
        </p:grpSpPr>
        <p:sp>
          <p:nvSpPr>
            <p:cNvPr id="6" name="角丸四角形 11">
              <a:extLst>
                <a:ext uri="{FF2B5EF4-FFF2-40B4-BE49-F238E27FC236}">
                  <a16:creationId xmlns:a16="http://schemas.microsoft.com/office/drawing/2014/main" id="{EE6B78AC-7703-4867-5975-C12C9AF1286D}"/>
                </a:ext>
              </a:extLst>
            </p:cNvPr>
            <p:cNvSpPr/>
            <p:nvPr/>
          </p:nvSpPr>
          <p:spPr>
            <a:xfrm>
              <a:off x="2249724" y="2689412"/>
              <a:ext cx="2275847" cy="2275847"/>
            </a:xfrm>
            <a:prstGeom prst="roundRect">
              <a:avLst>
                <a:gd name="adj" fmla="val 898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 PLUS 1p" panose="020B0502020203020207" pitchFamily="34" charset="-128"/>
                <a:ea typeface="M PLUS 1p" panose="020B0502020203020207" pitchFamily="34" charset="-128"/>
                <a:cs typeface="+mn-cs"/>
              </a:endParaRPr>
            </a:p>
          </p:txBody>
        </p:sp>
        <p:pic>
          <p:nvPicPr>
            <p:cNvPr id="8" name="図 7">
              <a:extLst>
                <a:ext uri="{FF2B5EF4-FFF2-40B4-BE49-F238E27FC236}">
                  <a16:creationId xmlns:a16="http://schemas.microsoft.com/office/drawing/2014/main" id="{0ED0EBBA-6FB2-F9C7-E297-EAA7204FE156}"/>
                </a:ext>
              </a:extLst>
            </p:cNvPr>
            <p:cNvPicPr>
              <a:picLocks noChangeAspect="1"/>
            </p:cNvPicPr>
            <p:nvPr/>
          </p:nvPicPr>
          <p:blipFill>
            <a:blip r:embed="rId10" cstate="email">
              <a:extLst>
                <a:ext uri="{28A0092B-C50C-407E-A947-70E740481C1C}">
                  <a14:useLocalDpi xmlns:a14="http://schemas.microsoft.com/office/drawing/2010/main"/>
                </a:ext>
              </a:extLst>
            </a:blip>
            <a:srcRect/>
            <a:stretch/>
          </p:blipFill>
          <p:spPr>
            <a:xfrm>
              <a:off x="2418482" y="2873900"/>
              <a:ext cx="1906872" cy="1906872"/>
            </a:xfrm>
            <a:prstGeom prst="rect">
              <a:avLst/>
            </a:prstGeom>
          </p:spPr>
        </p:pic>
      </p:grpSp>
    </p:spTree>
    <p:extLst>
      <p:ext uri="{BB962C8B-B14F-4D97-AF65-F5344CB8AC3E}">
        <p14:creationId xmlns:p14="http://schemas.microsoft.com/office/powerpoint/2010/main" val="2505604814"/>
      </p:ext>
    </p:extLst>
  </p:cSld>
  <p:clrMapOvr>
    <a:masterClrMapping/>
  </p:clrMapOvr>
</p:sld>
</file>

<file path=ppt/theme/theme1.xml><?xml version="1.0" encoding="utf-8"?>
<a:theme xmlns:a="http://schemas.openxmlformats.org/drawingml/2006/main" name="Office テーマ">
  <a:themeElements>
    <a:clrScheme name="ibis">
      <a:dk1>
        <a:srgbClr val="142FA3"/>
      </a:dk1>
      <a:lt1>
        <a:srgbClr val="FFFFFF"/>
      </a:lt1>
      <a:dk2>
        <a:srgbClr val="142FA3"/>
      </a:dk2>
      <a:lt2>
        <a:srgbClr val="FFFFFF"/>
      </a:lt2>
      <a:accent1>
        <a:srgbClr val="00A7FF"/>
      </a:accent1>
      <a:accent2>
        <a:srgbClr val="A0DEFE"/>
      </a:accent2>
      <a:accent3>
        <a:srgbClr val="CA49CE"/>
      </a:accent3>
      <a:accent4>
        <a:srgbClr val="EB78DA"/>
      </a:accent4>
      <a:accent5>
        <a:srgbClr val="F39EF3"/>
      </a:accent5>
      <a:accent6>
        <a:srgbClr val="BFFF00"/>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42FA4"/>
        </a:solidFill>
        <a:ln>
          <a:no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42FA4"/>
        </a:solidFill>
        <a:ln>
          <a:no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item1.xml><?xml version="1.0" encoding="utf-8"?>
<XAP>
  <AppVersion>2.04.00</AppVersion>
  <CustomXmlVersion>2.04.00</CustomXmlVersion>
</XAP>
</file>

<file path=customXml/item2.xml><?xml version="1.0" encoding="utf-8"?>
<XAP>
  <AppVersion>2.04.00</AppVersion>
  <CustomXmlVersion>2.04.00</CustomXmlVersion>
</XAP>
</file>

<file path=customXml/item3.xml><?xml version="1.0" encoding="utf-8"?>
<XAP>
  <AppVersion>2.04.00</AppVersion>
  <CustomXmlVersion>2.04.00</CustomXmlVersion>
</XAP>
</file>

<file path=customXml/item4.xml><?xml version="1.0" encoding="utf-8"?>
<XAP>
  <AppVersion>2.04.00</AppVersion>
  <CustomXmlVersion>2.04.00</CustomXmlVersion>
</XAP>
</file>

<file path=customXml/item5.xml><?xml version="1.0" encoding="utf-8"?>
<XAP>
  <AppVersion>2.04.00</AppVersion>
  <CustomXmlVersion>2.04.00</CustomXmlVersion>
</XAP>
</file>

<file path=customXml/item6.xml><?xml version="1.0" encoding="utf-8"?>
<XAP>
  <AppVersion>2.04.00</AppVersion>
  <CustomXmlVersion>2.04.00</CustomXmlVersion>
</XAP>
</file>

<file path=customXml/item7.xml><?xml version="1.0" encoding="utf-8"?>
<XAP>
  <AppVersion>2.04.00</AppVersion>
  <CustomXmlVersion>2.04.00</CustomXmlVersion>
  <Links>
    <LinkInfo LinkId="20" Error="Unknown">PD94bWwgdmVyc2lvbj0iMS4wIiBlbmNvZGluZz0idXRmLTgiPz4NCjxMaW5rSW5mbyB4bWxuczp4c2Q9Imh0dHA6Ly93d3cudzMub3JnLzIwMDEvWE1MU2NoZW1hIiB4bWxuczp4c2k9Imh0dHA6Ly93d3cudzMub3JnLzIwMDEvWE1MU2NoZW1hLWluc3RhbmNlIj4NCiAgPExpbmtJZD4yMDwvTGlua0lkPg0KICA8QXVJZD4wNTExNy8yNy8xLzAvRDI0MDA1MDEwMDEwMDAwMDAwMDAvMS8xLzI0Mi9LMjEwMTAwMDAjL1IzMDEwMDAwMCM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yNDAwNTAxMDAxMDAwMDAwMDAwPC9EdEtpbmRJZD4NCiAgPERvY1R5cD4xPC9Eb2NUeXA+DQogIDxEb2NUeXBObT7ms5XlrprplovnpLo8L0RvY1R5cE5tPg0KICA8U3VtQWNUeXA+MTwvU3VtQWNUeXA+DQogIDxTaGVldFR5cD4yNDI8L1NoZWV0VHlwPg0KICA8U2hlZXRObT7plovnpLrmlbDlgKTnorroqo0o6ZaL56S65Y2Y5L2NMSk8L1NoZWV0Tm0+DQogIDxJdGVtSWQ+SzIxMDEwMDAwIzwvSXRlbUlkPg0KICA8RGlzcEl0ZW1JZD5LMjEwMTAwMDAwPC9EaXNwSXRlbUlkPg0KICA8Q29sSWQ+UjMwMTAwMDAwIzwvQ29sSWQ+DQogIDxUZW1BeGlzVHlwPjEwMDAwMDwvVGVtQXhpc1R5cD4NCiAgPE1lbnVObT7mkI3nm4roqIjnrpfmm7g8L01lbnVObT4NCiAgPEl0ZW1ObT7lo7LkuIrpq5g8L0l0ZW1ObT4NCiAgPENvbE5tPuW9k+acn+mHkemhjTwvQ29sTm0+DQogIDxJbmZsb3dWYWx1ZT40Ljg4PC9JbmZsb3dWYWx1ZT4NCiAgPE9yaWdpblZhbD40LDg4NiwxMTQsMDYxPC9PcmlnaW5WYWw+DQogIDxMYXN0TnVtVmFsPjQsODg2LDExNDwvTGFzdE51bVZhbD4NCiAgPExhc3ROdW1WaWV3VW5pdFR5cD40PC9MYXN0TnVtVmlld1VuaXRUeXA+DQogIDxMYXN0TnVtRGVjaW1hbFBvaW50PjA8L0xhc3ROdW1EZWNpbWFsUG9pbnQ+DQogIDxMYXN0TnVtUm91bmRUeXA+MjwvTGFzdE51bVJvdW5kVHlwPg0KICA8TnVtVGV4dFR5cD4xPC9OdW1UZXh0VHlwPg0KICA8Q2xhc3NUeXA+NDwvQ2xhc3NUeXA+DQogIDxEVG90YWxZTURITVM+MjAyNi8wMi8xMCAxNzo1MTo1NTwvRFRvdGFsWU1ESE1TPg0KICA8WmVyb0Rpc3BUeXA+MTwvWmVyb0Rpc3BUeXA+DQogIDxFYXNOdW1WaWV3VW5pdFR5cD4xMDwvRWFzTnVtVmlld1VuaXRUeXA+DQogIDxFYXNOdW1EZWNpbWFsUG9pbnQ+MjwvRWFzTnVtRGVjaW1hbFBvaW50Pg0KICA8RWFzTnVtUm91bmRUeXA+Mj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40Ljg4PC9EaXNwVmFsdWU+DQogIDxMYXN0VXBkVGltZT4yMDI2LzAyLzE3L+eBqyAxMDoyMTo1MDwvTGFzdFVwZFRpbWU+DQogIDxFcnJvclN0YXR1cz5Vbmtub3duPC9FcnJvclN0YXR1cz4NCjwvTGlua0luZm8+</LinkInfo>
    <LinkInfo LinkId="27" Error="Unknown">PD94bWwgdmVyc2lvbj0iMS4wIiBlbmNvZGluZz0idXRmLTgiPz4NCjxMaW5rSW5mbyB4bWxuczp4c2Q9Imh0dHA6Ly93d3cudzMub3JnLzIwMDEvWE1MU2NoZW1hIiB4bWxuczp4c2k9Imh0dHA6Ly93d3cudzMub3JnLzIwMDEvWE1MU2NoZW1hLWluc3RhbmNlIj4NCiAgPExpbmtJZD4yNzwvTGlua0lkPg0KICA8QXVJZD4wNTExNy8yNy8xLzAvRDkyMDEwMDA1MDAwMDAwMDAwMDEvMS8xLzI0Mi9LOTAwMDAwMDAzL1UzMDEwMDAwMTU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wMzwvSXRlbUlkPg0KICA8RGlzcEl0ZW1JZD5BQUEwMTAxMDAwPC9EaXNwSXRlbUlkPg0KICA8Q29sSWQ+VTMwMTAwMDAxNTwvQ29sSWQ+DQogIDxUZW1BeGlzVHlwPjEwMDAwMDwvVGVtQXhpc1R5cD4NCiAgPE1lbnVObT7msbrnrpfoqqzmmI7os4fmlpnnlKjjg4fjg7zjgr88L01lbnVObT4NCiAgPEl0ZW1ObT7oqIg8L0l0ZW1ObT4NCiAgPENvbE5tPuW9k+acn+OAkOe0r+ioiOOAkVlvWeOAgeODouODkOOCpOODq+ani+aIkOavlDwvQ29sTm0+DQogIDxJbmZsb3dWYWx1ZT43NC45PC9JbmZsb3dWYWx1ZT4NCiAgPE9yaWdpblZhbD43NC45MDI0PC9PcmlnaW5WYWw+DQogIDxMYXN0TnVtVmFsPjc0Ljk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43NC45PC9EaXNwVmFsdWU+DQogIDxMYXN0VXBkVGltZT4yMDI2LzAyLzExL+awtCAxNDo1NzoxOTwvTGFzdFVwZFRpbWU+DQogIDxFcnJvclN0YXR1cz5Vbmtub3duPC9FcnJvclN0YXR1cz4NCjwvTGlua0luZm8+</LinkInfo>
    <LinkInfo LinkId="35" Error="Unknown">PD94bWwgdmVyc2lvbj0iMS4wIiBlbmNvZGluZz0idXRmLTgiPz4NCjxMaW5rSW5mbyB4bWxuczp4c2Q9Imh0dHA6Ly93d3cudzMub3JnLzIwMDEvWE1MU2NoZW1hIiB4bWxuczp4c2k9Imh0dHA6Ly93d3cudzMub3JnLzIwMDEvWE1MU2NoZW1hLWluc3RhbmNlIj4NCiAgPExpbmtJZD4zNTwvTGlua0lkPg0KICA8QXVJZD4wNTExNy8yNy8xLzAvRDkyMDEwMDA1MDAwMDAwMDAwMDEvMS8xLzI0Mi9LOTAwMDAwMTAxL1UzMDEwMDAwMTc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EwMTwvSXRlbUlkPg0KICA8RGlzcEl0ZW1JZD5CQkI1MDAwMDUwPC9EaXNwSXRlbUlkPg0KICA8Q29sSWQ+VTMwMTAwMDAxNzwvQ29sSWQ+DQogIDxUZW1BeGlzVHlwPjEwMDAwMDwvVGVtQXhpc1R5cD4NCiAgPE1lbnVObT7msbrnrpfoqqzmmI7os4fmlpnnlKjjg4fjg7zjgr88L01lbnVObT4NCiAgPEl0ZW1ObT7jgrXjg5bjgrnjgq/jg6rjg5fjgrfjg6fjg7Plo7LkuIrpgLLmjZfnjoc8L0l0ZW1ObT4NCiAgPENvbE5tPuW9k+acn+OAkOe0r+ioiOOAkemAsuaNl+eOhzwvQ29sTm0+DQogIDxJbmZsb3dWYWx1ZT4xMDcuODwvSW5mbG93VmFsdWU+DQogIDxPcmlnaW5WYWw+MTA3Ljc5NDk8L09yaWdpblZhbD4NCiAgPExhc3ROdW1WYWw+MTA3Ljg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xMDcuODwvRGlzcFZhbHVlPg0KICA8TGFzdFVwZFRpbWU+MjAyNi8wMi8xMS/msLQgMTQ6NTc6MjA8L0xhc3RVcGRUaW1lPg0KICA8RXJyb3JTdGF0dXM+VW5rbm93bjwvRXJyb3JTdGF0dXM+DQo8L0xpbmtJbmZvPg==</LinkInfo>
    <LinkInfo LinkId="36" Error="Unknown">PD94bWwgdmVyc2lvbj0iMS4wIiBlbmNvZGluZz0idXRmLTgiPz4NCjxMaW5rSW5mbyB4bWxuczp4c2Q9Imh0dHA6Ly93d3cudzMub3JnLzIwMDEvWE1MU2NoZW1hIiB4bWxuczp4c2k9Imh0dHA6Ly93d3cudzMub3JnLzIwMDEvWE1MU2NoZW1hLWluc3RhbmNlIj4NCiAgPExpbmtJZD4zNjwvTGlua0lkPg0KICA8QXVJZD4wNTExNy8yNy8xLzAvRDkyMDEwMDA1MDAwMDAwMDAwMDEvMS8xLzI0Mi9LOTAwMDAwMDg5L1UzMDEwMDAwMTc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4OTwvSXRlbUlkPg0KICA8RGlzcEl0ZW1JZD5CQkI1MDAwMDEwPC9EaXNwSXRlbUlkPg0KICA8Q29sSWQ+VTMwMTAwMDAxNzwvQ29sSWQ+DQogIDxUZW1BeGlzVHlwPjEwMDAwMDwvVGVtQXhpc1R5cD4NCiAgPE1lbnVObT7msbrnrpfoqqzmmI7os4fmlpnnlKjjg4fjg7zjgr88L01lbnVObT4NCiAgPEl0ZW1ObT7lo7LkuIrpq5jpgLLmjZfnjoc8L0l0ZW1ObT4NCiAgPENvbE5tPuW9k+acn+OAkOe0r+ioiOOAkemAsuaNl+eOhzwvQ29sTm0+DQogIDxJbmZsb3dWYWx1ZT45OS42PC9JbmZsb3dWYWx1ZT4NCiAgPE9yaWdpblZhbD45OS41OTgzPC9PcmlnaW5WYWw+DQogIDxMYXN0TnVtVmFsPjk5LjY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45OS42PC9EaXNwVmFsdWU+DQogIDxMYXN0VXBkVGltZT4yMDI2LzAyLzExL+awtCAxNDo1NzoyMDwvTGFzdFVwZFRpbWU+DQogIDxFcnJvclN0YXR1cz5Vbmtub3duPC9FcnJvclN0YXR1cz4NCjwvTGlua0luZm8+</LinkInfo>
    <LinkInfo LinkId="37" Error="Unknown">PD94bWwgdmVyc2lvbj0iMS4wIiBlbmNvZGluZz0idXRmLTgiPz4NCjxMaW5rSW5mbyB4bWxuczp4c2Q9Imh0dHA6Ly93d3cudzMub3JnLzIwMDEvWE1MU2NoZW1hIiB4bWxuczp4c2k9Imh0dHA6Ly93d3cudzMub3JnLzIwMDEvWE1MU2NoZW1hLWluc3RhbmNlIj4NCiAgPExpbmtJZD4zNzwvTGlua0lkPg0KICA8QXVJZD4wNTExNy8yNy8xLzAvRDkyMDEwMDA1MDAwMDAwMDAwMDEvMS8xLzI0Mi9LOTAwMDAwMDkwL1UzMDEwMDAwMTc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5MDwvSXRlbUlkPg0KICA8RGlzcEl0ZW1JZD5CQkI1MDAwMDIwPC9EaXNwSXRlbUlkPg0KICA8Q29sSWQ+VTMwMTAwMDAxNzwvQ29sSWQ+DQogIDxUZW1BeGlzVHlwPjEwMDAwMDwvVGVtQXhpc1R5cD4NCiAgPE1lbnVObT7msbrnrpfoqqzmmI7os4fmlpnnlKjjg4fjg7zjgr88L01lbnVObT4NCiAgPEl0ZW1ObT7llrbmpa3liKnnm4rpgLLmjZfnjoc8L0l0ZW1ObT4NCiAgPENvbE5tPuW9k+acn+OAkOe0r+ioiOOAkemAsuaNl+eOhzwvQ29sTm0+DQogIDxJbmZsb3dWYWx1ZT4xMDIuMjwvSW5mbG93VmFsdWU+DQogIDxPcmlnaW5WYWw+MTAyLjIzNzk8L09yaWdpblZhbD4NCiAgPExhc3ROdW1WYWw+MTAyLjI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xMDIuMjwvRGlzcFZhbHVlPg0KICA8TGFzdFVwZFRpbWU+MjAyNi8wMi8xMS/msLQgMTQ6NTc6MjA8L0xhc3RVcGRUaW1lPg0KICA8RXJyb3JTdGF0dXM+VW5rbm93bjwvRXJyb3JTdGF0dXM+DQo8L0xpbmtJbmZvPg==</LinkInfo>
    <LinkInfo LinkId="38" Error="Unknown">PD94bWwgdmVyc2lvbj0iMS4wIiBlbmNvZGluZz0idXRmLTgiPz4NCjxMaW5rSW5mbyB4bWxuczp4c2Q9Imh0dHA6Ly93d3cudzMub3JnLzIwMDEvWE1MU2NoZW1hIiB4bWxuczp4c2k9Imh0dHA6Ly93d3cudzMub3JnLzIwMDEvWE1MU2NoZW1hLWluc3RhbmNlIj4NCiAgPExpbmtJZD4zODwvTGlua0lkPg0KICA8QXVJZD4wNTExNy8yNy8xLzAvRDkyMDEwMDA1MDAwMDAwMDAwMDEvMS8xLzI0Mi9LOTAwMDAwMDkyL1UzMDEwMDAwMTc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5MjwvSXRlbUlkPg0KICA8RGlzcEl0ZW1JZD5CQkI1MDAwMDQwPC9EaXNwSXRlbUlkPg0KICA8Q29sSWQ+VTMwMTAwMDAxNzwvQ29sSWQ+DQogIDxUZW1BeGlzVHlwPjEwMDAwMDwvVGVtQXhpc1R5cD4NCiAgPE1lbnVObT7msbrnrpfoqqzmmI7os4fmlpnnlKjjg4fjg7zjgr88L01lbnVObT4NCiAgPEl0ZW1ObT7opqrkvJrnpL7moKrkuLvjgavluLDlsZ7jgZnjgovlvZPmnJ/ntJTliKnnm4rpgLLmjZfnjoc8L0l0ZW1ObT4NCiAgPENvbE5tPuW9k+acn+OAkOe0r+ioiOOAkemAsuaNl+eOhzwvQ29sTm0+DQogIDxJbmZsb3dWYWx1ZT4xMDMuNzwvSW5mbG93VmFsdWU+DQogIDxPcmlnaW5WYWw+MTAzLjY4MDk8L09yaWdpblZhbD4NCiAgPExhc3ROdW1WYWw+MTAzLjc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xMDMuNzwvRGlzcFZhbHVlPg0KICA8TGFzdFVwZFRpbWU+MjAyNi8wMi8xMS/msLQgMTQ6NTc6MjA8L0xhc3RVcGRUaW1lPg0KICA8RXJyb3JTdGF0dXM+VW5rbm93bjwvRXJyb3JTdGF0dXM+DQo8L0xpbmtJbmZvPg==</LinkInfo>
    <LinkInfo LinkId="39" Error="Unknown">PD94bWwgdmVyc2lvbj0iMS4wIiBlbmNvZGluZz0idXRmLTgiPz4NCjxMaW5rSW5mbyB4bWxuczp4c2Q9Imh0dHA6Ly93d3cudzMub3JnLzIwMDEvWE1MU2NoZW1hIiB4bWxuczp4c2k9Imh0dHA6Ly93d3cudzMub3JnLzIwMDEvWE1MU2NoZW1hLWluc3RhbmNlIj4NCiAgPExpbmtJZD4zOTwvTGlua0lkPg0KICA8QXVJZD4wNTExNy8yNy8xLzAvRDkyMDEwMDA1MDAwMDAwMDAwMDEvMS8xLzI0Mi9LOTAwMDAwMDg5L1UzMDEwMDAwMTU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4OTwvSXRlbUlkPg0KICA8RGlzcEl0ZW1JZD5CQkI1MDAwMDEwPC9EaXNwSXRlbUlkPg0KICA8Q29sSWQ+VTMwMTAwMDAxNTwvQ29sSWQ+DQogIDxUZW1BeGlzVHlwPjEwMDAwMDwvVGVtQXhpc1R5cD4NCiAgPE1lbnVObT7msbrnrpfoqqzmmI7os4fmlpnnlKjjg4fjg7zjgr88L01lbnVObT4NCiAgPEl0ZW1ObT7lo7LkuIrpq5jpgLLmjZfnjoc8L0l0ZW1ObT4NCiAgPENvbE5tPuW9k+acn+OAkOe0r+ioiOOAkVlvWeOAgeODouODkOOCpOODq+ani+aIkOavlDwvQ29sTm0+DQogIDxJbmZsb3dWYWx1ZT44LjI8L0luZmxvd1ZhbHVlPg0KICA8T3JpZ2luVmFsPjguMjA4MjwvT3JpZ2luVmFsPg0KICA8TGFzdE51bVZhbD44LjI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44LjI8L0Rpc3BWYWx1ZT4NCiAgPExhc3RVcGRUaW1lPjIwMjYvMDIvMTEv5rC0IDE0OjU3OjIwPC9MYXN0VXBkVGltZT4NCiAgPEVycm9yU3RhdHVzPlVua25vd248L0Vycm9yU3RhdHVzPg0KPC9MaW5rSW5mbz4=</LinkInfo>
    <LinkInfo LinkId="40" Error="Unknown">PD94bWwgdmVyc2lvbj0iMS4wIiBlbmNvZGluZz0idXRmLTgiPz4NCjxMaW5rSW5mbyB4bWxuczp4c2Q9Imh0dHA6Ly93d3cudzMub3JnLzIwMDEvWE1MU2NoZW1hIiB4bWxuczp4c2k9Imh0dHA6Ly93d3cudzMub3JnLzIwMDEvWE1MU2NoZW1hLWluc3RhbmNlIj4NCiAgPExpbmtJZD40MDwvTGlua0lkPg0KICA8QXVJZD4wNTExNy8yNy8xLzAvRDkyMDEwMDA1MDAwMDAwMDAwMDEvMS8xLzI0Mi9LOTAwMDAwMDkwL1UzMDEwMDAwMTU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5MDwvSXRlbUlkPg0KICA8RGlzcEl0ZW1JZD5CQkI1MDAwMDIwPC9EaXNwSXRlbUlkPg0KICA8Q29sSWQ+VTMwMTAwMDAxNTwvQ29sSWQ+DQogIDxUZW1BeGlzVHlwPjEwMDAwMDwvVGVtQXhpc1R5cD4NCiAgPE1lbnVObT7msbrnrpfoqqzmmI7os4fmlpnnlKjjg4fjg7zjgr88L01lbnVObT4NCiAgPEl0ZW1ObT7llrbmpa3liKnnm4rpgLLmjZfnjoc8L0l0ZW1ObT4NCiAgPENvbE5tPuW9k+acn+OAkOe0r+ioiOOAkVlvWeOAgeODouODkOOCpOODq+ani+aIkOavlDwvQ29sTm0+DQogIDxJbmZsb3dWYWx1ZT40LjA8L0luZmxvd1ZhbHVlPg0KICA8T3JpZ2luVmFsPjQuMDM1MzwvT3JpZ2luVmFsPg0KICA8TGFzdE51bVZhbD40LjA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40LjA8L0Rpc3BWYWx1ZT4NCiAgPExhc3RVcGRUaW1lPjIwMjYvMDIvMTEv5rC0IDE0OjU3OjIwPC9MYXN0VXBkVGltZT4NCiAgPEVycm9yU3RhdHVzPlVua25vd248L0Vycm9yU3RhdHVzPg0KPC9MaW5rSW5mbz4=</LinkInfo>
    <LinkInfo LinkId="41" Error="Unknown">PD94bWwgdmVyc2lvbj0iMS4wIiBlbmNvZGluZz0idXRmLTgiPz4NCjxMaW5rSW5mbyB4bWxuczp4c2Q9Imh0dHA6Ly93d3cudzMub3JnLzIwMDEvWE1MU2NoZW1hIiB4bWxuczp4c2k9Imh0dHA6Ly93d3cudzMub3JnLzIwMDEvWE1MU2NoZW1hLWluc3RhbmNlIj4NCiAgPExpbmtJZD40MTwvTGlua0lkPg0KICA8QXVJZD4wNTExNy8yNy8xLzAvRDkyMDEwMDA1MDAwMDAwMDAwMDEvMS8xLzI0Mi9LOTAwMDAwMDkyL1UzMDEwMDAwMTUvMTAwMDAwPC9BdUlkPg0KICA8U2hhcGVJZD40PC9TaGFwZUlkPg0KICA8U2xpZGVJZD4xMTcyPC9TbGlkZUlkPg0KICA8U2xpZGVQYWdlPjM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5MjwvSXRlbUlkPg0KICA8RGlzcEl0ZW1JZD5CQkI1MDAwMDQwPC9EaXNwSXRlbUlkPg0KICA8Q29sSWQ+VTMwMTAwMDAxNTwvQ29sSWQ+DQogIDxUZW1BeGlzVHlwPjEwMDAwMDwvVGVtQXhpc1R5cD4NCiAgPE1lbnVObT7msbrnrpfoqqzmmI7os4fmlpnnlKjjg4fjg7zjgr88L01lbnVObT4NCiAgPEl0ZW1ObT7opqrkvJrnpL7moKrkuLvjgavluLDlsZ7jgZnjgovlvZPmnJ/ntJTliKnnm4rpgLLmjZfnjoc8L0l0ZW1ObT4NCiAgPENvbE5tPuW9k+acn+OAkOe0r+ioiOOAkVlvWeOAgeODouODkOOCpOODq+ani+aIkOavlDwvQ29sTm0+DQogIDxJbmZsb3dWYWx1ZT4xLjI8L0luZmxvd1ZhbHVlPg0KICA8T3JpZ2luVmFsPjEuMTUyNzwvT3JpZ2luVmFsPg0KICA8TGFzdE51bVZhbD4xLjI8L0xhc3ROdW1WYWw+DQogIDxMYXN0TnVtVmlld1VuaXRUeXA+MTwvTGFzdE51bVZpZXdVbml0VHlwPg0KICA8TGFzdE51bURlY2ltYWxQb2ludD4xPC9MYXN0TnVtRGVjaW1hbFBvaW50Pg0KICA8TGFzdE51bVJvdW5kVHlwPjE8L0xhc3ROdW1Sb3VuZFR5cD4NCiAgPE51bVRleHRUeXA+MTwvTnVtVGV4dFR5cD4NCiAgPENsYXNzVHlwPjI8L0NsYXNzVHlwPg0KICA8RFRvdGFsWU1ESE1TPjIwMjYvMDIvMTEgMTI6NDg6MDI8L0RUb3RhbFlNREhNUz4NCiAgPFplcm9EaXNwVHlwPjE8L1plcm9EaXNwVHlwPg0KICA8RWFzTnVtVmlld1VuaXRUeXA+MTwvRWFzTnVtVmlld1VuaXRUeXA+DQogIDxFYXNOdW1EZWNpbWFsUG9pbnQ+MTwvRWFzTnVtRGVjaW1hbFBvaW50Pg0KICA8RWFzTnVtUm91bmRUeXA+MTwvRWFzTnVtUm91bmRUeXA+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xLjI8L0Rpc3BWYWx1ZT4NCiAgPExhc3RVcGRUaW1lPjIwMjYvMDIvMTEv5rC0IDE0OjU3OjIwPC9MYXN0VXBkVGltZT4NCiAgPEVycm9yU3RhdHVzPlVua25vd248L0Vycm9yU3RhdHVzPg0KPC9MaW5rSW5mbz4=</LinkInfo>
    <LinkInfo LinkId="68" Error="Unknown">PD94bWwgdmVyc2lvbj0iMS4wIiBlbmNvZGluZz0idXRmLTgiPz4NCjxMaW5rSW5mbyB4bWxuczp4c2Q9Imh0dHA6Ly93d3cudzMub3JnLzIwMDEvWE1MU2NoZW1hIiB4bWxuczp4c2k9Imh0dHA6Ly93d3cudzMub3JnLzIwMDEvWE1MU2NoZW1hLWluc3RhbmNlIj4NCiAgPExpbmtJZD42ODwvTGlua0lkPg0KICA8QXVJZD4wNTExNy8yNy8xLzAvRDkyMDEwMDA1MDAwMDAwMDAwMDEvMS8xLzI0Mi9LOTAwMDAwMDAzL1UzMDEwMDAwMTMvMTAwMDAwPC9BdUlkPg0KICA8U2hhcGVJZD40PC9TaGFwZUlkPg0KICA8U2xpZGVJZD4xMTcxPC9TbGlkZUlkPg0KICA8U2xpZGVQYWdlPjI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wMzwvSXRlbUlkPg0KICA8RGlzcEl0ZW1JZD5BQUEwMTAxMDAwPC9EaXNwSXRlbUlkPg0KICA8Q29sSWQ+VTMwMTAwMDAxMzwvQ29sSWQ+DQogIDxUZW1BeGlzVHlwPjEwMDAwMDwvVGVtQXhpc1R5cD4NCiAgPE1lbnVObT7msbrnrpfoqqzmmI7os4fmlpnnlKjjg4fjg7zjgr88L01lbnVObT4NCiAgPEl0ZW1ObT7oqIg8L0l0ZW1ObT4NCiAgPENvbE5tPuW9k+acnwrjgJDkvJroqIjjgJFZb1k8L0NvbE5tPg0KICA8SW5mbG93VmFsdWU+NzEuNjwvSW5mbG93VmFsdWU+DQogIDxPcmlnaW5WYWw+NzEuNTcxMTwvT3JpZ2luVmFsPg0KICA8TGFzdE51bVZhbD43MS42PC9MYXN0TnVtVmFsPg0KICA8TGFzdE51bVZpZXdVbml0VHlwPjE8L0xhc3ROdW1WaWV3VW5pdFR5cD4NCiAgPExhc3ROdW1EZWNpbWFsUG9pbnQ+MTwvTGFzdE51bURlY2ltYWxQb2ludD4NCiAgPExhc3ROdW1Sb3VuZFR5cD4xPC9MYXN0TnVtUm91bmRUeXA+DQogIDxOdW1UZXh0VHlwPjE8L051bVRleHRUeXA+DQogIDxDbGFzc1R5cD4yPC9DbGFzc1R5cD4NCiAgPERUb3RhbFlNREhNUz4yMDI2LzAyLzEyIDExOjQxOjI4PC9EVG90YWxZTURITVM+DQogIDxaZXJvRGlzcFR5cD4xPC9aZXJvRGlzcFR5cD4NCiAgPEVhc051bVZpZXdVbml0VHlwIC8+DQogIDxFYXNOdW1EZWNpbWFsUG9pbnQgLz4NCiAgPEVhc051bVJvdW5kVHlwIC8+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43MS42PC9EaXNwVmFsdWU+DQogIDxMYXN0VXBkVGltZT4yMDI2LzAyLzEyL+acqCAxMTo0MjozNDwvTGFzdFVwZFRpbWU+DQogIDxFcnJvclN0YXR1cz5Vbmtub3duPC9FcnJvclN0YXR1cz4NCjwvTGlua0luZm8+</LinkInfo>
    <LinkInfo LinkId="71" Error="Unknown">PD94bWwgdmVyc2lvbj0iMS4wIiBlbmNvZGluZz0idXRmLTgiPz4NCjxMaW5rSW5mbyB4bWxuczp4c2Q9Imh0dHA6Ly93d3cudzMub3JnLzIwMDEvWE1MU2NoZW1hIiB4bWxuczp4c2k9Imh0dHA6Ly93d3cudzMub3JnLzIwMDEvWE1MU2NoZW1hLWluc3RhbmNlIj4NCiAgPExpbmtJZD43MTwvTGlua0lkPg0KICA8QXVJZD4wNTExNy8yNy8xLzAvRDkyMDEwMDA1MDAwMDAwMDAwMDEvMS8xLzI0Mi9LOTAwMDAwMDc4L1UzMDEwMDAwMTkvMTAwMDAwPC9BdUlkPg0KICA8U2hhcGVJZD40PC9TaGFwZUlkPg0KICA8U2xpZGVJZD4xMTcxPC9TbGlkZUlkPg0KICA8U2xpZGVQYWdlPjI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3ODwvSXRlbUlkPg0KICA8RGlzcEl0ZW1JZD5CQkIwMTAwMDMwPC9EaXNwSXRlbUlkPg0KICA8Q29sSWQ+VTMwMTAwMDAxOTwvQ29sSWQ+DQogIDxUZW1BeGlzVHlwPjEwMDAwMDwvVGVtQXhpc1R5cD4NCiAgPE1lbnVObT7msbrnrpfoqqzmmI7os4fmlpnnlKjjg4fjg7zjgr88L01lbnVObT4NCiAgPEl0ZW1ObT7llrbmpa3liKnnm4rnjoc8L0l0ZW1ObT4NCiAgPENvbE5tPuW9k+acnwrjgJDkvJroqIjjgJHllrbmpa3liKnnm4rnjoc8L0NvbE5tPg0KICA8SW5mbG93VmFsdWU+MjUuOTwvSW5mbG93VmFsdWU+DQogIDxPcmlnaW5WYWw+MjUuOTQ2ODwvT3JpZ2luVmFsPg0KICA8TGFzdE51bVZhbD4yNS45PC9MYXN0TnVtVmFsPg0KICA8TGFzdE51bVZpZXdVbml0VHlwPjE8L0xhc3ROdW1WaWV3VW5pdFR5cD4NCiAgPExhc3ROdW1EZWNpbWFsUG9pbnQ+MTwvTGFzdE51bURlY2ltYWxQb2ludD4NCiAgPExhc3ROdW1Sb3VuZFR5cD4xPC9MYXN0TnVtUm91bmRUeXA+DQogIDxOdW1UZXh0VHlwPjE8L051bVRleHRUeXA+DQogIDxDbGFzc1R5cD4yPC9DbGFzc1R5cD4NCiAgPERUb3RhbFlNREhNUz4yMDI2LzAyLzEyIDExOjU0OjUxPC9EVG90YWxZTURITVM+DQogIDxaZXJvRGlzcFR5cD4xPC9aZXJvRGlzcFR5cD4NCiAgPEVhc051bVZpZXdVbml0VHlwIC8+DQogIDxFYXNOdW1EZWNpbWFsUG9pbnQgLz4NCiAgPEVhc051bVJvdW5kVHlwIC8+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yNS45PC9EaXNwVmFsdWU+DQogIDxMYXN0VXBkVGltZT4yMDI2LzAyLzEyL+acqCAxMTo1NToxNDwvTGFzdFVwZFRpbWU+DQogIDxFcnJvclN0YXR1cz5Vbmtub3duPC9FcnJvclN0YXR1cz4NCjwvTGlua0luZm8+</LinkInfo>
    <LinkInfo LinkId="74" Error="Unknown">PD94bWwgdmVyc2lvbj0iMS4wIiBlbmNvZGluZz0idXRmLTgiPz4NCjxMaW5rSW5mbyB4bWxuczp4c2Q9Imh0dHA6Ly93d3cudzMub3JnLzIwMDEvWE1MU2NoZW1hIiB4bWxuczp4c2k9Imh0dHA6Ly93d3cudzMub3JnLzIwMDEvWE1MU2NoZW1hLWluc3RhbmNlIj4NCiAgPExpbmtJZD43NDwvTGlua0lkPg0KICA8QXVJZD4wNTExNy8yNy8xLzAvRDkyMDEwMDA1MDAwMDAwMDAwMDEvMS8xLzI0Mi9LOTAwMDAwMDc4L1UzMDEwMDAwMTkvMTAxMDAwPC9BdUlkPg0KICA8U2hhcGVJZD40PC9TaGFwZUlkPg0KICA8U2xpZGVJZD4xMTcxPC9TbGlkZUlkPg0KICA8U2xpZGVQYWdlPjI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3ODwvSXRlbUlkPg0KICA8RGlzcEl0ZW1JZD5CQkIwMTAwMDMwPC9EaXNwSXRlbUlkPg0KICA8Q29sSWQ+VTMwMTAwMDAxOTwvQ29sSWQ+DQogIDxUZW1BeGlzVHlwPjEwMTAwMDwvVGVtQXhpc1R5cD4NCiAgPE1lbnVObT7msbrnrpfoqqzmmI7os4fmlpnnlKjjg4fjg7zjgr88L01lbnVObT4NCiAgPEl0ZW1ObT7llrbmpa3liKnnm4rnjoc8L0l0ZW1ObT4NCiAgPENvbE5tPuWJjeacnwrjgJDkvJroqIjjgJHllrbmpa3liKnnm4rnjoc8L0NvbE5tPg0KICA8SW5mbG93VmFsdWU+MjYuNjwvSW5mbG93VmFsdWU+DQogIDxPcmlnaW5WYWw+MjYuNjIwMzwvT3JpZ2luVmFsPg0KICA8TGFzdE51bVZhbD4yNi42PC9MYXN0TnVtVmFsPg0KICA8TGFzdE51bVZpZXdVbml0VHlwPjE8L0xhc3ROdW1WaWV3VW5pdFR5cD4NCiAgPExhc3ROdW1EZWNpbWFsUG9pbnQ+MTwvTGFzdE51bURlY2ltYWxQb2ludD4NCiAgPExhc3ROdW1Sb3VuZFR5cD4xPC9MYXN0TnVtUm91bmRUeXA+DQogIDxOdW1UZXh0VHlwPjE8L051bVRleHRUeXA+DQogIDxDbGFzc1R5cD4yPC9DbGFzc1R5cD4NCiAgPERUb3RhbFlNREhNUz4yMDI2LzAyLzEyIDExOjU4OjE0PC9EVG90YWxZTURITVM+DQogIDxaZXJvRGlzcFR5cD4xPC9aZXJvRGlzcFR5cD4NCiAgPEVhc051bVZpZXdVbml0VHlwIC8+DQogIDxFYXNOdW1EZWNpbWFsUG9pbnQgLz4NCiAgPEVhc051bVJvdW5kVHlwIC8+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yNi42PC9EaXNwVmFsdWU+DQogIDxMYXN0VXBkVGltZT4yMDI2LzAyLzEyL+acqCAxMTo1ODo1OTwvTGFzdFVwZFRpbWU+DQogIDxFcnJvclN0YXR1cz5Vbmtub3duPC9FcnJvclN0YXR1cz4NCjwvTGlua0luZm8+</LinkInfo>
    <LinkInfo LinkId="75" Error="Unknown">PD94bWwgdmVyc2lvbj0iMS4wIiBlbmNvZGluZz0idXRmLTgiPz4NCjxMaW5rSW5mbyB4bWxuczp4c2Q9Imh0dHA6Ly93d3cudzMub3JnLzIwMDEvWE1MU2NoZW1hIiB4bWxuczp4c2k9Imh0dHA6Ly93d3cudzMub3JnLzIwMDEvWE1MU2NoZW1hLWluc3RhbmNlIj4NCiAgPExpbmtJZD43NTwvTGlua0lkPg0KICA8QXVJZD4wNTExNy8yNy8xLzAvRDkyMDEwMDA1MDAwMDAwMDAwMDEvMS8xLzI0Mi9LOTAwMDAwMDg5L1UzMDEwMDAwMTMvMTAwMDAwPC9BdUlkPg0KICA8U2hhcGVJZD40PC9TaGFwZUlkPg0KICA8U2xpZGVJZD4xMTcxPC9TbGlkZUlkPg0KICA8U2xpZGVQYWdlPjI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4OTwvSXRlbUlkPg0KICA8RGlzcEl0ZW1JZD5CQkI1MDAwMDEwPC9EaXNwSXRlbUlkPg0KICA8Q29sSWQ+VTMwMTAwMDAxMzwvQ29sSWQ+DQogIDxUZW1BeGlzVHlwPjEwMDAwMDwvVGVtQXhpc1R5cD4NCiAgPE1lbnVObT7msbrnrpfoqqzmmI7os4fmlpnnlKjjg4fjg7zjgr88L01lbnVObT4NCiAgPEl0ZW1ObT7lo7LkuIrpq5jpgLLmjZfnjoc8L0l0ZW1ObT4NCiAgPENvbE5tPuW9k+acnwrjgJDkvJroqIjjgJFZb1k8L0NvbE5tPg0KICA8SW5mbG93VmFsdWU+MjAuNTwvSW5mbG93VmFsdWU+DQogIDxPcmlnaW5WYWw+MjAuNDU2NDwvT3JpZ2luVmFsPg0KICA8TGFzdE51bVZhbD4yMC41PC9MYXN0TnVtVmFsPg0KICA8TGFzdE51bVZpZXdVbml0VHlwPjE8L0xhc3ROdW1WaWV3VW5pdFR5cD4NCiAgPExhc3ROdW1EZWNpbWFsUG9pbnQ+MTwvTGFzdE51bURlY2ltYWxQb2ludD4NCiAgPExhc3ROdW1Sb3VuZFR5cD4xPC9MYXN0TnVtUm91bmRUeXA+DQogIDxOdW1UZXh0VHlwPjE8L051bVRleHRUeXA+DQogIDxDbGFzc1R5cD4yPC9DbGFzc1R5cD4NCiAgPERUb3RhbFlNREhNUz4yMDI2LzAyLzEyIDExOjU4OjE0PC9EVG90YWxZTURITVM+DQogIDxaZXJvRGlzcFR5cD4xPC9aZXJvRGlzcFR5cD4NCiAgPEVhc051bVZpZXdVbml0VHlwIC8+DQogIDxFYXNOdW1EZWNpbWFsUG9pbnQgLz4NCiAgPEVhc051bVJvdW5kVHlwIC8+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yMC41PC9EaXNwVmFsdWU+DQogIDxMYXN0VXBkVGltZT4yMDI2LzAyLzEyL+acqCAxMjowMDozNzwvTGFzdFVwZFRpbWU+DQogIDxFcnJvclN0YXR1cz5Vbmtub3duPC9FcnJvclN0YXR1cz4NCjwvTGlua0luZm8+</LinkInfo>
    <LinkInfo LinkId="76" Error="Unknown">PD94bWwgdmVyc2lvbj0iMS4wIiBlbmNvZGluZz0idXRmLTgiPz4NCjxMaW5rSW5mbyB4bWxuczp4c2Q9Imh0dHA6Ly93d3cudzMub3JnLzIwMDEvWE1MU2NoZW1hIiB4bWxuczp4c2k9Imh0dHA6Ly93d3cudzMub3JnLzIwMDEvWE1MU2NoZW1hLWluc3RhbmNlIj4NCiAgPExpbmtJZD43NjwvTGlua0lkPg0KICA8QXVJZD4wNTExNy8yNy8xLzAvRDkyMDEwMDA1MDAwMDAwMDAwMDEvMS8xLzI0Mi9LOTAwMDAwMDkwL1UzMDEwMDAwMTMvMTAwMDAwPC9BdUlkPg0KICA8U2hhcGVJZD40PC9TaGFwZUlkPg0KICA8U2xpZGVJZD4xMTcxPC9TbGlkZUlkPg0KICA8U2xpZGVQYWdlPjI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5MDwvSXRlbUlkPg0KICA8RGlzcEl0ZW1JZD5CQkI1MDAwMDIwPC9EaXNwSXRlbUlkPg0KICA8Q29sSWQ+VTMwMTAwMDAxMzwvQ29sSWQ+DQogIDxUZW1BeGlzVHlwPjEwMDAwMDwvVGVtQXhpc1R5cD4NCiAgPE1lbnVObT7msbrnrpfoqqzmmI7os4fmlpnnlKjjg4fjg7zjgr88L01lbnVObT4NCiAgPEl0ZW1ObT7llrbmpa3liKnnm4rpgLLmjZfnjoc8L0l0ZW1ObT4NCiAgPENvbE5tPuW9k+acnwrjgJDkvJroqIjjgJFZb1k8L0NvbE5tPg0KICA8SW5mbG93VmFsdWU+MTcuNDwvSW5mbG93VmFsdWU+DQogIDxPcmlnaW5WYWw+MTcuNDA4NzwvT3JpZ2luVmFsPg0KICA8TGFzdE51bVZhbD4xNy40PC9MYXN0TnVtVmFsPg0KICA8TGFzdE51bVZpZXdVbml0VHlwPjE8L0xhc3ROdW1WaWV3VW5pdFR5cD4NCiAgPExhc3ROdW1EZWNpbWFsUG9pbnQ+MTwvTGFzdE51bURlY2ltYWxQb2ludD4NCiAgPExhc3ROdW1Sb3VuZFR5cD4xPC9MYXN0TnVtUm91bmRUeXA+DQogIDxOdW1UZXh0VHlwPjE8L051bVRleHRUeXA+DQogIDxDbGFzc1R5cD4yPC9DbGFzc1R5cD4NCiAgPERUb3RhbFlNREhNUz4yMDI2LzAyLzEyIDExOjU4OjE0PC9EVG90YWxZTURITVM+DQogIDxaZXJvRGlzcFR5cD4xPC9aZXJvRGlzcFR5cD4NCiAgPEVhc051bVZpZXdVbml0VHlwIC8+DQogIDxFYXNOdW1EZWNpbWFsUG9pbnQgLz4NCiAgPEVhc051bVJvdW5kVHlwIC8+DQogIDxBZGRVbml0VHlwPjA8L0FkZFVuaXRUeXA+DQogIDxCYXJVbml0UmVtb3ZlVHlwPjA8L0JhclVuaXRSZW1vdmVUeXA+DQogIDxLYW5qaU51bUNvbXZlcnRpb25UaG91c2FuZD4wPC9LYW5qaU51bUNvbXZlcnRpb25UaG91c2FuZD4NCiAgPEthbmppTnVtQ29tdmVydGlvblRlblRob3VzYW5kPjA8L0thbmppTnVtQ29tdmVydGlvblRlblRob3VzYW5kPg0KICA8S2FuamlOdW1Db212ZXJ0aW9uTWlsbGlvbj4wPC9LYW5qaU51bUNvbXZlcnRpb25NaWxsaW9uPg0KICA8S2FuamlOdW1Db212ZXJ0aW9uVGVuTWlsbGlvbj4wPC9LYW5qaU51bUNvbXZlcnRpb25UZW5NaWxsaW9uPg0KICA8S2FuamlOdW1Db212ZXJ0aW9uSHVuZHJlZE1pbGxpb24+MDwvS2FuamlOdW1Db212ZXJ0aW9uSHVuZHJlZE1pbGxpb24+DQogIDxLYW5qaU51bUNvbXZlcnRpb25CaWxsaW9uPjA8L0thbmppTnVtQ29tdmVydGlvbkJpbGxpb24+DQogIDxLYW5qaU51bUNvbXZlcnRpb25UcmlsbGlvbj4wPC9LYW5qaU51bUNvbXZlcnRpb25UcmlsbGlvbj4NCiAgPExhc3ROdW1OZWc+MjwvTGFzdE51bU5lZz4NCiAgPEJhckNoYW5nZVR5cD4wPC9CYXJDaGFuZ2VUeXA+DQogIDxPbmVEaWdpdEVtQ29tdmVydD4wPC9PbmVEaWdpdEVtQ29tdmVydD4NCiAgPERlY2ltYWxQb2ludFRleHQgLz4NCiAgPEZyb250UG9nVHh0IC8+DQogIDxCYWNrUG9nVHh0IC8+DQogIDxGcm9udE5lZ1R4dD7ilrM8L0Zyb250TmVnVHh0Pg0KICA8QmFja05lZ1R4dCAvPg0KICA8RnJvbnRCYXJUeHQgLz4NCiAgPEJhY2tCYXJUeHQgLz4NCiAgPERpc3BWYWx1ZT4xNy40PC9EaXNwVmFsdWU+DQogIDxMYXN0VXBkVGltZT4yMDI2LzAyLzEyL+acqCAxMjowMTowNDwvTGFzdFVwZFRpbWU+DQogIDxFcnJvclN0YXR1cz5Vbmtub3duPC9FcnJvclN0YXR1cz4NCjwvTGlua0luZm8+</LinkInfo>
    <LinkInfo LinkId="77" Error="Unknown">PD94bWwgdmVyc2lvbj0iMS4wIiBlbmNvZGluZz0idXRmLTgiPz4NCjxMaW5rSW5mbyB4bWxuczp4c2Q9Imh0dHA6Ly93d3cudzMub3JnLzIwMDEvWE1MU2NoZW1hIiB4bWxuczp4c2k9Imh0dHA6Ly93d3cudzMub3JnLzIwMDEvWE1MU2NoZW1hLWluc3RhbmNlIj4NCiAgPExpbmtJZD43NzwvTGlua0lkPg0KICA8QXVJZD4wNTExNy8yNy8xLzAvRDkyMDEwMDA1MDAwMDAwMDAwMDEvMS8xLzI0Mi9LOTAwMDAwMDc4L1UzMDEwMDAwMTMvMTAwMDAwPC9BdUlkPg0KICA8U2hhcGVJZD40PC9TaGFwZUlkPg0KICA8U2xpZGVJZD4xMTcxPC9TbGlkZUlkPg0KICA8U2xpZGVQYWdlPjI8L1NsaWRlUGFnZT4NCiAgPENvbXBhbnlJZD4wNTExNzwvQ29tcGFueUlkPg0KICA8QWNQZXJpb2Q+Mjc8L0FjUGVyaW9kPg0KICA8UGVyaW9kVHlwZT4xPC9QZXJpb2RUeXBlPg0KICA8UGVyaW9kRHRsVHlwZT4wPC9QZXJpb2REdGxUeXBlPg0KICA8UGVyaW9kU3RhcnREYXRlPjIwMjUvMTAvMDE8L1BlcmlvZFN0YXJ0RGF0ZT4NCiAgPER0S2luZElkPkQ5MjAxMDAwNTAwMDAwMDAwMDAxPC9EdEtpbmRJZD4NCiAgPERvY1R5cD4xPC9Eb2NUeXA+DQogIDxEb2NUeXBObSAvPg0KICA8U3VtQWNUeXA+MTwvU3VtQWNUeXA+DQogIDxTaGVldFR5cD4yNDI8L1NoZWV0VHlwPg0KICA8U2hlZXRObT7plovnpLrmlbDlgKTnorroqo0o6ZaL56S65Y2Y5L2NMSk8L1NoZWV0Tm0+DQogIDxJdGVtSWQ+SzkwMDAwMDA3ODwvSXRlbUlkPg0KICA8RGlzcEl0ZW1JZD5CQkIwMTAwMDMwPC9EaXNwSXRlbUlkPg0KICA8Q29sSWQ+VTMwMTAwMDAxMzwvQ29sSWQ+DQogIDxUZW1BeGlzVHlwPjEwMDAwMDwvVGVtQXhpc1R5cD4NCiAgPE1lbnVObT7msbrnrpfoqqzmmI7os4fmlpnnlKjjg4fjg7zjgr88L01lbnVObT4NCiAgPEl0ZW1ObT7llrbmpa3liKnnm4rnjoc8L0l0ZW1ObT4NCiAgPENvbE5tPuW9k+acn+OAkOS8muioiOOAkVlvWTwvQ29sTm0+DQogIDxJbmZsb3dWYWx1ZT4wLjc8L0luZmxvd1ZhbHVlPg0KICA8T3JpZ2luVmFsPi0wLjY3MzQ8L09yaWdpblZhbD4NCiAgPExhc3ROdW1WYWw+LTAuNzwvTGFzdE51bVZhbD4NCiAgPExhc3ROdW1WaWV3VW5pdFR5cD4xPC9MYXN0TnVtVmlld1VuaXRUeXA+DQogIDxMYXN0TnVtRGVjaW1hbFBvaW50PjE8L0xhc3ROdW1EZWNpbWFsUG9pbnQ+DQogIDxMYXN0TnVtUm91bmRUeXA+MTwvTGFzdE51bVJvdW5kVHlwPg0KICA8TnVtVGV4dFR5cD4xPC9OdW1UZXh0VHlwPg0KICA8Q2xhc3NUeXA+MjwvQ2xhc3NUeXA+DQogIDxEVG90YWxZTURITVM+MjAyNi8wMi8xMiAxMjowMzozNDwvRFRvdGFsWU1ESE1TPg0KICA8WmVyb0Rpc3BUeXA+MTwvWmVyb0Rpc3BUeXA+DQogIDxFYXNOdW1WaWV3VW5pdFR5cD4xPC9FYXNOdW1WaWV3VW5pdFR5cD4NCiAgPEVhc051bURlY2ltYWxQb2ludD4xPC9FYXNOdW1EZWNpbWFsUG9pbnQ+DQogIDxFYXNOdW1Sb3VuZFR5cD4xPC9FYXNOdW1Sb3VuZFR5cD4NCiAgPEFkZFVuaXRUeXA+MDwvQWRkVW5pdFR5cD4NCiAgPEJhclVuaXRSZW1vdmVUeXA+MDwvQmFyVW5pdFJlbW92ZVR5cD4NCiAgPEthbmppTnVtQ29tdmVydGlvblRob3VzYW5kPjA8L0thbmppTnVtQ29tdmVydGlvblRob3VzYW5kPg0KICA8S2FuamlOdW1Db212ZXJ0aW9uVGVuVGhvdXNhbmQ+MDwvS2FuamlOdW1Db212ZXJ0aW9uVGVuVGhvdXNhbmQ+DQogIDxLYW5qaU51bUNvbXZlcnRpb25NaWxsaW9uPjA8L0thbmppTnVtQ29tdmVydGlvbk1pbGxpb24+DQogIDxLYW5qaU51bUNvbXZlcnRpb25UZW5NaWxsaW9uPjA8L0thbmppTnVtQ29tdmVydGlvblRlbk1pbGxpb24+DQogIDxLYW5qaU51bUNvbXZlcnRpb25IdW5kcmVkTWlsbGlvbj4wPC9LYW5qaU51bUNvbXZlcnRpb25IdW5kcmVkTWlsbGlvbj4NCiAgPEthbmppTnVtQ29tdmVydGlvbkJpbGxpb24+MDwvS2FuamlOdW1Db212ZXJ0aW9uQmlsbGlvbj4NCiAgPEthbmppTnVtQ29tdmVydGlvblRyaWxsaW9uPjA8L0thbmppTnVtQ29tdmVydGlvblRyaWxsaW9uPg0KICA8TGFzdE51bU5lZz4yPC9MYXN0TnVtTmVnPg0KICA8QmFyQ2hhbmdlVHlwPjA8L0JhckNoYW5nZVR5cD4NCiAgPE9uZURpZ2l0RW1Db212ZXJ0PjA8L09uZURpZ2l0RW1Db212ZXJ0Pg0KICA8RGVjaW1hbFBvaW50VGV4dCAvPg0KICA8RnJvbnRQb2dUeHQgLz4NCiAgPEJhY2tQb2dUeHQgLz4NCiAgPEZyb250TmVnVHh0IC8+DQogIDxCYWNrTmVnVHh0IC8+DQogIDxGcm9udEJhclR4dCAvPg0KICA8QmFja0JhclR4dCAvPg0KICA8RGlzcFZhbHVlPjAuNzwvRGlzcFZhbHVlPg0KICA8TGFzdFVwZFRpbWU+MjAyNi8wMi8xNi/mnIggMTg6MzI6NTk8L0xhc3RVcGRUaW1lPg0KICA8RXJyb3JTdGF0dXM+VW5rbm93bjwvRXJyb3JTdGF0dXM+DQo8L0xpbmtJbmZvPg==</LinkInfo>
    <MaxLinkId>0</MaxLinkId>
    <IsEditMode>False</IsEditMode>
    <LastOperationSubsidiaryCompanyId/>
  </Links>
</XAP>
</file>

<file path=customXml/item8.xml><?xml version="1.0" encoding="utf-8"?>
<XAP>
  <AppVersion>2.04.00</AppVersion>
  <CustomXmlVersion>2.04.00</CustomXmlVersion>
</XAP>
</file>

<file path=customXml/item9.xml><?xml version="1.0" encoding="utf-8"?>
<XAP>
  <AppVersion>2.04.00</AppVersion>
  <CustomXmlVersion>2.04.00</CustomXmlVersion>
</XAP>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XAP>
  <AppVersion>2.04.00</AppVersion>
  <CustomXmlVersion>2.04.00</CustomXmlVersion>
</XAP>
</file>

<file path=customXml/item12.xml><?xml version="1.0" encoding="utf-8"?>
<ct:contentTypeSchema xmlns:ct="http://schemas.microsoft.com/office/2006/metadata/contentType" xmlns:ma="http://schemas.microsoft.com/office/2006/metadata/properties/metaAttributes" ct:_="" ma:_="" ma:contentTypeName="ドキュメント" ma:contentTypeID="0x010100C4C03AA03CCF4E46849F36D083E6EF21" ma:contentTypeVersion="11" ma:contentTypeDescription="新しいドキュメントを作成します。" ma:contentTypeScope="" ma:versionID="8952d64eed4aa16f60b06c5f86487d69">
  <xsd:schema xmlns:xsd="http://www.w3.org/2001/XMLSchema" xmlns:xs="http://www.w3.org/2001/XMLSchema" xmlns:p="http://schemas.microsoft.com/office/2006/metadata/properties" xmlns:ns2="b094fc59-5f36-43af-8e7b-b37d279dff93" targetNamespace="http://schemas.microsoft.com/office/2006/metadata/properties" ma:root="true" ma:fieldsID="d31fac9ebc45273b61d4a7f6100e40da" ns2:_="">
    <xsd:import namespace="b094fc59-5f36-43af-8e7b-b37d279dff9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94fc59-5f36-43af-8e7b-b37d279dff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7d5c9d1b-82a1-4ef0-b2e4-5f107cb1708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p:properties xmlns:p="http://schemas.microsoft.com/office/2006/metadata/properties" xmlns:xsi="http://www.w3.org/2001/XMLSchema-instance" xmlns:pc="http://schemas.microsoft.com/office/infopath/2007/PartnerControls">
  <documentManagement>
    <lcf76f155ced4ddcb4097134ff3c332f xmlns="b094fc59-5f36-43af-8e7b-b37d279dff93">
      <Terms xmlns="http://schemas.microsoft.com/office/infopath/2007/PartnerControls"/>
    </lcf76f155ced4ddcb4097134ff3c332f>
  </documentManagement>
</p:properties>
</file>

<file path=customXml/item14.xml><?xml version="1.0" encoding="utf-8"?>
<XAP>
  <AppVersion>2.04.00</AppVersion>
  <CustomXmlVersion>2.04.00</CustomXmlVersion>
  <EditTexts>
    <EditText>77+l4oypMSA1LjAw4oyqQiA=</EditText>
  </EditTexts>
</XAP>
</file>

<file path=customXml/item15.xml><?xml version="1.0" encoding="utf-8"?>
<XAP>
  <AppVersion>2.04.00</AppVersion>
  <CustomXmlVersion>2.04.00</CustomXmlVersion>
</XAP>
</file>

<file path=customXml/item16.xml><?xml version="1.0" encoding="utf-8"?>
<XAP>
  <AppVersion>2.04.00</AppVersion>
  <CustomXmlVersion>2.04.00</CustomXmlVersion>
</XAP>
</file>

<file path=customXml/itemProps1.xml><?xml version="1.0" encoding="utf-8"?>
<ds:datastoreItem xmlns:ds="http://schemas.openxmlformats.org/officeDocument/2006/customXml" ds:itemID="{B37BDC9F-4AF1-4BE8-95A6-8DCCB71F2337}">
  <ds:schemaRefs/>
</ds:datastoreItem>
</file>

<file path=customXml/itemProps2.xml><?xml version="1.0" encoding="utf-8"?>
<ds:datastoreItem xmlns:ds="http://schemas.openxmlformats.org/officeDocument/2006/customXml" ds:itemID="{76FFD7CA-DC72-47B8-BF70-40CDA8DE18C8}">
  <ds:schemaRefs/>
</ds:datastoreItem>
</file>

<file path=customXml/itemProps3.xml><?xml version="1.0" encoding="utf-8"?>
<ds:datastoreItem xmlns:ds="http://schemas.openxmlformats.org/officeDocument/2006/customXml" ds:itemID="{7F2868B6-C53D-4D47-823E-92C5B2AF4AAF}">
  <ds:schemaRefs/>
</ds:datastoreItem>
</file>

<file path=customXml/itemProps4.xml><?xml version="1.0" encoding="utf-8"?>
<ds:datastoreItem xmlns:ds="http://schemas.openxmlformats.org/officeDocument/2006/customXml" ds:itemID="{BBF163D3-8930-4B02-BE6C-745CC40F259C}">
  <ds:schemaRefs/>
</ds:datastoreItem>
</file>

<file path=customXml/itemProps5.xml><?xml version="1.0" encoding="utf-8"?>
<ds:datastoreItem xmlns:ds="http://schemas.openxmlformats.org/officeDocument/2006/customXml" ds:itemID="{8A62C4DD-DC0C-47FF-9851-4A29CDDFF0CB}">
  <ds:schemaRefs/>
</ds:datastoreItem>
</file>

<file path=customXml/itemProps6.xml><?xml version="1.0" encoding="utf-8"?>
<ds:datastoreItem xmlns:ds="http://schemas.openxmlformats.org/officeDocument/2006/customXml" ds:itemID="{93E06358-36A0-42B8-9DFA-13646C21EA83}">
  <ds:schemaRefs/>
</ds:datastoreItem>
</file>

<file path=customXml/itemProps7.xml><?xml version="1.0" encoding="utf-8"?>
<ds:datastoreItem xmlns:ds="http://schemas.openxmlformats.org/officeDocument/2006/customXml" ds:itemID="{4FE73135-2822-49D3-B58A-524CEDC77AC2}">
  <ds:schemaRefs/>
</ds:datastoreItem>
</file>

<file path=customXml/itemProps8.xml><?xml version="1.0" encoding="utf-8"?>
<ds:datastoreItem xmlns:ds="http://schemas.openxmlformats.org/officeDocument/2006/customXml" ds:itemID="{4586F5B7-1113-4F71-AD1C-E19A6CED46A4}">
  <ds:schemaRefs/>
</ds:datastoreItem>
</file>

<file path=customXml/itemProps9.xml><?xml version="1.0" encoding="utf-8"?>
<ds:datastoreItem xmlns:ds="http://schemas.openxmlformats.org/officeDocument/2006/customXml" ds:itemID="{E8A2C071-7B61-4E6B-A1BB-9F2BF4F0DC4B}">
  <ds:schemaRefs/>
</ds:datastoreItem>
</file>

<file path=customXml/itemProps10.xml><?xml version="1.0" encoding="utf-8"?>
<ds:datastoreItem xmlns:ds="http://schemas.openxmlformats.org/officeDocument/2006/customXml" ds:itemID="{1A81C3FB-7B6F-45D5-A511-F94CF8059F50}">
  <ds:schemaRefs>
    <ds:schemaRef ds:uri="http://schemas.microsoft.com/sharepoint/v3/contenttype/forms"/>
  </ds:schemaRefs>
</ds:datastoreItem>
</file>

<file path=customXml/itemProps11.xml><?xml version="1.0" encoding="utf-8"?>
<ds:datastoreItem xmlns:ds="http://schemas.openxmlformats.org/officeDocument/2006/customXml" ds:itemID="{08FA591E-E43A-4017-9228-9E792B673ADE}">
  <ds:schemaRefs/>
</ds:datastoreItem>
</file>

<file path=customXml/itemProps12.xml><?xml version="1.0" encoding="utf-8"?>
<ds:datastoreItem xmlns:ds="http://schemas.openxmlformats.org/officeDocument/2006/customXml" ds:itemID="{97B0D513-009A-43F8-B52F-745A0BCEBE42}"/>
</file>

<file path=customXml/itemProps13.xml><?xml version="1.0" encoding="utf-8"?>
<ds:datastoreItem xmlns:ds="http://schemas.openxmlformats.org/officeDocument/2006/customXml" ds:itemID="{9568F4B8-E987-48DA-AFB7-4FC6D0F604E4}">
  <ds:schemaRefs>
    <ds:schemaRef ds:uri="http://www.w3.org/XML/1998/namespace"/>
    <ds:schemaRef ds:uri="http://purl.org/dc/elements/1.1/"/>
    <ds:schemaRef ds:uri="http://schemas.microsoft.com/office/infopath/2007/PartnerControls"/>
    <ds:schemaRef ds:uri="http://schemas.microsoft.com/office/2006/documentManagement/types"/>
    <ds:schemaRef ds:uri="http://purl.org/dc/terms/"/>
    <ds:schemaRef ds:uri="http://purl.org/dc/dcmitype/"/>
    <ds:schemaRef ds:uri="http://schemas.openxmlformats.org/package/2006/metadata/core-properties"/>
    <ds:schemaRef ds:uri="b094fc59-5f36-43af-8e7b-b37d279dff93"/>
    <ds:schemaRef ds:uri="http://schemas.microsoft.com/office/2006/metadata/properties"/>
    <ds:schemaRef ds:uri="0c538d5f-535b-4785-9388-469f547d523f"/>
  </ds:schemaRefs>
</ds:datastoreItem>
</file>

<file path=customXml/itemProps14.xml><?xml version="1.0" encoding="utf-8"?>
<ds:datastoreItem xmlns:ds="http://schemas.openxmlformats.org/officeDocument/2006/customXml" ds:itemID="{CCCF66F6-D72F-5248-AE1C-41964815CBD0}">
  <ds:schemaRefs/>
</ds:datastoreItem>
</file>

<file path=customXml/itemProps15.xml><?xml version="1.0" encoding="utf-8"?>
<ds:datastoreItem xmlns:ds="http://schemas.openxmlformats.org/officeDocument/2006/customXml" ds:itemID="{D095EBE5-D49F-4D5E-A2F5-A30886EB6B72}">
  <ds:schemaRefs/>
</ds:datastoreItem>
</file>

<file path=customXml/itemProps16.xml><?xml version="1.0" encoding="utf-8"?>
<ds:datastoreItem xmlns:ds="http://schemas.openxmlformats.org/officeDocument/2006/customXml" ds:itemID="{EF9A94CA-249E-4C28-A75C-C6ABFD1EFF3E}">
  <ds:schemaRefs/>
</ds:datastoreItem>
</file>

<file path=docProps/app.xml><?xml version="1.0" encoding="utf-8"?>
<Properties xmlns="http://schemas.openxmlformats.org/officeDocument/2006/extended-properties" xmlns:vt="http://schemas.openxmlformats.org/officeDocument/2006/docPropsVTypes">
  <Template/>
  <TotalTime>33220</TotalTime>
  <Words>5783</Words>
  <Application>Microsoft Office PowerPoint</Application>
  <PresentationFormat>ワイド画面</PresentationFormat>
  <Paragraphs>1130</Paragraphs>
  <Slides>31</Slides>
  <Notes>28</Notes>
  <HiddenSlides>0</HiddenSlides>
  <MMClips>0</MMClips>
  <ScaleCrop>false</ScaleCrop>
  <HeadingPairs>
    <vt:vector size="6" baseType="variant">
      <vt:variant>
        <vt:lpstr>使用されているフォント</vt:lpstr>
      </vt:variant>
      <vt:variant>
        <vt:i4>12</vt:i4>
      </vt:variant>
      <vt:variant>
        <vt:lpstr>テーマ</vt:lpstr>
      </vt:variant>
      <vt:variant>
        <vt:i4>2</vt:i4>
      </vt:variant>
      <vt:variant>
        <vt:lpstr>スライド タイトル</vt:lpstr>
      </vt:variant>
      <vt:variant>
        <vt:i4>31</vt:i4>
      </vt:variant>
    </vt:vector>
  </HeadingPairs>
  <TitlesOfParts>
    <vt:vector size="45" baseType="lpstr">
      <vt:lpstr>ヒラギノ角ゴ Pro W3</vt:lpstr>
      <vt:lpstr>Poppins Medium</vt:lpstr>
      <vt:lpstr>Poppins</vt:lpstr>
      <vt:lpstr>M PLUS 1p</vt:lpstr>
      <vt:lpstr>M PLUS 1p Medium</vt:lpstr>
      <vt:lpstr>Arial</vt:lpstr>
      <vt:lpstr>Poppins Bold</vt:lpstr>
      <vt:lpstr>Poppins SemiBold</vt:lpstr>
      <vt:lpstr>Wingdings</vt:lpstr>
      <vt:lpstr>M PLUS 1p Regular</vt:lpstr>
      <vt:lpstr>Poppins Light</vt:lpstr>
      <vt:lpstr>游ゴシック</vt:lpstr>
      <vt:lpstr>Office テーマ</vt:lpstr>
      <vt:lpstr>1_Office テーマ</vt:lpstr>
      <vt:lpstr>PowerPoint プレゼンテーション</vt:lpstr>
      <vt:lpstr>Q2 Subscription Billing Sales Up 66.4% YoY to a Record High, Recurring Revenue Driving Growth as We Enter the Harvest Phase</vt:lpstr>
      <vt:lpstr>All Metrics Progressing Ahead of the Full-Year Plan, Targeting  Full-Year Operating Profit Above the Plan Despite Upfront Investments</vt:lpstr>
      <vt:lpstr>Growth in Net Sales and Profit Despite Goodwill Amortization;  Strengthening the Earnings Base</vt:lpstr>
      <vt:lpstr>Over 20% Sales Growth Maintained  in Both Mobile and Solutions Segments</vt:lpstr>
      <vt:lpstr>Subscription Billing Drove Quarterly Sales to a Record High</vt:lpstr>
      <vt:lpstr>Sales Reached a Record High for 4 Consecutive Quarters; Gross Profit Margin Remained at a High Level</vt:lpstr>
      <vt:lpstr>Promoting Ad Optimization to Drive Subscription Growth and Investment in Engineers to Strengthen the Growth Foundation</vt:lpstr>
      <vt:lpstr>Net New Subscription Contracts Continued to Expand at 1.4x the Growth Rate The Number of IT Engineers Reached a Record High, Strengthening Organizational Capability</vt:lpstr>
      <vt:lpstr>PowerPoint プレゼンテーション</vt:lpstr>
      <vt:lpstr>PowerPoint プレゼンテーション</vt:lpstr>
      <vt:lpstr>A Japan-Based Tech Company Developing the World’s No. 1 Mobile Painting App </vt:lpstr>
      <vt:lpstr>Bringing surprise and joy to young creators worldwide with technology born in Japan</vt:lpstr>
      <vt:lpstr>A steadfast passion continues to drive ibis forward</vt:lpstr>
      <vt:lpstr>Continuing to expand into global markets,  bringing the mobile segment onto a growth trajectory </vt:lpstr>
      <vt:lpstr>ibisPaint has become the world’s No. 1 global app*1</vt:lpstr>
      <vt:lpstr>A market-leading strategy centered on Gen Alpha and Gen Z through mobile specialization</vt:lpstr>
      <vt:lpstr>Designing a seamless user experience  to be the first illustration app of choice for Gen Alpha and Gen Z</vt:lpstr>
      <vt:lpstr>Driven by global marketing and passionate users,  we have built one of the world’s largest user bases</vt:lpstr>
      <vt:lpstr> Through advanced technology and a lean, elite team, we maximize efficiency and generate a high-margin model   </vt:lpstr>
      <vt:lpstr>Delivering ibis’s technological value to the world through mobile innovation</vt:lpstr>
      <vt:lpstr>Entering a prime phase for monetizing  one of the world’s largest user bases</vt:lpstr>
      <vt:lpstr>Driving subscription conversion  via free in-app house ads to 40 million active users </vt:lpstr>
      <vt:lpstr>Accelerating subscription growth  through pro use features and multi-device expansion</vt:lpstr>
      <vt:lpstr>Building a creative foundation  that connects creative power worldwide</vt:lpstr>
      <vt:lpstr>Accelerating corporate growth through stable sales and AI-driven market expansion</vt:lpstr>
      <vt:lpstr>Accelerating growth with 1.4x subscription billing sales,  driving further profit expansion</vt:lpstr>
      <vt:lpstr>Disclosure of New Key Consolidated Financial Targets for the Next 3 Years Targeting Subscription Billing Sales of JPY 2.79 Billion, 2.3x FY2025 Levels Operating Profit Growth Target: 20% or Higher from FY2027 Onward</vt:lpstr>
      <vt:lpstr>Leveraging our world-class technological capabilities  to deliver sustainable growth and shareholder returns</vt:lpstr>
      <vt:lpstr>Strengthening the management foundation for sustainable growth</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684</cp:revision>
  <dcterms:created xsi:type="dcterms:W3CDTF">2025-11-04T01:54:26Z</dcterms:created>
  <dcterms:modified xsi:type="dcterms:W3CDTF">2026-08-07T00:29:50Z</dcterms:modified>
</cp:coreProperties>
</file>